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320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90" r:id="rId12"/>
    <p:sldId id="291" r:id="rId13"/>
    <p:sldId id="292" r:id="rId14"/>
    <p:sldId id="293" r:id="rId15"/>
    <p:sldId id="294" r:id="rId16"/>
    <p:sldId id="267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0" r:id="rId28"/>
    <p:sldId id="281" r:id="rId29"/>
    <p:sldId id="295" r:id="rId30"/>
    <p:sldId id="283" r:id="rId31"/>
    <p:sldId id="284" r:id="rId32"/>
    <p:sldId id="285" r:id="rId33"/>
    <p:sldId id="286" r:id="rId34"/>
    <p:sldId id="287" r:id="rId35"/>
    <p:sldId id="288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01" autoAdjust="0"/>
  </p:normalViewPr>
  <p:slideViewPr>
    <p:cSldViewPr>
      <p:cViewPr varScale="1">
        <p:scale>
          <a:sx n="62" d="100"/>
          <a:sy n="62" d="100"/>
        </p:scale>
        <p:origin x="14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0" d="100"/>
          <a:sy n="90" d="100"/>
        </p:scale>
        <p:origin x="4152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ry Yu" userId="d96b6105-45a7-4b80-b1a6-ecee0368581f" providerId="ADAL" clId="{E53F3F7C-32E0-48DB-937D-870C828B9908}"/>
    <pc:docChg chg="addSld delSld modSld">
      <pc:chgData name="Harry Yu" userId="d96b6105-45a7-4b80-b1a6-ecee0368581f" providerId="ADAL" clId="{E53F3F7C-32E0-48DB-937D-870C828B9908}" dt="2025-10-05T13:32:14.169" v="51" actId="20577"/>
      <pc:docMkLst>
        <pc:docMk/>
      </pc:docMkLst>
    </pc:docChg>
  </pc:docChgLst>
  <pc:docChgLst>
    <pc:chgData name="Giannis Tsioulis" userId="d59c48a07cb29050" providerId="LiveId" clId="{D1FB67B2-2F40-423F-AEB1-7CE013CAD466}"/>
    <pc:docChg chg="addSld delSld modSld">
      <pc:chgData name="Giannis Tsioulis" userId="d59c48a07cb29050" providerId="LiveId" clId="{D1FB67B2-2F40-423F-AEB1-7CE013CAD466}" dt="2025-10-30T19:30:58.806" v="12" actId="20577"/>
      <pc:docMkLst>
        <pc:docMk/>
      </pc:docMkLst>
      <pc:sldChg chg="modSp add mod">
        <pc:chgData name="Giannis Tsioulis" userId="d59c48a07cb29050" providerId="LiveId" clId="{D1FB67B2-2F40-423F-AEB1-7CE013CAD466}" dt="2025-10-30T19:30:58.806" v="12" actId="20577"/>
        <pc:sldMkLst>
          <pc:docMk/>
          <pc:sldMk cId="0" sldId="320"/>
        </pc:sldMkLst>
        <pc:spChg chg="mod">
          <ac:chgData name="Giannis Tsioulis" userId="d59c48a07cb29050" providerId="LiveId" clId="{D1FB67B2-2F40-423F-AEB1-7CE013CAD466}" dt="2025-10-28T22:09:10.237" v="8" actId="1076"/>
          <ac:spMkLst>
            <pc:docMk/>
            <pc:sldMk cId="0" sldId="320"/>
            <ac:spMk id="3" creationId="{996BE177-A683-0B49-E4A8-A8B5CE4B471C}"/>
          </ac:spMkLst>
        </pc:spChg>
        <pc:spChg chg="mod">
          <ac:chgData name="Giannis Tsioulis" userId="d59c48a07cb29050" providerId="LiveId" clId="{D1FB67B2-2F40-423F-AEB1-7CE013CAD466}" dt="2025-10-30T19:30:58.806" v="12" actId="20577"/>
          <ac:spMkLst>
            <pc:docMk/>
            <pc:sldMk cId="0" sldId="320"/>
            <ac:spMk id="10242" creationId="{D4BA9D28-E6EE-516D-C586-42AE381DFC2B}"/>
          </ac:spMkLst>
        </pc:spChg>
        <pc:picChg chg="mod">
          <ac:chgData name="Giannis Tsioulis" userId="d59c48a07cb29050" providerId="LiveId" clId="{D1FB67B2-2F40-423F-AEB1-7CE013CAD466}" dt="2025-10-28T22:08:34.598" v="3" actId="1076"/>
          <ac:picMkLst>
            <pc:docMk/>
            <pc:sldMk cId="0" sldId="320"/>
            <ac:picMk id="10243" creationId="{D16C25D6-D373-7FE9-BB78-97C858626D3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24EFD-8569-44E9-964E-6D93273EB25F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CDAFC-085A-497D-9098-43209F4D1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991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https://www.coursera.org/lecture/data-patterns/1-3-compressed-representation-closed-patterns-and-max-patterns-E4RdK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CDAFC-085A-497D-9098-43209F4D1FB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397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29057" indent="-280406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2162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57027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18927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46757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1622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36487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1352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C3522AE-8054-4014-AA23-42D9602EF668}" type="slidenum">
              <a:rPr lang="en-US" altLang="en-US" sz="1200">
                <a:latin typeface="Times New Roman" pitchFamily="18" charset="0"/>
              </a:rPr>
              <a:pPr/>
              <a:t>31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29057" indent="-280406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2162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57027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18927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46757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1622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36487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1352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3AB46F9-9605-49D0-A0C7-421CFEF0A2D4}" type="slidenum">
              <a:rPr lang="en-US" altLang="en-US" sz="1200">
                <a:latin typeface="Times New Roman" pitchFamily="18" charset="0"/>
              </a:rPr>
              <a:pPr/>
              <a:t>32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29057" indent="-280406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2162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57027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18927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46757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1622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36487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1352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27DC7BA-58A2-4F9D-AA36-7D7DF93C291E}" type="slidenum">
              <a:rPr lang="en-US" altLang="en-US" sz="1200">
                <a:latin typeface="Times New Roman" pitchFamily="18" charset="0"/>
              </a:rPr>
              <a:pPr/>
              <a:t>33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29057" indent="-280406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2162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57027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18927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46757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1622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36487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1352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AD9F9DA-56A0-48CD-8089-1AE80689B6D2}" type="slidenum">
              <a:rPr lang="en-US" altLang="en-US" sz="1200">
                <a:latin typeface="Times New Roman" pitchFamily="18" charset="0"/>
              </a:rPr>
              <a:pPr/>
              <a:t>34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29057" indent="-280406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2162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570276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18927" indent="-224325" defTabSz="90509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46757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16227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36487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13528" indent="-224325" defTabSz="90509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F1E7B15-0A32-422F-A965-983E95F75A8B}" type="slidenum">
              <a:rPr lang="en-US" altLang="en-US" sz="1200">
                <a:latin typeface="Times New Roman" pitchFamily="18" charset="0"/>
              </a:rPr>
              <a:pPr/>
              <a:t>35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08D7-2280-7445-9E56-56259A07FC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4424" y="373770"/>
            <a:ext cx="6206576" cy="540631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F6D12-0445-E148-BB09-E64C08B1B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794423" y="1435007"/>
            <a:ext cx="6206577" cy="503921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Body Copy 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6B2E5-FD2E-2F48-B255-21F97B6C0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72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135D-D60C-5E43-A2E0-33CB99A831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9893" y="365126"/>
            <a:ext cx="6705457" cy="595996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60C7-65E9-2D4E-8F6F-2124696CD5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9892" y="1414985"/>
            <a:ext cx="6705458" cy="47619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Body Copy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0AFCE-B625-D845-858E-A0692B422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1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31BC6-EBE9-7C40-8DF3-ADD0BBB8D7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1986" y="373771"/>
            <a:ext cx="6808602" cy="493909"/>
          </a:xfrm>
          <a:prstGeom prst="rect">
            <a:avLst/>
          </a:prstGeom>
        </p:spPr>
        <p:txBody>
          <a:bodyPr anchor="t"/>
          <a:lstStyle>
            <a:lvl1pPr algn="l"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ED869-0B77-A24D-B0EF-98935AA253B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01986" y="1428334"/>
            <a:ext cx="6808602" cy="46613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Body Copy Arial 16pt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A86DEB-DB85-A34A-BADA-0D640BBCD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E027B-BEB9-F140-97F9-C790358BC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1152" y="365126"/>
            <a:ext cx="7089102" cy="605836"/>
          </a:xfrm>
          <a:prstGeom prst="rect">
            <a:avLst/>
          </a:prstGeom>
        </p:spPr>
        <p:txBody>
          <a:bodyPr/>
          <a:lstStyle>
            <a:lvl1pPr>
              <a:defRPr sz="32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Arial 32pt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3DD45-69DA-CE42-8028-948E1F6A678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701152" y="1159497"/>
            <a:ext cx="3329718" cy="501746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Body Copy Arial 16pt</a:t>
            </a:r>
          </a:p>
          <a:p>
            <a:pPr lvl="0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BBB932-9B4D-8B43-9456-CBAA647F08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226097" y="1159497"/>
            <a:ext cx="3564158" cy="5017466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Body Copy Arial 16pt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1306C6-F56C-F74F-AD6E-673B032DA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69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C81EAB-9B18-3048-B3A6-B3FFDF4410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45" y="4925113"/>
            <a:ext cx="748535" cy="619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B0EFF1-D598-4ED3-AD7D-6C12A8C21FE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05612" y="5715000"/>
            <a:ext cx="889788" cy="369332"/>
          </a:xfrm>
          <a:prstGeom prst="rect">
            <a:avLst/>
          </a:prstGeom>
        </p:spPr>
      </p:pic>
      <p:sp>
        <p:nvSpPr>
          <p:cNvPr id="5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8AD3670-1E00-4CE3-8084-5EB512EDD1F1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74070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3">
            <a:extLst>
              <a:ext uri="{FF2B5EF4-FFF2-40B4-BE49-F238E27FC236}">
                <a16:creationId xmlns:a16="http://schemas.microsoft.com/office/drawing/2014/main" id="{D4BA9D28-E6EE-516D-C586-42AE381DFC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581400" y="3048000"/>
            <a:ext cx="30480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GB" dirty="0">
                <a:solidFill>
                  <a:srgbClr val="FF0000"/>
                </a:solidFill>
              </a:rPr>
              <a:t>Data patterns</a:t>
            </a:r>
            <a:br>
              <a:rPr lang="en-GB" altLang="el-GR" dirty="0"/>
            </a:br>
            <a:endParaRPr lang="en-GB" altLang="el-GR" sz="2000" dirty="0"/>
          </a:p>
        </p:txBody>
      </p:sp>
      <p:pic>
        <p:nvPicPr>
          <p:cNvPr id="10243" name="Picture 2" descr="Robot Artificial Intelligence World Connection Gear Vector Illustration  Royalty Free Cliparts, Vectors, And Stock Illustration. Image 108901860.">
            <a:extLst>
              <a:ext uri="{FF2B5EF4-FFF2-40B4-BE49-F238E27FC236}">
                <a16:creationId xmlns:a16="http://schemas.microsoft.com/office/drawing/2014/main" id="{D16C25D6-D373-7FE9-BB78-97C858626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81000"/>
            <a:ext cx="27432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4">
            <a:extLst>
              <a:ext uri="{FF2B5EF4-FFF2-40B4-BE49-F238E27FC236}">
                <a16:creationId xmlns:a16="http://schemas.microsoft.com/office/drawing/2014/main" id="{58F60571-9FE5-0D79-A7EB-99F967C94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28600"/>
            <a:ext cx="7086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l-GR">
                <a:solidFill>
                  <a:srgbClr val="0070C0"/>
                </a:solidFill>
              </a:rPr>
              <a:t>Module 6CM521: </a:t>
            </a:r>
            <a:r>
              <a:rPr lang="en-US" altLang="el-GR">
                <a:solidFill>
                  <a:srgbClr val="0070C0"/>
                </a:solidFill>
              </a:rPr>
              <a:t>Frontiers in AI and Data Science </a:t>
            </a:r>
            <a:endParaRPr lang="en-GB" altLang="el-G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8F8512-CFBD-48C1-7125-4C18716A2B7D}"/>
              </a:ext>
            </a:extLst>
          </p:cNvPr>
          <p:cNvSpPr txBox="1"/>
          <p:nvPr/>
        </p:nvSpPr>
        <p:spPr>
          <a:xfrm>
            <a:off x="6477000" y="6143625"/>
            <a:ext cx="3048000" cy="5857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1600" dirty="0">
                <a:solidFill>
                  <a:schemeClr val="accent5">
                    <a:lumMod val="50000"/>
                  </a:schemeClr>
                </a:solidFill>
              </a:rPr>
              <a:t>Slides acknowledgements:</a:t>
            </a:r>
          </a:p>
          <a:p>
            <a:pPr>
              <a:defRPr/>
            </a:pPr>
            <a:r>
              <a:rPr lang="en-GB" sz="1600" dirty="0">
                <a:solidFill>
                  <a:schemeClr val="accent5">
                    <a:lumMod val="50000"/>
                  </a:schemeClr>
                </a:solidFill>
              </a:rPr>
              <a:t>Dr Hong Qing Yu</a:t>
            </a:r>
            <a:endParaRPr lang="el-G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BE177-A683-0B49-E4A8-A8B5CE4B471C}"/>
              </a:ext>
            </a:extLst>
          </p:cNvPr>
          <p:cNvSpPr txBox="1"/>
          <p:nvPr/>
        </p:nvSpPr>
        <p:spPr>
          <a:xfrm>
            <a:off x="2667000" y="4038600"/>
            <a:ext cx="4495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Ioannis Tsioulis (MC)</a:t>
            </a:r>
            <a:endParaRPr lang="el-GR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Declare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presentation is mostly based on the book: Data Mining, Concepts and Techniques, </a:t>
            </a:r>
            <a:r>
              <a:rPr lang="en-GB" i="1" dirty="0"/>
              <a:t>Chapter 6</a:t>
            </a:r>
            <a:r>
              <a:rPr lang="en-GB" dirty="0"/>
              <a:t>, </a:t>
            </a:r>
            <a:r>
              <a:rPr lang="en-US" altLang="en-US" dirty="0"/>
              <a:t>Mining Frequent Patterns, Association and Correlations: Basic Concepts and Methods.</a:t>
            </a:r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199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/>
                </a:solidFill>
              </a:rPr>
              <a:t>Basic Concepts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Frequent </a:t>
            </a:r>
            <a:r>
              <a:rPr lang="en-US" altLang="en-US" dirty="0" err="1"/>
              <a:t>Itemset</a:t>
            </a:r>
            <a:r>
              <a:rPr lang="en-US" altLang="en-US" dirty="0"/>
              <a:t> Mining Methods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Which Patterns Are Interesting?—Pattern Evaluation Methods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295695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Frequent Pattern Analysis Example</a:t>
            </a:r>
            <a:endParaRPr lang="en-GB" sz="2800" dirty="0"/>
          </a:p>
        </p:txBody>
      </p:sp>
      <p:pic>
        <p:nvPicPr>
          <p:cNvPr id="1026" name="Picture 2" descr="What is Frequent Pattern Mining (Association) and How Does it Support  Business Analysis? - DATAVERS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317171"/>
            <a:ext cx="4495800" cy="292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3505200" y="2321796"/>
            <a:ext cx="2895600" cy="4572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ounded Rectangle 5"/>
          <p:cNvSpPr/>
          <p:nvPr/>
        </p:nvSpPr>
        <p:spPr>
          <a:xfrm>
            <a:off x="3505200" y="3733800"/>
            <a:ext cx="2895600" cy="4572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209800" y="4713515"/>
            <a:ext cx="65582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How do we identify these frequent patterns from dataset (big)?</a:t>
            </a:r>
          </a:p>
          <a:p>
            <a:endParaRPr lang="en-GB" dirty="0"/>
          </a:p>
          <a:p>
            <a:r>
              <a:rPr lang="en-GB" dirty="0"/>
              <a:t>How do we justify the pattern frequencies?</a:t>
            </a:r>
          </a:p>
        </p:txBody>
      </p:sp>
    </p:spTree>
    <p:extLst>
      <p:ext uri="{BB962C8B-B14F-4D97-AF65-F5344CB8AC3E}">
        <p14:creationId xmlns:p14="http://schemas.microsoft.com/office/powerpoint/2010/main" val="299522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What Is Frequent Pattern Analysis?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0771" y="990600"/>
            <a:ext cx="6705458" cy="4761979"/>
          </a:xfrm>
        </p:spPr>
        <p:txBody>
          <a:bodyPr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hlink"/>
                </a:solidFill>
              </a:rPr>
              <a:t>Frequent pattern</a:t>
            </a:r>
            <a:r>
              <a:rPr lang="en-US" altLang="en-US" sz="2000" dirty="0"/>
              <a:t>: a pattern (a set of items, subsequences, substructures, etc.) that occurs frequently in a data set </a:t>
            </a:r>
          </a:p>
          <a:p>
            <a:pPr marL="342900" indent="-342900">
              <a:lnSpc>
                <a:spcPct val="13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en-US" sz="2000" dirty="0"/>
              <a:t>First proposed by Agrawal, </a:t>
            </a:r>
            <a:r>
              <a:rPr lang="en-US" altLang="en-US" sz="2000" dirty="0" err="1"/>
              <a:t>Imielinski</a:t>
            </a:r>
            <a:r>
              <a:rPr lang="en-US" altLang="en-US" sz="2000" dirty="0"/>
              <a:t>, and Swami [SIGMOD’93] in the context of </a:t>
            </a:r>
            <a:r>
              <a:rPr lang="en-US" altLang="en-US" sz="2000" dirty="0">
                <a:solidFill>
                  <a:schemeClr val="hlink"/>
                </a:solidFill>
              </a:rPr>
              <a:t>frequent </a:t>
            </a:r>
            <a:r>
              <a:rPr lang="en-US" altLang="en-US" sz="2000" dirty="0" err="1">
                <a:solidFill>
                  <a:schemeClr val="hlink"/>
                </a:solidFill>
              </a:rPr>
              <a:t>itemsets</a:t>
            </a:r>
            <a:r>
              <a:rPr lang="en-US" altLang="en-US" sz="2000" dirty="0"/>
              <a:t> and </a:t>
            </a:r>
            <a:r>
              <a:rPr lang="en-US" altLang="en-US" sz="2000" dirty="0">
                <a:solidFill>
                  <a:schemeClr val="hlink"/>
                </a:solidFill>
              </a:rPr>
              <a:t>association rule mining</a:t>
            </a:r>
          </a:p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810000"/>
            <a:ext cx="5867400" cy="281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994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65126"/>
            <a:ext cx="7257907" cy="595996"/>
          </a:xfrm>
        </p:spPr>
        <p:txBody>
          <a:bodyPr/>
          <a:lstStyle/>
          <a:p>
            <a:r>
              <a:rPr lang="en-GB" sz="2800" dirty="0"/>
              <a:t>Motivations of </a:t>
            </a:r>
            <a:r>
              <a:rPr lang="en-US" altLang="en-US" sz="2800" dirty="0"/>
              <a:t>Frequent Pattern Analysis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219200"/>
            <a:ext cx="6705458" cy="4761979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000" dirty="0"/>
              <a:t>Finding inherent regularities in data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What products were often purchased together?— Beer and diapers?!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What are the subsequent purchases after buying a PC?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What kinds of DNA are sensitive to this new drug?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Can we automatically classify web documents?</a:t>
            </a:r>
          </a:p>
          <a:p>
            <a:pPr>
              <a:lnSpc>
                <a:spcPct val="130000"/>
              </a:lnSpc>
              <a:buSzPct val="80000"/>
            </a:pPr>
            <a:r>
              <a:rPr lang="en-US" altLang="en-US" sz="2000" dirty="0"/>
              <a:t>Applications</a:t>
            </a:r>
          </a:p>
          <a:p>
            <a:pPr lvl="1">
              <a:lnSpc>
                <a:spcPct val="130000"/>
              </a:lnSpc>
              <a:buSzPct val="80000"/>
            </a:pPr>
            <a:r>
              <a:rPr lang="en-US" altLang="en-US" sz="2000" dirty="0"/>
              <a:t>Basket data analysis, cross-marketing, catalog design, sale campaign analysis, Web log (click stream) analysis, and DNA sequence analysis.</a:t>
            </a:r>
          </a:p>
          <a:p>
            <a:pPr lvl="1">
              <a:lnSpc>
                <a:spcPct val="130000"/>
              </a:lnSpc>
            </a:pPr>
            <a:endParaRPr lang="en-US" altLang="en-US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7853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7105507" cy="595996"/>
          </a:xfrm>
        </p:spPr>
        <p:txBody>
          <a:bodyPr/>
          <a:lstStyle/>
          <a:p>
            <a:r>
              <a:rPr lang="en-US" altLang="en-US" dirty="0"/>
              <a:t>Basic Concepts: Frequent Patterns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878545"/>
              </p:ext>
            </p:extLst>
          </p:nvPr>
        </p:nvGraphicFramePr>
        <p:xfrm>
          <a:off x="1676400" y="1143000"/>
          <a:ext cx="3352800" cy="2130432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Items bought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Beer, Nuts, Diaper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Beer, Coffee, Diaper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Beer, Diaper, Eggs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Nuts, Eggs, Milk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Nuts, Coffee, Diaper, Eggs, Milk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24000" y="3418114"/>
            <a:ext cx="4572000" cy="31947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en-US" sz="1600" dirty="0">
                <a:solidFill>
                  <a:schemeClr val="hlink"/>
                </a:solidFill>
              </a:rPr>
              <a:t>Itemset(Dataset)</a:t>
            </a:r>
            <a:r>
              <a:rPr lang="en-US" altLang="en-US" sz="1600" dirty="0"/>
              <a:t>: 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A set of one or more items</a:t>
            </a:r>
          </a:p>
          <a:p>
            <a:pPr>
              <a:lnSpc>
                <a:spcPct val="90000"/>
              </a:lnSpc>
            </a:pP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dirty="0">
                <a:solidFill>
                  <a:schemeClr val="hlink"/>
                </a:solidFill>
              </a:rPr>
              <a:t>k-itemset</a:t>
            </a:r>
            <a:r>
              <a:rPr lang="en-US" altLang="en-US" sz="1600" dirty="0"/>
              <a:t> X = {x</a:t>
            </a:r>
            <a:r>
              <a:rPr lang="en-US" altLang="en-US" sz="1600" baseline="-25000" dirty="0"/>
              <a:t>1</a:t>
            </a:r>
            <a:r>
              <a:rPr lang="en-US" altLang="en-US" sz="1600" dirty="0"/>
              <a:t>, …, </a:t>
            </a:r>
            <a:r>
              <a:rPr lang="en-US" altLang="en-US" sz="1600" dirty="0" err="1"/>
              <a:t>x</a:t>
            </a:r>
            <a:r>
              <a:rPr lang="en-US" altLang="en-US" sz="1600" baseline="-25000" dirty="0" err="1"/>
              <a:t>k</a:t>
            </a:r>
            <a:r>
              <a:rPr lang="en-US" altLang="en-US" sz="1600" dirty="0"/>
              <a:t>}</a:t>
            </a:r>
          </a:p>
          <a:p>
            <a:pPr>
              <a:lnSpc>
                <a:spcPct val="90000"/>
              </a:lnSpc>
            </a:pP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i="1" dirty="0">
                <a:solidFill>
                  <a:schemeClr val="hlink"/>
                </a:solidFill>
              </a:rPr>
              <a:t>(absolute) support</a:t>
            </a:r>
            <a:r>
              <a:rPr lang="en-US" altLang="en-US" sz="1600" dirty="0"/>
              <a:t>, or, </a:t>
            </a:r>
            <a:r>
              <a:rPr lang="en-US" altLang="en-US" sz="1600" i="1" dirty="0">
                <a:solidFill>
                  <a:schemeClr val="hlink"/>
                </a:solidFill>
              </a:rPr>
              <a:t>support count</a:t>
            </a:r>
            <a:r>
              <a:rPr lang="en-US" altLang="en-US" sz="1600" dirty="0"/>
              <a:t> of X: Frequency or occurrence of an itemset X</a:t>
            </a:r>
          </a:p>
          <a:p>
            <a:pPr>
              <a:lnSpc>
                <a:spcPct val="90000"/>
              </a:lnSpc>
            </a:pP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sz="1600" i="1" dirty="0">
                <a:solidFill>
                  <a:schemeClr val="hlink"/>
                </a:solidFill>
              </a:rPr>
              <a:t>(relative)</a:t>
            </a:r>
            <a:r>
              <a:rPr lang="en-US" altLang="en-US" sz="1600" dirty="0"/>
              <a:t> </a:t>
            </a:r>
            <a:r>
              <a:rPr lang="en-US" altLang="en-US" sz="1600" i="1" dirty="0">
                <a:solidFill>
                  <a:schemeClr val="hlink"/>
                </a:solidFill>
                <a:sym typeface="Symbol" pitchFamily="18" charset="2"/>
              </a:rPr>
              <a:t>support</a:t>
            </a:r>
            <a:r>
              <a:rPr lang="en-US" altLang="en-US" sz="1600" dirty="0">
                <a:sym typeface="Symbol" pitchFamily="18" charset="2"/>
              </a:rPr>
              <a:t>, </a:t>
            </a:r>
            <a:r>
              <a:rPr lang="en-US" altLang="en-US" sz="1600" i="1" dirty="0">
                <a:sym typeface="Symbol" pitchFamily="18" charset="2"/>
              </a:rPr>
              <a:t>s</a:t>
            </a:r>
            <a:r>
              <a:rPr lang="en-US" altLang="en-US" sz="1600" dirty="0">
                <a:sym typeface="Symbol" pitchFamily="18" charset="2"/>
              </a:rPr>
              <a:t>, is the fraction of transactions that contains X (i.e., the </a:t>
            </a:r>
            <a:r>
              <a:rPr lang="en-US" altLang="en-US" sz="1600" dirty="0">
                <a:solidFill>
                  <a:schemeClr val="tx2"/>
                </a:solidFill>
                <a:sym typeface="Symbol" pitchFamily="18" charset="2"/>
              </a:rPr>
              <a:t>probability</a:t>
            </a:r>
            <a:r>
              <a:rPr lang="en-US" altLang="en-US" sz="1600" dirty="0">
                <a:sym typeface="Symbol" pitchFamily="18" charset="2"/>
              </a:rPr>
              <a:t> that a transaction contains X)</a:t>
            </a:r>
          </a:p>
          <a:p>
            <a:pPr>
              <a:lnSpc>
                <a:spcPct val="90000"/>
              </a:lnSpc>
            </a:pPr>
            <a:endParaRPr lang="en-US" altLang="en-US" sz="16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1600" dirty="0">
                <a:sym typeface="Symbol" pitchFamily="18" charset="2"/>
              </a:rPr>
              <a:t>An itemset X is </a:t>
            </a:r>
            <a:r>
              <a:rPr lang="en-US" altLang="en-US" sz="1600" i="1" dirty="0">
                <a:solidFill>
                  <a:schemeClr val="hlink"/>
                </a:solidFill>
                <a:sym typeface="Symbol" pitchFamily="18" charset="2"/>
              </a:rPr>
              <a:t>frequent</a:t>
            </a:r>
            <a:r>
              <a:rPr lang="en-US" altLang="en-US" sz="1600" dirty="0">
                <a:sym typeface="Symbol" pitchFamily="18" charset="2"/>
              </a:rPr>
              <a:t> if X’s support is no less than a </a:t>
            </a:r>
            <a:r>
              <a:rPr lang="en-US" altLang="en-US" sz="1600" i="1" dirty="0" err="1">
                <a:solidFill>
                  <a:srgbClr val="FF0000"/>
                </a:solidFill>
                <a:sym typeface="Symbol" pitchFamily="18" charset="2"/>
              </a:rPr>
              <a:t>minsup</a:t>
            </a:r>
            <a:r>
              <a:rPr lang="en-US" altLang="en-US" sz="1600" dirty="0">
                <a:solidFill>
                  <a:srgbClr val="FF0000"/>
                </a:solidFill>
                <a:sym typeface="Symbol" pitchFamily="18" charset="2"/>
              </a:rPr>
              <a:t> threshold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5257800" y="1103312"/>
            <a:ext cx="3886200" cy="2630488"/>
            <a:chOff x="192" y="2400"/>
            <a:chExt cx="2448" cy="1657"/>
          </a:xfrm>
        </p:grpSpPr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384" y="2736"/>
              <a:ext cx="1200" cy="864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1008" y="2736"/>
              <a:ext cx="1200" cy="960"/>
            </a:xfrm>
            <a:prstGeom prst="ellipse">
              <a:avLst/>
            </a:prstGeom>
            <a:solidFill>
              <a:srgbClr val="99CCFF">
                <a:alpha val="50195"/>
              </a:srgbClr>
            </a:solidFill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H="1">
              <a:off x="576" y="3168"/>
              <a:ext cx="144" cy="48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2016" y="2832"/>
              <a:ext cx="144" cy="43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1440" y="2592"/>
              <a:ext cx="0" cy="576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1824" y="2448"/>
              <a:ext cx="768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hlink"/>
                  </a:solidFill>
                  <a:latin typeface="Times New Roman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hlink"/>
                  </a:solidFill>
                  <a:latin typeface="Times New Roman" pitchFamily="18" charset="0"/>
                </a:rPr>
                <a:t>buys diaper</a:t>
              </a:r>
              <a:endParaRPr lang="en-US" altLang="en-US" sz="1800" b="1" u="sng">
                <a:latin typeface="Times New Roman" pitchFamily="18" charset="0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960" y="2400"/>
              <a:ext cx="65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rgbClr val="5FA180"/>
                  </a:solidFill>
                  <a:latin typeface="Times New Roman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rgbClr val="5FA180"/>
                  </a:solidFill>
                  <a:latin typeface="Times New Roman" pitchFamily="18" charset="0"/>
                </a:rPr>
                <a:t>buys both</a:t>
              </a:r>
              <a:endParaRPr lang="en-US" altLang="en-US" sz="1800" b="1" u="sng">
                <a:solidFill>
                  <a:srgbClr val="5FA180"/>
                </a:solidFill>
                <a:latin typeface="Times New Roman" pitchFamily="18" charset="0"/>
              </a:endParaRP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84" y="3600"/>
              <a:ext cx="65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tx2"/>
                  </a:solidFill>
                  <a:latin typeface="Times New Roman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</a:pPr>
              <a:r>
                <a:rPr lang="en-US" altLang="en-US" sz="1600" b="1">
                  <a:solidFill>
                    <a:schemeClr val="tx2"/>
                  </a:solidFill>
                  <a:latin typeface="Times New Roman" pitchFamily="18" charset="0"/>
                </a:rPr>
                <a:t>buys beer</a:t>
              </a:r>
              <a:endParaRPr lang="en-US" altLang="en-US" sz="1800" b="1" u="sng">
                <a:latin typeface="Times New Roman" pitchFamily="18" charset="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92" y="2400"/>
              <a:ext cx="2448" cy="16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595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Frequent Patterns Example</a:t>
            </a:r>
            <a:endParaRPr lang="en-GB" dirty="0"/>
          </a:p>
        </p:txBody>
      </p:sp>
      <p:pic>
        <p:nvPicPr>
          <p:cNvPr id="4" name="Picture 2" descr="What is Frequent Pattern Mining (Association) and How Does it Support  Business Analysis? – Dataception Business Intelligence (OPC) Pvt. Lt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219200"/>
            <a:ext cx="5943600" cy="498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532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Basic Concepts: Association Rules</a:t>
            </a:r>
            <a:endParaRPr lang="en-GB" sz="28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181600" y="1371600"/>
            <a:ext cx="3886200" cy="49530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altLang="en-US" sz="1800" dirty="0"/>
              <a:t>Find all the rules </a:t>
            </a:r>
            <a:r>
              <a:rPr lang="en-US" altLang="en-US" sz="1800" i="1" dirty="0"/>
              <a:t>X </a:t>
            </a:r>
            <a:r>
              <a:rPr lang="en-US" altLang="en-US" sz="1800" dirty="0">
                <a:sym typeface="Wingdings" pitchFamily="2" charset="2"/>
              </a:rPr>
              <a:t> </a:t>
            </a:r>
            <a:r>
              <a:rPr lang="en-US" altLang="en-US" sz="1800" i="1" dirty="0">
                <a:sym typeface="Wingdings" pitchFamily="2" charset="2"/>
              </a:rPr>
              <a:t>Y</a:t>
            </a:r>
            <a:r>
              <a:rPr lang="en-US" altLang="en-US" sz="1800" i="1" dirty="0">
                <a:sym typeface="Symbol" pitchFamily="18" charset="2"/>
              </a:rPr>
              <a:t> </a:t>
            </a:r>
            <a:r>
              <a:rPr lang="en-US" altLang="en-US" sz="1800" dirty="0"/>
              <a:t>with minimum support and confidence</a:t>
            </a:r>
            <a:endParaRPr lang="en-US" altLang="en-US" sz="1800" dirty="0">
              <a:sym typeface="Symbol" pitchFamily="18" charset="2"/>
            </a:endParaRPr>
          </a:p>
          <a:p>
            <a:pPr marL="914400" lvl="1" indent="-457200"/>
            <a:r>
              <a:rPr lang="en-US" altLang="en-US" sz="1800" dirty="0">
                <a:solidFill>
                  <a:schemeClr val="hlink"/>
                </a:solidFill>
                <a:sym typeface="Symbol" pitchFamily="18" charset="2"/>
              </a:rPr>
              <a:t>Relative support</a:t>
            </a:r>
            <a:r>
              <a:rPr lang="en-US" altLang="en-US" sz="1800" dirty="0">
                <a:sym typeface="Symbol" pitchFamily="18" charset="2"/>
              </a:rPr>
              <a:t>, </a:t>
            </a:r>
            <a:r>
              <a:rPr lang="en-US" altLang="en-US" sz="1800" i="1" dirty="0">
                <a:sym typeface="Symbol" pitchFamily="18" charset="2"/>
              </a:rPr>
              <a:t>s</a:t>
            </a:r>
            <a:r>
              <a:rPr lang="en-US" altLang="en-US" sz="1800" dirty="0">
                <a:sym typeface="Symbol" pitchFamily="18" charset="2"/>
              </a:rPr>
              <a:t>, </a:t>
            </a:r>
            <a:r>
              <a:rPr lang="en-US" altLang="en-US" sz="1800" dirty="0">
                <a:solidFill>
                  <a:schemeClr val="tx2"/>
                </a:solidFill>
                <a:sym typeface="Symbol" pitchFamily="18" charset="2"/>
              </a:rPr>
              <a:t>probability</a:t>
            </a:r>
            <a:r>
              <a:rPr lang="en-US" altLang="en-US" sz="1800" dirty="0">
                <a:sym typeface="Symbol" pitchFamily="18" charset="2"/>
              </a:rPr>
              <a:t> that a transaction contains X  Y</a:t>
            </a:r>
          </a:p>
          <a:p>
            <a:pPr marL="914400" lvl="1" indent="-457200"/>
            <a:r>
              <a:rPr lang="en-US" altLang="en-US" sz="1800" dirty="0">
                <a:solidFill>
                  <a:schemeClr val="hlink"/>
                </a:solidFill>
                <a:sym typeface="Symbol" pitchFamily="18" charset="2"/>
              </a:rPr>
              <a:t>confidence</a:t>
            </a:r>
            <a:r>
              <a:rPr lang="en-US" altLang="en-US" sz="1800" dirty="0">
                <a:sym typeface="Symbol" pitchFamily="18" charset="2"/>
              </a:rPr>
              <a:t>, </a:t>
            </a:r>
            <a:r>
              <a:rPr lang="en-US" altLang="en-US" sz="1800" i="1" dirty="0">
                <a:sym typeface="Symbol" pitchFamily="18" charset="2"/>
              </a:rPr>
              <a:t>c,</a:t>
            </a:r>
            <a:r>
              <a:rPr lang="en-US" altLang="en-US" sz="1800" dirty="0">
                <a:sym typeface="Symbol" pitchFamily="18" charset="2"/>
              </a:rPr>
              <a:t> </a:t>
            </a:r>
            <a:r>
              <a:rPr lang="en-US" altLang="en-US" sz="1800" dirty="0">
                <a:solidFill>
                  <a:schemeClr val="tx2"/>
                </a:solidFill>
                <a:sym typeface="Symbol" pitchFamily="18" charset="2"/>
              </a:rPr>
              <a:t>conditional probability</a:t>
            </a:r>
            <a:r>
              <a:rPr lang="en-US" altLang="en-US" sz="1800" dirty="0">
                <a:sym typeface="Symbol" pitchFamily="18" charset="2"/>
              </a:rPr>
              <a:t> that a transaction having X also contains </a:t>
            </a:r>
            <a:r>
              <a:rPr lang="en-US" altLang="en-US" sz="1800" i="1" dirty="0">
                <a:sym typeface="Symbol" pitchFamily="18" charset="2"/>
              </a:rPr>
              <a:t>Y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altLang="en-US" sz="1800" i="1" dirty="0"/>
              <a:t>Let  </a:t>
            </a:r>
            <a:r>
              <a:rPr lang="en-US" altLang="en-US" sz="1800" i="1" dirty="0" err="1"/>
              <a:t>minsup</a:t>
            </a:r>
            <a:r>
              <a:rPr lang="en-US" altLang="en-US" sz="1800" i="1" dirty="0"/>
              <a:t> = 50%, </a:t>
            </a:r>
            <a:r>
              <a:rPr lang="en-US" altLang="en-US" sz="1800" i="1" dirty="0" err="1"/>
              <a:t>minconf</a:t>
            </a:r>
            <a:r>
              <a:rPr lang="en-US" altLang="en-US" sz="1800" i="1" dirty="0"/>
              <a:t> = 50%</a:t>
            </a:r>
          </a:p>
          <a:p>
            <a:pPr marL="457200" indent="-457200">
              <a:buFont typeface="Wingdings" pitchFamily="2" charset="2"/>
              <a:buNone/>
            </a:pPr>
            <a:r>
              <a:rPr lang="en-US" altLang="en-US" sz="1800" i="1" dirty="0"/>
              <a:t>Freq. Pat.: </a:t>
            </a:r>
            <a:r>
              <a:rPr lang="en-US" altLang="en-US" sz="1800" dirty="0"/>
              <a:t>Beer:3, Nuts:3, Diaper:4, Eggs:3, {Beer, Diaper}:3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1939925" y="3927475"/>
            <a:ext cx="1643063" cy="1168400"/>
          </a:xfrm>
          <a:prstGeom prst="ellipse">
            <a:avLst/>
          </a:prstGeom>
          <a:solidFill>
            <a:srgbClr val="FFFF00"/>
          </a:solidFill>
          <a:ln w="254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2794000" y="3927475"/>
            <a:ext cx="1643063" cy="1298575"/>
          </a:xfrm>
          <a:prstGeom prst="ellipse">
            <a:avLst/>
          </a:prstGeom>
          <a:solidFill>
            <a:srgbClr val="99CCFF">
              <a:alpha val="50195"/>
            </a:srgbClr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H="1">
            <a:off x="2201863" y="4511675"/>
            <a:ext cx="198437" cy="6492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V="1">
            <a:off x="4175125" y="4057650"/>
            <a:ext cx="196850" cy="5842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 flipV="1">
            <a:off x="3386138" y="3732213"/>
            <a:ext cx="0" cy="779462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911600" y="3536950"/>
            <a:ext cx="1052513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hlink"/>
                </a:solidFill>
                <a:latin typeface="Times New Roman" pitchFamily="18" charset="0"/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hlink"/>
                </a:solidFill>
                <a:latin typeface="Times New Roman" pitchFamily="18" charset="0"/>
              </a:rPr>
              <a:t>buys diaper</a:t>
            </a:r>
            <a:endParaRPr lang="en-US" altLang="en-US" sz="1800" b="1" u="sng">
              <a:latin typeface="Times New Roman" pitchFamily="18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2590800" y="3473450"/>
            <a:ext cx="1066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400" b="1">
                <a:solidFill>
                  <a:srgbClr val="5FA180"/>
                </a:solidFill>
                <a:latin typeface="Times New Roman" pitchFamily="18" charset="0"/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400" b="1">
                <a:solidFill>
                  <a:srgbClr val="5FA180"/>
                </a:solidFill>
                <a:latin typeface="Times New Roman" pitchFamily="18" charset="0"/>
              </a:rPr>
              <a:t>buys both</a:t>
            </a:r>
            <a:endParaRPr lang="en-US" altLang="en-US" sz="1600" b="1" u="sng">
              <a:solidFill>
                <a:srgbClr val="5FA180"/>
              </a:solidFill>
              <a:latin typeface="Times New Roman" pitchFamily="18" charset="0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1939925" y="5095875"/>
            <a:ext cx="104298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tx2"/>
                </a:solidFill>
                <a:latin typeface="Times New Roman" pitchFamily="18" charset="0"/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lang="en-US" altLang="en-US" sz="1600" b="1">
                <a:solidFill>
                  <a:schemeClr val="tx2"/>
                </a:solidFill>
                <a:latin typeface="Times New Roman" pitchFamily="18" charset="0"/>
              </a:rPr>
              <a:t>buys beer</a:t>
            </a:r>
            <a:endParaRPr lang="en-US" altLang="en-US" sz="1800" b="1" u="sng">
              <a:latin typeface="Times New Roman" pitchFamily="18" charset="0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676400" y="3473450"/>
            <a:ext cx="3352800" cy="2241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2136775" y="2768600"/>
            <a:ext cx="2892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Nuts, Eggs, Milk</a:t>
            </a: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1676400" y="2768600"/>
            <a:ext cx="4603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40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136775" y="3054350"/>
            <a:ext cx="2892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400"/>
              <a:t>Nuts, Coffee, Diaper, Eggs, Milk</a:t>
            </a: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1676400" y="3054350"/>
            <a:ext cx="4603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50</a:t>
            </a: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2136775" y="2457450"/>
            <a:ext cx="28924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Beer, Diaper, Eggs</a:t>
            </a: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1676400" y="2457450"/>
            <a:ext cx="4603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30</a:t>
            </a:r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2136775" y="2146300"/>
            <a:ext cx="28924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Beer, Coffee, Diaper</a:t>
            </a: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1676400" y="2146300"/>
            <a:ext cx="4603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20</a:t>
            </a: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2136775" y="1835150"/>
            <a:ext cx="28924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Beer, Nuts, Diaper</a:t>
            </a: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1676400" y="1835150"/>
            <a:ext cx="46037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/>
              <a:t>10</a:t>
            </a:r>
          </a:p>
        </p:txBody>
      </p: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2136775" y="1524000"/>
            <a:ext cx="2892425" cy="311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600" b="1" dirty="0">
                <a:solidFill>
                  <a:srgbClr val="FF0000"/>
                </a:solidFill>
              </a:rPr>
              <a:t>Items bought</a:t>
            </a: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1676400" y="1524000"/>
            <a:ext cx="460375" cy="311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en-US" sz="1400" b="1">
                <a:solidFill>
                  <a:schemeClr val="hlink"/>
                </a:solidFill>
              </a:rPr>
              <a:t>Tid</a:t>
            </a:r>
          </a:p>
        </p:txBody>
      </p:sp>
      <p:sp>
        <p:nvSpPr>
          <p:cNvPr id="27" name="Line 27"/>
          <p:cNvSpPr>
            <a:spLocks noChangeShapeType="1"/>
          </p:cNvSpPr>
          <p:nvPr/>
        </p:nvSpPr>
        <p:spPr bwMode="auto">
          <a:xfrm>
            <a:off x="1676400" y="1524000"/>
            <a:ext cx="3352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1676400" y="1835150"/>
            <a:ext cx="33528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9" name="Line 29"/>
          <p:cNvSpPr>
            <a:spLocks noChangeShapeType="1"/>
          </p:cNvSpPr>
          <p:nvPr/>
        </p:nvSpPr>
        <p:spPr bwMode="auto">
          <a:xfrm>
            <a:off x="1676400" y="214630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0" name="Line 30"/>
          <p:cNvSpPr>
            <a:spLocks noChangeShapeType="1"/>
          </p:cNvSpPr>
          <p:nvPr/>
        </p:nvSpPr>
        <p:spPr bwMode="auto">
          <a:xfrm>
            <a:off x="1676400" y="245745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1" name="Line 31"/>
          <p:cNvSpPr>
            <a:spLocks noChangeShapeType="1"/>
          </p:cNvSpPr>
          <p:nvPr/>
        </p:nvSpPr>
        <p:spPr bwMode="auto">
          <a:xfrm>
            <a:off x="1676400" y="276860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2" name="Line 32"/>
          <p:cNvSpPr>
            <a:spLocks noChangeShapeType="1"/>
          </p:cNvSpPr>
          <p:nvPr/>
        </p:nvSpPr>
        <p:spPr bwMode="auto">
          <a:xfrm>
            <a:off x="1676400" y="3340100"/>
            <a:ext cx="33528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3" name="Line 33"/>
          <p:cNvSpPr>
            <a:spLocks noChangeShapeType="1"/>
          </p:cNvSpPr>
          <p:nvPr/>
        </p:nvSpPr>
        <p:spPr bwMode="auto">
          <a:xfrm>
            <a:off x="1676400" y="1524000"/>
            <a:ext cx="0" cy="18161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4" name="Line 34"/>
          <p:cNvSpPr>
            <a:spLocks noChangeShapeType="1"/>
          </p:cNvSpPr>
          <p:nvPr/>
        </p:nvSpPr>
        <p:spPr bwMode="auto">
          <a:xfrm>
            <a:off x="2136775" y="1524000"/>
            <a:ext cx="0" cy="18161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5" name="Line 35"/>
          <p:cNvSpPr>
            <a:spLocks noChangeShapeType="1"/>
          </p:cNvSpPr>
          <p:nvPr/>
        </p:nvSpPr>
        <p:spPr bwMode="auto">
          <a:xfrm>
            <a:off x="5029200" y="1371600"/>
            <a:ext cx="0" cy="1816100"/>
          </a:xfrm>
          <a:prstGeom prst="line">
            <a:avLst/>
          </a:prstGeom>
          <a:noFill/>
          <a:ln w="28575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6" name="Line 36"/>
          <p:cNvSpPr>
            <a:spLocks noChangeShapeType="1"/>
          </p:cNvSpPr>
          <p:nvPr/>
        </p:nvSpPr>
        <p:spPr bwMode="auto">
          <a:xfrm>
            <a:off x="1676400" y="305435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7" name="Rectangle 38"/>
          <p:cNvSpPr>
            <a:spLocks noChangeArrowheads="1"/>
          </p:cNvSpPr>
          <p:nvPr/>
        </p:nvSpPr>
        <p:spPr bwMode="auto">
          <a:xfrm>
            <a:off x="5029200" y="5410200"/>
            <a:ext cx="4648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914400" indent="-4572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en-US" sz="1800" dirty="0"/>
              <a:t>Association rules: (many more!)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 i="1" dirty="0"/>
              <a:t>Beer </a:t>
            </a:r>
            <a:r>
              <a:rPr lang="en-US" altLang="en-US" sz="1800" dirty="0">
                <a:sym typeface="Wingdings" pitchFamily="2" charset="2"/>
              </a:rPr>
              <a:t></a:t>
            </a:r>
            <a:r>
              <a:rPr lang="en-US" altLang="en-US" sz="1800" i="1" dirty="0">
                <a:sym typeface="Symbol" pitchFamily="18" charset="2"/>
              </a:rPr>
              <a:t> Diaper  </a:t>
            </a:r>
            <a:r>
              <a:rPr lang="en-US" altLang="en-US" sz="1800" dirty="0">
                <a:sym typeface="Symbol" pitchFamily="18" charset="2"/>
              </a:rPr>
              <a:t>(60%, 100%)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en-US" sz="1800" i="1" dirty="0"/>
              <a:t>Diaper </a:t>
            </a:r>
            <a:r>
              <a:rPr lang="en-US" altLang="en-US" sz="1800" dirty="0">
                <a:sym typeface="Wingdings" pitchFamily="2" charset="2"/>
              </a:rPr>
              <a:t></a:t>
            </a:r>
            <a:r>
              <a:rPr lang="en-US" altLang="en-US" sz="1800" i="1" dirty="0">
                <a:sym typeface="Symbol" pitchFamily="18" charset="2"/>
              </a:rPr>
              <a:t> Beer  </a:t>
            </a:r>
            <a:r>
              <a:rPr lang="en-US" altLang="en-US" sz="1800" dirty="0">
                <a:sym typeface="Symbol" pitchFamily="18" charset="2"/>
              </a:rPr>
              <a:t>(60%, 75%)</a:t>
            </a:r>
          </a:p>
        </p:txBody>
      </p:sp>
    </p:spTree>
    <p:extLst>
      <p:ext uri="{BB962C8B-B14F-4D97-AF65-F5344CB8AC3E}">
        <p14:creationId xmlns:p14="http://schemas.microsoft.com/office/powerpoint/2010/main" val="1834810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Association Rule Example</a:t>
            </a:r>
            <a:endParaRPr lang="en-GB" dirty="0"/>
          </a:p>
        </p:txBody>
      </p:sp>
      <p:pic>
        <p:nvPicPr>
          <p:cNvPr id="4098" name="Picture 2" descr="https://infocenter.informationbuilders.com/wf80/topic/pubdocs/RStat16/source/files/images/mb_combo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399"/>
            <a:ext cx="3667125" cy="201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infocenter.informationbuilders.com/wf80/topic/pubdocs/RStat16/source/files/images/rstat_SupportFormul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24000"/>
            <a:ext cx="3635952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211513" y="1100237"/>
            <a:ext cx="3932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What is the support value milk + cheese?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200" y="2743200"/>
            <a:ext cx="3262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ym typeface="Symbol" pitchFamily="18" charset="2"/>
              </a:rPr>
              <a:t>What is the confidence value?</a:t>
            </a:r>
            <a:endParaRPr lang="en-GB" dirty="0"/>
          </a:p>
        </p:txBody>
      </p:sp>
      <p:pic>
        <p:nvPicPr>
          <p:cNvPr id="4102" name="Picture 6" descr="https://infocenter.informationbuilders.com/wf80/topic/pubdocs/RStat16/source/files/images/rstat_ConfidenceFormul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69" y="3196813"/>
            <a:ext cx="3622883" cy="99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545771" y="3505200"/>
            <a:ext cx="3407229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0070C0"/>
                </a:solidFill>
              </a:rPr>
              <a:t>(!new!) The lift or lift ratio measure of confidence to expected confidence.</a:t>
            </a:r>
          </a:p>
          <a:p>
            <a:endParaRPr lang="en-GB" sz="1600" dirty="0">
              <a:solidFill>
                <a:srgbClr val="0070C0"/>
              </a:solidFill>
            </a:endParaRPr>
          </a:p>
          <a:p>
            <a:r>
              <a:rPr lang="en-GB" sz="1600" dirty="0">
                <a:solidFill>
                  <a:srgbClr val="0070C0"/>
                </a:solidFill>
              </a:rPr>
              <a:t>Expected confidence is the confidence divided by the frequency of B. The Lift tells us how much better a rule is at predicting the result than just assuming the result in the first place. Greater lift values indicate stronger associations. </a:t>
            </a:r>
          </a:p>
          <a:p>
            <a:endParaRPr lang="en-GB" dirty="0"/>
          </a:p>
        </p:txBody>
      </p:sp>
      <p:pic>
        <p:nvPicPr>
          <p:cNvPr id="4104" name="Picture 8" descr="https://infocenter.informationbuilders.com/wf80/topic/pubdocs/RStat16/source/files/images/rstat_LiftFormula_ne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800600"/>
            <a:ext cx="422861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977417" y="441960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Lift ration</a:t>
            </a:r>
          </a:p>
        </p:txBody>
      </p:sp>
    </p:spTree>
    <p:extLst>
      <p:ext uri="{BB962C8B-B14F-4D97-AF65-F5344CB8AC3E}">
        <p14:creationId xmlns:p14="http://schemas.microsoft.com/office/powerpoint/2010/main" val="93767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 &amp; Super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143000"/>
            <a:ext cx="6705458" cy="55626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1800" b="1" dirty="0"/>
              <a:t>Sub-pattern (proper subset)</a:t>
            </a:r>
          </a:p>
          <a:p>
            <a:r>
              <a:rPr lang="en-GB" sz="1800" dirty="0"/>
              <a:t>We call any proper subset of a pattern, a sub-pattern. Here is an example,</a:t>
            </a:r>
          </a:p>
          <a:p>
            <a:r>
              <a:rPr lang="en-GB" sz="1800" dirty="0"/>
              <a:t>If a pattern X contains, 3 items: X={a, b, c}, any proper subsets, such as sets containing a, or b, or c, or ab, or ac, or </a:t>
            </a:r>
            <a:r>
              <a:rPr lang="en-GB" sz="1800" dirty="0" err="1"/>
              <a:t>bc</a:t>
            </a:r>
            <a:r>
              <a:rPr lang="en-GB" sz="1800" dirty="0"/>
              <a:t>, are all sub patterns.</a:t>
            </a:r>
          </a:p>
          <a:p>
            <a:endParaRPr lang="en-GB" sz="1800" dirty="0"/>
          </a:p>
          <a:p>
            <a:r>
              <a:rPr lang="en-GB" sz="1800" dirty="0"/>
              <a:t>Now, suppose we have a pattern with 100 items. How many sub-patterns can we find for this pattern?</a:t>
            </a:r>
          </a:p>
          <a:p>
            <a:r>
              <a:rPr lang="en-GB" sz="1800" dirty="0"/>
              <a:t>A lot, it is more than 10 to the power of 30.</a:t>
            </a:r>
          </a:p>
          <a:p>
            <a:endParaRPr lang="en-GB" sz="1800" dirty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1800" b="1" dirty="0"/>
              <a:t>Super-pattern (proper superset)</a:t>
            </a:r>
          </a:p>
          <a:p>
            <a:r>
              <a:rPr lang="en-GB" sz="1800" dirty="0"/>
              <a:t>A super pattern of a pattern is a proper super set of the pattern. </a:t>
            </a:r>
          </a:p>
          <a:p>
            <a:r>
              <a:rPr lang="en-GB" sz="1800" dirty="0"/>
              <a:t>Here are some examples of the pattern containing the 3 items: a, b, c</a:t>
            </a:r>
          </a:p>
          <a:p>
            <a:r>
              <a:rPr lang="en-GB" sz="1800" dirty="0" err="1"/>
              <a:t>abcd</a:t>
            </a:r>
            <a:r>
              <a:rPr lang="en-GB" sz="1800" dirty="0"/>
              <a:t>, </a:t>
            </a:r>
            <a:r>
              <a:rPr lang="en-GB" sz="1800" dirty="0" err="1"/>
              <a:t>abce</a:t>
            </a:r>
            <a:r>
              <a:rPr lang="en-GB" sz="1800" dirty="0"/>
              <a:t>, </a:t>
            </a:r>
            <a:r>
              <a:rPr lang="en-GB" sz="1800" dirty="0" err="1"/>
              <a:t>abcde</a:t>
            </a:r>
            <a:r>
              <a:rPr lang="en-GB" sz="1800" dirty="0"/>
              <a:t>, …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1648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/>
              <a:t>A </a:t>
            </a:r>
            <a:r>
              <a:rPr lang="en-GB" sz="1800" b="1" dirty="0"/>
              <a:t>closed pattern</a:t>
            </a:r>
            <a:r>
              <a:rPr lang="en-GB" sz="1800" dirty="0"/>
              <a:t> is a frequent pattern. So it meets the minimum support criteria. In addition to that, all super-patterns of a closed pattern are less frequent than the closed pattern.</a:t>
            </a:r>
          </a:p>
          <a:p>
            <a:r>
              <a:rPr lang="en-GB" sz="1800" dirty="0"/>
              <a:t>Formally, this is defined as:</a:t>
            </a:r>
          </a:p>
          <a:p>
            <a:endParaRPr lang="en-GB" dirty="0"/>
          </a:p>
        </p:txBody>
      </p:sp>
      <p:pic>
        <p:nvPicPr>
          <p:cNvPr id="1026" name="Picture 2" descr="https://www.kopo.com/ws/ib.php?s=gfl&amp;fileid=5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365" y="2819400"/>
            <a:ext cx="5105400" cy="149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482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Close Pattern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066800"/>
            <a:ext cx="7162800" cy="5486400"/>
          </a:xfrm>
        </p:spPr>
        <p:txBody>
          <a:bodyPr/>
          <a:lstStyle/>
          <a:p>
            <a:r>
              <a:rPr lang="en-GB" sz="1800" dirty="0"/>
              <a:t>Suppose, </a:t>
            </a:r>
            <a:r>
              <a:rPr lang="en-GB" sz="1800" dirty="0">
                <a:solidFill>
                  <a:srgbClr val="FF0000"/>
                </a:solidFill>
              </a:rPr>
              <a:t>the minimum support count is 2.</a:t>
            </a:r>
          </a:p>
          <a:p>
            <a:r>
              <a:rPr lang="en-GB" sz="1800" dirty="0"/>
              <a:t>For the first example, suppose there are a total of 3 items: a, b, c.</a:t>
            </a:r>
          </a:p>
          <a:p>
            <a:r>
              <a:rPr lang="en-GB" sz="1800" dirty="0"/>
              <a:t>Suppose a pattern ab has support count of 2 and a pattern </a:t>
            </a:r>
            <a:r>
              <a:rPr lang="en-GB" sz="1800" dirty="0" err="1"/>
              <a:t>abc</a:t>
            </a:r>
            <a:r>
              <a:rPr lang="en-GB" sz="1800" dirty="0"/>
              <a:t> has support count of 2.</a:t>
            </a:r>
          </a:p>
          <a:p>
            <a:r>
              <a:rPr lang="en-GB" sz="1800" dirty="0"/>
              <a:t>Is the pattern ab is a closed pattern? </a:t>
            </a:r>
            <a:r>
              <a:rPr lang="en-GB" sz="1800" dirty="0">
                <a:solidFill>
                  <a:srgbClr val="FF0000"/>
                </a:solidFill>
              </a:rPr>
              <a:t>No</a:t>
            </a:r>
          </a:p>
          <a:p>
            <a:r>
              <a:rPr lang="en-GB" sz="1800" dirty="0"/>
              <a:t>Pattern ab is a frequent pattern, but it has a super-pattern that is NOT less frequent than ab.</a:t>
            </a:r>
          </a:p>
          <a:p>
            <a:endParaRPr lang="en-GB" sz="1800" dirty="0"/>
          </a:p>
          <a:p>
            <a:r>
              <a:rPr lang="en-GB" sz="1800" dirty="0"/>
              <a:t>For the second example,</a:t>
            </a:r>
          </a:p>
          <a:p>
            <a:r>
              <a:rPr lang="en-GB" sz="1800" dirty="0"/>
              <a:t>suppose there are a total of 3 items: x, y, z.</a:t>
            </a:r>
          </a:p>
          <a:p>
            <a:r>
              <a:rPr lang="en-GB" sz="1800" dirty="0"/>
              <a:t>suppose a pattern </a:t>
            </a:r>
            <a:r>
              <a:rPr lang="en-GB" sz="1800" dirty="0" err="1"/>
              <a:t>xy</a:t>
            </a:r>
            <a:r>
              <a:rPr lang="en-GB" sz="1800" dirty="0"/>
              <a:t> has support count of 3 and a pattern xyz has support count of 2.</a:t>
            </a:r>
          </a:p>
          <a:p>
            <a:r>
              <a:rPr lang="en-GB" sz="1800" dirty="0"/>
              <a:t>Is the pattern </a:t>
            </a:r>
            <a:r>
              <a:rPr lang="en-GB" sz="1800" dirty="0" err="1"/>
              <a:t>xy</a:t>
            </a:r>
            <a:r>
              <a:rPr lang="en-GB" sz="1800" dirty="0"/>
              <a:t> is a closed pattern? </a:t>
            </a:r>
            <a:r>
              <a:rPr lang="en-GB" sz="1800" dirty="0">
                <a:solidFill>
                  <a:srgbClr val="FF0000"/>
                </a:solidFill>
              </a:rPr>
              <a:t>Yes</a:t>
            </a:r>
          </a:p>
          <a:p>
            <a:r>
              <a:rPr lang="en-GB" sz="1800" dirty="0"/>
              <a:t>Pattern </a:t>
            </a:r>
            <a:r>
              <a:rPr lang="en-GB" sz="1800" dirty="0" err="1"/>
              <a:t>xy</a:t>
            </a:r>
            <a:r>
              <a:rPr lang="en-GB" sz="1800" dirty="0"/>
              <a:t> is a frequent pattern and also the only super-pattern xyz is less frequent than </a:t>
            </a:r>
            <a:r>
              <a:rPr lang="en-GB" sz="1800" dirty="0" err="1"/>
              <a:t>xy</a:t>
            </a:r>
            <a:r>
              <a:rPr lang="en-GB" sz="1800" dirty="0"/>
              <a:t>.</a:t>
            </a:r>
          </a:p>
          <a:p>
            <a:r>
              <a:rPr lang="en-GB" sz="1800" dirty="0"/>
              <a:t>Therefore, </a:t>
            </a:r>
            <a:r>
              <a:rPr lang="en-GB" sz="1800" dirty="0" err="1"/>
              <a:t>xy</a:t>
            </a:r>
            <a:r>
              <a:rPr lang="en-GB" sz="1800" dirty="0"/>
              <a:t> is a closed pattern.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8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892" y="1066801"/>
            <a:ext cx="6705458" cy="5110164"/>
          </a:xfrm>
        </p:spPr>
        <p:txBody>
          <a:bodyPr/>
          <a:lstStyle/>
          <a:p>
            <a:r>
              <a:rPr lang="en-GB" dirty="0"/>
              <a:t>A </a:t>
            </a:r>
            <a:r>
              <a:rPr lang="en-GB" b="1" dirty="0"/>
              <a:t>max pattern</a:t>
            </a:r>
            <a:r>
              <a:rPr lang="en-GB" dirty="0"/>
              <a:t> is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a frequent pattern. So it also meets the minimum support criteria like closed pattern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In addition, but unlike closed pattern, all super-patterns of a max pattern are NOT frequent patterns.</a:t>
            </a:r>
          </a:p>
          <a:p>
            <a:r>
              <a:rPr lang="en-GB" sz="2000" dirty="0"/>
              <a:t>This is formally written as</a:t>
            </a:r>
          </a:p>
          <a:p>
            <a:endParaRPr lang="en-GB" dirty="0"/>
          </a:p>
        </p:txBody>
      </p:sp>
      <p:pic>
        <p:nvPicPr>
          <p:cNvPr id="2050" name="Picture 2" descr="https://www.kopo.com/ws/ib.php?s=gfl&amp;fileid=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352800"/>
            <a:ext cx="414337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3174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 Pattern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066800"/>
            <a:ext cx="6705458" cy="4761979"/>
          </a:xfrm>
        </p:spPr>
        <p:txBody>
          <a:bodyPr/>
          <a:lstStyle/>
          <a:p>
            <a:r>
              <a:rPr lang="en-GB" sz="1800" dirty="0"/>
              <a:t>Suppose, </a:t>
            </a:r>
            <a:r>
              <a:rPr lang="en-GB" sz="1800" dirty="0">
                <a:solidFill>
                  <a:srgbClr val="FF0000"/>
                </a:solidFill>
              </a:rPr>
              <a:t>the minimum support count is 2</a:t>
            </a:r>
            <a:r>
              <a:rPr lang="en-GB" sz="1800" dirty="0"/>
              <a:t>.</a:t>
            </a:r>
          </a:p>
          <a:p>
            <a:r>
              <a:rPr lang="en-GB" sz="1800" dirty="0"/>
              <a:t>Like before, for the first example, suppose there are a total of 3 items: a, b, c.</a:t>
            </a:r>
          </a:p>
          <a:p>
            <a:r>
              <a:rPr lang="en-GB" sz="1800" dirty="0"/>
              <a:t>Suppose a pattern ab has support count of 3 and a pattern </a:t>
            </a:r>
            <a:r>
              <a:rPr lang="en-GB" sz="1800" dirty="0" err="1"/>
              <a:t>abc</a:t>
            </a:r>
            <a:r>
              <a:rPr lang="en-GB" sz="1800" dirty="0"/>
              <a:t> has support count of 2.</a:t>
            </a:r>
          </a:p>
          <a:p>
            <a:r>
              <a:rPr lang="en-GB" sz="1800" dirty="0"/>
              <a:t>Is the pattern ab is a max pattern? </a:t>
            </a:r>
            <a:r>
              <a:rPr lang="en-GB" sz="1800" dirty="0">
                <a:solidFill>
                  <a:srgbClr val="FF0000"/>
                </a:solidFill>
              </a:rPr>
              <a:t>No</a:t>
            </a:r>
          </a:p>
          <a:p>
            <a:r>
              <a:rPr lang="en-GB" sz="1800" dirty="0"/>
              <a:t>Pattern ab is a frequent pattern, but it has a super-pattern that is a frequent pattern as well. So, pattern ab is NOT a max pattern.</a:t>
            </a:r>
          </a:p>
          <a:p>
            <a:endParaRPr lang="en-GB" sz="1800" dirty="0"/>
          </a:p>
          <a:p>
            <a:r>
              <a:rPr lang="en-GB" sz="1800" dirty="0"/>
              <a:t>For the second example,</a:t>
            </a:r>
          </a:p>
          <a:p>
            <a:r>
              <a:rPr lang="en-GB" sz="1800" dirty="0"/>
              <a:t>suppose there are a total of 3 items: x, y, z.</a:t>
            </a:r>
          </a:p>
          <a:p>
            <a:r>
              <a:rPr lang="en-GB" sz="1800" dirty="0"/>
              <a:t>Suppose a pattern </a:t>
            </a:r>
            <a:r>
              <a:rPr lang="en-GB" sz="1800" dirty="0" err="1"/>
              <a:t>xy</a:t>
            </a:r>
            <a:r>
              <a:rPr lang="en-GB" sz="1800" dirty="0"/>
              <a:t> has support count of 3 and a pattern xyz has support count of 1.</a:t>
            </a:r>
          </a:p>
          <a:p>
            <a:r>
              <a:rPr lang="en-GB" sz="1800" dirty="0"/>
              <a:t>Is the pattern </a:t>
            </a:r>
            <a:r>
              <a:rPr lang="en-GB" sz="1800" dirty="0" err="1"/>
              <a:t>xy</a:t>
            </a:r>
            <a:r>
              <a:rPr lang="en-GB" sz="1800" dirty="0"/>
              <a:t> is a max pattern? </a:t>
            </a:r>
            <a:r>
              <a:rPr lang="en-GB" sz="1800" dirty="0">
                <a:solidFill>
                  <a:srgbClr val="FF0000"/>
                </a:solidFill>
              </a:rPr>
              <a:t>Yes</a:t>
            </a:r>
          </a:p>
          <a:p>
            <a:r>
              <a:rPr lang="en-GB" sz="1800" dirty="0"/>
              <a:t>Pattern </a:t>
            </a:r>
            <a:r>
              <a:rPr lang="en-GB" sz="1800" dirty="0" err="1"/>
              <a:t>xy</a:t>
            </a:r>
            <a:r>
              <a:rPr lang="en-GB" sz="1800" dirty="0"/>
              <a:t> is a frequent pattern and also the only super-pattern xyz is NOT a frequent pattern. Therefore, </a:t>
            </a:r>
            <a:r>
              <a:rPr lang="en-GB" sz="1800" dirty="0" err="1"/>
              <a:t>xy</a:t>
            </a:r>
            <a:r>
              <a:rPr lang="en-GB" sz="1800" dirty="0"/>
              <a:t> is a max pattern.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7114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Closed Patterns (CP) and </a:t>
            </a:r>
            <a:br>
              <a:rPr lang="en-US" altLang="en-US" sz="2800" dirty="0"/>
            </a:br>
            <a:r>
              <a:rPr lang="en-US" altLang="en-US" sz="2800" dirty="0"/>
              <a:t>Max-Patterns (MP)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000" dirty="0"/>
              <a:t>A long pattern contains a combinatorial number of sub-patterns, e.g., {a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…, a</a:t>
            </a:r>
            <a:r>
              <a:rPr lang="en-US" altLang="en-US" sz="2000" baseline="-25000" dirty="0"/>
              <a:t>100</a:t>
            </a:r>
            <a:r>
              <a:rPr lang="en-US" altLang="en-US" sz="2000" dirty="0"/>
              <a:t>} </a:t>
            </a:r>
            <a:r>
              <a:rPr lang="en-US" altLang="en-US" sz="2000" dirty="0">
                <a:sym typeface="Wingdings" pitchFamily="2" charset="2"/>
              </a:rPr>
              <a:t>contains</a:t>
            </a:r>
            <a:r>
              <a:rPr lang="en-US" altLang="en-US" sz="2000" dirty="0"/>
              <a:t> (</a:t>
            </a:r>
            <a:r>
              <a:rPr lang="en-US" altLang="en-US" sz="2000" baseline="-25000" dirty="0"/>
              <a:t>100</a:t>
            </a:r>
            <a:r>
              <a:rPr lang="en-US" altLang="en-US" sz="2000" baseline="30000" dirty="0"/>
              <a:t>1</a:t>
            </a:r>
            <a:r>
              <a:rPr lang="en-US" altLang="en-US" sz="2000" dirty="0"/>
              <a:t>) + (</a:t>
            </a:r>
            <a:r>
              <a:rPr lang="en-US" altLang="en-US" sz="2000" baseline="-25000" dirty="0"/>
              <a:t>100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) + … + (</a:t>
            </a:r>
            <a:r>
              <a:rPr lang="en-US" altLang="en-US" sz="2000" baseline="-25000" dirty="0"/>
              <a:t>1</a:t>
            </a:r>
            <a:r>
              <a:rPr lang="en-US" altLang="en-US" sz="2000" baseline="30000" dirty="0"/>
              <a:t>1</a:t>
            </a:r>
            <a:r>
              <a:rPr lang="en-US" altLang="en-US" sz="2000" baseline="-25000" dirty="0"/>
              <a:t>0</a:t>
            </a:r>
            <a:r>
              <a:rPr lang="en-US" altLang="en-US" sz="2000" baseline="30000" dirty="0"/>
              <a:t>0</a:t>
            </a:r>
            <a:r>
              <a:rPr lang="en-US" altLang="en-US" sz="2000" baseline="-25000" dirty="0"/>
              <a:t>0</a:t>
            </a:r>
            <a:r>
              <a:rPr lang="en-US" altLang="en-US" sz="2000" baseline="30000" dirty="0"/>
              <a:t>0</a:t>
            </a:r>
            <a:r>
              <a:rPr lang="en-US" altLang="en-US" sz="2000" dirty="0"/>
              <a:t>) = 2</a:t>
            </a:r>
            <a:r>
              <a:rPr lang="en-US" altLang="en-US" sz="2000" baseline="30000" dirty="0"/>
              <a:t>100 </a:t>
            </a:r>
            <a:r>
              <a:rPr lang="en-US" altLang="en-US" sz="2000" dirty="0"/>
              <a:t>– 1 = 1.27*10</a:t>
            </a:r>
            <a:r>
              <a:rPr lang="en-US" altLang="en-US" sz="2000" baseline="30000" dirty="0"/>
              <a:t>30 </a:t>
            </a:r>
            <a:r>
              <a:rPr lang="en-US" altLang="en-US" sz="2000" dirty="0"/>
              <a:t>sub-patterns!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rgbClr val="FF0000"/>
                </a:solidFill>
              </a:rPr>
              <a:t>Solution:</a:t>
            </a:r>
            <a:r>
              <a:rPr lang="en-US" altLang="en-US" sz="2000" dirty="0"/>
              <a:t> </a:t>
            </a:r>
            <a:r>
              <a:rPr lang="en-US" altLang="en-US" sz="2000" i="1" dirty="0"/>
              <a:t>Mine </a:t>
            </a:r>
            <a:r>
              <a:rPr lang="en-US" altLang="en-US" sz="2000" i="1" dirty="0">
                <a:solidFill>
                  <a:schemeClr val="hlink"/>
                </a:solidFill>
              </a:rPr>
              <a:t>closed patterns</a:t>
            </a:r>
            <a:r>
              <a:rPr lang="en-US" altLang="en-US" sz="2000" i="1" dirty="0"/>
              <a:t> and </a:t>
            </a:r>
            <a:r>
              <a:rPr lang="en-US" altLang="en-US" sz="2000" i="1" dirty="0">
                <a:solidFill>
                  <a:schemeClr val="hlink"/>
                </a:solidFill>
              </a:rPr>
              <a:t>max-patterns</a:t>
            </a:r>
            <a:r>
              <a:rPr lang="en-US" altLang="en-US" sz="2000" i="1" dirty="0"/>
              <a:t> instead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An itemset X</a:t>
            </a:r>
            <a:r>
              <a:rPr lang="en-US" altLang="en-US" sz="2000" dirty="0">
                <a:solidFill>
                  <a:schemeClr val="hlink"/>
                </a:solidFill>
              </a:rPr>
              <a:t> </a:t>
            </a:r>
            <a:r>
              <a:rPr lang="en-US" altLang="en-US" sz="2000" dirty="0"/>
              <a:t>is </a:t>
            </a:r>
            <a:r>
              <a:rPr lang="en-US" altLang="en-US" sz="2000" dirty="0">
                <a:solidFill>
                  <a:schemeClr val="hlink"/>
                </a:solidFill>
              </a:rPr>
              <a:t>closed </a:t>
            </a:r>
            <a:r>
              <a:rPr lang="en-US" altLang="en-US" sz="2000" dirty="0"/>
              <a:t>if X is </a:t>
            </a:r>
            <a:r>
              <a:rPr lang="en-US" altLang="en-US" sz="2000" i="1" dirty="0"/>
              <a:t>frequent</a:t>
            </a:r>
            <a:r>
              <a:rPr lang="en-US" altLang="en-US" sz="2000" dirty="0"/>
              <a:t> and there exists </a:t>
            </a:r>
            <a:r>
              <a:rPr lang="en-US" altLang="en-US" sz="2000" i="1" dirty="0"/>
              <a:t>no super-pattern</a:t>
            </a:r>
            <a:r>
              <a:rPr lang="en-US" altLang="en-US" sz="2000" dirty="0"/>
              <a:t> Y </a:t>
            </a:r>
            <a:r>
              <a:rPr lang="he-IL" altLang="en-US" sz="2000" dirty="0"/>
              <a:t>כ</a:t>
            </a:r>
            <a:r>
              <a:rPr lang="en-US" altLang="en-US" sz="2000" dirty="0"/>
              <a:t> X, </a:t>
            </a:r>
            <a:r>
              <a:rPr lang="en-US" altLang="en-US" sz="2000" i="1" dirty="0"/>
              <a:t>with the same support</a:t>
            </a:r>
            <a:r>
              <a:rPr lang="en-US" altLang="en-US" sz="2000" dirty="0"/>
              <a:t> as X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/>
              <a:t>An itemset X is a </a:t>
            </a:r>
            <a:r>
              <a:rPr lang="en-US" altLang="en-US" sz="2000" dirty="0">
                <a:solidFill>
                  <a:schemeClr val="hlink"/>
                </a:solidFill>
              </a:rPr>
              <a:t>max-pattern</a:t>
            </a:r>
            <a:r>
              <a:rPr lang="en-US" altLang="en-US" sz="2000" dirty="0"/>
              <a:t> if X is frequent and there exists no frequent super-pattern Y </a:t>
            </a:r>
            <a:r>
              <a:rPr lang="he-IL" altLang="en-US" sz="2000" dirty="0"/>
              <a:t>כ</a:t>
            </a:r>
            <a:r>
              <a:rPr lang="en-US" altLang="en-US" sz="2000" dirty="0"/>
              <a:t> X </a:t>
            </a:r>
          </a:p>
          <a:p>
            <a:pPr>
              <a:lnSpc>
                <a:spcPct val="110000"/>
              </a:lnSpc>
            </a:pPr>
            <a:r>
              <a:rPr lang="en-US" altLang="en-US" sz="2000" dirty="0">
                <a:solidFill>
                  <a:schemeClr val="accent2"/>
                </a:solidFill>
              </a:rPr>
              <a:t>Closed pattern is a lossless compression of freq. patterns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>
                <a:solidFill>
                  <a:schemeClr val="accent2"/>
                </a:solidFill>
              </a:rPr>
              <a:t>Reducing the # of patterns and rules</a:t>
            </a:r>
            <a:endParaRPr lang="en-GB" altLang="en-US" sz="2000" dirty="0">
              <a:solidFill>
                <a:schemeClr val="accent2"/>
              </a:solidFill>
            </a:endParaRPr>
          </a:p>
          <a:p>
            <a:pPr>
              <a:lnSpc>
                <a:spcPct val="110000"/>
              </a:lnSpc>
            </a:pPr>
            <a:r>
              <a:rPr lang="en-GB" altLang="en-US" sz="2000" dirty="0">
                <a:solidFill>
                  <a:schemeClr val="accent2"/>
                </a:solidFill>
              </a:rPr>
              <a:t>Max-pattern is a </a:t>
            </a:r>
            <a:r>
              <a:rPr lang="en-GB" altLang="en-US" sz="2000" dirty="0" err="1">
                <a:solidFill>
                  <a:schemeClr val="accent2"/>
                </a:solidFill>
              </a:rPr>
              <a:t>lossy</a:t>
            </a:r>
            <a:r>
              <a:rPr lang="en-GB" altLang="en-US" sz="2000" dirty="0">
                <a:solidFill>
                  <a:schemeClr val="accent2"/>
                </a:solidFill>
              </a:rPr>
              <a:t> compression</a:t>
            </a:r>
            <a:endParaRPr lang="en-US" altLang="en-US" sz="1200" dirty="0">
              <a:solidFill>
                <a:schemeClr val="accent2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GB" altLang="en-US" sz="2000" dirty="0">
                <a:solidFill>
                  <a:schemeClr val="accent2"/>
                </a:solidFill>
              </a:rPr>
              <a:t>We only know max-pattern is freq. pattern but not sure the frequent support numbers.</a:t>
            </a:r>
          </a:p>
        </p:txBody>
      </p:sp>
    </p:spTree>
    <p:extLst>
      <p:ext uri="{BB962C8B-B14F-4D97-AF65-F5344CB8AC3E}">
        <p14:creationId xmlns:p14="http://schemas.microsoft.com/office/powerpoint/2010/main" val="969167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Computational Complexity of Frequent Itemset Mining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ea typeface="SimSun" pitchFamily="2" charset="-122"/>
              </a:rPr>
              <a:t>How many </a:t>
            </a:r>
            <a:r>
              <a:rPr lang="en-US" altLang="zh-CN" sz="1600" dirty="0" err="1">
                <a:ea typeface="SimSun" pitchFamily="2" charset="-122"/>
              </a:rPr>
              <a:t>itemsets</a:t>
            </a:r>
            <a:r>
              <a:rPr lang="en-US" altLang="zh-CN" sz="1600" dirty="0">
                <a:ea typeface="SimSun" pitchFamily="2" charset="-122"/>
              </a:rPr>
              <a:t> are potentially to be generated in the worst case?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The number of frequent </a:t>
            </a:r>
            <a:r>
              <a:rPr lang="en-US" altLang="zh-CN" dirty="0" err="1">
                <a:ea typeface="SimSun" pitchFamily="2" charset="-122"/>
              </a:rPr>
              <a:t>itemsets</a:t>
            </a:r>
            <a:r>
              <a:rPr lang="en-US" altLang="zh-CN" dirty="0">
                <a:ea typeface="SimSun" pitchFamily="2" charset="-122"/>
              </a:rPr>
              <a:t> to be generated is sensitive to the </a:t>
            </a:r>
            <a:r>
              <a:rPr lang="en-US" altLang="zh-CN" dirty="0" err="1">
                <a:ea typeface="SimSun" pitchFamily="2" charset="-122"/>
              </a:rPr>
              <a:t>minsup</a:t>
            </a:r>
            <a:r>
              <a:rPr lang="en-US" altLang="zh-CN" dirty="0">
                <a:ea typeface="SimSun" pitchFamily="2" charset="-122"/>
              </a:rPr>
              <a:t> threshold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When </a:t>
            </a:r>
            <a:r>
              <a:rPr lang="en-US" altLang="zh-CN" dirty="0" err="1">
                <a:ea typeface="SimSun" pitchFamily="2" charset="-122"/>
              </a:rPr>
              <a:t>minsup</a:t>
            </a:r>
            <a:r>
              <a:rPr lang="en-US" altLang="zh-CN" dirty="0">
                <a:ea typeface="SimSun" pitchFamily="2" charset="-122"/>
              </a:rPr>
              <a:t> is low, there exist potentially an exponential number of frequent </a:t>
            </a:r>
            <a:r>
              <a:rPr lang="en-US" altLang="zh-CN" dirty="0" err="1">
                <a:ea typeface="SimSun" pitchFamily="2" charset="-122"/>
              </a:rPr>
              <a:t>itemsets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The worst case: M</a:t>
            </a:r>
            <a:r>
              <a:rPr lang="en-US" altLang="zh-CN" baseline="30000" dirty="0">
                <a:ea typeface="SimSun" pitchFamily="2" charset="-122"/>
              </a:rPr>
              <a:t>N</a:t>
            </a:r>
            <a:r>
              <a:rPr lang="en-US" altLang="zh-CN" dirty="0">
                <a:ea typeface="SimSun" pitchFamily="2" charset="-122"/>
              </a:rPr>
              <a:t> where M: # distinct items, and N: max length of transactions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ea typeface="SimSun" pitchFamily="2" charset="-122"/>
              </a:rPr>
              <a:t>The worst case complexity vs. the expected probability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Ex. Suppose TESCO has 10</a:t>
            </a:r>
            <a:r>
              <a:rPr lang="en-US" altLang="zh-CN" baseline="30000" dirty="0">
                <a:ea typeface="SimSun" pitchFamily="2" charset="-122"/>
              </a:rPr>
              <a:t>4</a:t>
            </a:r>
            <a:r>
              <a:rPr lang="en-US" altLang="zh-CN" dirty="0">
                <a:ea typeface="SimSun" pitchFamily="2" charset="-122"/>
              </a:rPr>
              <a:t> kinds of products </a:t>
            </a:r>
          </a:p>
          <a:p>
            <a:pPr lvl="2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The chance to pick up one product 10</a:t>
            </a:r>
            <a:r>
              <a:rPr lang="en-US" altLang="zh-CN" baseline="30000" dirty="0">
                <a:ea typeface="SimSun" pitchFamily="2" charset="-122"/>
              </a:rPr>
              <a:t>-4</a:t>
            </a:r>
          </a:p>
          <a:p>
            <a:pPr lvl="2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The chance to pick up a particular set of 10 products: ~10</a:t>
            </a:r>
            <a:r>
              <a:rPr lang="en-US" altLang="zh-CN" baseline="30000" dirty="0">
                <a:ea typeface="SimSun" pitchFamily="2" charset="-122"/>
              </a:rPr>
              <a:t>-40</a:t>
            </a:r>
          </a:p>
          <a:p>
            <a:pPr lvl="2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What is the chance this particular set of 10 products to be frequent 10</a:t>
            </a:r>
            <a:r>
              <a:rPr lang="en-US" altLang="zh-CN" baseline="30000" dirty="0">
                <a:ea typeface="SimSun" pitchFamily="2" charset="-122"/>
              </a:rPr>
              <a:t>3</a:t>
            </a:r>
            <a:r>
              <a:rPr lang="en-US" altLang="zh-CN" dirty="0">
                <a:ea typeface="SimSun" pitchFamily="2" charset="-122"/>
              </a:rPr>
              <a:t> times in 10</a:t>
            </a:r>
            <a:r>
              <a:rPr lang="en-US" altLang="zh-CN" baseline="30000" dirty="0">
                <a:ea typeface="SimSun" pitchFamily="2" charset="-122"/>
              </a:rPr>
              <a:t>9</a:t>
            </a:r>
            <a:r>
              <a:rPr lang="en-US" altLang="zh-CN" dirty="0">
                <a:ea typeface="SimSun" pitchFamily="2" charset="-122"/>
              </a:rPr>
              <a:t> transactions?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2557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Basic Concepts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0000"/>
                </a:solidFill>
              </a:rPr>
              <a:t>Frequent Itemset Mining Methods 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Which Patterns Are Interesting?—Pattern Evaluation Methods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Summary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3223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Downward Closure Property and Scalable Mining Methods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Three major approaches</a:t>
            </a:r>
          </a:p>
          <a:p>
            <a:pPr lvl="1"/>
            <a:r>
              <a:rPr lang="en-US" altLang="en-US" sz="2400" dirty="0" err="1"/>
              <a:t>Apriori</a:t>
            </a:r>
            <a:r>
              <a:rPr lang="en-US" altLang="en-US" sz="2400" dirty="0"/>
              <a:t> (Agrawal &amp; Srikant@VLDB’94)</a:t>
            </a:r>
          </a:p>
          <a:p>
            <a:pPr lvl="1"/>
            <a:r>
              <a:rPr lang="en-US" altLang="en-US" sz="2400" dirty="0"/>
              <a:t>Freq. pattern growth (</a:t>
            </a:r>
            <a:r>
              <a:rPr lang="en-US" altLang="en-US" sz="2400" dirty="0" err="1"/>
              <a:t>FPgrowth</a:t>
            </a:r>
            <a:r>
              <a:rPr lang="en-US" altLang="en-US" sz="2400" dirty="0"/>
              <a:t>—Han, Pei &amp; Yin @SIGMOD’00)</a:t>
            </a:r>
          </a:p>
          <a:p>
            <a:pPr lvl="1"/>
            <a:r>
              <a:rPr lang="en-US" altLang="en-US" sz="2400" dirty="0"/>
              <a:t>Vertical data format approach (Charm—</a:t>
            </a:r>
            <a:r>
              <a:rPr lang="en-US" altLang="en-US" sz="2400" dirty="0" err="1"/>
              <a:t>Zaki</a:t>
            </a:r>
            <a:r>
              <a:rPr lang="en-US" altLang="en-US" sz="2400" dirty="0"/>
              <a:t> &amp; Hsiao @SDM’02)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0578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Apriori: A Candidate Generation &amp; Test Approach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dirty="0"/>
              <a:t>Method: 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Initially, scan DB once to get frequent 1-itemset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Generate length (k+1) candidate 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from length k frequent </a:t>
            </a:r>
            <a:r>
              <a:rPr lang="en-US" altLang="en-US" sz="2400" dirty="0" err="1"/>
              <a:t>itemsets</a:t>
            </a:r>
            <a:endParaRPr lang="en-US" altLang="en-US" sz="2400" dirty="0"/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Test the candidates against DB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Terminate when no frequent or candidate set can be generated</a:t>
            </a:r>
          </a:p>
          <a:p>
            <a:pPr>
              <a:lnSpc>
                <a:spcPct val="120000"/>
              </a:lnSpc>
            </a:pPr>
            <a:r>
              <a:rPr lang="en-US" altLang="en-US" sz="2000" u="sng" dirty="0"/>
              <a:t>Apriori pruning principle</a:t>
            </a:r>
            <a:r>
              <a:rPr lang="en-US" altLang="en-US" sz="2000" dirty="0"/>
              <a:t>: If there is any itemset which is infrequent, its superset should not be generated/tested! (Agrawal &amp; </a:t>
            </a:r>
            <a:r>
              <a:rPr lang="en-US" altLang="en-US" sz="2000" dirty="0" err="1"/>
              <a:t>Srikant</a:t>
            </a:r>
            <a:r>
              <a:rPr lang="en-US" altLang="en-US" sz="2000" dirty="0"/>
              <a:t> @VLDB’94, </a:t>
            </a:r>
            <a:r>
              <a:rPr lang="en-US" altLang="en-US" sz="2000" dirty="0" err="1"/>
              <a:t>Mannila</a:t>
            </a:r>
            <a:r>
              <a:rPr lang="en-US" altLang="en-US" sz="2000" dirty="0"/>
              <a:t>, et al. @ KDD’ 94)</a:t>
            </a:r>
          </a:p>
          <a:p>
            <a:pPr lvl="1">
              <a:lnSpc>
                <a:spcPct val="120000"/>
              </a:lnSpc>
            </a:pPr>
            <a:endParaRPr lang="en-US" altLang="en-US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7554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 Apriori Algorithm—An Example </a:t>
            </a:r>
            <a:endParaRPr lang="en-GB" sz="28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317170"/>
            <a:ext cx="7185902" cy="4550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0636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dirty="0"/>
              <a:t>The Apriori Algorithm - Pseudo-Code</a:t>
            </a:r>
            <a:endParaRPr lang="en-GB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942" y="1295400"/>
            <a:ext cx="6705458" cy="4761979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i="1" dirty="0"/>
              <a:t>C</a:t>
            </a:r>
            <a:r>
              <a:rPr lang="en-US" altLang="en-US" i="1" baseline="-25000" dirty="0"/>
              <a:t>k</a:t>
            </a:r>
            <a:r>
              <a:rPr lang="en-US" altLang="en-US" dirty="0"/>
              <a:t>: Candidate itemset of size k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 : frequent itemset of size k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en-US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i="1" dirty="0"/>
              <a:t>L</a:t>
            </a:r>
            <a:r>
              <a:rPr lang="en-US" altLang="en-US" i="1" baseline="-25000" dirty="0"/>
              <a:t>1</a:t>
            </a:r>
            <a:r>
              <a:rPr lang="en-US" altLang="en-US" dirty="0"/>
              <a:t> = {frequent items};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F83F24"/>
                </a:solidFill>
              </a:rPr>
              <a:t>for</a:t>
            </a:r>
            <a:r>
              <a:rPr lang="en-US" altLang="en-US" b="1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k</a:t>
            </a:r>
            <a:r>
              <a:rPr lang="en-US" altLang="en-US" dirty="0"/>
              <a:t> = 1;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 !=</a:t>
            </a:r>
            <a:r>
              <a:rPr lang="en-US" altLang="en-US" dirty="0">
                <a:sym typeface="Symbol" pitchFamily="18" charset="2"/>
              </a:rPr>
              <a:t></a:t>
            </a:r>
            <a:r>
              <a:rPr lang="en-US" altLang="en-US" dirty="0"/>
              <a:t>; </a:t>
            </a:r>
            <a:r>
              <a:rPr lang="en-US" altLang="en-US" i="1" dirty="0"/>
              <a:t>k</a:t>
            </a:r>
            <a:r>
              <a:rPr lang="en-US" altLang="en-US" dirty="0"/>
              <a:t>++) </a:t>
            </a:r>
            <a:r>
              <a:rPr lang="en-US" altLang="en-US" b="1" dirty="0">
                <a:solidFill>
                  <a:srgbClr val="F83F24"/>
                </a:solidFill>
              </a:rPr>
              <a:t>do begin</a:t>
            </a:r>
            <a:endParaRPr lang="en-US" altLang="en-US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dirty="0"/>
              <a:t>    </a:t>
            </a:r>
            <a:r>
              <a:rPr lang="en-US" altLang="en-US" i="1" dirty="0"/>
              <a:t>C</a:t>
            </a:r>
            <a:r>
              <a:rPr lang="en-US" altLang="en-US" i="1" baseline="-25000" dirty="0"/>
              <a:t>k+1</a:t>
            </a:r>
            <a:r>
              <a:rPr lang="en-US" altLang="en-US" dirty="0"/>
              <a:t> = candidates generated from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;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dirty="0"/>
              <a:t>    </a:t>
            </a:r>
            <a:r>
              <a:rPr lang="en-US" altLang="en-US" b="1" dirty="0">
                <a:solidFill>
                  <a:srgbClr val="F83F24"/>
                </a:solidFill>
              </a:rPr>
              <a:t>for each</a:t>
            </a:r>
            <a:r>
              <a:rPr lang="en-US" altLang="en-US" dirty="0"/>
              <a:t> transaction </a:t>
            </a:r>
            <a:r>
              <a:rPr lang="en-US" altLang="en-US" i="1" dirty="0"/>
              <a:t>t</a:t>
            </a:r>
            <a:r>
              <a:rPr lang="en-US" altLang="en-US" dirty="0"/>
              <a:t> in database do</a:t>
            </a:r>
          </a:p>
          <a:p>
            <a:pPr lvl="1">
              <a:lnSpc>
                <a:spcPct val="110000"/>
              </a:lnSpc>
              <a:spcBef>
                <a:spcPct val="0"/>
              </a:spcBef>
              <a:buNone/>
            </a:pPr>
            <a:r>
              <a:rPr lang="en-US" altLang="en-US" sz="2400" dirty="0"/>
              <a:t>  increment the count of all candidates in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k+1</a:t>
            </a:r>
            <a:r>
              <a:rPr lang="en-US" altLang="en-US" sz="2400" dirty="0"/>
              <a:t> that are contained in </a:t>
            </a:r>
            <a:r>
              <a:rPr lang="en-US" altLang="en-US" sz="2400" i="1" dirty="0"/>
              <a:t>t</a:t>
            </a:r>
            <a:endParaRPr lang="en-US" altLang="en-US" sz="2400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dirty="0"/>
              <a:t>   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k+1</a:t>
            </a:r>
            <a:r>
              <a:rPr lang="en-US" altLang="en-US" dirty="0"/>
              <a:t>  = candidates in </a:t>
            </a:r>
            <a:r>
              <a:rPr lang="en-US" altLang="en-US" i="1" dirty="0"/>
              <a:t>C</a:t>
            </a:r>
            <a:r>
              <a:rPr lang="en-US" altLang="en-US" i="1" baseline="-25000" dirty="0"/>
              <a:t>k+1</a:t>
            </a:r>
            <a:r>
              <a:rPr lang="en-US" altLang="en-US" dirty="0"/>
              <a:t> with </a:t>
            </a:r>
            <a:r>
              <a:rPr lang="en-US" altLang="en-US" dirty="0" err="1"/>
              <a:t>min_support</a:t>
            </a:r>
            <a:endParaRPr lang="en-US" altLang="en-US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dirty="0"/>
              <a:t>   </a:t>
            </a:r>
            <a:r>
              <a:rPr lang="en-US" altLang="en-US" b="1" dirty="0">
                <a:solidFill>
                  <a:srgbClr val="F83F24"/>
                </a:solidFill>
              </a:rPr>
              <a:t> end</a:t>
            </a:r>
            <a:endParaRPr lang="en-US" altLang="en-US" dirty="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en-US" b="1" dirty="0">
                <a:solidFill>
                  <a:srgbClr val="F83F24"/>
                </a:solidFill>
              </a:rPr>
              <a:t>return</a:t>
            </a:r>
            <a:r>
              <a:rPr lang="en-US" altLang="en-US" dirty="0"/>
              <a:t> </a:t>
            </a:r>
            <a:r>
              <a:rPr lang="en-US" altLang="en-US" dirty="0">
                <a:sym typeface="Symbol" pitchFamily="18" charset="2"/>
              </a:rPr>
              <a:t></a:t>
            </a:r>
            <a:r>
              <a:rPr lang="en-US" altLang="en-US" i="1" baseline="-25000" dirty="0"/>
              <a:t>k</a:t>
            </a:r>
            <a:r>
              <a:rPr lang="en-US" altLang="en-US" dirty="0"/>
              <a:t>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k</a:t>
            </a:r>
            <a:r>
              <a:rPr lang="en-US" altLang="en-US" dirty="0"/>
              <a:t>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7758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Further Improvement of the Apriori Method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000" dirty="0"/>
              <a:t>Major computational challenges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Multiple scans of transaction database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Huge number of candidates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Tedious workload of support counting for candidates</a:t>
            </a:r>
          </a:p>
          <a:p>
            <a:pPr>
              <a:lnSpc>
                <a:spcPct val="130000"/>
              </a:lnSpc>
            </a:pPr>
            <a:r>
              <a:rPr lang="en-US" altLang="en-US" sz="2000" dirty="0"/>
              <a:t>Improving Apriori: general ideas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Reduce passes of transaction database scans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Shrink number of candidates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Facilitate support counting of candidates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3262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Partition: Scan Database Only Twice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Any itemset that is potentially frequent in DB must be frequent in at least one of the partitions of DB</a:t>
            </a:r>
          </a:p>
          <a:p>
            <a:pPr lvl="1"/>
            <a:r>
              <a:rPr lang="en-US" altLang="en-US" sz="2400" dirty="0"/>
              <a:t>Scan 1: partition database and find local frequent patterns</a:t>
            </a:r>
          </a:p>
          <a:p>
            <a:pPr lvl="1"/>
            <a:r>
              <a:rPr lang="en-US" altLang="en-US" sz="2400" dirty="0"/>
              <a:t>Scan 2: consolidate global frequent patterns</a:t>
            </a:r>
          </a:p>
          <a:p>
            <a:endParaRPr lang="en-GB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114800"/>
            <a:ext cx="6955417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4476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65126"/>
            <a:ext cx="7181707" cy="595996"/>
          </a:xfrm>
        </p:spPr>
        <p:txBody>
          <a:bodyPr/>
          <a:lstStyle/>
          <a:p>
            <a:r>
              <a:rPr lang="en-US" altLang="en-US" sz="2800" dirty="0"/>
              <a:t>DHP: Reduce the Number of Candidates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000" dirty="0"/>
              <a:t>A </a:t>
            </a:r>
            <a:r>
              <a:rPr lang="en-US" altLang="en-US" sz="2000" i="1" dirty="0"/>
              <a:t>k</a:t>
            </a:r>
            <a:r>
              <a:rPr lang="en-US" altLang="en-US" sz="2000" dirty="0"/>
              <a:t>-itemset whose corresponding hashing bucket count is below the threshold cannot be frequent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Candidates: a, b, c, d, e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Hash entries</a:t>
            </a:r>
          </a:p>
          <a:p>
            <a:pPr lvl="2">
              <a:lnSpc>
                <a:spcPct val="130000"/>
              </a:lnSpc>
            </a:pPr>
            <a:r>
              <a:rPr lang="en-US" altLang="en-US" sz="2000" dirty="0"/>
              <a:t>{ab, ad, ae}</a:t>
            </a:r>
          </a:p>
          <a:p>
            <a:pPr lvl="2">
              <a:lnSpc>
                <a:spcPct val="130000"/>
              </a:lnSpc>
            </a:pPr>
            <a:r>
              <a:rPr lang="en-US" altLang="en-US" sz="2000" dirty="0"/>
              <a:t>{</a:t>
            </a:r>
            <a:r>
              <a:rPr lang="en-US" altLang="en-US" sz="2000" dirty="0" err="1"/>
              <a:t>bd</a:t>
            </a:r>
            <a:r>
              <a:rPr lang="en-US" altLang="en-US" sz="2000" dirty="0"/>
              <a:t>, be, de} </a:t>
            </a:r>
          </a:p>
          <a:p>
            <a:pPr lvl="2">
              <a:lnSpc>
                <a:spcPct val="130000"/>
              </a:lnSpc>
            </a:pPr>
            <a:r>
              <a:rPr lang="en-US" altLang="en-US" sz="2000" dirty="0"/>
              <a:t>…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Frequent 1-itemset: a, b, d, e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ab is not a candidate 2-itemset if the sum of count of {ab, ad, ae} is below support threshold</a:t>
            </a:r>
          </a:p>
          <a:p>
            <a:r>
              <a:rPr lang="en-US" altLang="en-US" sz="2000" dirty="0"/>
              <a:t>J. Park, M. Chen, and P. Yu. </a:t>
            </a:r>
            <a:r>
              <a:rPr lang="en-US" altLang="en-US" sz="2000" dirty="0">
                <a:solidFill>
                  <a:schemeClr val="tx2"/>
                </a:solidFill>
              </a:rPr>
              <a:t>An effective hash-based algorithm for mining association rules</a:t>
            </a:r>
            <a:r>
              <a:rPr lang="en-US" altLang="en-US" sz="2000" dirty="0"/>
              <a:t>. </a:t>
            </a:r>
            <a:r>
              <a:rPr lang="en-US" altLang="en-US" sz="2000" i="1" dirty="0">
                <a:solidFill>
                  <a:schemeClr val="tx2"/>
                </a:solidFill>
              </a:rPr>
              <a:t>SIGMOD’95</a:t>
            </a:r>
          </a:p>
          <a:p>
            <a:endParaRPr lang="en-GB" dirty="0"/>
          </a:p>
        </p:txBody>
      </p: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6431266" y="2165836"/>
            <a:ext cx="2133600" cy="2547938"/>
            <a:chOff x="5715000" y="1981200"/>
            <a:chExt cx="2133600" cy="2548354"/>
          </a:xfrm>
        </p:grpSpPr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5715000" y="1981200"/>
              <a:ext cx="2133600" cy="25146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6" name="Straight Connector 8"/>
            <p:cNvCxnSpPr>
              <a:cxnSpLocks noChangeShapeType="1"/>
            </p:cNvCxnSpPr>
            <p:nvPr/>
          </p:nvCxnSpPr>
          <p:spPr bwMode="auto">
            <a:xfrm>
              <a:off x="5715000" y="2360612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Straight Connector 10"/>
            <p:cNvCxnSpPr>
              <a:cxnSpLocks noChangeShapeType="1"/>
            </p:cNvCxnSpPr>
            <p:nvPr/>
          </p:nvCxnSpPr>
          <p:spPr bwMode="auto">
            <a:xfrm>
              <a:off x="5715000" y="2667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Straight Connector 11"/>
            <p:cNvCxnSpPr>
              <a:cxnSpLocks noChangeShapeType="1"/>
            </p:cNvCxnSpPr>
            <p:nvPr/>
          </p:nvCxnSpPr>
          <p:spPr bwMode="auto">
            <a:xfrm>
              <a:off x="5715000" y="3048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Straight Connector 12"/>
            <p:cNvCxnSpPr>
              <a:cxnSpLocks noChangeShapeType="1"/>
            </p:cNvCxnSpPr>
            <p:nvPr/>
          </p:nvCxnSpPr>
          <p:spPr bwMode="auto">
            <a:xfrm>
              <a:off x="5715000" y="4191000"/>
              <a:ext cx="2133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" name="Straight Connector 14"/>
            <p:cNvCxnSpPr>
              <a:cxnSpLocks noChangeShapeType="1"/>
            </p:cNvCxnSpPr>
            <p:nvPr/>
          </p:nvCxnSpPr>
          <p:spPr bwMode="auto">
            <a:xfrm rot="5400000">
              <a:off x="5143500" y="3238500"/>
              <a:ext cx="2514600" cy="15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" name="TextBox 15"/>
            <p:cNvSpPr txBox="1">
              <a:spLocks noChangeArrowheads="1"/>
            </p:cNvSpPr>
            <p:nvPr/>
          </p:nvSpPr>
          <p:spPr bwMode="auto">
            <a:xfrm>
              <a:off x="5715000" y="1981200"/>
              <a:ext cx="7489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800"/>
                <a:t>count</a:t>
              </a:r>
            </a:p>
          </p:txBody>
        </p:sp>
        <p:sp>
          <p:nvSpPr>
            <p:cNvPr id="12" name="TextBox 16"/>
            <p:cNvSpPr txBox="1">
              <a:spLocks noChangeArrowheads="1"/>
            </p:cNvSpPr>
            <p:nvPr/>
          </p:nvSpPr>
          <p:spPr bwMode="auto">
            <a:xfrm>
              <a:off x="6553200" y="1981200"/>
              <a:ext cx="1066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800"/>
                <a:t>itemsets</a:t>
              </a:r>
            </a:p>
          </p:txBody>
        </p:sp>
        <p:sp>
          <p:nvSpPr>
            <p:cNvPr id="13" name="TextBox 17"/>
            <p:cNvSpPr txBox="1">
              <a:spLocks noChangeArrowheads="1"/>
            </p:cNvSpPr>
            <p:nvPr/>
          </p:nvSpPr>
          <p:spPr bwMode="auto">
            <a:xfrm>
              <a:off x="5867400" y="2404646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35</a:t>
              </a:r>
            </a:p>
          </p:txBody>
        </p:sp>
        <p:sp>
          <p:nvSpPr>
            <p:cNvPr id="14" name="TextBox 18"/>
            <p:cNvSpPr txBox="1">
              <a:spLocks noChangeArrowheads="1"/>
            </p:cNvSpPr>
            <p:nvPr/>
          </p:nvSpPr>
          <p:spPr bwMode="auto">
            <a:xfrm>
              <a:off x="6477000" y="2362200"/>
              <a:ext cx="1371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{ab, ad, ae}</a:t>
              </a:r>
            </a:p>
          </p:txBody>
        </p:sp>
        <p:sp>
          <p:nvSpPr>
            <p:cNvPr id="15" name="TextBox 19"/>
            <p:cNvSpPr txBox="1">
              <a:spLocks noChangeArrowheads="1"/>
            </p:cNvSpPr>
            <p:nvPr/>
          </p:nvSpPr>
          <p:spPr bwMode="auto">
            <a:xfrm>
              <a:off x="6400800" y="4191000"/>
              <a:ext cx="1371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 dirty="0"/>
                <a:t>{</a:t>
              </a:r>
              <a:r>
                <a:rPr lang="en-US" altLang="en-US" sz="1600" dirty="0" err="1"/>
                <a:t>yz</a:t>
              </a:r>
              <a:r>
                <a:rPr lang="en-US" altLang="en-US" sz="1600" dirty="0"/>
                <a:t>, </a:t>
              </a:r>
              <a:r>
                <a:rPr lang="en-US" altLang="en-US" sz="1600" dirty="0" err="1"/>
                <a:t>qs</a:t>
              </a:r>
              <a:r>
                <a:rPr lang="en-US" altLang="en-US" sz="1600" dirty="0"/>
                <a:t>, </a:t>
              </a:r>
              <a:r>
                <a:rPr lang="en-US" altLang="en-US" sz="1600" dirty="0" err="1"/>
                <a:t>wt</a:t>
              </a:r>
              <a:r>
                <a:rPr lang="en-US" altLang="en-US" sz="1600" dirty="0"/>
                <a:t>}</a:t>
              </a:r>
            </a:p>
          </p:txBody>
        </p:sp>
        <p:sp>
          <p:nvSpPr>
            <p:cNvPr id="16" name="TextBox 20"/>
            <p:cNvSpPr txBox="1">
              <a:spLocks noChangeArrowheads="1"/>
            </p:cNvSpPr>
            <p:nvPr/>
          </p:nvSpPr>
          <p:spPr bwMode="auto">
            <a:xfrm>
              <a:off x="5867400" y="2667000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88</a:t>
              </a:r>
            </a:p>
          </p:txBody>
        </p:sp>
        <p:sp>
          <p:nvSpPr>
            <p:cNvPr id="17" name="TextBox 21"/>
            <p:cNvSpPr txBox="1">
              <a:spLocks noChangeArrowheads="1"/>
            </p:cNvSpPr>
            <p:nvPr/>
          </p:nvSpPr>
          <p:spPr bwMode="auto">
            <a:xfrm>
              <a:off x="5791200" y="4191000"/>
              <a:ext cx="5334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102</a:t>
              </a:r>
            </a:p>
          </p:txBody>
        </p:sp>
        <p:sp>
          <p:nvSpPr>
            <p:cNvPr id="18" name="TextBox 22"/>
            <p:cNvSpPr txBox="1">
              <a:spLocks noChangeArrowheads="1"/>
            </p:cNvSpPr>
            <p:nvPr/>
          </p:nvSpPr>
          <p:spPr bwMode="auto">
            <a:xfrm flipV="1">
              <a:off x="5943600" y="3200400"/>
              <a:ext cx="2286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...</a:t>
              </a:r>
            </a:p>
          </p:txBody>
        </p:sp>
        <p:sp>
          <p:nvSpPr>
            <p:cNvPr id="19" name="TextBox 23"/>
            <p:cNvSpPr txBox="1">
              <a:spLocks noChangeArrowheads="1"/>
            </p:cNvSpPr>
            <p:nvPr/>
          </p:nvSpPr>
          <p:spPr bwMode="auto">
            <a:xfrm>
              <a:off x="6477000" y="2667000"/>
              <a:ext cx="137160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{bd, be, de}</a:t>
              </a:r>
            </a:p>
          </p:txBody>
        </p:sp>
        <p:sp>
          <p:nvSpPr>
            <p:cNvPr id="20" name="TextBox 24"/>
            <p:cNvSpPr txBox="1">
              <a:spLocks noChangeArrowheads="1"/>
            </p:cNvSpPr>
            <p:nvPr/>
          </p:nvSpPr>
          <p:spPr bwMode="auto">
            <a:xfrm flipV="1">
              <a:off x="7010400" y="3276600"/>
              <a:ext cx="22860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/>
              <a:r>
                <a:rPr lang="en-US" altLang="en-US" sz="1600"/>
                <a:t>...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795141" y="3233015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solidFill>
                  <a:srgbClr val="FF0000"/>
                </a:solidFill>
              </a:rPr>
              <a:t>Minsup</a:t>
            </a:r>
            <a:r>
              <a:rPr lang="en-GB" dirty="0">
                <a:solidFill>
                  <a:srgbClr val="FF0000"/>
                </a:solidFill>
              </a:rPr>
              <a:t>=100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07466" y="4291886"/>
            <a:ext cx="1828800" cy="50871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ideas of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H. </a:t>
            </a:r>
            <a:r>
              <a:rPr lang="en-US" altLang="en-US" dirty="0" err="1"/>
              <a:t>Toivonen</a:t>
            </a:r>
            <a:r>
              <a:rPr lang="en-US" altLang="en-US" dirty="0"/>
              <a:t>. </a:t>
            </a:r>
            <a:r>
              <a:rPr lang="en-US" altLang="en-US" dirty="0">
                <a:solidFill>
                  <a:schemeClr val="tx2"/>
                </a:solidFill>
              </a:rPr>
              <a:t>Sampling large databases for association rules</a:t>
            </a:r>
            <a:r>
              <a:rPr lang="en-US" altLang="en-US" dirty="0"/>
              <a:t>. In </a:t>
            </a:r>
            <a:r>
              <a:rPr lang="en-US" altLang="en-US" i="1" dirty="0">
                <a:solidFill>
                  <a:schemeClr val="tx2"/>
                </a:solidFill>
              </a:rPr>
              <a:t>VLDB’96</a:t>
            </a:r>
          </a:p>
          <a:p>
            <a:endParaRPr lang="en-GB" dirty="0"/>
          </a:p>
          <a:p>
            <a:r>
              <a:rPr lang="en-US" altLang="en-US" dirty="0"/>
              <a:t>S. </a:t>
            </a:r>
            <a:r>
              <a:rPr lang="en-US" altLang="en-US" dirty="0" err="1"/>
              <a:t>Brin</a:t>
            </a:r>
            <a:r>
              <a:rPr lang="en-US" altLang="en-US" dirty="0"/>
              <a:t> R. </a:t>
            </a:r>
            <a:r>
              <a:rPr lang="en-US" altLang="en-US" dirty="0" err="1"/>
              <a:t>Motwani</a:t>
            </a:r>
            <a:r>
              <a:rPr lang="en-US" altLang="en-US" dirty="0"/>
              <a:t>, J. Ullman, and S. </a:t>
            </a:r>
            <a:r>
              <a:rPr lang="en-US" altLang="en-US" dirty="0" err="1"/>
              <a:t>Tsur</a:t>
            </a:r>
            <a:r>
              <a:rPr lang="en-US" altLang="en-US" dirty="0"/>
              <a:t>. </a:t>
            </a:r>
            <a:r>
              <a:rPr lang="en-US" altLang="en-US" dirty="0">
                <a:solidFill>
                  <a:schemeClr val="tx2"/>
                </a:solidFill>
              </a:rPr>
              <a:t>Dynamic itemset counting and implication rules for market basket data</a:t>
            </a:r>
            <a:r>
              <a:rPr lang="en-US" altLang="en-US" dirty="0"/>
              <a:t>. </a:t>
            </a:r>
            <a:r>
              <a:rPr lang="en-US" altLang="en-US" i="1" dirty="0">
                <a:solidFill>
                  <a:schemeClr val="tx2"/>
                </a:solidFill>
              </a:rPr>
              <a:t>SIGMOD’97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996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Extension of Pattern Growth Mining Methodology 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600" dirty="0"/>
              <a:t>Mining closed frequent </a:t>
            </a:r>
            <a:r>
              <a:rPr lang="en-US" altLang="en-US" sz="1600" dirty="0" err="1"/>
              <a:t>itemsets</a:t>
            </a:r>
            <a:r>
              <a:rPr lang="en-US" altLang="en-US" sz="1600" dirty="0"/>
              <a:t> and max-patterns</a:t>
            </a:r>
          </a:p>
          <a:p>
            <a:pPr lvl="1"/>
            <a:r>
              <a:rPr lang="en-US" altLang="en-US" dirty="0">
                <a:solidFill>
                  <a:schemeClr val="hlink"/>
                </a:solidFill>
              </a:rPr>
              <a:t>CLOSET (DMKD’00), </a:t>
            </a:r>
            <a:r>
              <a:rPr lang="en-US" altLang="en-US" dirty="0" err="1">
                <a:solidFill>
                  <a:schemeClr val="hlink"/>
                </a:solidFill>
              </a:rPr>
              <a:t>FPclose</a:t>
            </a:r>
            <a:r>
              <a:rPr lang="en-US" altLang="en-US" dirty="0">
                <a:solidFill>
                  <a:schemeClr val="hlink"/>
                </a:solidFill>
              </a:rPr>
              <a:t>, and </a:t>
            </a:r>
            <a:r>
              <a:rPr lang="en-US" altLang="en-US" dirty="0" err="1">
                <a:solidFill>
                  <a:schemeClr val="hlink"/>
                </a:solidFill>
              </a:rPr>
              <a:t>FPMax</a:t>
            </a:r>
            <a:r>
              <a:rPr lang="en-US" altLang="en-US" dirty="0">
                <a:solidFill>
                  <a:schemeClr val="hlink"/>
                </a:solidFill>
              </a:rPr>
              <a:t> (</a:t>
            </a:r>
            <a:r>
              <a:rPr lang="en-US" altLang="en-US" dirty="0" err="1">
                <a:solidFill>
                  <a:schemeClr val="hlink"/>
                </a:solidFill>
              </a:rPr>
              <a:t>Grahne</a:t>
            </a:r>
            <a:r>
              <a:rPr lang="en-US" altLang="en-US" dirty="0">
                <a:solidFill>
                  <a:schemeClr val="hlink"/>
                </a:solidFill>
              </a:rPr>
              <a:t> &amp; Zhu, Fimi’03)</a:t>
            </a:r>
          </a:p>
          <a:p>
            <a:r>
              <a:rPr lang="en-US" altLang="en-US" sz="1600" dirty="0"/>
              <a:t>Mining sequential patterns</a:t>
            </a:r>
          </a:p>
          <a:p>
            <a:pPr lvl="1"/>
            <a:r>
              <a:rPr lang="en-US" altLang="en-US" dirty="0" err="1">
                <a:solidFill>
                  <a:schemeClr val="hlink"/>
                </a:solidFill>
              </a:rPr>
              <a:t>PrefixSpan</a:t>
            </a:r>
            <a:r>
              <a:rPr lang="en-US" altLang="en-US" dirty="0">
                <a:solidFill>
                  <a:schemeClr val="hlink"/>
                </a:solidFill>
              </a:rPr>
              <a:t> (ICDE’01), </a:t>
            </a:r>
            <a:r>
              <a:rPr lang="en-US" altLang="en-US" dirty="0" err="1">
                <a:solidFill>
                  <a:schemeClr val="hlink"/>
                </a:solidFill>
              </a:rPr>
              <a:t>CloSpan</a:t>
            </a:r>
            <a:r>
              <a:rPr lang="en-US" altLang="en-US" dirty="0">
                <a:solidFill>
                  <a:schemeClr val="hlink"/>
                </a:solidFill>
              </a:rPr>
              <a:t> (SDM’03), BIDE (ICDE’04)</a:t>
            </a:r>
          </a:p>
          <a:p>
            <a:r>
              <a:rPr lang="en-US" altLang="en-US" sz="1600" dirty="0"/>
              <a:t>Mining graph patterns</a:t>
            </a:r>
          </a:p>
          <a:p>
            <a:pPr lvl="1"/>
            <a:r>
              <a:rPr lang="en-US" altLang="en-US" dirty="0" err="1">
                <a:solidFill>
                  <a:schemeClr val="hlink"/>
                </a:solidFill>
              </a:rPr>
              <a:t>gSpan</a:t>
            </a:r>
            <a:r>
              <a:rPr lang="en-US" altLang="en-US" dirty="0">
                <a:solidFill>
                  <a:schemeClr val="hlink"/>
                </a:solidFill>
              </a:rPr>
              <a:t> (ICDM’02), </a:t>
            </a:r>
            <a:r>
              <a:rPr lang="en-US" altLang="en-US" dirty="0" err="1">
                <a:solidFill>
                  <a:schemeClr val="hlink"/>
                </a:solidFill>
              </a:rPr>
              <a:t>CloseGraph</a:t>
            </a:r>
            <a:r>
              <a:rPr lang="en-US" altLang="en-US" dirty="0">
                <a:solidFill>
                  <a:schemeClr val="hlink"/>
                </a:solidFill>
              </a:rPr>
              <a:t> (KDD’03)</a:t>
            </a:r>
          </a:p>
          <a:p>
            <a:r>
              <a:rPr lang="en-US" altLang="en-US" sz="1600" dirty="0"/>
              <a:t>Constraint-based mining of frequent patterns</a:t>
            </a:r>
          </a:p>
          <a:p>
            <a:pPr lvl="1"/>
            <a:r>
              <a:rPr lang="en-US" altLang="en-US" dirty="0">
                <a:solidFill>
                  <a:schemeClr val="hlink"/>
                </a:solidFill>
              </a:rPr>
              <a:t>Convertible constraints (ICDE’01), </a:t>
            </a:r>
            <a:r>
              <a:rPr lang="en-US" altLang="en-US" dirty="0" err="1">
                <a:solidFill>
                  <a:schemeClr val="hlink"/>
                </a:solidFill>
              </a:rPr>
              <a:t>gPrune</a:t>
            </a:r>
            <a:r>
              <a:rPr lang="en-US" altLang="en-US" dirty="0">
                <a:solidFill>
                  <a:schemeClr val="hlink"/>
                </a:solidFill>
              </a:rPr>
              <a:t> (PAKDD’03)</a:t>
            </a:r>
          </a:p>
          <a:p>
            <a:r>
              <a:rPr lang="en-US" altLang="en-US" sz="1600" dirty="0"/>
              <a:t>Computing iceberg data cubes with complex measures </a:t>
            </a:r>
          </a:p>
          <a:p>
            <a:pPr lvl="1"/>
            <a:r>
              <a:rPr lang="en-US" altLang="en-US" dirty="0">
                <a:solidFill>
                  <a:schemeClr val="hlink"/>
                </a:solidFill>
              </a:rPr>
              <a:t>H-tree, H-cubing, and Star-cubing (SIGMOD’01, VLDB’03)</a:t>
            </a:r>
          </a:p>
          <a:p>
            <a:r>
              <a:rPr lang="en-US" altLang="en-US" sz="1600" dirty="0"/>
              <a:t>Pattern-growth-based Clustering</a:t>
            </a:r>
          </a:p>
          <a:p>
            <a:pPr lvl="1"/>
            <a:r>
              <a:rPr lang="en-US" altLang="en-US" dirty="0" err="1">
                <a:solidFill>
                  <a:schemeClr val="hlink"/>
                </a:solidFill>
              </a:rPr>
              <a:t>MaPle</a:t>
            </a:r>
            <a:r>
              <a:rPr lang="en-US" altLang="en-US" dirty="0">
                <a:solidFill>
                  <a:schemeClr val="hlink"/>
                </a:solidFill>
              </a:rPr>
              <a:t> (Pei, et al., ICDM’03) </a:t>
            </a:r>
          </a:p>
          <a:p>
            <a:r>
              <a:rPr lang="en-US" altLang="en-US" sz="1600" dirty="0"/>
              <a:t>Pattern-Growth-Based Classification</a:t>
            </a:r>
          </a:p>
          <a:p>
            <a:pPr lvl="1"/>
            <a:r>
              <a:rPr lang="en-US" altLang="en-US" dirty="0">
                <a:solidFill>
                  <a:schemeClr val="hlink"/>
                </a:solidFill>
              </a:rPr>
              <a:t>Mining frequent and discriminative patterns (Cheng, et al, ICDE’07)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979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ECLAT: Mining by Exploring Vertical Data Format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000" dirty="0"/>
              <a:t>Vertical format: t(AB) = {T</a:t>
            </a:r>
            <a:r>
              <a:rPr lang="en-US" altLang="en-US" sz="2000" baseline="-25000" dirty="0"/>
              <a:t>11</a:t>
            </a:r>
            <a:r>
              <a:rPr lang="en-US" altLang="en-US" sz="2000" dirty="0"/>
              <a:t>, T</a:t>
            </a:r>
            <a:r>
              <a:rPr lang="en-US" altLang="en-US" sz="2000" baseline="-25000" dirty="0"/>
              <a:t>25</a:t>
            </a:r>
            <a:r>
              <a:rPr lang="en-US" altLang="en-US" sz="2000" dirty="0"/>
              <a:t>, …}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 err="1"/>
              <a:t>tid</a:t>
            </a:r>
            <a:r>
              <a:rPr lang="en-US" altLang="en-US" sz="2000" dirty="0"/>
              <a:t>-list: list of trans.-ids containing an itemset 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Deriving frequent patterns based on vertical intersections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t(X) = t(Y): X and Y always happen together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t(X) </a:t>
            </a:r>
            <a:r>
              <a:rPr lang="en-US" altLang="en-US" sz="2000" dirty="0">
                <a:sym typeface="Symbol" pitchFamily="18" charset="2"/>
              </a:rPr>
              <a:t> t(Y): transaction having X always has Y</a:t>
            </a:r>
          </a:p>
          <a:p>
            <a:pPr>
              <a:lnSpc>
                <a:spcPct val="120000"/>
              </a:lnSpc>
            </a:pPr>
            <a:r>
              <a:rPr lang="en-US" altLang="en-US" sz="2000" dirty="0">
                <a:sym typeface="Symbol" pitchFamily="18" charset="2"/>
              </a:rPr>
              <a:t>Using </a:t>
            </a:r>
            <a:r>
              <a:rPr lang="en-US" altLang="en-US" sz="2000" dirty="0" err="1">
                <a:solidFill>
                  <a:schemeClr val="hlink"/>
                </a:solidFill>
                <a:sym typeface="Symbol" pitchFamily="18" charset="2"/>
              </a:rPr>
              <a:t>diffset</a:t>
            </a:r>
            <a:r>
              <a:rPr lang="en-US" altLang="en-US" sz="2000" dirty="0">
                <a:sym typeface="Symbol" pitchFamily="18" charset="2"/>
              </a:rPr>
              <a:t> to accelerate mining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>
                <a:sym typeface="Symbol" pitchFamily="18" charset="2"/>
              </a:rPr>
              <a:t>Only keep track of differences of </a:t>
            </a:r>
            <a:r>
              <a:rPr lang="en-US" altLang="en-US" sz="2000" dirty="0" err="1">
                <a:sym typeface="Symbol" pitchFamily="18" charset="2"/>
              </a:rPr>
              <a:t>tids</a:t>
            </a:r>
            <a:endParaRPr lang="en-US" altLang="en-US" sz="2000" dirty="0">
              <a:sym typeface="Symbol" pitchFamily="18" charset="2"/>
            </a:endParaRPr>
          </a:p>
          <a:p>
            <a:pPr lvl="1">
              <a:lnSpc>
                <a:spcPct val="120000"/>
              </a:lnSpc>
            </a:pPr>
            <a:r>
              <a:rPr lang="en-US" altLang="en-US" sz="2000" dirty="0">
                <a:sym typeface="Symbol" pitchFamily="18" charset="2"/>
              </a:rPr>
              <a:t>t(X) = {T</a:t>
            </a:r>
            <a:r>
              <a:rPr lang="en-US" altLang="en-US" sz="2000" baseline="-25000" dirty="0">
                <a:sym typeface="Symbol" pitchFamily="18" charset="2"/>
              </a:rPr>
              <a:t>1</a:t>
            </a:r>
            <a:r>
              <a:rPr lang="en-US" altLang="en-US" sz="2000" dirty="0">
                <a:sym typeface="Symbol" pitchFamily="18" charset="2"/>
              </a:rPr>
              <a:t>, T</a:t>
            </a:r>
            <a:r>
              <a:rPr lang="en-US" altLang="en-US" sz="2000" baseline="-25000" dirty="0">
                <a:sym typeface="Symbol" pitchFamily="18" charset="2"/>
              </a:rPr>
              <a:t>2</a:t>
            </a:r>
            <a:r>
              <a:rPr lang="en-US" altLang="en-US" sz="2000" dirty="0">
                <a:sym typeface="Symbol" pitchFamily="18" charset="2"/>
              </a:rPr>
              <a:t>, T</a:t>
            </a:r>
            <a:r>
              <a:rPr lang="en-US" altLang="en-US" sz="2000" baseline="-25000" dirty="0">
                <a:sym typeface="Symbol" pitchFamily="18" charset="2"/>
              </a:rPr>
              <a:t>3</a:t>
            </a:r>
            <a:r>
              <a:rPr lang="en-US" altLang="en-US" sz="2000" dirty="0">
                <a:sym typeface="Symbol" pitchFamily="18" charset="2"/>
              </a:rPr>
              <a:t>},  t(XY) = {T</a:t>
            </a:r>
            <a:r>
              <a:rPr lang="en-US" altLang="en-US" sz="2000" baseline="-25000" dirty="0">
                <a:sym typeface="Symbol" pitchFamily="18" charset="2"/>
              </a:rPr>
              <a:t>1</a:t>
            </a:r>
            <a:r>
              <a:rPr lang="en-US" altLang="en-US" sz="2000" dirty="0">
                <a:sym typeface="Symbol" pitchFamily="18" charset="2"/>
              </a:rPr>
              <a:t>, T</a:t>
            </a:r>
            <a:r>
              <a:rPr lang="en-US" altLang="en-US" sz="2000" baseline="-25000" dirty="0">
                <a:sym typeface="Symbol" pitchFamily="18" charset="2"/>
              </a:rPr>
              <a:t>3</a:t>
            </a:r>
            <a:r>
              <a:rPr lang="en-US" altLang="en-US" sz="2000" dirty="0">
                <a:sym typeface="Symbol" pitchFamily="18" charset="2"/>
              </a:rPr>
              <a:t>} 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 err="1">
                <a:sym typeface="Symbol" pitchFamily="18" charset="2"/>
              </a:rPr>
              <a:t>Diffset</a:t>
            </a:r>
            <a:r>
              <a:rPr lang="en-US" altLang="en-US" sz="2000" dirty="0">
                <a:sym typeface="Symbol" pitchFamily="18" charset="2"/>
              </a:rPr>
              <a:t> (XY, X) = {T</a:t>
            </a:r>
            <a:r>
              <a:rPr lang="en-US" altLang="en-US" sz="2000" baseline="-25000" dirty="0">
                <a:sym typeface="Symbol" pitchFamily="18" charset="2"/>
              </a:rPr>
              <a:t>2</a:t>
            </a:r>
            <a:r>
              <a:rPr lang="en-US" altLang="en-US" sz="2000" dirty="0">
                <a:sym typeface="Symbol" pitchFamily="18" charset="2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en-US" sz="2000" dirty="0" err="1"/>
              <a:t>Eclat</a:t>
            </a:r>
            <a:r>
              <a:rPr lang="en-US" altLang="en-US" sz="2000" dirty="0"/>
              <a:t>  (</a:t>
            </a:r>
            <a:r>
              <a:rPr lang="en-US" altLang="en-US" sz="2000" dirty="0" err="1"/>
              <a:t>Zaki</a:t>
            </a:r>
            <a:r>
              <a:rPr lang="en-US" altLang="en-US" sz="2000" dirty="0"/>
              <a:t> et al. @KDD’97) 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Mining Closed patterns using vertical format:  CHARM (</a:t>
            </a:r>
            <a:r>
              <a:rPr lang="en-US" altLang="en-US" sz="2000" dirty="0" err="1"/>
              <a:t>Zaki</a:t>
            </a:r>
            <a:r>
              <a:rPr lang="en-US" altLang="en-US" sz="2000" dirty="0"/>
              <a:t> &amp; Hsiao@SDM’02)</a:t>
            </a:r>
          </a:p>
        </p:txBody>
      </p:sp>
    </p:spTree>
    <p:extLst>
      <p:ext uri="{BB962C8B-B14F-4D97-AF65-F5344CB8AC3E}">
        <p14:creationId xmlns:p14="http://schemas.microsoft.com/office/powerpoint/2010/main" val="3406405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8600"/>
            <a:ext cx="6477000" cy="639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6170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219200"/>
            <a:ext cx="6705458" cy="4761979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defRPr/>
            </a:pPr>
            <a:r>
              <a:rPr lang="en-US" dirty="0"/>
              <a:t>Basic concepts: association rules, support-confident framework, closed and max-patterns, Lift association measurement method</a:t>
            </a:r>
          </a:p>
          <a:p>
            <a:pPr marL="457200" indent="-457200">
              <a:lnSpc>
                <a:spcPct val="120000"/>
              </a:lnSpc>
              <a:defRPr/>
            </a:pPr>
            <a:r>
              <a:rPr lang="en-US" dirty="0"/>
              <a:t>Scalable frequent pattern mining methods</a:t>
            </a:r>
          </a:p>
          <a:p>
            <a:pPr marL="914400" lvl="1" indent="-457200">
              <a:lnSpc>
                <a:spcPct val="120000"/>
              </a:lnSpc>
              <a:defRPr/>
            </a:pPr>
            <a:r>
              <a:rPr lang="en-US" sz="2400" dirty="0">
                <a:solidFill>
                  <a:schemeClr val="folHlink"/>
                </a:solidFill>
              </a:rPr>
              <a:t>Apriori </a:t>
            </a:r>
          </a:p>
          <a:p>
            <a:pPr marL="914400" lvl="1" indent="-457200">
              <a:lnSpc>
                <a:spcPct val="120000"/>
              </a:lnSpc>
              <a:defRPr/>
            </a:pPr>
            <a:r>
              <a:rPr lang="en-US" sz="2400" dirty="0">
                <a:solidFill>
                  <a:schemeClr val="folHlink"/>
                </a:solidFill>
              </a:rPr>
              <a:t>Projection-based </a:t>
            </a:r>
          </a:p>
          <a:p>
            <a:pPr marL="914400" lvl="1" indent="-457200">
              <a:lnSpc>
                <a:spcPct val="120000"/>
              </a:lnSpc>
              <a:defRPr/>
            </a:pPr>
            <a:r>
              <a:rPr lang="en-US" sz="2400" dirty="0">
                <a:solidFill>
                  <a:schemeClr val="folHlink"/>
                </a:solidFill>
              </a:rPr>
              <a:t>Vertical format approach</a:t>
            </a:r>
            <a:endParaRPr lang="en-GB" sz="2400" dirty="0"/>
          </a:p>
          <a:p>
            <a:pPr marL="228600" indent="-457200">
              <a:lnSpc>
                <a:spcPct val="120000"/>
              </a:lnSpc>
              <a:defRPr/>
            </a:pPr>
            <a:r>
              <a:rPr lang="en-GB" sz="2000" dirty="0"/>
              <a:t>Next:</a:t>
            </a:r>
          </a:p>
          <a:p>
            <a:pPr marL="228600" indent="-457200">
              <a:lnSpc>
                <a:spcPct val="120000"/>
              </a:lnSpc>
              <a:defRPr/>
            </a:pPr>
            <a:r>
              <a:rPr lang="en-GB" sz="2000" dirty="0"/>
              <a:t>Lecture: Decision Tree (Classification problem)</a:t>
            </a:r>
          </a:p>
          <a:p>
            <a:pPr marL="228600" indent="-457200">
              <a:lnSpc>
                <a:spcPct val="120000"/>
              </a:lnSpc>
              <a:defRPr/>
            </a:pPr>
            <a:r>
              <a:rPr lang="en-GB" sz="2000" dirty="0"/>
              <a:t>Practical: Decision Tree with Python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20184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C0C124D-5FBB-4466-AB3F-193E84AE85E3}" type="slidenum">
              <a:rPr lang="en-US" altLang="en-US" sz="1200"/>
              <a:pPr eaLnBrk="1" hangingPunct="1"/>
              <a:t>31</a:t>
            </a:fld>
            <a:endParaRPr lang="en-US" altLang="en-US" sz="120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381000"/>
            <a:ext cx="7543800" cy="6096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atin typeface="Calibri" pitchFamily="34" charset="0"/>
                <a:cs typeface="Calibri" pitchFamily="34" charset="0"/>
              </a:rPr>
              <a:t>Ref: Basic Concepts of Frequent Pattern Mining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371600"/>
            <a:ext cx="68580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altLang="en-US" sz="2000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Association Rules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) R. Agrawal, T.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Imielinski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, and A. Swami.  Mining association rules between sets of items in large databases.  SIGMOD'93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altLang="en-US" sz="2000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Max-pattern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) R. J.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Bayardo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. Efficiently mining long patterns from databases. SIGMOD'98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altLang="en-US" sz="2000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Closed-pattern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) N.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Pasquier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, Y.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Bastide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, R.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Taouil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, and L.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Lakhal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. Discovering frequent closed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itemsets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 for association rules. ICDT'99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(</a:t>
            </a:r>
            <a:r>
              <a:rPr lang="en-US" altLang="en-US" sz="2000" dirty="0">
                <a:solidFill>
                  <a:schemeClr val="hlink"/>
                </a:solidFill>
                <a:latin typeface="Calibri" pitchFamily="34" charset="0"/>
                <a:cs typeface="Calibri" pitchFamily="34" charset="0"/>
              </a:rPr>
              <a:t>Sequential pattern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) R. Agrawal and R. </a:t>
            </a:r>
            <a:r>
              <a:rPr lang="en-US" altLang="en-US" sz="2000" dirty="0" err="1">
                <a:latin typeface="Calibri" pitchFamily="34" charset="0"/>
                <a:cs typeface="Calibri" pitchFamily="34" charset="0"/>
              </a:rPr>
              <a:t>Srikant</a:t>
            </a:r>
            <a:r>
              <a:rPr lang="en-US" altLang="en-US" sz="2000" dirty="0">
                <a:latin typeface="Calibri" pitchFamily="34" charset="0"/>
                <a:cs typeface="Calibri" pitchFamily="34" charset="0"/>
              </a:rPr>
              <a:t>. Mining sequential patterns. ICDE'95</a:t>
            </a:r>
          </a:p>
        </p:txBody>
      </p:sp>
    </p:spTree>
    <p:extLst>
      <p:ext uri="{BB962C8B-B14F-4D97-AF65-F5344CB8AC3E}">
        <p14:creationId xmlns:p14="http://schemas.microsoft.com/office/powerpoint/2010/main" val="1668430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F54AD70-618B-46E8-ABBD-BF37A2A5EA0A}" type="slidenum">
              <a:rPr lang="en-US" altLang="en-US" sz="1200"/>
              <a:pPr eaLnBrk="1" hangingPunct="1"/>
              <a:t>32</a:t>
            </a:fld>
            <a:endParaRPr lang="en-US" altLang="en-US" sz="120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304800"/>
            <a:ext cx="75438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b="1" dirty="0">
                <a:latin typeface="Calibri" pitchFamily="34" charset="0"/>
                <a:cs typeface="Calibri" pitchFamily="34" charset="0"/>
              </a:rPr>
              <a:t>Ref: Apriori and Its Improvements</a:t>
            </a:r>
            <a:endParaRPr lang="en-US" altLang="en-US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219200"/>
            <a:ext cx="73152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R. Agrawal and R.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Srikant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Fast algorithms for mining association rules. VLDB'94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H.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Mannila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H.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Toivonen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A. I.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Verkamo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Efficient algorithms for discovering association rules. KDD'94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A.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Savasere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E.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Omiecinski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Navathe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An efficient algorithm for mining association rules in large databases. VLDB'95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J. S. Park, M. S. Chen, and P. S. Yu. An effective hash-based algorithm for mining association rules.  SIGMOD'95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H.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Toivonen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 Sampling large databases for association rules.  VLDB'96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Brin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R.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Motwani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J. D. Ullman, and 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Tsur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Dynamic itemset counting and implication rules for market basket analysis. SIGMOD'97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Sarawagi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S. Thomas, and R. Agrawal.  Integrating association rule mining with relational database systems: Alternatives and implications.  SIGMOD'98</a:t>
            </a:r>
          </a:p>
        </p:txBody>
      </p:sp>
    </p:spTree>
    <p:extLst>
      <p:ext uri="{BB962C8B-B14F-4D97-AF65-F5344CB8AC3E}">
        <p14:creationId xmlns:p14="http://schemas.microsoft.com/office/powerpoint/2010/main" val="2467549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2F2091D-C513-42AB-9351-C56E53EB33A1}" type="slidenum">
              <a:rPr lang="en-US" altLang="en-US" sz="1200"/>
              <a:pPr eaLnBrk="1" hangingPunct="1"/>
              <a:t>33</a:t>
            </a:fld>
            <a:endParaRPr lang="en-US" altLang="en-US" sz="1200"/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76200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 b="1" dirty="0">
                <a:latin typeface="Calibri" pitchFamily="34" charset="0"/>
                <a:cs typeface="Calibri" pitchFamily="34" charset="0"/>
              </a:rPr>
              <a:t>Ref: Depth-First, Projection-Based FP Mining</a:t>
            </a:r>
            <a:endParaRPr lang="en-US" altLang="en-US" sz="32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295400"/>
            <a:ext cx="73152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R. Agarwal, C. Aggarwal, and V. V. V. Prasad. A tree projection algorithm for generation of frequent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itemsets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. J. Parallel and Distributed Computing, 2002.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G.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Grahne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 and J. Zhu, Efficiently Using Prefix-Trees in Mining Frequent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Itemsets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, Proc. FIMI'03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B. Goethals and M.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Zaki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. An introduction to workshop on frequent itemset mining implementations. </a:t>
            </a:r>
            <a:r>
              <a:rPr lang="en-US" altLang="en-US" sz="1600" i="1" dirty="0">
                <a:latin typeface="Calibri" pitchFamily="34" charset="0"/>
                <a:cs typeface="Calibri" pitchFamily="34" charset="0"/>
              </a:rPr>
              <a:t>Proc. ICDM’03 Int. Workshop on Frequent Itemset Mining Implementations (FIMI’03), 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Melbourne, FL, Nov. 2003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J. Han, J. Pei, and Y. Yin. Mining frequent patterns without candidate generation</a:t>
            </a:r>
            <a:r>
              <a:rPr lang="en-US" altLang="en-US" sz="1600" i="1" dirty="0">
                <a:latin typeface="Calibri" pitchFamily="34" charset="0"/>
                <a:cs typeface="Calibri" pitchFamily="34" charset="0"/>
              </a:rPr>
              <a:t>.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  SIGMOD’ 00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J. Liu, Y. Pan, K. Wang, and J. Han.  Mining Frequent Item Sets by Opportunistic Projection.  KDD'02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J. Han, J. Wang, Y. Lu, and P.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Tzvetkov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. Mining Top-K Frequent Closed Patterns without Minimum Support.  ICDM'02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J. Wang, J. Han, and J. Pei.  CLOSET+: Searching for the Best Strategies for Mining Frequent Closed </a:t>
            </a:r>
            <a:r>
              <a:rPr lang="en-US" altLang="en-US" sz="1600" dirty="0" err="1">
                <a:latin typeface="Calibri" pitchFamily="34" charset="0"/>
                <a:cs typeface="Calibri" pitchFamily="34" charset="0"/>
              </a:rPr>
              <a:t>Itemsets</a:t>
            </a:r>
            <a:r>
              <a:rPr lang="en-US" altLang="en-US" sz="1600" dirty="0">
                <a:latin typeface="Calibri" pitchFamily="34" charset="0"/>
                <a:cs typeface="Calibri" pitchFamily="34" charset="0"/>
              </a:rPr>
              <a:t>.  KDD'03</a:t>
            </a:r>
          </a:p>
        </p:txBody>
      </p:sp>
    </p:spTree>
    <p:extLst>
      <p:ext uri="{BB962C8B-B14F-4D97-AF65-F5344CB8AC3E}">
        <p14:creationId xmlns:p14="http://schemas.microsoft.com/office/powerpoint/2010/main" val="2462067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047DFDC-6ECD-4889-8A25-173720415285}" type="slidenum">
              <a:rPr lang="en-US" altLang="en-US" sz="1200"/>
              <a:pPr eaLnBrk="1" hangingPunct="1"/>
              <a:t>34</a:t>
            </a:fld>
            <a:endParaRPr lang="en-US" altLang="en-US" sz="1200"/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1600200" y="228600"/>
            <a:ext cx="75438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 b="1" dirty="0">
                <a:latin typeface="Calibri" pitchFamily="34" charset="0"/>
                <a:cs typeface="Calibri" pitchFamily="34" charset="0"/>
              </a:rPr>
              <a:t>Ref: Vertical Format and Row Enumeration Methods</a:t>
            </a:r>
            <a:endParaRPr lang="en-US" altLang="en-US" sz="3200" b="1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371600"/>
            <a:ext cx="70866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M. J.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Zaki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Parthasarathy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M.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Ogihara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W. Li. Parallel algorithm for discovery of association rules. DAMI:97.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M. J.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Zaki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 and C. J. Hsiao. CHARM: An Efficient Algorithm for Closed Itemset Mining, SDM'02. 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C.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Bucila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J.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Gehrke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D.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Kifer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W. White.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DualMiner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: A Dual-Pruning Algorithm for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Itemsets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 with Constraints. KDD’02.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F. Pan, G. Cong, A. K. H. Tung, J. Yang, and M.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Zaki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 , CARPENTER: Finding Closed Patterns in Long Biological Datasets. KDD'03.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H. Liu, J. Han, D. Xin, and Z. Shao, Mining Interesting Patterns from Very High Dimensional Data: A Top-Down Row Enumeration Approach, SDM'06.</a:t>
            </a:r>
          </a:p>
        </p:txBody>
      </p:sp>
    </p:spTree>
    <p:extLst>
      <p:ext uri="{BB962C8B-B14F-4D97-AF65-F5344CB8AC3E}">
        <p14:creationId xmlns:p14="http://schemas.microsoft.com/office/powerpoint/2010/main" val="3823869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477000"/>
            <a:ext cx="1905000" cy="381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35BA2BF-5EB6-4E2B-B806-16B831DCCA84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228600"/>
            <a:ext cx="7162800" cy="83820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latin typeface="Calibri" pitchFamily="34" charset="0"/>
                <a:cs typeface="Calibri" pitchFamily="34" charset="0"/>
              </a:rPr>
              <a:t>Ref: Mining Correlations and Interesting Rules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0200" y="1371600"/>
            <a:ext cx="7239000" cy="5181600"/>
          </a:xfrm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Brin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R.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Motwani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C. Silverstein.   Beyond market basket: Generalizing association rules to correlations.  SIGMOD'97.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M.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Klemettinen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H.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Mannila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P.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Ronkainen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H.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Toivonen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A. I.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Verkamo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  Finding interesting rules from large sets of discovered association rules.  CIKM'94.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R. J.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Hilderman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 and H. J. Hamilton. </a:t>
            </a:r>
            <a:r>
              <a:rPr lang="en-US" altLang="en-US" sz="1800" i="1" dirty="0">
                <a:latin typeface="Calibri" pitchFamily="34" charset="0"/>
                <a:cs typeface="Calibri" pitchFamily="34" charset="0"/>
              </a:rPr>
              <a:t>Knowledge Discovery and Measures of Interest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Kluwer Academic, 2001.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C. Silverstein, S.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Brin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R.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Motwani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, and J. Ullman.  Scalable techniques for mining causal structures.   VLDB'98.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P.-N. Tan, V. Kumar, and J. Srivastava.   Selecting the Right Interestingness Measure for Association Patterns.  KDD'02.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E. </a:t>
            </a:r>
            <a:r>
              <a:rPr lang="en-US" altLang="en-US" sz="1800" dirty="0" err="1">
                <a:latin typeface="Calibri" pitchFamily="34" charset="0"/>
                <a:cs typeface="Calibri" pitchFamily="34" charset="0"/>
              </a:rPr>
              <a:t>Omiecinski</a:t>
            </a: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.   Alternative Interest Measures for Mining Associations.  TKDE’03.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1800" dirty="0">
                <a:latin typeface="Calibri" pitchFamily="34" charset="0"/>
                <a:cs typeface="Calibri" pitchFamily="34" charset="0"/>
              </a:rPr>
              <a:t>T. Wu, Y. Chen, and J. Han, “Re-Examination of Interestingness Measures in Pattern Mining: A Unified Framework", Data Mining and Knowledge Discovery, 21(3):371-397, 2010</a:t>
            </a:r>
          </a:p>
        </p:txBody>
      </p:sp>
    </p:spTree>
    <p:extLst>
      <p:ext uri="{BB962C8B-B14F-4D97-AF65-F5344CB8AC3E}">
        <p14:creationId xmlns:p14="http://schemas.microsoft.com/office/powerpoint/2010/main" val="172745486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401</TotalTime>
  <Words>3079</Words>
  <Application>Microsoft Office PowerPoint</Application>
  <PresentationFormat>Προβολή στην οθόνη (4:3)</PresentationFormat>
  <Paragraphs>301</Paragraphs>
  <Slides>35</Slides>
  <Notes>6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35</vt:i4>
      </vt:variant>
    </vt:vector>
  </HeadingPairs>
  <TitlesOfParts>
    <vt:vector size="43" baseType="lpstr">
      <vt:lpstr>SimSun</vt:lpstr>
      <vt:lpstr>Arial</vt:lpstr>
      <vt:lpstr>Calibri</vt:lpstr>
      <vt:lpstr>Symbol</vt:lpstr>
      <vt:lpstr>Tahoma</vt:lpstr>
      <vt:lpstr>Times New Roman</vt:lpstr>
      <vt:lpstr>Wingdings</vt:lpstr>
      <vt:lpstr>2_Office Theme</vt:lpstr>
      <vt:lpstr>Data patterns </vt:lpstr>
      <vt:lpstr>Declare</vt:lpstr>
      <vt:lpstr>Agenda</vt:lpstr>
      <vt:lpstr>Frequent Pattern Analysis Example</vt:lpstr>
      <vt:lpstr>What Is Frequent Pattern Analysis?</vt:lpstr>
      <vt:lpstr>Motivations of Frequent Pattern Analysis</vt:lpstr>
      <vt:lpstr>Basic Concepts: Frequent Patterns</vt:lpstr>
      <vt:lpstr>Frequent Patterns Example</vt:lpstr>
      <vt:lpstr>Basic Concepts: Association Rules</vt:lpstr>
      <vt:lpstr>Association Rule Example</vt:lpstr>
      <vt:lpstr>Sub &amp; Super Patterns</vt:lpstr>
      <vt:lpstr>Close Pattern</vt:lpstr>
      <vt:lpstr>Close Pattern example</vt:lpstr>
      <vt:lpstr>Max Pattern</vt:lpstr>
      <vt:lpstr>Max Pattern examples</vt:lpstr>
      <vt:lpstr>Closed Patterns (CP) and  Max-Patterns (MP)</vt:lpstr>
      <vt:lpstr>Computational Complexity of Frequent Itemset Mining</vt:lpstr>
      <vt:lpstr>Agenda</vt:lpstr>
      <vt:lpstr>The Downward Closure Property and Scalable Mining Methods</vt:lpstr>
      <vt:lpstr>Apriori: A Candidate Generation &amp; Test Approach</vt:lpstr>
      <vt:lpstr>The Apriori Algorithm—An Example </vt:lpstr>
      <vt:lpstr>The Apriori Algorithm - Pseudo-Code</vt:lpstr>
      <vt:lpstr>Further Improvement of the Apriori Method</vt:lpstr>
      <vt:lpstr>Partition: Scan Database Only Twice</vt:lpstr>
      <vt:lpstr>DHP: Reduce the Number of Candidates</vt:lpstr>
      <vt:lpstr>More ideas of improvement</vt:lpstr>
      <vt:lpstr>Extension of Pattern Growth Mining Methodology </vt:lpstr>
      <vt:lpstr>ECLAT: Mining by Exploring Vertical Data Format</vt:lpstr>
      <vt:lpstr>Παρουσίαση του PowerPoint</vt:lpstr>
      <vt:lpstr>Summary</vt:lpstr>
      <vt:lpstr>Ref: Basic Concepts of Frequent Pattern Mining</vt:lpstr>
      <vt:lpstr>Ref: Apriori and Its Improvements</vt:lpstr>
      <vt:lpstr>Ref: Depth-First, Projection-Based FP Mining</vt:lpstr>
      <vt:lpstr>Ref: Vertical Format and Row Enumeration Methods</vt:lpstr>
      <vt:lpstr>Ref: Mining Correlations and Interesting Rules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</dc:creator>
  <cp:lastModifiedBy>Giannis Tsioulis</cp:lastModifiedBy>
  <cp:revision>32</cp:revision>
  <dcterms:created xsi:type="dcterms:W3CDTF">2006-08-16T00:00:00Z</dcterms:created>
  <dcterms:modified xsi:type="dcterms:W3CDTF">2025-10-30T19:31:24Z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301054@derby.ac.uk</vt:lpwstr>
  </property>
  <property fmtid="{D5CDD505-2E9C-101B-9397-08002B2CF9AE}" pid="5" name="MSIP_Label_b47d098f-2640-4837-b575-e0be04df0525_SetDate">
    <vt:lpwstr>2022-02-21T09:27:49.8408263Z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301054@derby.ac.uk</vt:lpwstr>
  </property>
  <property fmtid="{D5CDD505-2E9C-101B-9397-08002B2CF9AE}" pid="12" name="MSIP_Label_501a0944-9d81-4c75-b857-2ec7863455b7_SetDate">
    <vt:lpwstr>2022-02-21T09:27:49.8408263Z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</Properties>
</file>
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5"/>
  </p:notesMasterIdLst>
  <p:sldIdLst>
    <p:sldId id="256" r:id="rId2"/>
    <p:sldId id="303" r:id="rId3"/>
    <p:sldId id="294" r:id="rId4"/>
    <p:sldId id="304" r:id="rId5"/>
    <p:sldId id="300" r:id="rId6"/>
    <p:sldId id="282" r:id="rId7"/>
    <p:sldId id="305" r:id="rId8"/>
    <p:sldId id="301" r:id="rId9"/>
    <p:sldId id="306" r:id="rId10"/>
    <p:sldId id="307" r:id="rId11"/>
    <p:sldId id="292" r:id="rId12"/>
    <p:sldId id="308" r:id="rId13"/>
    <p:sldId id="309" r:id="rId14"/>
    <p:sldId id="310" r:id="rId15"/>
    <p:sldId id="311" r:id="rId16"/>
    <p:sldId id="312" r:id="rId17"/>
    <p:sldId id="257" r:id="rId18"/>
    <p:sldId id="287" r:id="rId19"/>
    <p:sldId id="313" r:id="rId20"/>
    <p:sldId id="283" r:id="rId21"/>
    <p:sldId id="314" r:id="rId22"/>
    <p:sldId id="315" r:id="rId23"/>
    <p:sldId id="284" r:id="rId24"/>
    <p:sldId id="316" r:id="rId25"/>
    <p:sldId id="317" r:id="rId26"/>
    <p:sldId id="285" r:id="rId27"/>
    <p:sldId id="318" r:id="rId28"/>
    <p:sldId id="319" r:id="rId29"/>
    <p:sldId id="320" r:id="rId30"/>
    <p:sldId id="321" r:id="rId31"/>
    <p:sldId id="322" r:id="rId32"/>
    <p:sldId id="323" r:id="rId33"/>
    <p:sldId id="286" r:id="rId34"/>
    <p:sldId id="324" r:id="rId35"/>
    <p:sldId id="325" r:id="rId36"/>
    <p:sldId id="326" r:id="rId37"/>
    <p:sldId id="327" r:id="rId38"/>
    <p:sldId id="289" r:id="rId39"/>
    <p:sldId id="328" r:id="rId40"/>
    <p:sldId id="258" r:id="rId41"/>
    <p:sldId id="329" r:id="rId42"/>
    <p:sldId id="330" r:id="rId43"/>
    <p:sldId id="331" r:id="rId44"/>
    <p:sldId id="332" r:id="rId45"/>
    <p:sldId id="259" r:id="rId46"/>
    <p:sldId id="333" r:id="rId47"/>
    <p:sldId id="260" r:id="rId48"/>
    <p:sldId id="334" r:id="rId49"/>
    <p:sldId id="335" r:id="rId50"/>
    <p:sldId id="261" r:id="rId51"/>
    <p:sldId id="336" r:id="rId52"/>
    <p:sldId id="337" r:id="rId53"/>
    <p:sldId id="338" r:id="rId54"/>
    <p:sldId id="290" r:id="rId55"/>
    <p:sldId id="339" r:id="rId56"/>
    <p:sldId id="262" r:id="rId57"/>
    <p:sldId id="340" r:id="rId58"/>
    <p:sldId id="341" r:id="rId59"/>
    <p:sldId id="263" r:id="rId60"/>
    <p:sldId id="342" r:id="rId61"/>
    <p:sldId id="343" r:id="rId62"/>
    <p:sldId id="344" r:id="rId63"/>
    <p:sldId id="345" r:id="rId64"/>
    <p:sldId id="264" r:id="rId65"/>
    <p:sldId id="346" r:id="rId66"/>
    <p:sldId id="347" r:id="rId67"/>
    <p:sldId id="265" r:id="rId68"/>
    <p:sldId id="348" r:id="rId69"/>
    <p:sldId id="349" r:id="rId70"/>
    <p:sldId id="350" r:id="rId71"/>
    <p:sldId id="351" r:id="rId72"/>
    <p:sldId id="266" r:id="rId73"/>
    <p:sldId id="352" r:id="rId74"/>
    <p:sldId id="353" r:id="rId75"/>
    <p:sldId id="267" r:id="rId76"/>
    <p:sldId id="354" r:id="rId77"/>
    <p:sldId id="268" r:id="rId78"/>
    <p:sldId id="355" r:id="rId79"/>
    <p:sldId id="269" r:id="rId80"/>
    <p:sldId id="356" r:id="rId81"/>
    <p:sldId id="270" r:id="rId82"/>
    <p:sldId id="357" r:id="rId83"/>
    <p:sldId id="358" r:id="rId84"/>
    <p:sldId id="359" r:id="rId85"/>
    <p:sldId id="271" r:id="rId86"/>
    <p:sldId id="360" r:id="rId87"/>
    <p:sldId id="302" r:id="rId88"/>
    <p:sldId id="361" r:id="rId89"/>
    <p:sldId id="362" r:id="rId90"/>
    <p:sldId id="272" r:id="rId91"/>
    <p:sldId id="363" r:id="rId92"/>
    <p:sldId id="364" r:id="rId93"/>
    <p:sldId id="365" r:id="rId94"/>
    <p:sldId id="278" r:id="rId95"/>
    <p:sldId id="366" r:id="rId96"/>
    <p:sldId id="367" r:id="rId97"/>
    <p:sldId id="279" r:id="rId98"/>
    <p:sldId id="368" r:id="rId99"/>
    <p:sldId id="299" r:id="rId100"/>
    <p:sldId id="369" r:id="rId101"/>
    <p:sldId id="370" r:id="rId102"/>
    <p:sldId id="371" r:id="rId103"/>
    <p:sldId id="372" r:id="rId104"/>
    <p:sldId id="373" r:id="rId105"/>
    <p:sldId id="374" r:id="rId106"/>
    <p:sldId id="273" r:id="rId107"/>
    <p:sldId id="375" r:id="rId108"/>
    <p:sldId id="293" r:id="rId109"/>
    <p:sldId id="376" r:id="rId110"/>
    <p:sldId id="276" r:id="rId111"/>
    <p:sldId id="377" r:id="rId112"/>
    <p:sldId id="378" r:id="rId113"/>
    <p:sldId id="379" r:id="rId114"/>
    <p:sldId id="380" r:id="rId115"/>
    <p:sldId id="381" r:id="rId116"/>
    <p:sldId id="382" r:id="rId117"/>
    <p:sldId id="277" r:id="rId118"/>
    <p:sldId id="296" r:id="rId119"/>
    <p:sldId id="383" r:id="rId120"/>
    <p:sldId id="384" r:id="rId121"/>
    <p:sldId id="385" r:id="rId122"/>
    <p:sldId id="386" r:id="rId123"/>
    <p:sldId id="387" r:id="rId1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43" autoAdjust="0"/>
  </p:normalViewPr>
  <p:slideViewPr>
    <p:cSldViewPr>
      <p:cViewPr varScale="1">
        <p:scale>
          <a:sx n="75" d="100"/>
          <a:sy n="75" d="100"/>
        </p:scale>
        <p:origin x="1666" y="62"/>
      </p:cViewPr>
      <p:guideLst>
        <p:guide orient="horz" pos="2160"/>
        <p:guide pos="2880"/>
      </p:guideLst>
    </p:cSldViewPr>
  </p:slideViewPr>
  <p:notesTextViewPr>
    <p:cViewPr>
      <p:scale>
        <a:sx n="100" d="100"/>
        <a:sy n="100" d="100"/>
      </p:scale>
      <p:origin x="0" y="0"/>
    </p:cViewPr>
  </p:notesTextViewPr>
  <p:notesViewPr>
    <p:cSldViewPr>
      <p:cViewPr varScale="1">
        <p:scale>
          <a:sx n="68" d="100"/>
          <a:sy n="68" d="100"/>
        </p:scale>
        <p:origin x="2808" y="84"/>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custSel addSld delSld modSld">
      <pc:chgData name="Giannis Tsioulis" userId="d59c48a07cb29050" providerId="LiveId" clId="{D1FB67B2-2F40-423F-AEB1-7CE013CAD466}" dt="2025-10-07T20:19:41.773" v="92" actId="47"/>
      <pc:docMkLst>
        <pc:docMk/>
      </pc:docMkLst>
      <pc:sldChg chg="addSp modSp mod">
        <pc:chgData name="Giannis Tsioulis" userId="d59c48a07cb29050" providerId="LiveId" clId="{D1FB67B2-2F40-423F-AEB1-7CE013CAD466}" dt="2025-10-07T20:16:19.510" v="83" actId="207"/>
        <pc:sldMkLst>
          <pc:docMk/>
          <pc:sldMk cId="1762119713" sldId="256"/>
        </pc:sldMkLst>
        <pc:spChg chg="add mod">
          <ac:chgData name="Giannis Tsioulis" userId="d59c48a07cb29050" providerId="LiveId" clId="{D1FB67B2-2F40-423F-AEB1-7CE013CAD466}" dt="2025-10-07T20:16:19.510" v="83" actId="207"/>
          <ac:spMkLst>
            <pc:docMk/>
            <pc:sldMk cId="1762119713" sldId="256"/>
            <ac:spMk id="2" creationId="{6B246FF1-9020-F3E7-8FC5-A95BBE191469}"/>
          </ac:spMkLst>
        </pc:spChg>
        <pc:spChg chg="add mod">
          <ac:chgData name="Giannis Tsioulis" userId="d59c48a07cb29050" providerId="LiveId" clId="{D1FB67B2-2F40-423F-AEB1-7CE013CAD466}" dt="2025-10-07T20:14:40.254" v="53" actId="207"/>
          <ac:spMkLst>
            <pc:docMk/>
            <pc:sldMk cId="1762119713" sldId="256"/>
            <ac:spMk id="3" creationId="{F506DA0F-9E79-2E9B-A996-5C8CE0755C04}"/>
          </ac:spMkLst>
        </pc:spChg>
        <pc:spChg chg="mod">
          <ac:chgData name="Giannis Tsioulis" userId="d59c48a07cb29050" providerId="LiveId" clId="{D1FB67B2-2F40-423F-AEB1-7CE013CAD466}" dt="2025-10-07T20:11:55.584" v="15" actId="20577"/>
          <ac:spMkLst>
            <pc:docMk/>
            <pc:sldMk cId="1762119713" sldId="256"/>
            <ac:spMk id="4" creationId="{00000000-0000-0000-0000-000000000000}"/>
          </ac:spMkLst>
        </pc:spChg>
        <pc:spChg chg="mod">
          <ac:chgData name="Giannis Tsioulis" userId="d59c48a07cb29050" providerId="LiveId" clId="{D1FB67B2-2F40-423F-AEB1-7CE013CAD466}" dt="2025-10-07T20:14:25.097" v="52" actId="20577"/>
          <ac:spMkLst>
            <pc:docMk/>
            <pc:sldMk cId="1762119713" sldId="256"/>
            <ac:spMk id="5" creationId="{00000000-0000-0000-0000-000000000000}"/>
          </ac:spMkLst>
        </pc:spChg>
      </pc:sldChg>
      <pc:sldChg chg="del">
        <pc:chgData name="Giannis Tsioulis" userId="d59c48a07cb29050" providerId="LiveId" clId="{D1FB67B2-2F40-423F-AEB1-7CE013CAD466}" dt="2025-10-07T20:19:41.773" v="92" actId="47"/>
        <pc:sldMkLst>
          <pc:docMk/>
          <pc:sldMk cId="4260702471" sldId="274"/>
        </pc:sldMkLst>
      </pc:sldChg>
      <pc:sldChg chg="del">
        <pc:chgData name="Giannis Tsioulis" userId="d59c48a07cb29050" providerId="LiveId" clId="{D1FB67B2-2F40-423F-AEB1-7CE013CAD466}" dt="2025-10-07T20:19:10.262" v="91" actId="47"/>
        <pc:sldMkLst>
          <pc:docMk/>
          <pc:sldMk cId="1073695655" sldId="291"/>
        </pc:sldMkLst>
      </pc:sldChg>
      <pc:sldChg chg="modSp add mod">
        <pc:chgData name="Giannis Tsioulis" userId="d59c48a07cb29050" providerId="LiveId" clId="{D1FB67B2-2F40-423F-AEB1-7CE013CAD466}" dt="2025-10-07T20:18:40.970" v="89" actId="1076"/>
        <pc:sldMkLst>
          <pc:docMk/>
          <pc:sldMk cId="1204406781" sldId="294"/>
        </pc:sldMkLst>
        <pc:spChg chg="mod">
          <ac:chgData name="Giannis Tsioulis" userId="d59c48a07cb29050" providerId="LiveId" clId="{D1FB67B2-2F40-423F-AEB1-7CE013CAD466}" dt="2025-10-07T20:18:12.663" v="86" actId="1076"/>
          <ac:spMkLst>
            <pc:docMk/>
            <pc:sldMk cId="1204406781" sldId="294"/>
            <ac:spMk id="2" creationId="{AAE03060-EEB1-497D-FE76-17B09D026377}"/>
          </ac:spMkLst>
        </pc:spChg>
        <pc:spChg chg="mod">
          <ac:chgData name="Giannis Tsioulis" userId="d59c48a07cb29050" providerId="LiveId" clId="{D1FB67B2-2F40-423F-AEB1-7CE013CAD466}" dt="2025-10-07T20:17:15.803" v="84"/>
          <ac:spMkLst>
            <pc:docMk/>
            <pc:sldMk cId="1204406781" sldId="294"/>
            <ac:spMk id="3" creationId="{3CF8DC8E-35FA-7209-9C3F-2AFBE9BD5694}"/>
          </ac:spMkLst>
        </pc:spChg>
        <pc:spChg chg="mod">
          <ac:chgData name="Giannis Tsioulis" userId="d59c48a07cb29050" providerId="LiveId" clId="{D1FB67B2-2F40-423F-AEB1-7CE013CAD466}" dt="2025-10-07T20:18:29.176" v="87" actId="1076"/>
          <ac:spMkLst>
            <pc:docMk/>
            <pc:sldMk cId="1204406781" sldId="294"/>
            <ac:spMk id="4" creationId="{7F3EBB0B-37B8-ECDE-2938-9D3EFF3CDE12}"/>
          </ac:spMkLst>
        </pc:spChg>
        <pc:picChg chg="mod">
          <ac:chgData name="Giannis Tsioulis" userId="d59c48a07cb29050" providerId="LiveId" clId="{D1FB67B2-2F40-423F-AEB1-7CE013CAD466}" dt="2025-10-07T20:18:40.970" v="89" actId="1076"/>
          <ac:picMkLst>
            <pc:docMk/>
            <pc:sldMk cId="1204406781" sldId="294"/>
            <ac:picMk id="5" creationId="{8042B73C-1E93-4DB5-EB10-5FD6D16EBD2F}"/>
          </ac:picMkLst>
        </pc:picChg>
        <pc:picChg chg="mod">
          <ac:chgData name="Giannis Tsioulis" userId="d59c48a07cb29050" providerId="LiveId" clId="{D1FB67B2-2F40-423F-AEB1-7CE013CAD466}" dt="2025-10-07T20:18:36.186" v="88" actId="1076"/>
          <ac:picMkLst>
            <pc:docMk/>
            <pc:sldMk cId="1204406781" sldId="294"/>
            <ac:picMk id="7" creationId="{C2DFC3F1-C502-6BC2-0ED0-09B5EC3AD187}"/>
          </ac:picMkLst>
        </pc:picChg>
      </pc:sldChg>
      <pc:sldChg chg="del">
        <pc:chgData name="Giannis Tsioulis" userId="d59c48a07cb29050" providerId="LiveId" clId="{D1FB67B2-2F40-423F-AEB1-7CE013CAD466}" dt="2025-10-07T20:18:03.739" v="85" actId="47"/>
        <pc:sldMkLst>
          <pc:docMk/>
          <pc:sldMk cId="2886612080" sldId="297"/>
        </pc:sldMkLst>
      </pc:sldChg>
      <pc:sldChg chg="del">
        <pc:chgData name="Giannis Tsioulis" userId="d59c48a07cb29050" providerId="LiveId" clId="{D1FB67B2-2F40-423F-AEB1-7CE013CAD466}" dt="2025-10-07T20:18:57.954" v="90" actId="47"/>
        <pc:sldMkLst>
          <pc:docMk/>
          <pc:sldMk cId="2908236615"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176D52-0B07-46A8-81E9-A52D7E790864}" type="datetimeFigureOut">
              <a:rPr lang="en-GB" smtClean="0"/>
              <a:t>09/10/2026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7C9DE3-8D66-41A1-9327-275C27398A09}" type="slidenum">
              <a:rPr lang="en-GB" smtClean="0"/>
              <a:t>‹#›</a:t>
            </a:fld>
            <a:endParaRPr lang="en-GB"/>
          </a:p>
        </p:txBody>
      </p:sp>
    </p:spTree>
    <p:extLst>
      <p:ext uri="{BB962C8B-B14F-4D97-AF65-F5344CB8AC3E}">
        <p14:creationId xmlns:p14="http://schemas.microsoft.com/office/powerpoint/2010/main" val="2770239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spTree>
    <p:extLst>
      <p:ext uri="{BB962C8B-B14F-4D97-AF65-F5344CB8AC3E}">
        <p14:creationId xmlns:p14="http://schemas.microsoft.com/office/powerpoint/2010/main" val="39776922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6"/>
          <a:stretch>
            <a:fillRect/>
          </a:stretch>
        </p:blipFill>
        <p:spPr>
          <a:xfrm>
            <a:off x="265085" y="4876800"/>
            <a:ext cx="748535" cy="619477"/>
          </a:xfrm>
          <a:prstGeom prst="rect">
            <a:avLst/>
          </a:prstGeom>
        </p:spPr>
      </p:pic>
      <p:sp>
        <p:nvSpPr>
          <p:cNvPr id="2" name="MSIPCMContentMarking" descr="{&quot;HashCode&quot;:269818377,&quot;Placement&quot;:&quot;Footer&quot;}"/>
          <p:cNvSpPr txBox="1"/>
          <p:nvPr/>
        </p:nvSpPr>
        <p:spPr>
          <a:xfrm>
            <a:off x="68426" y="5791200"/>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dirty="0">
                <a:solidFill>
                  <a:srgbClr val="000000"/>
                </a:solidFill>
                <a:latin typeface="Calibri" panose="020F0502020204030204" pitchFamily="34" charset="0"/>
              </a:rPr>
              <a:t>Sensitivity: Internal</a:t>
            </a:r>
          </a:p>
        </p:txBody>
      </p:sp>
      <p:pic>
        <p:nvPicPr>
          <p:cNvPr id="3" name="Picture 2">
            <a:extLst>
              <a:ext uri="{FF2B5EF4-FFF2-40B4-BE49-F238E27FC236}">
                <a16:creationId xmlns:a16="http://schemas.microsoft.com/office/drawing/2014/main" id="{6023BF16-5CB9-4516-8BBA-159E7B3A98F5}"/>
              </a:ext>
            </a:extLst>
          </p:cNvPr>
          <p:cNvPicPr>
            <a:picLocks noChangeAspect="1"/>
          </p:cNvPicPr>
          <p:nvPr userDrawn="1"/>
        </p:nvPicPr>
        <p:blipFill>
          <a:blip r:embed="rId7"/>
          <a:stretch>
            <a:fillRect/>
          </a:stretch>
        </p:blipFill>
        <p:spPr>
          <a:xfrm>
            <a:off x="8860" y="26581"/>
            <a:ext cx="1345019" cy="1345019"/>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en.wikipedia.org/wiki/Claude_Shannon" TargetMode="External"/><Relationship Id="rId3" Type="http://schemas.openxmlformats.org/officeDocument/2006/relationships/hyperlink" Target="https://en.wikipedia.org/wiki/Julian_Bigelow" TargetMode="External"/><Relationship Id="rId7" Type="http://schemas.openxmlformats.org/officeDocument/2006/relationships/hyperlink" Target="https://en.wikipedia.org/wiki/John_McCarthy_(computer_scientist)" TargetMode="External"/><Relationship Id="rId2" Type="http://schemas.openxmlformats.org/officeDocument/2006/relationships/hyperlink" Target="https://en.wikipedia.org/wiki/Marvin_Minsky" TargetMode="External"/><Relationship Id="rId1" Type="http://schemas.openxmlformats.org/officeDocument/2006/relationships/slideLayout" Target="../slideLayouts/slideLayout2.xml"/><Relationship Id="rId6" Type="http://schemas.openxmlformats.org/officeDocument/2006/relationships/hyperlink" Target="https://en.wikipedia.org/wiki/John_Henry_Holland" TargetMode="External"/><Relationship Id="rId5" Type="http://schemas.openxmlformats.org/officeDocument/2006/relationships/hyperlink" Target="https://en.wikipedia.org/wiki/Ray_Solomonoff" TargetMode="External"/><Relationship Id="rId4" Type="http://schemas.openxmlformats.org/officeDocument/2006/relationships/hyperlink" Target="https://en.wikipedia.org/wiki/Donald_MacCrimmon_MacKay" TargetMode="External"/><Relationship Id="rId9" Type="http://schemas.openxmlformats.org/officeDocument/2006/relationships/image" Target="../media/image24.jpeg"/></Relationships>
</file>

<file path=ppt/slides/_rels/slide6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kaggle.com/harryyu/week10-reinforcement-learning-frozenlake-v0"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www.gogeometry.com/software/ai/branches-of-artificial-intelligence-by-application.html"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chatbotsmagazine.com/how-close-are-chatbots-to-pass-turing-test-33f27b18305e" TargetMode="External"/><Relationship Id="rId1" Type="http://schemas.openxmlformats.org/officeDocument/2006/relationships/slideLayout" Target="../slideLayouts/slideLayout2.xml"/><Relationship Id="rId4" Type="http://schemas.openxmlformats.org/officeDocument/2006/relationships/hyperlink" Target="https://www.pandorabots.com/mitsuku/"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e3zine.com/strong-artificial-intelligence/" TargetMode="External"/><Relationship Id="rId2" Type="http://schemas.openxmlformats.org/officeDocument/2006/relationships/hyperlink" Target="http://ceur-ws.org/Vol-2287/paper34.pdf" TargetMode="Externa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 y="3124201"/>
            <a:ext cx="8991600" cy="609600"/>
          </a:xfrm>
        </p:spPr>
        <p:txBody>
          <a:bodyPr/>
          <a:lstStyle/>
          <a:p>
            <a:r>
              <a:rPr lang="en-GB" dirty="0">
                <a:solidFill>
                  <a:srgbClr val="0070C0"/>
                </a:solidFill>
              </a:rPr>
              <a:t>Introduction </a:t>
            </a:r>
            <a:r>
              <a:rPr lang="en-US" dirty="0">
                <a:solidFill>
                  <a:srgbClr val="0070C0"/>
                </a:solidFill>
              </a:rPr>
              <a:t>Frontiers in AI and Data Science </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accent5">
                    <a:lumMod val="50000"/>
                  </a:schemeClr>
                </a:solidFill>
              </a:rPr>
              <a:t>Slides acknowledgements:</a:t>
            </a:r>
          </a:p>
          <a:p>
            <a:r>
              <a:rPr lang="en-GB" sz="1600" dirty="0">
                <a:solidFill>
                  <a:schemeClr val="accent5">
                    <a:lumMod val="50000"/>
                  </a:schemeClr>
                </a:solidFill>
              </a:rPr>
              <a:t>Dr Hong Qing Yu</a:t>
            </a:r>
            <a:endParaRPr lang="el-GR" sz="1600" dirty="0">
              <a:solidFill>
                <a:schemeClr val="accent5">
                  <a:lumMod val="50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400300" y="3886200"/>
            <a:ext cx="4495800" cy="1323439"/>
          </a:xfrm>
          <a:prstGeom prst="rect">
            <a:avLst/>
          </a:prstGeom>
          <a:noFill/>
        </p:spPr>
        <p:txBody>
          <a:bodyPr wrap="square" rtlCol="0">
            <a:spAutoFit/>
          </a:bodyPr>
          <a:lstStyle/>
          <a:p>
            <a:pPr algn="ctr"/>
            <a:r>
              <a:rPr lang="en-US" sz="2000" dirty="0">
                <a:solidFill>
                  <a:schemeClr val="accent5">
                    <a:lumMod val="50000"/>
                  </a:schemeClr>
                </a:solidFill>
              </a:rPr>
              <a:t>Christos Tsallis, PhD Candidate</a:t>
            </a:r>
          </a:p>
          <a:p>
            <a:pPr algn="ctr"/>
            <a:r>
              <a:rPr lang="en-US" sz="2000" dirty="0">
                <a:solidFill>
                  <a:schemeClr val="accent5">
                    <a:lumMod val="50000"/>
                  </a:schemeClr>
                </a:solidFill>
              </a:rPr>
              <a:t>University of West Attica, Department of Electrical and Electronics Engineering</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About this lecture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jpeg"/>
          <p:cNvPicPr>
            <a:picLocks noChangeAspect="1"/>
          </p:cNvPicPr>
          <p:nvPr/>
        </p:nvPicPr>
        <p:blipFill>
          <a:blip r:embed="rId2"/>
          <a:stretch>
            <a:fillRect/>
          </a:stretch>
        </p:blipFill>
        <p:spPr>
          <a:xfrm>
            <a:off x="1810512" y="1280160"/>
            <a:ext cx="2011680" cy="2011680"/>
          </a:xfrm>
          <a:prstGeom prst="rect">
            <a:avLst/>
          </a:prstGeom>
          <a:ln w="9525">
            <a:solidFill>
              <a:srgbClr val="A6B8D6"/>
            </a:solidFill>
          </a:ln>
        </p:spPr>
      </p:pic>
      <p:sp>
        <p:nvSpPr>
          <p:cNvPr id="5" name="Rounded Rectangle 4"/>
          <p:cNvSpPr/>
          <p:nvPr/>
        </p:nvSpPr>
        <p:spPr>
          <a:xfrm>
            <a:off x="4005072" y="1280160"/>
            <a:ext cx="4791455" cy="2011680"/>
          </a:xfrm>
          <a:prstGeom prst="roundRect">
            <a:avLst>
              <a:gd name="adj" fmla="val 363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Lecture 1 of 6CM521</a:t>
            </a:r>
          </a:p>
          <a:p>
            <a:pPr marL="0" indent="0" algn="l">
              <a:spcAft>
                <a:spcPts val="600"/>
              </a:spcAft>
              <a:buNone/>
            </a:pPr>
            <a:r>
              <a:rPr sz="1300" b="0" i="0">
                <a:solidFill>
                  <a:srgbClr val="262626"/>
                </a:solidFill>
                <a:latin typeface="Arial"/>
              </a:rPr>
              <a:t>An introduction to data mining and artificial intelligence (AI): definitions, how the fields relate, the history of AI, its main branches, and the Turing test.</a:t>
            </a:r>
          </a:p>
        </p:txBody>
      </p:sp>
      <p:sp>
        <p:nvSpPr>
          <p:cNvPr id="6" name="Rounded Rectangle 5"/>
          <p:cNvSpPr/>
          <p:nvPr/>
        </p:nvSpPr>
        <p:spPr>
          <a:xfrm>
            <a:off x="1810512" y="3429000"/>
            <a:ext cx="6986015"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How to read these slides</a:t>
            </a:r>
          </a:p>
          <a:p>
            <a:pPr marL="164592" indent="-146304" algn="l">
              <a:spcAft>
                <a:spcPts val="600"/>
              </a:spcAft>
              <a:buFont typeface="Arial"/>
              <a:buChar char="•"/>
            </a:pPr>
            <a:r>
              <a:rPr sz="1300" b="0" i="0">
                <a:solidFill>
                  <a:srgbClr val="262626"/>
                </a:solidFill>
                <a:latin typeface="Arial"/>
              </a:rPr>
              <a:t>Each original lecture slide is followed by one or more slides marked EXPLAINED.</a:t>
            </a:r>
          </a:p>
          <a:p>
            <a:pPr marL="164592" indent="-146304" algn="l">
              <a:spcAft>
                <a:spcPts val="600"/>
              </a:spcAft>
              <a:buFont typeface="Arial"/>
              <a:buChar char="•"/>
            </a:pPr>
            <a:r>
              <a:rPr sz="1300" b="0" i="0">
                <a:solidFill>
                  <a:srgbClr val="262626"/>
                </a:solidFill>
                <a:latin typeface="Arial"/>
              </a:rPr>
              <a:t>Explanation slides describe what each image, table, figure and link shows, and why it is used.</a:t>
            </a:r>
          </a:p>
          <a:p>
            <a:pPr marL="164592" indent="-146304" algn="l">
              <a:spcAft>
                <a:spcPts val="600"/>
              </a:spcAft>
              <a:buFont typeface="Arial"/>
              <a:buChar char="•"/>
            </a:pPr>
            <a:r>
              <a:rPr sz="1300" b="0" i="0">
                <a:solidFill>
                  <a:srgbClr val="262626"/>
                </a:solidFill>
                <a:latin typeface="Arial"/>
              </a:rPr>
              <a:t>Citations in the form (Author, year) refer to the reference list at the end of the deck.</a:t>
            </a:r>
          </a:p>
          <a:p>
            <a:pPr marL="164592" indent="-146304" algn="l">
              <a:spcAft>
                <a:spcPts val="600"/>
              </a:spcAft>
              <a:buFont typeface="Arial"/>
              <a:buChar char="•"/>
            </a:pPr>
            <a:r>
              <a:rPr sz="1300" b="0" i="0">
                <a:solidFill>
                  <a:srgbClr val="262626"/>
                </a:solidFill>
                <a:latin typeface="Arial"/>
              </a:rPr>
              <a:t>Boxes labelled REFLECT or ACTIVITY are prompts you can work through on your own.</a:t>
            </a:r>
          </a:p>
          <a:p>
            <a:pPr marL="164592" indent="-146304" algn="l">
              <a:spcAft>
                <a:spcPts val="600"/>
              </a:spcAft>
              <a:buFont typeface="Arial"/>
              <a:buChar char="•"/>
            </a:pPr>
            <a:r>
              <a:rPr sz="1300" b="0" i="0">
                <a:solidFill>
                  <a:srgbClr val="262626"/>
                </a:solidFill>
                <a:latin typeface="Arial"/>
              </a:rPr>
              <a:t>QUESTION slides check your understanding; the model answer follows on the ANSWER slide.</a:t>
            </a:r>
          </a:p>
        </p:txBody>
      </p:sp>
      <p:sp>
        <p:nvSpPr>
          <p:cNvPr id="7" name="TextBox 6"/>
          <p:cNvSpPr txBox="1"/>
          <p:nvPr/>
        </p:nvSpPr>
        <p:spPr>
          <a:xfrm>
            <a:off x="1810512" y="621792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Image on the title slide: a stylised robot head with a gear, a decorative symbol of intelligent machines (AI) built through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AE03060-EEB1-497D-FE76-17B09D026377}"/>
              </a:ext>
            </a:extLst>
          </p:cNvPr>
          <p:cNvSpPr>
            <a:spLocks noGrp="1"/>
          </p:cNvSpPr>
          <p:nvPr>
            <p:ph type="title"/>
          </p:nvPr>
        </p:nvSpPr>
        <p:spPr>
          <a:xfrm>
            <a:off x="1990828" y="1219200"/>
            <a:ext cx="5556885" cy="796372"/>
          </a:xfrm>
        </p:spPr>
        <p:txBody>
          <a:bodyPr/>
          <a:lstStyle/>
          <a:p>
            <a:r>
              <a:rPr lang="en-US" dirty="0"/>
              <a:t>Instructor Contact &amp; Resources</a:t>
            </a:r>
            <a:br>
              <a:rPr lang="en-US" dirty="0"/>
            </a:br>
            <a:endParaRPr lang="el-GR" dirty="0"/>
          </a:p>
        </p:txBody>
      </p:sp>
      <p:sp>
        <p:nvSpPr>
          <p:cNvPr id="4" name="Rectangle 1">
            <a:extLst>
              <a:ext uri="{FF2B5EF4-FFF2-40B4-BE49-F238E27FC236}">
                <a16:creationId xmlns:a16="http://schemas.microsoft.com/office/drawing/2014/main" id="{7F3EBB0B-37B8-ECDE-2938-9D3EFF3CDE12}"/>
              </a:ext>
            </a:extLst>
          </p:cNvPr>
          <p:cNvSpPr>
            <a:spLocks noGrp="1" noChangeArrowheads="1"/>
          </p:cNvSpPr>
          <p:nvPr>
            <p:ph type="body" idx="1"/>
          </p:nvPr>
        </p:nvSpPr>
        <p:spPr bwMode="auto">
          <a:xfrm>
            <a:off x="3276600" y="2606499"/>
            <a:ext cx="2590800" cy="1645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l" rtl="0" eaLnBrk="0" fontAlgn="base" hangingPunct="0">
              <a:lnSpc>
                <a:spcPct val="200000"/>
              </a:lnSpc>
              <a:spcBef>
                <a:spcPct val="0"/>
              </a:spcBef>
              <a:spcAft>
                <a:spcPct val="0"/>
              </a:spcAft>
            </a:pPr>
            <a:r>
              <a:rPr lang="en-US" altLang="el-GR" sz="1800" dirty="0">
                <a:solidFill>
                  <a:schemeClr val="accent5">
                    <a:lumMod val="50000"/>
                  </a:schemeClr>
                </a:solidFill>
                <a:latin typeface="Segoe UI" panose="020B0502040204020203" pitchFamily="34" charset="0"/>
                <a:cs typeface="Segoe UI" panose="020B0502040204020203" pitchFamily="34" charset="0"/>
              </a:rPr>
              <a:t>Christos Tsallis</a:t>
            </a:r>
          </a:p>
          <a:p>
            <a:pPr algn="l" rtl="0" eaLnBrk="0" fontAlgn="base" hangingPunct="0">
              <a:lnSpc>
                <a:spcPct val="200000"/>
              </a:lnSpc>
              <a:spcBef>
                <a:spcPct val="0"/>
              </a:spcBef>
              <a:spcAft>
                <a:spcPct val="0"/>
              </a:spcAft>
            </a:pPr>
            <a:r>
              <a:rPr lang="en-US" altLang="el-GR" sz="1800" dirty="0">
                <a:latin typeface="Segoe UI" panose="020B0502040204020203" pitchFamily="34" charset="0"/>
                <a:cs typeface="Segoe UI" panose="020B0502040204020203" pitchFamily="34" charset="0"/>
              </a:rPr>
              <a:t>c.tsallis@mc-class.gr</a:t>
            </a:r>
            <a:endParaRPr lang="el-GR" altLang="el-GR" sz="1800" dirty="0">
              <a:latin typeface="Segoe UI" panose="020B0502040204020203" pitchFamily="34" charset="0"/>
              <a:cs typeface="Segoe UI" panose="020B0502040204020203" pitchFamily="34" charset="0"/>
            </a:endParaRPr>
          </a:p>
          <a:p>
            <a:pPr defTabSz="685800" eaLnBrk="0" fontAlgn="base" hangingPunct="0">
              <a:lnSpc>
                <a:spcPct val="200000"/>
              </a:lnSpc>
              <a:spcBef>
                <a:spcPct val="0"/>
              </a:spcBef>
              <a:spcAft>
                <a:spcPct val="0"/>
              </a:spcAft>
            </a:pPr>
            <a:r>
              <a:rPr lang="en-US" altLang="el-GR" sz="1800" dirty="0">
                <a:latin typeface="Segoe UI" panose="020B0502040204020203" pitchFamily="34" charset="0"/>
                <a:cs typeface="Segoe UI" panose="020B0502040204020203" pitchFamily="34" charset="0"/>
              </a:rPr>
              <a:t>github.com/</a:t>
            </a:r>
            <a:r>
              <a:rPr lang="en-US" altLang="el-GR" sz="1800" dirty="0" err="1">
                <a:latin typeface="Segoe UI" panose="020B0502040204020203" pitchFamily="34" charset="0"/>
                <a:cs typeface="Segoe UI" panose="020B0502040204020203" pitchFamily="34" charset="0"/>
              </a:rPr>
              <a:t>invariantum</a:t>
            </a:r>
            <a:endParaRPr lang="el-GR" altLang="el-GR" sz="1800" dirty="0">
              <a:latin typeface="Segoe UI" panose="020B0502040204020203" pitchFamily="34" charset="0"/>
              <a:cs typeface="Segoe UI" panose="020B0502040204020203" pitchFamily="34" charset="0"/>
            </a:endParaRPr>
          </a:p>
        </p:txBody>
      </p:sp>
      <p:pic>
        <p:nvPicPr>
          <p:cNvPr id="5" name="Εικόνα 4">
            <a:extLst>
              <a:ext uri="{FF2B5EF4-FFF2-40B4-BE49-F238E27FC236}">
                <a16:creationId xmlns:a16="http://schemas.microsoft.com/office/drawing/2014/main" id="{8042B73C-1E93-4DB5-EB10-5FD6D16EBD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53978" y="3780016"/>
            <a:ext cx="566283" cy="566283"/>
          </a:xfrm>
          <a:prstGeom prst="rect">
            <a:avLst/>
          </a:prstGeom>
        </p:spPr>
      </p:pic>
      <p:pic>
        <p:nvPicPr>
          <p:cNvPr id="7" name="Εικόνα 6">
            <a:extLst>
              <a:ext uri="{FF2B5EF4-FFF2-40B4-BE49-F238E27FC236}">
                <a16:creationId xmlns:a16="http://schemas.microsoft.com/office/drawing/2014/main" id="{C2DFC3F1-C502-6BC2-0ED0-09B5EC3AD1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125" y="3203339"/>
            <a:ext cx="671475" cy="671475"/>
          </a:xfrm>
          <a:prstGeom prst="rect">
            <a:avLst/>
          </a:prstGeom>
        </p:spPr>
      </p:pic>
      <p:sp>
        <p:nvSpPr>
          <p:cNvPr id="3" name="object 6">
            <a:extLst>
              <a:ext uri="{FF2B5EF4-FFF2-40B4-BE49-F238E27FC236}">
                <a16:creationId xmlns:a16="http://schemas.microsoft.com/office/drawing/2014/main" id="{3CF8DC8E-35FA-7209-9C3F-2AFBE9BD5694}"/>
              </a:ext>
            </a:extLst>
          </p:cNvPr>
          <p:cNvSpPr txBox="1">
            <a:spLocks noGrp="1"/>
          </p:cNvSpPr>
          <p:nvPr>
            <p:ph type="sldNum" sz="quarter" idx="7"/>
          </p:nvPr>
        </p:nvSpPr>
        <p:spPr>
          <a:xfrm>
            <a:off x="11621689" y="6322391"/>
            <a:ext cx="335915" cy="329565"/>
          </a:xfrm>
          <a:prstGeom prst="rect">
            <a:avLst/>
          </a:prstGeom>
        </p:spPr>
        <p:txBody>
          <a:bodyPr vert="horz" wrap="square" lIns="0" tIns="0" rIns="0" bIns="0" rtlCol="0">
            <a:spAutoFit/>
          </a:bodyPr>
          <a:lstStyle>
            <a:defPPr>
              <a:defRPr kern="0"/>
            </a:defPPr>
            <a:lvl1pPr>
              <a:defRPr sz="1800" b="0" i="0">
                <a:solidFill>
                  <a:srgbClr val="777777"/>
                </a:solidFill>
                <a:latin typeface="Segoe UI"/>
                <a:cs typeface="Segoe UI"/>
              </a:defRPr>
            </a:lvl1pPr>
          </a:lstStyle>
          <a:p>
            <a:pPr marL="38100">
              <a:spcBef>
                <a:spcPts val="240"/>
              </a:spcBef>
            </a:pPr>
            <a:fld id="{81D60167-4931-47E6-BA6A-407CBD079E47}" type="slidenum">
              <a:rPr lang="el-GR" spc="-25" smtClean="0"/>
              <a:pPr marL="38100">
                <a:spcBef>
                  <a:spcPts val="240"/>
                </a:spcBef>
              </a:pPr>
              <a:t>3</a:t>
            </a:fld>
            <a:endParaRPr spc="-19" dirty="0"/>
          </a:p>
        </p:txBody>
      </p:sp>
    </p:spTree>
    <p:extLst>
      <p:ext uri="{BB962C8B-B14F-4D97-AF65-F5344CB8AC3E}">
        <p14:creationId xmlns:p14="http://schemas.microsoft.com/office/powerpoint/2010/main" val="1204406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Resources and tools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80160"/>
            <a:ext cx="2218943" cy="2743200"/>
          </a:xfrm>
          <a:prstGeom prst="roundRect">
            <a:avLst>
              <a:gd name="adj" fmla="val 329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700" b="1" i="0">
                <a:solidFill>
                  <a:srgbClr val="2F5DA8"/>
                </a:solidFill>
                <a:latin typeface="Arial"/>
              </a:rPr>
              <a:t>GitHub</a:t>
            </a:r>
          </a:p>
          <a:p>
            <a:pPr marL="0" indent="0" algn="l">
              <a:spcAft>
                <a:spcPts val="400"/>
              </a:spcAft>
              <a:buNone/>
            </a:pPr>
            <a:r>
              <a:rPr sz="1500" b="0" i="0">
                <a:solidFill>
                  <a:srgbClr val="262626"/>
                </a:solidFill>
                <a:latin typeface="Arial"/>
              </a:rPr>
              <a:t>Python examples for every practical session of the module.</a:t>
            </a:r>
          </a:p>
          <a:p>
            <a:pPr marL="0" indent="0" algn="l">
              <a:spcAft>
                <a:spcPts val="400"/>
              </a:spcAft>
              <a:buNone/>
            </a:pPr>
            <a:r>
              <a:rPr sz="1500" b="0" i="0">
                <a:solidFill>
                  <a:srgbClr val="262626"/>
                </a:solidFill>
                <a:latin typeface="Arial"/>
              </a:rPr>
              <a:t>Start your own repositories: GitHub is your technical portfolio. Employers look at it, not just your CV.</a:t>
            </a:r>
          </a:p>
        </p:txBody>
      </p:sp>
      <p:sp>
        <p:nvSpPr>
          <p:cNvPr id="5" name="Rounded Rectangle 4"/>
          <p:cNvSpPr/>
          <p:nvPr/>
        </p:nvSpPr>
        <p:spPr>
          <a:xfrm>
            <a:off x="4194047" y="1280160"/>
            <a:ext cx="2218943" cy="2743200"/>
          </a:xfrm>
          <a:prstGeom prst="roundRect">
            <a:avLst>
              <a:gd name="adj" fmla="val 329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700" b="1" i="0">
                <a:solidFill>
                  <a:srgbClr val="2F5DA8"/>
                </a:solidFill>
                <a:latin typeface="Arial"/>
              </a:rPr>
              <a:t>Google Colab &amp; Kaggle</a:t>
            </a:r>
          </a:p>
          <a:p>
            <a:pPr marL="0" indent="0" algn="l">
              <a:spcAft>
                <a:spcPts val="400"/>
              </a:spcAft>
              <a:buNone/>
            </a:pPr>
            <a:r>
              <a:rPr sz="1500" b="0" i="0">
                <a:solidFill>
                  <a:srgbClr val="262626"/>
                </a:solidFill>
                <a:latin typeface="Arial"/>
              </a:rPr>
              <a:t>Free notebooks in the browser, with free GPUs.</a:t>
            </a:r>
          </a:p>
          <a:p>
            <a:pPr marL="0" indent="0" algn="l">
              <a:spcAft>
                <a:spcPts val="400"/>
              </a:spcAft>
              <a:buNone/>
            </a:pPr>
            <a:r>
              <a:rPr sz="1500" b="0" i="0">
                <a:solidFill>
                  <a:srgbClr val="262626"/>
                </a:solidFill>
                <a:latin typeface="Arial"/>
              </a:rPr>
              <a:t>Nothing to install. We use them for practicals and homework.</a:t>
            </a:r>
          </a:p>
        </p:txBody>
      </p:sp>
      <p:sp>
        <p:nvSpPr>
          <p:cNvPr id="6" name="Rounded Rectangle 5"/>
          <p:cNvSpPr/>
          <p:nvPr/>
        </p:nvSpPr>
        <p:spPr>
          <a:xfrm>
            <a:off x="6577584" y="1280160"/>
            <a:ext cx="2218943" cy="2743200"/>
          </a:xfrm>
          <a:prstGeom prst="roundRect">
            <a:avLst>
              <a:gd name="adj" fmla="val 329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700" b="1" i="0">
                <a:solidFill>
                  <a:srgbClr val="2F5DA8"/>
                </a:solidFill>
                <a:latin typeface="Arial"/>
              </a:rPr>
              <a:t>Contacting the lecturer</a:t>
            </a:r>
          </a:p>
          <a:p>
            <a:pPr marL="0" indent="0" algn="l">
              <a:spcAft>
                <a:spcPts val="400"/>
              </a:spcAft>
              <a:buNone/>
            </a:pPr>
            <a:r>
              <a:rPr sz="1500" b="0" i="0">
                <a:solidFill>
                  <a:srgbClr val="262626"/>
                </a:solidFill>
                <a:latin typeface="Arial"/>
              </a:rPr>
              <a:t>Email with “6CM521” in the subject line so your message is easy to find.</a:t>
            </a:r>
          </a:p>
          <a:p>
            <a:pPr marL="0" indent="0" algn="l">
              <a:spcAft>
                <a:spcPts val="400"/>
              </a:spcAft>
              <a:buNone/>
            </a:pPr>
            <a:r>
              <a:rPr sz="1500" b="0" i="0">
                <a:solidFill>
                  <a:srgbClr val="262626"/>
                </a:solidFill>
                <a:latin typeface="Arial"/>
              </a:rPr>
              <a:t>Use the discussion board for questions others may share.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Outlook 1</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Core textbooks</a:t>
            </a:r>
          </a:p>
          <a:p>
            <a:pPr marL="342900" indent="-342900">
              <a:buFont typeface="Arial" panose="020B0604020202020204" pitchFamily="34" charset="0"/>
              <a:buChar char="•"/>
            </a:pPr>
            <a:r>
              <a:rPr lang="en-GB" dirty="0"/>
              <a:t>Module introduction </a:t>
            </a:r>
          </a:p>
        </p:txBody>
      </p:sp>
    </p:spTree>
    <p:extLst>
      <p:ext uri="{BB962C8B-B14F-4D97-AF65-F5344CB8AC3E}">
        <p14:creationId xmlns:p14="http://schemas.microsoft.com/office/powerpoint/2010/main" val="3818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Core textbooks </a:t>
            </a:r>
          </a:p>
        </p:txBody>
      </p:sp>
      <p:pic>
        <p:nvPicPr>
          <p:cNvPr id="11266" name="Picture 2" descr="https://encrypted-tbn0.gstatic.com/images?q=tbn:ANd9GcQfYKUerI9m4FPyMz36tUcvfQVE5h7ATyPmU1cb2IQOnQSIUocR0UGKVaxrV1u8CsEgIrNvqjI&amp;usqp=CA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599" y="1143000"/>
            <a:ext cx="2816463" cy="327318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Artificial Intelligence: A Modern Approach (International Edition):  Amazon.co.uk: Russell, Stuart, Norvig, Peter: 9780130803023: Boo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8768" y="138567"/>
            <a:ext cx="2756917" cy="3429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AutoShape 7" descr="Doing Data Science: Straight Talk from the Frontline: Amazon.co.uk: Cathy  O'Neil, Rachel Schutt: 8601200584905: Boo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7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0452" y="3701142"/>
            <a:ext cx="2057400" cy="3091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4724400"/>
            <a:ext cx="38385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514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How to use the textbooks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1188720"/>
          </a:xfrm>
          <a:prstGeom prst="roundRect">
            <a:avLst>
              <a:gd name="adj" fmla="val 615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600" b="1" i="0" dirty="0">
                <a:solidFill>
                  <a:srgbClr val="1F3864"/>
                </a:solidFill>
                <a:latin typeface="Arial"/>
              </a:rPr>
              <a:t>Data Mining: Concepts and Techniques</a:t>
            </a:r>
            <a:r>
              <a:rPr sz="1300" b="0" i="0" dirty="0">
                <a:solidFill>
                  <a:srgbClr val="595959"/>
                </a:solidFill>
                <a:latin typeface="Arial"/>
              </a:rPr>
              <a:t>   Han, </a:t>
            </a:r>
            <a:r>
              <a:rPr sz="1300" b="0" i="0" dirty="0" err="1">
                <a:solidFill>
                  <a:srgbClr val="595959"/>
                </a:solidFill>
                <a:latin typeface="Arial"/>
              </a:rPr>
              <a:t>Kamber</a:t>
            </a:r>
            <a:r>
              <a:rPr sz="1300" b="0" i="0" dirty="0">
                <a:solidFill>
                  <a:srgbClr val="595959"/>
                </a:solidFill>
                <a:latin typeface="Arial"/>
              </a:rPr>
              <a:t> &amp; Pei</a:t>
            </a:r>
          </a:p>
          <a:p>
            <a:pPr marL="0" indent="0" algn="l">
              <a:spcAft>
                <a:spcPts val="200"/>
              </a:spcAft>
              <a:buNone/>
            </a:pPr>
            <a:r>
              <a:rPr sz="1300" b="1" i="0" dirty="0">
                <a:solidFill>
                  <a:srgbClr val="262626"/>
                </a:solidFill>
                <a:latin typeface="Arial"/>
              </a:rPr>
              <a:t>Use it for: </a:t>
            </a:r>
            <a:r>
              <a:rPr sz="1300" b="0" i="0" dirty="0">
                <a:solidFill>
                  <a:srgbClr val="262626"/>
                </a:solidFill>
                <a:latin typeface="Arial"/>
              </a:rPr>
              <a:t>Pre-processing, frequent patterns, classification, clustering (Weeks 2</a:t>
            </a:r>
            <a:r>
              <a:rPr lang="en-GB" sz="1300" b="0" i="0" dirty="0">
                <a:solidFill>
                  <a:srgbClr val="262626"/>
                </a:solidFill>
                <a:latin typeface="Arial"/>
              </a:rPr>
              <a:t>-</a:t>
            </a:r>
            <a:r>
              <a:rPr sz="1300" b="0" i="0" dirty="0">
                <a:solidFill>
                  <a:srgbClr val="262626"/>
                </a:solidFill>
                <a:latin typeface="Arial"/>
              </a:rPr>
              <a:t>8).</a:t>
            </a:r>
          </a:p>
          <a:p>
            <a:pPr marL="0" indent="0" algn="l">
              <a:spcAft>
                <a:spcPts val="400"/>
              </a:spcAft>
              <a:buNone/>
            </a:pPr>
            <a:r>
              <a:rPr sz="1200" b="0" i="1" dirty="0">
                <a:solidFill>
                  <a:srgbClr val="595959"/>
                </a:solidFill>
                <a:latin typeface="Arial"/>
              </a:rPr>
              <a:t>3rd ed. (2011) or 4th ed. (2022)</a:t>
            </a:r>
          </a:p>
        </p:txBody>
      </p:sp>
      <p:sp>
        <p:nvSpPr>
          <p:cNvPr id="5" name="Rounded Rectangle 4"/>
          <p:cNvSpPr/>
          <p:nvPr/>
        </p:nvSpPr>
        <p:spPr>
          <a:xfrm>
            <a:off x="1810512" y="2560320"/>
            <a:ext cx="6986015" cy="1188720"/>
          </a:xfrm>
          <a:prstGeom prst="roundRect">
            <a:avLst>
              <a:gd name="adj" fmla="val 615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600" b="1" i="0">
                <a:solidFill>
                  <a:srgbClr val="1F3864"/>
                </a:solidFill>
                <a:latin typeface="Arial"/>
              </a:rPr>
              <a:t>Artificial Intelligence: A Modern Approach</a:t>
            </a:r>
            <a:r>
              <a:rPr sz="1300" b="0" i="0">
                <a:solidFill>
                  <a:srgbClr val="595959"/>
                </a:solidFill>
                <a:latin typeface="Arial"/>
              </a:rPr>
              <a:t>   Russell &amp; Norvig</a:t>
            </a:r>
          </a:p>
          <a:p>
            <a:pPr marL="0" indent="0" algn="l">
              <a:spcAft>
                <a:spcPts val="200"/>
              </a:spcAft>
              <a:buNone/>
            </a:pPr>
            <a:r>
              <a:rPr sz="1300" b="1" i="0">
                <a:solidFill>
                  <a:srgbClr val="262626"/>
                </a:solidFill>
                <a:latin typeface="Arial"/>
              </a:rPr>
              <a:t>Use it for: </a:t>
            </a:r>
            <a:r>
              <a:rPr sz="1300" b="0" i="0">
                <a:solidFill>
                  <a:srgbClr val="262626"/>
                </a:solidFill>
                <a:latin typeface="Arial"/>
              </a:rPr>
              <a:t>Definitions of AI, search, reasoning, knowledge representation. The most widely used AI textbook.</a:t>
            </a:r>
          </a:p>
          <a:p>
            <a:pPr marL="0" indent="0" algn="l">
              <a:spcAft>
                <a:spcPts val="400"/>
              </a:spcAft>
              <a:buNone/>
            </a:pPr>
            <a:r>
              <a:rPr sz="1200" b="0" i="1">
                <a:solidFill>
                  <a:srgbClr val="595959"/>
                </a:solidFill>
                <a:latin typeface="Arial"/>
              </a:rPr>
              <a:t>Current: 4th ed. (2020)</a:t>
            </a:r>
          </a:p>
        </p:txBody>
      </p:sp>
      <p:sp>
        <p:nvSpPr>
          <p:cNvPr id="6" name="Rounded Rectangle 5"/>
          <p:cNvSpPr/>
          <p:nvPr/>
        </p:nvSpPr>
        <p:spPr>
          <a:xfrm>
            <a:off x="1810512" y="3886200"/>
            <a:ext cx="6986015" cy="1188720"/>
          </a:xfrm>
          <a:prstGeom prst="roundRect">
            <a:avLst>
              <a:gd name="adj" fmla="val 615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600" b="1" i="0">
                <a:solidFill>
                  <a:srgbClr val="1F3864"/>
                </a:solidFill>
                <a:latin typeface="Arial"/>
              </a:rPr>
              <a:t>Doing Data Science (O’Reilly)</a:t>
            </a:r>
            <a:r>
              <a:rPr sz="1300" b="0" i="0">
                <a:solidFill>
                  <a:srgbClr val="595959"/>
                </a:solidFill>
                <a:latin typeface="Arial"/>
              </a:rPr>
              <a:t>   O’Neil &amp; Schutt</a:t>
            </a:r>
          </a:p>
          <a:p>
            <a:pPr marL="0" indent="0" algn="l">
              <a:spcAft>
                <a:spcPts val="200"/>
              </a:spcAft>
              <a:buNone/>
            </a:pPr>
            <a:r>
              <a:rPr sz="1300" b="1" i="0">
                <a:solidFill>
                  <a:srgbClr val="262626"/>
                </a:solidFill>
                <a:latin typeface="Arial"/>
              </a:rPr>
              <a:t>Use it for: </a:t>
            </a:r>
            <a:r>
              <a:rPr sz="1300" b="0" i="0">
                <a:solidFill>
                  <a:srgbClr val="262626"/>
                </a:solidFill>
                <a:latin typeface="Arial"/>
              </a:rPr>
              <a:t>The real-world data science workflow, and the ethics of data. Based on a Columbia University course.</a:t>
            </a:r>
          </a:p>
          <a:p>
            <a:pPr marL="0" indent="0" algn="l">
              <a:spcAft>
                <a:spcPts val="400"/>
              </a:spcAft>
              <a:buNone/>
            </a:pPr>
            <a:r>
              <a:rPr sz="1200" b="0" i="1">
                <a:solidFill>
                  <a:srgbClr val="595959"/>
                </a:solidFill>
                <a:latin typeface="Arial"/>
              </a:rPr>
              <a:t>Practical and readable</a:t>
            </a:r>
          </a:p>
        </p:txBody>
      </p:sp>
      <p:sp>
        <p:nvSpPr>
          <p:cNvPr id="7" name="Rounded Rectangle 6"/>
          <p:cNvSpPr/>
          <p:nvPr/>
        </p:nvSpPr>
        <p:spPr>
          <a:xfrm>
            <a:off x="1810512" y="5257800"/>
            <a:ext cx="6986015" cy="868680"/>
          </a:xfrm>
          <a:prstGeom prst="roundRect">
            <a:avLst>
              <a:gd name="adj" fmla="val 842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HOW TO READ  </a:t>
            </a:r>
            <a:r>
              <a:rPr sz="1400" b="0" i="0">
                <a:solidFill>
                  <a:srgbClr val="FFFFFF"/>
                </a:solidFill>
                <a:latin typeface="Arial"/>
              </a:rPr>
              <a:t>Don’t read cover to cover. Read the chapter that matches each week: the lecture is the map, the book gives the detail.</a:t>
            </a:r>
          </a:p>
        </p:txBody>
      </p:sp>
      <p:sp>
        <p:nvSpPr>
          <p:cNvPr id="8" name="TextBox 7"/>
          <p:cNvSpPr txBox="1"/>
          <p:nvPr/>
        </p:nvSpPr>
        <p:spPr>
          <a:xfrm>
            <a:off x="1810512" y="6172200"/>
            <a:ext cx="6986015" cy="502920"/>
          </a:xfrm>
          <a:prstGeom prst="rect">
            <a:avLst/>
          </a:prstGeom>
          <a:noFill/>
        </p:spPr>
        <p:txBody>
          <a:bodyPr wrap="square" lIns="54864" tIns="54864" rIns="54864" bIns="54864" anchor="t"/>
          <a:lstStyle/>
          <a:p>
            <a:pPr marL="0" indent="0" algn="l">
              <a:spcAft>
                <a:spcPts val="400"/>
              </a:spcAft>
              <a:buNone/>
            </a:pPr>
            <a:r>
              <a:rPr sz="1100" b="0" i="1">
                <a:solidFill>
                  <a:srgbClr val="595959"/>
                </a:solidFill>
                <a:latin typeface="Arial"/>
              </a:rPr>
              <a:t>Images on the previous slide: the covers of the three books, and a screenshot of the module’s Online Reading List, where they are linked.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813" y="25400"/>
            <a:ext cx="6705457" cy="595996"/>
          </a:xfrm>
        </p:spPr>
        <p:txBody>
          <a:bodyPr/>
          <a:lstStyle/>
          <a:p>
            <a:r>
              <a:rPr lang="en-GB" dirty="0"/>
              <a:t>Module topics (Teaching Weeks)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27916003"/>
              </p:ext>
            </p:extLst>
          </p:nvPr>
        </p:nvGraphicFramePr>
        <p:xfrm>
          <a:off x="1371441" y="621396"/>
          <a:ext cx="6401118" cy="6064287"/>
        </p:xfrm>
        <a:graphic>
          <a:graphicData uri="http://schemas.openxmlformats.org/drawingml/2006/table">
            <a:tbl>
              <a:tblPr firstRow="1" firstCol="1" bandRow="1">
                <a:tableStyleId>{5C22544A-7EE6-4342-B048-85BDC9FD1C3A}</a:tableStyleId>
              </a:tblPr>
              <a:tblGrid>
                <a:gridCol w="1059180">
                  <a:extLst>
                    <a:ext uri="{9D8B030D-6E8A-4147-A177-3AD203B41FA5}">
                      <a16:colId xmlns:a16="http://schemas.microsoft.com/office/drawing/2014/main" val="20000"/>
                    </a:ext>
                  </a:extLst>
                </a:gridCol>
                <a:gridCol w="2430145">
                  <a:extLst>
                    <a:ext uri="{9D8B030D-6E8A-4147-A177-3AD203B41FA5}">
                      <a16:colId xmlns:a16="http://schemas.microsoft.com/office/drawing/2014/main" val="20001"/>
                    </a:ext>
                  </a:extLst>
                </a:gridCol>
                <a:gridCol w="2911793">
                  <a:extLst>
                    <a:ext uri="{9D8B030D-6E8A-4147-A177-3AD203B41FA5}">
                      <a16:colId xmlns:a16="http://schemas.microsoft.com/office/drawing/2014/main" val="20002"/>
                    </a:ext>
                  </a:extLst>
                </a:gridCol>
              </a:tblGrid>
              <a:tr h="440461">
                <a:tc>
                  <a:txBody>
                    <a:bodyPr/>
                    <a:lstStyle/>
                    <a:p>
                      <a:pPr algn="ctr">
                        <a:lnSpc>
                          <a:spcPct val="107000"/>
                        </a:lnSpc>
                        <a:spcAft>
                          <a:spcPts val="0"/>
                        </a:spcAft>
                      </a:pPr>
                      <a:r>
                        <a:rPr lang="en-GB" sz="1100" dirty="0">
                          <a:effectLst/>
                        </a:rPr>
                        <a:t>Weeks</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Theory</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Practical</a:t>
                      </a: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30586">
                <a:tc>
                  <a:txBody>
                    <a:bodyPr/>
                    <a:lstStyle/>
                    <a:p>
                      <a:pPr algn="ctr">
                        <a:lnSpc>
                          <a:spcPct val="107000"/>
                        </a:lnSpc>
                        <a:spcAft>
                          <a:spcPts val="0"/>
                        </a:spcAft>
                      </a:pPr>
                      <a:r>
                        <a:rPr lang="en-GB" sz="1100">
                          <a:effectLst/>
                        </a:rPr>
                        <a:t>1</a:t>
                      </a:r>
                      <a:endParaRPr lang="en-GB" sz="110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AI history, branches, application scenarios and relations to Data Mining and Machine Learning</a:t>
                      </a:r>
                      <a:endParaRPr lang="en-GB" sz="1100" dirty="0">
                        <a:effectLst/>
                        <a:latin typeface="Calibri"/>
                        <a:ea typeface="Calibri"/>
                        <a:cs typeface="Times New Roman"/>
                      </a:endParaRPr>
                    </a:p>
                  </a:txBody>
                  <a:tcPr marL="68580" marR="68580" marT="0" marB="0"/>
                </a:tc>
                <a:tc>
                  <a:txBody>
                    <a:bodyPr/>
                    <a:lstStyle/>
                    <a:p>
                      <a:pPr algn="ctr"/>
                      <a:r>
                        <a:rPr lang="en-GB" sz="1200" dirty="0">
                          <a:effectLst/>
                        </a:rPr>
                        <a:t>Python basics</a:t>
                      </a:r>
                      <a:endParaRPr lang="en-GB" sz="1200" dirty="0"/>
                    </a:p>
                  </a:txBody>
                  <a:tcPr marL="68580" marR="68580" marT="0" marB="0"/>
                </a:tc>
                <a:extLst>
                  <a:ext uri="{0D108BD9-81ED-4DB2-BD59-A6C34878D82A}">
                    <a16:rowId xmlns:a16="http://schemas.microsoft.com/office/drawing/2014/main" val="10001"/>
                  </a:ext>
                </a:extLst>
              </a:tr>
              <a:tr h="121876">
                <a:tc>
                  <a:txBody>
                    <a:bodyPr/>
                    <a:lstStyle/>
                    <a:p>
                      <a:pPr algn="ctr">
                        <a:lnSpc>
                          <a:spcPct val="107000"/>
                        </a:lnSpc>
                        <a:spcAft>
                          <a:spcPts val="0"/>
                        </a:spcAft>
                      </a:pPr>
                      <a:r>
                        <a:rPr lang="en-GB" sz="1100">
                          <a:effectLst/>
                        </a:rPr>
                        <a:t>2</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Data Pre-processing and EDA</a:t>
                      </a: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Data Pre-processing</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03874">
                <a:tc>
                  <a:txBody>
                    <a:bodyPr/>
                    <a:lstStyle/>
                    <a:p>
                      <a:pPr algn="ctr">
                        <a:lnSpc>
                          <a:spcPct val="107000"/>
                        </a:lnSpc>
                        <a:spcAft>
                          <a:spcPts val="0"/>
                        </a:spcAft>
                      </a:pPr>
                      <a:r>
                        <a:rPr lang="en-GB" sz="1100">
                          <a:effectLst/>
                        </a:rPr>
                        <a:t>3</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Mining Frequent Pattern and Association Rules</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kern="1200" dirty="0">
                          <a:solidFill>
                            <a:schemeClr val="dk1"/>
                          </a:solidFill>
                          <a:effectLst/>
                          <a:latin typeface="+mn-lt"/>
                          <a:ea typeface="+mn-ea"/>
                          <a:cs typeface="+mn-cs"/>
                        </a:rPr>
                        <a:t>Python - EDA</a:t>
                      </a: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65883">
                <a:tc>
                  <a:txBody>
                    <a:bodyPr/>
                    <a:lstStyle/>
                    <a:p>
                      <a:pPr algn="ctr">
                        <a:lnSpc>
                          <a:spcPct val="107000"/>
                        </a:lnSpc>
                        <a:spcAft>
                          <a:spcPts val="0"/>
                        </a:spcAft>
                      </a:pPr>
                      <a:r>
                        <a:rPr lang="en-GB" sz="1100" dirty="0">
                          <a:effectLst/>
                        </a:rPr>
                        <a:t>4</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Classification and Decision Tree</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ARL</a:t>
                      </a: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4"/>
                  </a:ext>
                </a:extLst>
              </a:tr>
              <a:tr h="374546">
                <a:tc>
                  <a:txBody>
                    <a:bodyPr/>
                    <a:lstStyle/>
                    <a:p>
                      <a:pPr algn="ctr">
                        <a:lnSpc>
                          <a:spcPct val="107000"/>
                        </a:lnSpc>
                        <a:spcAft>
                          <a:spcPts val="0"/>
                        </a:spcAft>
                      </a:pPr>
                      <a:r>
                        <a:rPr lang="en-GB" sz="1100" dirty="0">
                          <a:effectLst/>
                        </a:rPr>
                        <a:t>5</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Random Forest and KNN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DT</a:t>
                      </a:r>
                      <a:endParaRPr lang="en-GB" sz="1100" dirty="0">
                        <a:effectLst/>
                        <a:latin typeface="Calibri"/>
                        <a:ea typeface="Calibri"/>
                        <a:cs typeface="Times New Roman"/>
                      </a:endParaRP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5"/>
                  </a:ext>
                </a:extLst>
              </a:tr>
              <a:tr h="399553">
                <a:tc>
                  <a:txBody>
                    <a:bodyPr/>
                    <a:lstStyle/>
                    <a:p>
                      <a:pPr algn="ctr">
                        <a:lnSpc>
                          <a:spcPct val="107000"/>
                        </a:lnSpc>
                        <a:spcAft>
                          <a:spcPts val="0"/>
                        </a:spcAft>
                      </a:pPr>
                      <a:r>
                        <a:rPr lang="en-GB" sz="1100" dirty="0">
                          <a:effectLst/>
                          <a:latin typeface="Calibri"/>
                          <a:ea typeface="Calibri"/>
                          <a:cs typeface="Times New Roman"/>
                        </a:rPr>
                        <a:t>7</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Linear Regression &amp; Logistic Regression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KNN</a:t>
                      </a:r>
                    </a:p>
                  </a:txBody>
                  <a:tcPr marL="68580" marR="68580" marT="0" marB="0"/>
                </a:tc>
                <a:extLst>
                  <a:ext uri="{0D108BD9-81ED-4DB2-BD59-A6C34878D82A}">
                    <a16:rowId xmlns:a16="http://schemas.microsoft.com/office/drawing/2014/main" val="1911118174"/>
                  </a:ext>
                </a:extLst>
              </a:tr>
              <a:tr h="399553">
                <a:tc>
                  <a:txBody>
                    <a:bodyPr/>
                    <a:lstStyle/>
                    <a:p>
                      <a:pPr algn="ctr">
                        <a:lnSpc>
                          <a:spcPct val="107000"/>
                        </a:lnSpc>
                        <a:spcAft>
                          <a:spcPts val="0"/>
                        </a:spcAft>
                      </a:pPr>
                      <a:r>
                        <a:rPr lang="en-GB" sz="1100" dirty="0">
                          <a:effectLst/>
                          <a:latin typeface="Calibri"/>
                          <a:ea typeface="Calibri"/>
                          <a:cs typeface="Times New Roman"/>
                        </a:rPr>
                        <a:t>8</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Cluster Analysis with Unsupervised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LR</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65465">
                <a:tc>
                  <a:txBody>
                    <a:bodyPr/>
                    <a:lstStyle/>
                    <a:p>
                      <a:pPr algn="ctr">
                        <a:lnSpc>
                          <a:spcPct val="107000"/>
                        </a:lnSpc>
                        <a:spcAft>
                          <a:spcPts val="0"/>
                        </a:spcAft>
                      </a:pPr>
                      <a:r>
                        <a:rPr lang="en-GB" sz="1100" dirty="0">
                          <a:effectLst/>
                          <a:latin typeface="Calibri"/>
                          <a:ea typeface="Calibri"/>
                          <a:cs typeface="Times New Roman"/>
                        </a:rPr>
                        <a:t>9</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Artificial Neural Network &amp; Deep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K-Means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7"/>
                  </a:ext>
                </a:extLst>
              </a:tr>
              <a:tr h="393848">
                <a:tc>
                  <a:txBody>
                    <a:bodyPr/>
                    <a:lstStyle/>
                    <a:p>
                      <a:pPr algn="ctr">
                        <a:lnSpc>
                          <a:spcPct val="107000"/>
                        </a:lnSpc>
                        <a:spcAft>
                          <a:spcPts val="0"/>
                        </a:spcAft>
                      </a:pPr>
                      <a:r>
                        <a:rPr lang="en-GB" sz="1100" dirty="0">
                          <a:effectLst/>
                          <a:latin typeface="Calibri"/>
                          <a:ea typeface="Calibri"/>
                          <a:cs typeface="Times New Roman"/>
                        </a:rPr>
                        <a:t>10</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Natural Language Processing (NLP)</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ANN and DL</a:t>
                      </a:r>
                      <a:endParaRPr lang="en-GB" sz="1100" dirty="0">
                        <a:effectLst/>
                        <a:latin typeface="Calibri"/>
                        <a:ea typeface="Calibri"/>
                        <a:cs typeface="Times New Roman"/>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12276">
                <a:tc>
                  <a:txBody>
                    <a:bodyPr/>
                    <a:lstStyle/>
                    <a:p>
                      <a:pPr algn="ctr">
                        <a:lnSpc>
                          <a:spcPct val="107000"/>
                        </a:lnSpc>
                        <a:spcAft>
                          <a:spcPts val="0"/>
                        </a:spcAft>
                      </a:pPr>
                      <a:r>
                        <a:rPr lang="en-GB" sz="1100" dirty="0">
                          <a:effectLst/>
                          <a:latin typeface="Calibri"/>
                          <a:ea typeface="Calibri"/>
                          <a:cs typeface="Times New Roman"/>
                        </a:rPr>
                        <a:t>11</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Reinforcement Learning &amp; Naïve Bayes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NLP</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65883">
                <a:tc>
                  <a:txBody>
                    <a:bodyPr/>
                    <a:lstStyle/>
                    <a:p>
                      <a:pPr algn="ctr">
                        <a:lnSpc>
                          <a:spcPct val="107000"/>
                        </a:lnSpc>
                        <a:spcAft>
                          <a:spcPts val="0"/>
                        </a:spcAft>
                      </a:pPr>
                      <a:r>
                        <a:rPr lang="en-GB" sz="1100" dirty="0">
                          <a:effectLst/>
                        </a:rPr>
                        <a:t>12</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Knowledge presentation and reasoning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RL and NB </a:t>
                      </a:r>
                      <a:r>
                        <a:rPr lang="en-GB" sz="1100" dirty="0">
                          <a:effectLst/>
                          <a:latin typeface="Calibri"/>
                          <a:ea typeface="Calibri"/>
                          <a:cs typeface="Times New Roman"/>
                        </a:rPr>
                        <a:t> </a:t>
                      </a:r>
                    </a:p>
                  </a:txBody>
                  <a:tcPr marL="68580" marR="68580" marT="0" marB="0"/>
                </a:tc>
                <a:extLst>
                  <a:ext uri="{0D108BD9-81ED-4DB2-BD59-A6C34878D82A}">
                    <a16:rowId xmlns:a16="http://schemas.microsoft.com/office/drawing/2014/main" val="10011"/>
                  </a:ext>
                </a:extLst>
              </a:tr>
              <a:tr h="264058">
                <a:tc>
                  <a:txBody>
                    <a:bodyPr/>
                    <a:lstStyle/>
                    <a:p>
                      <a:pPr algn="ctr">
                        <a:lnSpc>
                          <a:spcPct val="107000"/>
                        </a:lnSpc>
                        <a:spcAft>
                          <a:spcPts val="0"/>
                        </a:spcAft>
                      </a:pPr>
                      <a:r>
                        <a:rPr lang="en-GB" sz="1100" dirty="0">
                          <a:effectLst/>
                        </a:rPr>
                        <a:t>13</a:t>
                      </a:r>
                      <a:endParaRPr lang="en-GB" sz="1100" dirty="0">
                        <a:effectLst/>
                        <a:latin typeface="Calibri"/>
                        <a:ea typeface="Calibri"/>
                        <a:cs typeface="Times New Roman"/>
                      </a:endParaRP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latin typeface="Calibri"/>
                          <a:ea typeface="Calibri"/>
                          <a:cs typeface="Times New Roman"/>
                        </a:rPr>
                        <a:t>Review</a:t>
                      </a:r>
                    </a:p>
                  </a:txBody>
                  <a:tcPr marL="68580" marR="68580" marT="0" marB="0"/>
                </a:tc>
                <a:tc hMerge="1">
                  <a:txBody>
                    <a:bodyPr/>
                    <a:lstStyle/>
                    <a:p>
                      <a:endParaRPr lang="en-GB"/>
                    </a:p>
                  </a:txBody>
                  <a:tcPr/>
                </a:tc>
                <a:extLst>
                  <a:ext uri="{0D108BD9-81ED-4DB2-BD59-A6C34878D82A}">
                    <a16:rowId xmlns:a16="http://schemas.microsoft.com/office/drawing/2014/main" val="10012"/>
                  </a:ext>
                </a:extLst>
              </a:tr>
              <a:tr h="365883">
                <a:tc>
                  <a:txBody>
                    <a:bodyPr/>
                    <a:lstStyle/>
                    <a:p>
                      <a:pPr algn="ctr">
                        <a:lnSpc>
                          <a:spcPct val="107000"/>
                        </a:lnSpc>
                        <a:spcAft>
                          <a:spcPts val="0"/>
                        </a:spcAft>
                      </a:pPr>
                      <a:r>
                        <a:rPr lang="en-GB" sz="1100" dirty="0">
                          <a:effectLst/>
                          <a:latin typeface="Calibri"/>
                          <a:ea typeface="Calibri"/>
                          <a:cs typeface="Times New Roman"/>
                        </a:rPr>
                        <a:t>14 -15</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dirty="0">
                          <a:effectLst/>
                          <a:latin typeface="Calibri"/>
                          <a:ea typeface="Calibri"/>
                          <a:cs typeface="Times New Roman"/>
                        </a:rPr>
                        <a:t>Assessment period</a:t>
                      </a:r>
                      <a:endParaRPr lang="en-GB" sz="1200" b="0" i="0" kern="1200" dirty="0">
                        <a:solidFill>
                          <a:srgbClr val="FF0000"/>
                        </a:solidFill>
                        <a:effectLst/>
                        <a:latin typeface="+mn-lt"/>
                        <a:ea typeface="+mn-ea"/>
                        <a:cs typeface="+mn-cs"/>
                      </a:endParaRPr>
                    </a:p>
                  </a:txBody>
                  <a:tcPr marL="68580" marR="68580" marT="0" marB="0"/>
                </a:tc>
                <a:tc hMerge="1">
                  <a:txBody>
                    <a:bodyPr/>
                    <a:lstStyle/>
                    <a:p>
                      <a:endParaRPr lang="en-GB"/>
                    </a:p>
                  </a:txBody>
                  <a:tcPr/>
                </a:tc>
                <a:extLst>
                  <a:ext uri="{0D108BD9-81ED-4DB2-BD59-A6C34878D82A}">
                    <a16:rowId xmlns:a16="http://schemas.microsoft.com/office/drawing/2014/main" val="2931443189"/>
                  </a:ext>
                </a:extLst>
              </a:tr>
              <a:tr h="365883">
                <a:tc>
                  <a:txBody>
                    <a:bodyPr/>
                    <a:lstStyle/>
                    <a:p>
                      <a:pPr algn="ctr">
                        <a:lnSpc>
                          <a:spcPct val="107000"/>
                        </a:lnSpc>
                        <a:spcAft>
                          <a:spcPts val="0"/>
                        </a:spcAft>
                      </a:pPr>
                      <a:r>
                        <a:rPr lang="en-GB" sz="1100" dirty="0">
                          <a:effectLst/>
                          <a:latin typeface="Calibri"/>
                          <a:ea typeface="Calibri"/>
                          <a:cs typeface="Times New Roman"/>
                        </a:rPr>
                        <a:t>16-18</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b="0" i="0" kern="1200" dirty="0">
                          <a:solidFill>
                            <a:srgbClr val="FF0000"/>
                          </a:solidFill>
                          <a:effectLst/>
                          <a:latin typeface="+mn-lt"/>
                          <a:ea typeface="+mn-ea"/>
                          <a:cs typeface="+mn-cs"/>
                        </a:rPr>
                        <a:t>Enrichment period: Offsite Activities (Career support, CV support) and assessment feedback </a:t>
                      </a:r>
                    </a:p>
                  </a:txBody>
                  <a:tcPr marL="68580" marR="68580" marT="0" marB="0"/>
                </a:tc>
                <a:tc hMerge="1">
                  <a:txBody>
                    <a:bodyPr/>
                    <a:lstStyle/>
                    <a:p>
                      <a:endParaRPr lang="en-GB"/>
                    </a:p>
                  </a:txBody>
                  <a:tcPr/>
                </a:tc>
                <a:extLst>
                  <a:ext uri="{0D108BD9-81ED-4DB2-BD59-A6C34878D82A}">
                    <a16:rowId xmlns:a16="http://schemas.microsoft.com/office/drawing/2014/main" val="3003053503"/>
                  </a:ext>
                </a:extLst>
              </a:tr>
            </a:tbl>
          </a:graphicData>
        </a:graphic>
      </p:graphicFrame>
      <p:sp>
        <p:nvSpPr>
          <p:cNvPr id="3" name="Arrow: Right 2">
            <a:extLst>
              <a:ext uri="{FF2B5EF4-FFF2-40B4-BE49-F238E27FC236}">
                <a16:creationId xmlns:a16="http://schemas.microsoft.com/office/drawing/2014/main" id="{0B63953F-A88C-48ED-82CD-D6321CE0A85F}"/>
              </a:ext>
            </a:extLst>
          </p:cNvPr>
          <p:cNvSpPr/>
          <p:nvPr/>
        </p:nvSpPr>
        <p:spPr>
          <a:xfrm>
            <a:off x="7737496" y="36576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C2675A5-3F32-47A0-9B0E-36B516A96CDA}"/>
              </a:ext>
            </a:extLst>
          </p:cNvPr>
          <p:cNvSpPr txBox="1"/>
          <p:nvPr/>
        </p:nvSpPr>
        <p:spPr>
          <a:xfrm>
            <a:off x="8039560" y="3595300"/>
            <a:ext cx="1018227" cy="276999"/>
          </a:xfrm>
          <a:prstGeom prst="rect">
            <a:avLst/>
          </a:prstGeom>
          <a:noFill/>
        </p:spPr>
        <p:txBody>
          <a:bodyPr wrap="none" rtlCol="0">
            <a:spAutoFit/>
          </a:bodyPr>
          <a:lstStyle/>
          <a:p>
            <a:r>
              <a:rPr lang="en-GB" sz="1200" dirty="0"/>
              <a:t>A1 Deadline</a:t>
            </a:r>
          </a:p>
        </p:txBody>
      </p:sp>
      <p:sp>
        <p:nvSpPr>
          <p:cNvPr id="6" name="Arrow: Right 5">
            <a:extLst>
              <a:ext uri="{FF2B5EF4-FFF2-40B4-BE49-F238E27FC236}">
                <a16:creationId xmlns:a16="http://schemas.microsoft.com/office/drawing/2014/main" id="{14785A31-0DEF-489D-AD45-0CEA66B15A9E}"/>
              </a:ext>
            </a:extLst>
          </p:cNvPr>
          <p:cNvSpPr/>
          <p:nvPr/>
        </p:nvSpPr>
        <p:spPr>
          <a:xfrm>
            <a:off x="7772559" y="6080778"/>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3922A36-01D6-49F3-97D1-8516135E6660}"/>
              </a:ext>
            </a:extLst>
          </p:cNvPr>
          <p:cNvSpPr txBox="1"/>
          <p:nvPr/>
        </p:nvSpPr>
        <p:spPr>
          <a:xfrm>
            <a:off x="8001156" y="6018479"/>
            <a:ext cx="1018227" cy="276999"/>
          </a:xfrm>
          <a:prstGeom prst="rect">
            <a:avLst/>
          </a:prstGeom>
          <a:noFill/>
        </p:spPr>
        <p:txBody>
          <a:bodyPr wrap="none" rtlCol="0">
            <a:spAutoFit/>
          </a:bodyPr>
          <a:lstStyle/>
          <a:p>
            <a:r>
              <a:rPr lang="en-GB" sz="1200" dirty="0"/>
              <a:t>A2 Deadline</a:t>
            </a:r>
          </a:p>
        </p:txBody>
      </p:sp>
      <p:sp>
        <p:nvSpPr>
          <p:cNvPr id="8" name="TextBox 7">
            <a:extLst>
              <a:ext uri="{FF2B5EF4-FFF2-40B4-BE49-F238E27FC236}">
                <a16:creationId xmlns:a16="http://schemas.microsoft.com/office/drawing/2014/main" id="{1978E467-4568-4356-B16C-241D11BA2C59}"/>
              </a:ext>
            </a:extLst>
          </p:cNvPr>
          <p:cNvSpPr txBox="1"/>
          <p:nvPr/>
        </p:nvSpPr>
        <p:spPr>
          <a:xfrm>
            <a:off x="6973464" y="6018479"/>
            <a:ext cx="787844" cy="276999"/>
          </a:xfrm>
          <a:prstGeom prst="rect">
            <a:avLst/>
          </a:prstGeom>
          <a:noFill/>
        </p:spPr>
        <p:txBody>
          <a:bodyPr wrap="none" rtlCol="0">
            <a:spAutoFit/>
          </a:bodyPr>
          <a:lstStyle/>
          <a:p>
            <a:r>
              <a:rPr lang="en-GB" sz="1200" dirty="0"/>
              <a:t>Week 14</a:t>
            </a:r>
          </a:p>
        </p:txBody>
      </p:sp>
    </p:spTree>
    <p:extLst>
      <p:ext uri="{BB962C8B-B14F-4D97-AF65-F5344CB8AC3E}">
        <p14:creationId xmlns:p14="http://schemas.microsoft.com/office/powerpoint/2010/main" val="802549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Reading the module table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1874519"/>
          </a:xfrm>
          <a:prstGeom prst="roundRect">
            <a:avLst>
              <a:gd name="adj" fmla="val 390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dirty="0">
                <a:solidFill>
                  <a:srgbClr val="1F3864"/>
                </a:solidFill>
                <a:latin typeface="Arial"/>
              </a:rPr>
              <a:t>How to read the table</a:t>
            </a:r>
          </a:p>
          <a:p>
            <a:pPr marL="164592" indent="-146304" algn="l">
              <a:spcAft>
                <a:spcPts val="600"/>
              </a:spcAft>
              <a:buFont typeface="Arial"/>
              <a:buChar char="•"/>
            </a:pPr>
            <a:r>
              <a:rPr sz="1300" b="0" i="0" dirty="0">
                <a:solidFill>
                  <a:srgbClr val="262626"/>
                </a:solidFill>
                <a:latin typeface="Arial"/>
              </a:rPr>
              <a:t>Each row is a teaching week. “Theory” is the lecture topic; “Practical” is the Python lab for that week.</a:t>
            </a:r>
          </a:p>
          <a:p>
            <a:pPr marL="164592" indent="-146304" algn="l">
              <a:spcAft>
                <a:spcPts val="600"/>
              </a:spcAft>
              <a:buFont typeface="Arial"/>
              <a:buChar char="•"/>
            </a:pPr>
            <a:r>
              <a:rPr sz="1300" b="0" i="0" dirty="0">
                <a:solidFill>
                  <a:srgbClr val="262626"/>
                </a:solidFill>
                <a:latin typeface="Arial"/>
              </a:rPr>
              <a:t>The blue arrows on the right mark the deadlines of Assessment 1 (A1) and Assessment 2 (A2, Week 14).</a:t>
            </a:r>
          </a:p>
          <a:p>
            <a:pPr marL="164592" indent="-146304" algn="l">
              <a:spcAft>
                <a:spcPts val="600"/>
              </a:spcAft>
              <a:buFont typeface="Arial"/>
              <a:buChar char="•"/>
            </a:pPr>
            <a:r>
              <a:rPr sz="1300" b="0" i="0" dirty="0">
                <a:solidFill>
                  <a:srgbClr val="262626"/>
                </a:solidFill>
                <a:latin typeface="Arial"/>
              </a:rPr>
              <a:t>The red row (Weeks 16</a:t>
            </a:r>
            <a:r>
              <a:rPr lang="en-US" sz="1300" b="0" i="0" dirty="0">
                <a:solidFill>
                  <a:srgbClr val="262626"/>
                </a:solidFill>
                <a:latin typeface="Arial"/>
              </a:rPr>
              <a:t>-</a:t>
            </a:r>
            <a:r>
              <a:rPr sz="1300" b="0" i="0" dirty="0">
                <a:solidFill>
                  <a:srgbClr val="262626"/>
                </a:solidFill>
                <a:latin typeface="Arial"/>
              </a:rPr>
              <a:t>18) is the enrichment period: careers and CV support, and feedback on assessments.</a:t>
            </a:r>
          </a:p>
        </p:txBody>
      </p:sp>
      <p:sp>
        <p:nvSpPr>
          <p:cNvPr id="5" name="TextBox 4"/>
          <p:cNvSpPr txBox="1"/>
          <p:nvPr/>
        </p:nvSpPr>
        <p:spPr>
          <a:xfrm>
            <a:off x="1810512" y="3246120"/>
            <a:ext cx="6986015" cy="365760"/>
          </a:xfrm>
          <a:prstGeom prst="rect">
            <a:avLst/>
          </a:prstGeom>
          <a:noFill/>
        </p:spPr>
        <p:txBody>
          <a:bodyPr wrap="square" lIns="54864" tIns="54864" rIns="54864" bIns="54864" anchor="t"/>
          <a:lstStyle/>
          <a:p>
            <a:pPr marL="0" indent="0" algn="l">
              <a:spcAft>
                <a:spcPts val="400"/>
              </a:spcAft>
              <a:buNone/>
            </a:pPr>
            <a:r>
              <a:rPr sz="1500" b="1" i="0">
                <a:solidFill>
                  <a:srgbClr val="1F3864"/>
                </a:solidFill>
                <a:latin typeface="Arial"/>
              </a:rPr>
              <a:t>Abbreviations used in the table</a:t>
            </a:r>
          </a:p>
        </p:txBody>
      </p:sp>
      <p:graphicFrame>
        <p:nvGraphicFramePr>
          <p:cNvPr id="6" name="Table 5"/>
          <p:cNvGraphicFramePr>
            <a:graphicFrameLocks noGrp="1"/>
          </p:cNvGraphicFramePr>
          <p:nvPr/>
        </p:nvGraphicFramePr>
        <p:xfrm>
          <a:off x="1810512" y="3657600"/>
          <a:ext cx="6986016" cy="22860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2441448">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441448">
                  <a:extLst>
                    <a:ext uri="{9D8B030D-6E8A-4147-A177-3AD203B41FA5}">
                      <a16:colId xmlns:a16="http://schemas.microsoft.com/office/drawing/2014/main" val="20003"/>
                    </a:ext>
                  </a:extLst>
                </a:gridCol>
              </a:tblGrid>
              <a:tr h="457200">
                <a:tc>
                  <a:txBody>
                    <a:bodyPr/>
                    <a:lstStyle/>
                    <a:p>
                      <a:pPr marL="0" indent="0" algn="l">
                        <a:spcAft>
                          <a:spcPts val="400"/>
                        </a:spcAft>
                        <a:buNone/>
                      </a:pPr>
                      <a:r>
                        <a:rPr sz="1200" b="1" i="0">
                          <a:solidFill>
                            <a:srgbClr val="FFFFFF"/>
                          </a:solidFill>
                          <a:latin typeface="Arial"/>
                        </a:rPr>
                        <a:t>EDA</a:t>
                      </a:r>
                    </a:p>
                  </a:txBody>
                  <a:tcPr anchor="ctr">
                    <a:solidFill>
                      <a:srgbClr val="1F3864"/>
                    </a:solidFill>
                  </a:tcPr>
                </a:tc>
                <a:tc>
                  <a:txBody>
                    <a:bodyPr/>
                    <a:lstStyle/>
                    <a:p>
                      <a:pPr marL="0" indent="0" algn="l">
                        <a:spcAft>
                          <a:spcPts val="400"/>
                        </a:spcAft>
                        <a:buNone/>
                      </a:pPr>
                      <a:r>
                        <a:rPr sz="1200" b="0" i="0">
                          <a:solidFill>
                            <a:srgbClr val="262626"/>
                          </a:solidFill>
                          <a:latin typeface="Arial"/>
                        </a:rPr>
                        <a:t>Exploratory data analysis</a:t>
                      </a:r>
                    </a:p>
                  </a:txBody>
                  <a:tcPr anchor="ctr">
                    <a:solidFill>
                      <a:srgbClr val="E8EEF7"/>
                    </a:solidFill>
                  </a:tcPr>
                </a:tc>
                <a:tc>
                  <a:txBody>
                    <a:bodyPr/>
                    <a:lstStyle/>
                    <a:p>
                      <a:pPr marL="0" indent="0" algn="l">
                        <a:spcAft>
                          <a:spcPts val="400"/>
                        </a:spcAft>
                        <a:buNone/>
                      </a:pPr>
                      <a:r>
                        <a:rPr sz="1200" b="1" i="0">
                          <a:solidFill>
                            <a:srgbClr val="FFFFFF"/>
                          </a:solidFill>
                          <a:latin typeface="Arial"/>
                        </a:rPr>
                        <a:t>LR</a:t>
                      </a:r>
                    </a:p>
                  </a:txBody>
                  <a:tcPr anchor="ctr">
                    <a:solidFill>
                      <a:srgbClr val="1F3864"/>
                    </a:solidFill>
                  </a:tcPr>
                </a:tc>
                <a:tc>
                  <a:txBody>
                    <a:bodyPr/>
                    <a:lstStyle/>
                    <a:p>
                      <a:pPr marL="0" indent="0" algn="l">
                        <a:spcAft>
                          <a:spcPts val="400"/>
                        </a:spcAft>
                        <a:buNone/>
                      </a:pPr>
                      <a:r>
                        <a:rPr sz="1200" b="0" i="0">
                          <a:solidFill>
                            <a:srgbClr val="262626"/>
                          </a:solidFill>
                          <a:latin typeface="Arial"/>
                        </a:rPr>
                        <a:t>Linear / logistic regression</a:t>
                      </a:r>
                    </a:p>
                  </a:txBody>
                  <a:tcPr anchor="ctr">
                    <a:solidFill>
                      <a:srgbClr val="E8EEF7"/>
                    </a:solidFill>
                  </a:tcPr>
                </a:tc>
                <a:extLst>
                  <a:ext uri="{0D108BD9-81ED-4DB2-BD59-A6C34878D82A}">
                    <a16:rowId xmlns:a16="http://schemas.microsoft.com/office/drawing/2014/main" val="10000"/>
                  </a:ext>
                </a:extLst>
              </a:tr>
              <a:tr h="457200">
                <a:tc>
                  <a:txBody>
                    <a:bodyPr/>
                    <a:lstStyle/>
                    <a:p>
                      <a:pPr marL="0" indent="0" algn="l">
                        <a:spcAft>
                          <a:spcPts val="400"/>
                        </a:spcAft>
                        <a:buNone/>
                      </a:pPr>
                      <a:r>
                        <a:rPr sz="1200" b="1" i="0">
                          <a:solidFill>
                            <a:srgbClr val="FFFFFF"/>
                          </a:solidFill>
                          <a:latin typeface="Arial"/>
                        </a:rPr>
                        <a:t>ARL</a:t>
                      </a:r>
                    </a:p>
                  </a:txBody>
                  <a:tcPr anchor="ctr">
                    <a:solidFill>
                      <a:srgbClr val="1F3864"/>
                    </a:solidFill>
                  </a:tcPr>
                </a:tc>
                <a:tc>
                  <a:txBody>
                    <a:bodyPr/>
                    <a:lstStyle/>
                    <a:p>
                      <a:pPr marL="0" indent="0" algn="l">
                        <a:spcAft>
                          <a:spcPts val="400"/>
                        </a:spcAft>
                        <a:buNone/>
                      </a:pPr>
                      <a:r>
                        <a:rPr sz="1200" b="0" i="0">
                          <a:solidFill>
                            <a:srgbClr val="262626"/>
                          </a:solidFill>
                          <a:latin typeface="Arial"/>
                        </a:rPr>
                        <a:t>Association rule learning</a:t>
                      </a:r>
                    </a:p>
                  </a:txBody>
                  <a:tcPr anchor="ctr">
                    <a:solidFill>
                      <a:srgbClr val="FFFFFF"/>
                    </a:solidFill>
                  </a:tcPr>
                </a:tc>
                <a:tc>
                  <a:txBody>
                    <a:bodyPr/>
                    <a:lstStyle/>
                    <a:p>
                      <a:pPr marL="0" indent="0" algn="l">
                        <a:spcAft>
                          <a:spcPts val="400"/>
                        </a:spcAft>
                        <a:buNone/>
                      </a:pPr>
                      <a:r>
                        <a:rPr sz="1200" b="1" i="0">
                          <a:solidFill>
                            <a:srgbClr val="FFFFFF"/>
                          </a:solidFill>
                          <a:latin typeface="Arial"/>
                        </a:rPr>
                        <a:t>K-Means</a:t>
                      </a:r>
                    </a:p>
                  </a:txBody>
                  <a:tcPr anchor="ctr">
                    <a:solidFill>
                      <a:srgbClr val="1F3864"/>
                    </a:solidFill>
                  </a:tcPr>
                </a:tc>
                <a:tc>
                  <a:txBody>
                    <a:bodyPr/>
                    <a:lstStyle/>
                    <a:p>
                      <a:pPr marL="0" indent="0" algn="l">
                        <a:spcAft>
                          <a:spcPts val="400"/>
                        </a:spcAft>
                        <a:buNone/>
                      </a:pPr>
                      <a:r>
                        <a:rPr sz="1200" b="0" i="0">
                          <a:solidFill>
                            <a:srgbClr val="262626"/>
                          </a:solidFill>
                          <a:latin typeface="Arial"/>
                        </a:rPr>
                        <a:t>A clustering algorithm</a:t>
                      </a:r>
                    </a:p>
                  </a:txBody>
                  <a:tcPr anchor="ctr">
                    <a:solidFill>
                      <a:srgbClr val="FFFFFF"/>
                    </a:solidFill>
                  </a:tcPr>
                </a:tc>
                <a:extLst>
                  <a:ext uri="{0D108BD9-81ED-4DB2-BD59-A6C34878D82A}">
                    <a16:rowId xmlns:a16="http://schemas.microsoft.com/office/drawing/2014/main" val="10001"/>
                  </a:ext>
                </a:extLst>
              </a:tr>
              <a:tr h="457200">
                <a:tc>
                  <a:txBody>
                    <a:bodyPr/>
                    <a:lstStyle/>
                    <a:p>
                      <a:pPr marL="0" indent="0" algn="l">
                        <a:spcAft>
                          <a:spcPts val="400"/>
                        </a:spcAft>
                        <a:buNone/>
                      </a:pPr>
                      <a:r>
                        <a:rPr sz="1200" b="1" i="0">
                          <a:solidFill>
                            <a:srgbClr val="FFFFFF"/>
                          </a:solidFill>
                          <a:latin typeface="Arial"/>
                        </a:rPr>
                        <a:t>DT</a:t>
                      </a:r>
                    </a:p>
                  </a:txBody>
                  <a:tcPr anchor="ctr">
                    <a:solidFill>
                      <a:srgbClr val="1F3864"/>
                    </a:solidFill>
                  </a:tcPr>
                </a:tc>
                <a:tc>
                  <a:txBody>
                    <a:bodyPr/>
                    <a:lstStyle/>
                    <a:p>
                      <a:pPr marL="0" indent="0" algn="l">
                        <a:spcAft>
                          <a:spcPts val="400"/>
                        </a:spcAft>
                        <a:buNone/>
                      </a:pPr>
                      <a:r>
                        <a:rPr sz="1200" b="0" i="0">
                          <a:solidFill>
                            <a:srgbClr val="262626"/>
                          </a:solidFill>
                          <a:latin typeface="Arial"/>
                        </a:rPr>
                        <a:t>Decision tree</a:t>
                      </a:r>
                    </a:p>
                  </a:txBody>
                  <a:tcPr anchor="ctr">
                    <a:solidFill>
                      <a:srgbClr val="E8EEF7"/>
                    </a:solidFill>
                  </a:tcPr>
                </a:tc>
                <a:tc>
                  <a:txBody>
                    <a:bodyPr/>
                    <a:lstStyle/>
                    <a:p>
                      <a:pPr marL="0" indent="0" algn="l">
                        <a:spcAft>
                          <a:spcPts val="400"/>
                        </a:spcAft>
                        <a:buNone/>
                      </a:pPr>
                      <a:r>
                        <a:rPr sz="1200" b="1" i="0">
                          <a:solidFill>
                            <a:srgbClr val="FFFFFF"/>
                          </a:solidFill>
                          <a:latin typeface="Arial"/>
                        </a:rPr>
                        <a:t>ANN / DL</a:t>
                      </a:r>
                    </a:p>
                  </a:txBody>
                  <a:tcPr anchor="ctr">
                    <a:solidFill>
                      <a:srgbClr val="1F3864"/>
                    </a:solidFill>
                  </a:tcPr>
                </a:tc>
                <a:tc>
                  <a:txBody>
                    <a:bodyPr/>
                    <a:lstStyle/>
                    <a:p>
                      <a:pPr marL="0" indent="0" algn="l">
                        <a:spcAft>
                          <a:spcPts val="400"/>
                        </a:spcAft>
                        <a:buNone/>
                      </a:pPr>
                      <a:r>
                        <a:rPr sz="1200" b="0" i="0">
                          <a:solidFill>
                            <a:srgbClr val="262626"/>
                          </a:solidFill>
                          <a:latin typeface="Arial"/>
                        </a:rPr>
                        <a:t>Artificial neural network / deep learning</a:t>
                      </a:r>
                    </a:p>
                  </a:txBody>
                  <a:tcPr anchor="ctr">
                    <a:solidFill>
                      <a:srgbClr val="E8EEF7"/>
                    </a:solidFill>
                  </a:tcPr>
                </a:tc>
                <a:extLst>
                  <a:ext uri="{0D108BD9-81ED-4DB2-BD59-A6C34878D82A}">
                    <a16:rowId xmlns:a16="http://schemas.microsoft.com/office/drawing/2014/main" val="10002"/>
                  </a:ext>
                </a:extLst>
              </a:tr>
              <a:tr h="457200">
                <a:tc>
                  <a:txBody>
                    <a:bodyPr/>
                    <a:lstStyle/>
                    <a:p>
                      <a:pPr marL="0" indent="0" algn="l">
                        <a:spcAft>
                          <a:spcPts val="400"/>
                        </a:spcAft>
                        <a:buNone/>
                      </a:pPr>
                      <a:r>
                        <a:rPr sz="1200" b="1" i="0">
                          <a:solidFill>
                            <a:srgbClr val="FFFFFF"/>
                          </a:solidFill>
                          <a:latin typeface="Arial"/>
                        </a:rPr>
                        <a:t>Random FR</a:t>
                      </a:r>
                    </a:p>
                  </a:txBody>
                  <a:tcPr anchor="ctr">
                    <a:solidFill>
                      <a:srgbClr val="1F3864"/>
                    </a:solidFill>
                  </a:tcPr>
                </a:tc>
                <a:tc>
                  <a:txBody>
                    <a:bodyPr/>
                    <a:lstStyle/>
                    <a:p>
                      <a:pPr marL="0" indent="0" algn="l">
                        <a:spcAft>
                          <a:spcPts val="400"/>
                        </a:spcAft>
                        <a:buNone/>
                      </a:pPr>
                      <a:r>
                        <a:rPr sz="1200" b="0" i="0">
                          <a:solidFill>
                            <a:srgbClr val="262626"/>
                          </a:solidFill>
                          <a:latin typeface="Arial"/>
                        </a:rPr>
                        <a:t>Random forest</a:t>
                      </a:r>
                    </a:p>
                  </a:txBody>
                  <a:tcPr anchor="ctr">
                    <a:solidFill>
                      <a:srgbClr val="FFFFFF"/>
                    </a:solidFill>
                  </a:tcPr>
                </a:tc>
                <a:tc>
                  <a:txBody>
                    <a:bodyPr/>
                    <a:lstStyle/>
                    <a:p>
                      <a:pPr marL="0" indent="0" algn="l">
                        <a:spcAft>
                          <a:spcPts val="400"/>
                        </a:spcAft>
                        <a:buNone/>
                      </a:pPr>
                      <a:r>
                        <a:rPr sz="1200" b="1" i="0">
                          <a:solidFill>
                            <a:srgbClr val="FFFFFF"/>
                          </a:solidFill>
                          <a:latin typeface="Arial"/>
                        </a:rPr>
                        <a:t>NLP</a:t>
                      </a:r>
                    </a:p>
                  </a:txBody>
                  <a:tcPr anchor="ctr">
                    <a:solidFill>
                      <a:srgbClr val="1F3864"/>
                    </a:solidFill>
                  </a:tcPr>
                </a:tc>
                <a:tc>
                  <a:txBody>
                    <a:bodyPr/>
                    <a:lstStyle/>
                    <a:p>
                      <a:pPr marL="0" indent="0" algn="l">
                        <a:spcAft>
                          <a:spcPts val="400"/>
                        </a:spcAft>
                        <a:buNone/>
                      </a:pPr>
                      <a:r>
                        <a:rPr sz="1200" b="0" i="0">
                          <a:solidFill>
                            <a:srgbClr val="262626"/>
                          </a:solidFill>
                          <a:latin typeface="Arial"/>
                        </a:rPr>
                        <a:t>Natural language processing</a:t>
                      </a:r>
                    </a:p>
                  </a:txBody>
                  <a:tcPr anchor="ctr">
                    <a:solidFill>
                      <a:srgbClr val="FFFFFF"/>
                    </a:solidFill>
                  </a:tcPr>
                </a:tc>
                <a:extLst>
                  <a:ext uri="{0D108BD9-81ED-4DB2-BD59-A6C34878D82A}">
                    <a16:rowId xmlns:a16="http://schemas.microsoft.com/office/drawing/2014/main" val="10003"/>
                  </a:ext>
                </a:extLst>
              </a:tr>
              <a:tr h="457200">
                <a:tc>
                  <a:txBody>
                    <a:bodyPr/>
                    <a:lstStyle/>
                    <a:p>
                      <a:pPr marL="0" indent="0" algn="l">
                        <a:spcAft>
                          <a:spcPts val="400"/>
                        </a:spcAft>
                        <a:buNone/>
                      </a:pPr>
                      <a:r>
                        <a:rPr sz="1200" b="1" i="0">
                          <a:solidFill>
                            <a:srgbClr val="FFFFFF"/>
                          </a:solidFill>
                          <a:latin typeface="Arial"/>
                        </a:rPr>
                        <a:t>KNN</a:t>
                      </a:r>
                    </a:p>
                  </a:txBody>
                  <a:tcPr anchor="ctr">
                    <a:solidFill>
                      <a:srgbClr val="1F3864"/>
                    </a:solidFill>
                  </a:tcPr>
                </a:tc>
                <a:tc>
                  <a:txBody>
                    <a:bodyPr/>
                    <a:lstStyle/>
                    <a:p>
                      <a:pPr marL="0" indent="0" algn="l">
                        <a:spcAft>
                          <a:spcPts val="400"/>
                        </a:spcAft>
                        <a:buNone/>
                      </a:pPr>
                      <a:r>
                        <a:rPr sz="1200" b="0" i="0">
                          <a:solidFill>
                            <a:srgbClr val="262626"/>
                          </a:solidFill>
                          <a:latin typeface="Arial"/>
                        </a:rPr>
                        <a:t>k-nearest neighbours</a:t>
                      </a:r>
                    </a:p>
                  </a:txBody>
                  <a:tcPr anchor="ctr">
                    <a:solidFill>
                      <a:srgbClr val="E8EEF7"/>
                    </a:solidFill>
                  </a:tcPr>
                </a:tc>
                <a:tc>
                  <a:txBody>
                    <a:bodyPr/>
                    <a:lstStyle/>
                    <a:p>
                      <a:pPr marL="0" indent="0" algn="l">
                        <a:spcAft>
                          <a:spcPts val="400"/>
                        </a:spcAft>
                        <a:buNone/>
                      </a:pPr>
                      <a:r>
                        <a:rPr sz="1200" b="1" i="0">
                          <a:solidFill>
                            <a:srgbClr val="FFFFFF"/>
                          </a:solidFill>
                          <a:latin typeface="Arial"/>
                        </a:rPr>
                        <a:t>RL / NB</a:t>
                      </a:r>
                    </a:p>
                  </a:txBody>
                  <a:tcPr anchor="ctr">
                    <a:solidFill>
                      <a:srgbClr val="1F3864"/>
                    </a:solidFill>
                  </a:tcPr>
                </a:tc>
                <a:tc>
                  <a:txBody>
                    <a:bodyPr/>
                    <a:lstStyle/>
                    <a:p>
                      <a:pPr marL="0" indent="0" algn="l">
                        <a:spcAft>
                          <a:spcPts val="400"/>
                        </a:spcAft>
                        <a:buNone/>
                      </a:pPr>
                      <a:r>
                        <a:rPr sz="1200" b="0" i="0">
                          <a:solidFill>
                            <a:srgbClr val="262626"/>
                          </a:solidFill>
                          <a:latin typeface="Arial"/>
                        </a:rPr>
                        <a:t>Reinforcement learning / Naive Bayes</a:t>
                      </a:r>
                    </a:p>
                  </a:txBody>
                  <a:tcPr anchor="ctr">
                    <a:solidFill>
                      <a:srgbClr val="E8EEF7"/>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1810512" y="6080759"/>
            <a:ext cx="6986015" cy="457200"/>
          </a:xfrm>
          <a:prstGeom prst="rect">
            <a:avLst/>
          </a:prstGeom>
          <a:noFill/>
        </p:spPr>
        <p:txBody>
          <a:bodyPr wrap="square" lIns="54864" tIns="54864" rIns="54864" bIns="54864" anchor="t"/>
          <a:lstStyle/>
          <a:p>
            <a:pPr marL="0" indent="0" algn="l">
              <a:spcAft>
                <a:spcPts val="400"/>
              </a:spcAft>
              <a:buNone/>
            </a:pPr>
            <a:r>
              <a:rPr sz="1100" b="0" i="1">
                <a:solidFill>
                  <a:srgbClr val="595959"/>
                </a:solidFill>
                <a:latin typeface="Arial"/>
              </a:rPr>
              <a:t>The original table lists Week 6 nowhere; check the module page for its purpose (for example, an independent study week).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How the module is built</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TextBox 3"/>
          <p:cNvSpPr txBox="1"/>
          <p:nvPr/>
        </p:nvSpPr>
        <p:spPr>
          <a:xfrm>
            <a:off x="1810512" y="1188720"/>
            <a:ext cx="6986015" cy="365760"/>
          </a:xfrm>
          <a:prstGeom prst="rect">
            <a:avLst/>
          </a:prstGeom>
          <a:noFill/>
        </p:spPr>
        <p:txBody>
          <a:bodyPr wrap="square" lIns="54864" tIns="54864" rIns="54864" bIns="54864" anchor="t"/>
          <a:lstStyle/>
          <a:p>
            <a:pPr marL="0" indent="0" algn="l">
              <a:spcAft>
                <a:spcPts val="400"/>
              </a:spcAft>
              <a:buNone/>
            </a:pPr>
            <a:r>
              <a:rPr sz="1600" b="1" i="0">
                <a:solidFill>
                  <a:srgbClr val="1F3864"/>
                </a:solidFill>
                <a:latin typeface="Arial"/>
              </a:rPr>
              <a:t>Theory first, then practice: the practical runs one week behind</a:t>
            </a:r>
          </a:p>
        </p:txBody>
      </p:sp>
      <p:sp>
        <p:nvSpPr>
          <p:cNvPr id="5" name="Rounded Rectangle 4"/>
          <p:cNvSpPr/>
          <p:nvPr/>
        </p:nvSpPr>
        <p:spPr>
          <a:xfrm>
            <a:off x="1810512" y="1691640"/>
            <a:ext cx="3017520" cy="548640"/>
          </a:xfrm>
          <a:prstGeom prst="roundRect">
            <a:avLst>
              <a:gd name="adj" fmla="val 1333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400" b="1" i="0">
                <a:solidFill>
                  <a:srgbClr val="1F3864"/>
                </a:solidFill>
                <a:latin typeface="Arial"/>
              </a:rPr>
              <a:t>Week 2: EDA theory</a:t>
            </a:r>
          </a:p>
        </p:txBody>
      </p:sp>
      <p:sp>
        <p:nvSpPr>
          <p:cNvPr id="6" name="Right Arrow 5"/>
          <p:cNvSpPr/>
          <p:nvPr/>
        </p:nvSpPr>
        <p:spPr>
          <a:xfrm>
            <a:off x="4965192" y="1801368"/>
            <a:ext cx="640080" cy="329184"/>
          </a:xfrm>
          <a:prstGeom prst="rightArrow">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5742431" y="1691640"/>
            <a:ext cx="3054096" cy="548640"/>
          </a:xfrm>
          <a:prstGeom prst="roundRect">
            <a:avLst>
              <a:gd name="adj" fmla="val 13333"/>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400" b="1" i="0">
                <a:solidFill>
                  <a:srgbClr val="38761D"/>
                </a:solidFill>
                <a:latin typeface="Arial"/>
              </a:rPr>
              <a:t>Week 3: EDA in Python</a:t>
            </a:r>
          </a:p>
        </p:txBody>
      </p:sp>
      <p:sp>
        <p:nvSpPr>
          <p:cNvPr id="8" name="Rounded Rectangle 7"/>
          <p:cNvSpPr/>
          <p:nvPr/>
        </p:nvSpPr>
        <p:spPr>
          <a:xfrm>
            <a:off x="1810512" y="2377440"/>
            <a:ext cx="3017520" cy="548640"/>
          </a:xfrm>
          <a:prstGeom prst="roundRect">
            <a:avLst>
              <a:gd name="adj" fmla="val 1333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400" b="1" i="0">
                <a:solidFill>
                  <a:srgbClr val="1F3864"/>
                </a:solidFill>
                <a:latin typeface="Arial"/>
              </a:rPr>
              <a:t>Week 4: Decision trees</a:t>
            </a:r>
          </a:p>
        </p:txBody>
      </p:sp>
      <p:sp>
        <p:nvSpPr>
          <p:cNvPr id="9" name="Right Arrow 8"/>
          <p:cNvSpPr/>
          <p:nvPr/>
        </p:nvSpPr>
        <p:spPr>
          <a:xfrm>
            <a:off x="4965192" y="2487168"/>
            <a:ext cx="640080" cy="329184"/>
          </a:xfrm>
          <a:prstGeom prst="rightArrow">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5742431" y="2377440"/>
            <a:ext cx="3054096" cy="548640"/>
          </a:xfrm>
          <a:prstGeom prst="roundRect">
            <a:avLst>
              <a:gd name="adj" fmla="val 13333"/>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400" b="1" i="0">
                <a:solidFill>
                  <a:srgbClr val="38761D"/>
                </a:solidFill>
                <a:latin typeface="Arial"/>
              </a:rPr>
              <a:t>Week 5: Build a tree in Python</a:t>
            </a:r>
          </a:p>
        </p:txBody>
      </p:sp>
      <p:sp>
        <p:nvSpPr>
          <p:cNvPr id="11" name="TextBox 10"/>
          <p:cNvSpPr txBox="1"/>
          <p:nvPr/>
        </p:nvSpPr>
        <p:spPr>
          <a:xfrm>
            <a:off x="1810512" y="3200400"/>
            <a:ext cx="6986015" cy="365760"/>
          </a:xfrm>
          <a:prstGeom prst="rect">
            <a:avLst/>
          </a:prstGeom>
          <a:noFill/>
        </p:spPr>
        <p:txBody>
          <a:bodyPr wrap="square" lIns="54864" tIns="54864" rIns="54864" bIns="54864" anchor="t"/>
          <a:lstStyle/>
          <a:p>
            <a:pPr marL="0" indent="0" algn="l">
              <a:spcAft>
                <a:spcPts val="400"/>
              </a:spcAft>
              <a:buNone/>
            </a:pPr>
            <a:r>
              <a:rPr sz="1600" b="1" i="0">
                <a:solidFill>
                  <a:srgbClr val="1F3864"/>
                </a:solidFill>
                <a:latin typeface="Arial"/>
              </a:rPr>
              <a:t>The arc of the module</a:t>
            </a:r>
          </a:p>
        </p:txBody>
      </p:sp>
      <p:sp>
        <p:nvSpPr>
          <p:cNvPr id="12" name="Rounded Rectangle 11"/>
          <p:cNvSpPr/>
          <p:nvPr/>
        </p:nvSpPr>
        <p:spPr>
          <a:xfrm>
            <a:off x="1810512" y="3657600"/>
            <a:ext cx="1103375" cy="1234440"/>
          </a:xfrm>
          <a:prstGeom prst="roundRect">
            <a:avLst>
              <a:gd name="adj" fmla="val 662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t"/>
          <a:lstStyle/>
          <a:p>
            <a:pPr marL="0" indent="0" algn="ctr">
              <a:spcAft>
                <a:spcPts val="600"/>
              </a:spcAft>
              <a:buNone/>
            </a:pPr>
            <a:r>
              <a:rPr sz="1400" b="1" i="0">
                <a:solidFill>
                  <a:srgbClr val="2F5DA8"/>
                </a:solidFill>
                <a:latin typeface="Arial"/>
              </a:rPr>
              <a:t>Wk 1</a:t>
            </a:r>
          </a:p>
          <a:p>
            <a:pPr marL="0" indent="0" algn="ctr">
              <a:spcAft>
                <a:spcPts val="400"/>
              </a:spcAft>
              <a:buNone/>
            </a:pPr>
            <a:r>
              <a:rPr sz="1200" b="0" i="0">
                <a:solidFill>
                  <a:srgbClr val="262626"/>
                </a:solidFill>
                <a:latin typeface="Arial"/>
              </a:rPr>
              <a:t>Foundations of AI &amp; data mining</a:t>
            </a:r>
          </a:p>
        </p:txBody>
      </p:sp>
      <p:sp>
        <p:nvSpPr>
          <p:cNvPr id="13" name="Rounded Rectangle 12"/>
          <p:cNvSpPr/>
          <p:nvPr/>
        </p:nvSpPr>
        <p:spPr>
          <a:xfrm>
            <a:off x="2987040" y="3657600"/>
            <a:ext cx="1103375" cy="1234440"/>
          </a:xfrm>
          <a:prstGeom prst="roundRect">
            <a:avLst>
              <a:gd name="adj" fmla="val 662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t"/>
          <a:lstStyle/>
          <a:p>
            <a:pPr marL="0" indent="0" algn="ctr">
              <a:spcAft>
                <a:spcPts val="600"/>
              </a:spcAft>
              <a:buNone/>
            </a:pPr>
            <a:r>
              <a:rPr sz="1400" b="1" i="0" dirty="0" err="1">
                <a:solidFill>
                  <a:srgbClr val="2F5DA8"/>
                </a:solidFill>
                <a:latin typeface="Arial"/>
              </a:rPr>
              <a:t>Wk</a:t>
            </a:r>
            <a:r>
              <a:rPr sz="1400" b="1" i="0" dirty="0">
                <a:solidFill>
                  <a:srgbClr val="2F5DA8"/>
                </a:solidFill>
                <a:latin typeface="Arial"/>
              </a:rPr>
              <a:t> 2</a:t>
            </a:r>
            <a:r>
              <a:rPr lang="en-GB" sz="1400" b="1" i="0" dirty="0">
                <a:solidFill>
                  <a:srgbClr val="2F5DA8"/>
                </a:solidFill>
                <a:latin typeface="Arial"/>
              </a:rPr>
              <a:t>-</a:t>
            </a:r>
            <a:r>
              <a:rPr sz="1400" b="1" i="0" dirty="0">
                <a:solidFill>
                  <a:srgbClr val="2F5DA8"/>
                </a:solidFill>
                <a:latin typeface="Arial"/>
              </a:rPr>
              <a:t>3</a:t>
            </a:r>
          </a:p>
          <a:p>
            <a:pPr marL="0" indent="0" algn="ctr">
              <a:spcAft>
                <a:spcPts val="400"/>
              </a:spcAft>
              <a:buNone/>
            </a:pPr>
            <a:r>
              <a:rPr sz="1200" b="0" i="0" dirty="0">
                <a:solidFill>
                  <a:srgbClr val="262626"/>
                </a:solidFill>
                <a:latin typeface="Arial"/>
              </a:rPr>
              <a:t>Preparing &amp; exploring data; patterns</a:t>
            </a:r>
          </a:p>
        </p:txBody>
      </p:sp>
      <p:sp>
        <p:nvSpPr>
          <p:cNvPr id="14" name="Rounded Rectangle 13"/>
          <p:cNvSpPr/>
          <p:nvPr/>
        </p:nvSpPr>
        <p:spPr>
          <a:xfrm>
            <a:off x="4163567" y="3657600"/>
            <a:ext cx="1103375" cy="1234440"/>
          </a:xfrm>
          <a:prstGeom prst="roundRect">
            <a:avLst>
              <a:gd name="adj" fmla="val 662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t"/>
          <a:lstStyle/>
          <a:p>
            <a:pPr marL="0" indent="0" algn="ctr">
              <a:spcAft>
                <a:spcPts val="600"/>
              </a:spcAft>
              <a:buNone/>
            </a:pPr>
            <a:r>
              <a:rPr sz="1400" b="1" i="0" dirty="0" err="1">
                <a:solidFill>
                  <a:srgbClr val="2F5DA8"/>
                </a:solidFill>
                <a:latin typeface="Arial"/>
              </a:rPr>
              <a:t>Wk</a:t>
            </a:r>
            <a:r>
              <a:rPr sz="1400" b="1" i="0" dirty="0">
                <a:solidFill>
                  <a:srgbClr val="2F5DA8"/>
                </a:solidFill>
                <a:latin typeface="Arial"/>
              </a:rPr>
              <a:t> 4</a:t>
            </a:r>
            <a:r>
              <a:rPr lang="en-GB" sz="1400" b="1" i="0" dirty="0">
                <a:solidFill>
                  <a:srgbClr val="2F5DA8"/>
                </a:solidFill>
                <a:latin typeface="Arial"/>
              </a:rPr>
              <a:t>-</a:t>
            </a:r>
            <a:r>
              <a:rPr sz="1400" b="1" i="0" dirty="0">
                <a:solidFill>
                  <a:srgbClr val="2F5DA8"/>
                </a:solidFill>
                <a:latin typeface="Arial"/>
              </a:rPr>
              <a:t>7</a:t>
            </a:r>
          </a:p>
          <a:p>
            <a:pPr marL="0" indent="0" algn="ctr">
              <a:spcAft>
                <a:spcPts val="400"/>
              </a:spcAft>
              <a:buNone/>
            </a:pPr>
            <a:r>
              <a:rPr sz="1200" b="0" i="0" dirty="0">
                <a:solidFill>
                  <a:srgbClr val="262626"/>
                </a:solidFill>
                <a:latin typeface="Arial"/>
              </a:rPr>
              <a:t>Supervised learning</a:t>
            </a:r>
          </a:p>
        </p:txBody>
      </p:sp>
      <p:sp>
        <p:nvSpPr>
          <p:cNvPr id="15" name="Rounded Rectangle 14"/>
          <p:cNvSpPr/>
          <p:nvPr/>
        </p:nvSpPr>
        <p:spPr>
          <a:xfrm>
            <a:off x="5340096" y="3657600"/>
            <a:ext cx="1103375" cy="1234440"/>
          </a:xfrm>
          <a:prstGeom prst="roundRect">
            <a:avLst>
              <a:gd name="adj" fmla="val 662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t"/>
          <a:lstStyle/>
          <a:p>
            <a:pPr marL="0" indent="0" algn="ctr">
              <a:spcAft>
                <a:spcPts val="600"/>
              </a:spcAft>
              <a:buNone/>
            </a:pPr>
            <a:r>
              <a:rPr sz="1400" b="1" i="0">
                <a:solidFill>
                  <a:srgbClr val="2F5DA8"/>
                </a:solidFill>
                <a:latin typeface="Arial"/>
              </a:rPr>
              <a:t>Wk 8</a:t>
            </a:r>
          </a:p>
          <a:p>
            <a:pPr marL="0" indent="0" algn="ctr">
              <a:spcAft>
                <a:spcPts val="400"/>
              </a:spcAft>
              <a:buNone/>
            </a:pPr>
            <a:r>
              <a:rPr sz="1200" b="0" i="0">
                <a:solidFill>
                  <a:srgbClr val="262626"/>
                </a:solidFill>
                <a:latin typeface="Arial"/>
              </a:rPr>
              <a:t>Unsupervised learning</a:t>
            </a:r>
          </a:p>
        </p:txBody>
      </p:sp>
      <p:sp>
        <p:nvSpPr>
          <p:cNvPr id="16" name="Rounded Rectangle 15"/>
          <p:cNvSpPr/>
          <p:nvPr/>
        </p:nvSpPr>
        <p:spPr>
          <a:xfrm>
            <a:off x="6516623" y="3657600"/>
            <a:ext cx="1103375" cy="1234440"/>
          </a:xfrm>
          <a:prstGeom prst="roundRect">
            <a:avLst>
              <a:gd name="adj" fmla="val 662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t"/>
          <a:lstStyle/>
          <a:p>
            <a:pPr marL="0" indent="0" algn="ctr">
              <a:spcAft>
                <a:spcPts val="600"/>
              </a:spcAft>
              <a:buNone/>
            </a:pPr>
            <a:r>
              <a:rPr sz="1400" b="1" i="0" dirty="0" err="1">
                <a:solidFill>
                  <a:srgbClr val="2F5DA8"/>
                </a:solidFill>
                <a:latin typeface="Arial"/>
              </a:rPr>
              <a:t>Wk</a:t>
            </a:r>
            <a:r>
              <a:rPr sz="1400" b="1" i="0" dirty="0">
                <a:solidFill>
                  <a:srgbClr val="2F5DA8"/>
                </a:solidFill>
                <a:latin typeface="Arial"/>
              </a:rPr>
              <a:t> 9</a:t>
            </a:r>
            <a:r>
              <a:rPr lang="en-GB" sz="1400" b="1" i="0" dirty="0">
                <a:solidFill>
                  <a:srgbClr val="2F5DA8"/>
                </a:solidFill>
                <a:latin typeface="Arial"/>
              </a:rPr>
              <a:t>-</a:t>
            </a:r>
            <a:r>
              <a:rPr sz="1400" b="1" i="0" dirty="0">
                <a:solidFill>
                  <a:srgbClr val="2F5DA8"/>
                </a:solidFill>
                <a:latin typeface="Arial"/>
              </a:rPr>
              <a:t>11</a:t>
            </a:r>
          </a:p>
          <a:p>
            <a:pPr marL="0" indent="0" algn="ctr">
              <a:spcAft>
                <a:spcPts val="400"/>
              </a:spcAft>
              <a:buNone/>
            </a:pPr>
            <a:r>
              <a:rPr sz="1200" b="0" i="0" dirty="0">
                <a:solidFill>
                  <a:srgbClr val="262626"/>
                </a:solidFill>
                <a:latin typeface="Arial"/>
              </a:rPr>
              <a:t>Frontier: deep learning, NLP, RL</a:t>
            </a:r>
          </a:p>
        </p:txBody>
      </p:sp>
      <p:sp>
        <p:nvSpPr>
          <p:cNvPr id="17" name="Rounded Rectangle 16"/>
          <p:cNvSpPr/>
          <p:nvPr/>
        </p:nvSpPr>
        <p:spPr>
          <a:xfrm>
            <a:off x="7693151" y="3657600"/>
            <a:ext cx="1103375" cy="1234440"/>
          </a:xfrm>
          <a:prstGeom prst="roundRect">
            <a:avLst>
              <a:gd name="adj" fmla="val 662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t"/>
          <a:lstStyle/>
          <a:p>
            <a:pPr marL="0" indent="0" algn="ctr">
              <a:spcAft>
                <a:spcPts val="600"/>
              </a:spcAft>
              <a:buNone/>
            </a:pPr>
            <a:r>
              <a:rPr sz="1400" b="1" i="0" dirty="0" err="1">
                <a:solidFill>
                  <a:srgbClr val="2F5DA8"/>
                </a:solidFill>
                <a:latin typeface="Arial"/>
              </a:rPr>
              <a:t>Wk</a:t>
            </a:r>
            <a:r>
              <a:rPr sz="1400" b="1" i="0" dirty="0">
                <a:solidFill>
                  <a:srgbClr val="2F5DA8"/>
                </a:solidFill>
                <a:latin typeface="Arial"/>
              </a:rPr>
              <a:t> 12</a:t>
            </a:r>
            <a:r>
              <a:rPr lang="en-GB" sz="1400" b="1" i="0" dirty="0">
                <a:solidFill>
                  <a:srgbClr val="2F5DA8"/>
                </a:solidFill>
                <a:latin typeface="Arial"/>
              </a:rPr>
              <a:t>-</a:t>
            </a:r>
            <a:r>
              <a:rPr sz="1400" b="1" i="0" dirty="0">
                <a:solidFill>
                  <a:srgbClr val="2F5DA8"/>
                </a:solidFill>
                <a:latin typeface="Arial"/>
              </a:rPr>
              <a:t>13</a:t>
            </a:r>
          </a:p>
          <a:p>
            <a:pPr marL="0" indent="0" algn="ctr">
              <a:spcAft>
                <a:spcPts val="400"/>
              </a:spcAft>
              <a:buNone/>
            </a:pPr>
            <a:r>
              <a:rPr sz="1200" b="0" i="0" dirty="0">
                <a:solidFill>
                  <a:srgbClr val="262626"/>
                </a:solidFill>
                <a:latin typeface="Arial"/>
              </a:rPr>
              <a:t>Reasoning &amp; review</a:t>
            </a:r>
          </a:p>
        </p:txBody>
      </p:sp>
      <p:sp>
        <p:nvSpPr>
          <p:cNvPr id="18" name="Rounded Rectangle 17"/>
          <p:cNvSpPr/>
          <p:nvPr/>
        </p:nvSpPr>
        <p:spPr>
          <a:xfrm>
            <a:off x="1810512" y="5074920"/>
            <a:ext cx="6986015" cy="640080"/>
          </a:xfrm>
          <a:prstGeom prst="roundRect">
            <a:avLst>
              <a:gd name="adj" fmla="val 11428"/>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0" i="0" dirty="0">
                <a:solidFill>
                  <a:srgbClr val="262626"/>
                </a:solidFill>
                <a:latin typeface="Arial"/>
              </a:rPr>
              <a:t>The plan appears again near the end of the lecture, linked to the history and branches of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p>
        </p:txBody>
      </p:sp>
      <p:sp>
        <p:nvSpPr>
          <p:cNvPr id="3" name="Content Placeholder 2"/>
          <p:cNvSpPr>
            <a:spLocks noGrp="1"/>
          </p:cNvSpPr>
          <p:nvPr>
            <p:ph idx="1"/>
          </p:nvPr>
        </p:nvSpPr>
        <p:spPr/>
        <p:txBody>
          <a:bodyPr/>
          <a:lstStyle/>
          <a:p>
            <a:r>
              <a:rPr lang="en-GB" dirty="0"/>
              <a:t>MLO1: Explain fundamental concepts in ML/ AI</a:t>
            </a:r>
          </a:p>
          <a:p>
            <a:endParaRPr lang="en-GB" dirty="0"/>
          </a:p>
          <a:p>
            <a:r>
              <a:rPr lang="en-GB" dirty="0"/>
              <a:t>MLO2: Apply data mining tools to a problem instance and interpret the results</a:t>
            </a:r>
          </a:p>
          <a:p>
            <a:endParaRPr lang="en-GB" dirty="0"/>
          </a:p>
          <a:p>
            <a:pPr lvl="0"/>
            <a:r>
              <a:rPr lang="en-GB" dirty="0"/>
              <a:t>MLO3: Select and justify choice of AI or ML approach for a specific problem instance</a:t>
            </a:r>
          </a:p>
          <a:p>
            <a:endParaRPr lang="en-GB" dirty="0"/>
          </a:p>
        </p:txBody>
      </p:sp>
    </p:spTree>
    <p:extLst>
      <p:ext uri="{BB962C8B-B14F-4D97-AF65-F5344CB8AC3E}">
        <p14:creationId xmlns:p14="http://schemas.microsoft.com/office/powerpoint/2010/main" val="864114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What the outcomes ask of you</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80160"/>
            <a:ext cx="2218943" cy="868680"/>
          </a:xfrm>
          <a:prstGeom prst="roundRect">
            <a:avLst>
              <a:gd name="adj" fmla="val 842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0"/>
              </a:spcAft>
              <a:buNone/>
            </a:pPr>
            <a:r>
              <a:rPr sz="1800" b="1" i="0">
                <a:solidFill>
                  <a:srgbClr val="FFFFFF"/>
                </a:solidFill>
                <a:latin typeface="Arial"/>
              </a:rPr>
              <a:t>MLO1</a:t>
            </a:r>
          </a:p>
          <a:p>
            <a:pPr marL="0" indent="0" algn="ctr">
              <a:spcAft>
                <a:spcPts val="400"/>
              </a:spcAft>
              <a:buNone/>
            </a:pPr>
            <a:r>
              <a:rPr sz="1300" b="1" i="0">
                <a:solidFill>
                  <a:srgbClr val="FFFFFF"/>
                </a:solidFill>
                <a:latin typeface="Arial"/>
              </a:rPr>
              <a:t>EXPLAIN</a:t>
            </a:r>
          </a:p>
        </p:txBody>
      </p:sp>
      <p:sp>
        <p:nvSpPr>
          <p:cNvPr id="5" name="Rounded Rectangle 4"/>
          <p:cNvSpPr/>
          <p:nvPr/>
        </p:nvSpPr>
        <p:spPr>
          <a:xfrm>
            <a:off x="1810512" y="2240280"/>
            <a:ext cx="2218943" cy="2240280"/>
          </a:xfrm>
          <a:prstGeom prst="roundRect">
            <a:avLst>
              <a:gd name="adj" fmla="val 329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t"/>
          <a:lstStyle/>
          <a:p>
            <a:pPr marL="164592" indent="-146304" algn="l">
              <a:spcAft>
                <a:spcPts val="800"/>
              </a:spcAft>
              <a:buFont typeface="Arial"/>
              <a:buChar char="•"/>
            </a:pPr>
            <a:r>
              <a:rPr sz="1500" b="0" i="0">
                <a:solidFill>
                  <a:srgbClr val="262626"/>
                </a:solidFill>
                <a:latin typeface="Arial"/>
              </a:rPr>
              <a:t>What a method does</a:t>
            </a:r>
          </a:p>
          <a:p>
            <a:pPr marL="164592" indent="-146304" algn="l">
              <a:spcAft>
                <a:spcPts val="800"/>
              </a:spcAft>
              <a:buFont typeface="Arial"/>
              <a:buChar char="•"/>
            </a:pPr>
            <a:r>
              <a:rPr sz="1500" b="0" i="0">
                <a:solidFill>
                  <a:srgbClr val="262626"/>
                </a:solidFill>
                <a:latin typeface="Arial"/>
              </a:rPr>
              <a:t>Why it works</a:t>
            </a:r>
          </a:p>
          <a:p>
            <a:pPr marL="164592" indent="-146304" algn="l">
              <a:spcAft>
                <a:spcPts val="800"/>
              </a:spcAft>
              <a:buFont typeface="Arial"/>
              <a:buChar char="•"/>
            </a:pPr>
            <a:r>
              <a:rPr sz="1500" b="0" i="0">
                <a:solidFill>
                  <a:srgbClr val="262626"/>
                </a:solidFill>
                <a:latin typeface="Arial"/>
              </a:rPr>
              <a:t>When it fails</a:t>
            </a:r>
          </a:p>
        </p:txBody>
      </p:sp>
      <p:sp>
        <p:nvSpPr>
          <p:cNvPr id="6" name="Rounded Rectangle 5"/>
          <p:cNvSpPr/>
          <p:nvPr/>
        </p:nvSpPr>
        <p:spPr>
          <a:xfrm>
            <a:off x="4194047" y="1280160"/>
            <a:ext cx="2218943" cy="868680"/>
          </a:xfrm>
          <a:prstGeom prst="roundRect">
            <a:avLst>
              <a:gd name="adj" fmla="val 842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0"/>
              </a:spcAft>
              <a:buNone/>
            </a:pPr>
            <a:r>
              <a:rPr sz="1800" b="1" i="0">
                <a:solidFill>
                  <a:srgbClr val="FFFFFF"/>
                </a:solidFill>
                <a:latin typeface="Arial"/>
              </a:rPr>
              <a:t>MLO2</a:t>
            </a:r>
          </a:p>
          <a:p>
            <a:pPr marL="0" indent="0" algn="ctr">
              <a:spcAft>
                <a:spcPts val="400"/>
              </a:spcAft>
              <a:buNone/>
            </a:pPr>
            <a:r>
              <a:rPr sz="1300" b="1" i="0">
                <a:solidFill>
                  <a:srgbClr val="FFFFFF"/>
                </a:solidFill>
                <a:latin typeface="Arial"/>
              </a:rPr>
              <a:t>APPLY + INTERPRET</a:t>
            </a:r>
          </a:p>
        </p:txBody>
      </p:sp>
      <p:sp>
        <p:nvSpPr>
          <p:cNvPr id="7" name="Rounded Rectangle 6"/>
          <p:cNvSpPr/>
          <p:nvPr/>
        </p:nvSpPr>
        <p:spPr>
          <a:xfrm>
            <a:off x="4194047" y="2240280"/>
            <a:ext cx="2218943" cy="2240280"/>
          </a:xfrm>
          <a:prstGeom prst="roundRect">
            <a:avLst>
              <a:gd name="adj" fmla="val 329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t"/>
          <a:lstStyle/>
          <a:p>
            <a:pPr marL="164592" indent="-146304" algn="l">
              <a:spcAft>
                <a:spcPts val="800"/>
              </a:spcAft>
              <a:buFont typeface="Arial"/>
              <a:buChar char="•"/>
            </a:pPr>
            <a:r>
              <a:rPr sz="1500" b="0" i="0">
                <a:solidFill>
                  <a:srgbClr val="262626"/>
                </a:solidFill>
                <a:latin typeface="Arial"/>
              </a:rPr>
              <a:t>Running the code is the easy half</a:t>
            </a:r>
          </a:p>
          <a:p>
            <a:pPr marL="164592" indent="-146304" algn="l">
              <a:spcAft>
                <a:spcPts val="800"/>
              </a:spcAft>
              <a:buFont typeface="Arial"/>
              <a:buChar char="•"/>
            </a:pPr>
            <a:r>
              <a:rPr sz="1500" b="0" i="0">
                <a:solidFill>
                  <a:srgbClr val="262626"/>
                </a:solidFill>
                <a:latin typeface="Arial"/>
              </a:rPr>
              <a:t>Interpreting results is where marks are lost: is the pattern real?</a:t>
            </a:r>
          </a:p>
        </p:txBody>
      </p:sp>
      <p:sp>
        <p:nvSpPr>
          <p:cNvPr id="8" name="Rounded Rectangle 7"/>
          <p:cNvSpPr/>
          <p:nvPr/>
        </p:nvSpPr>
        <p:spPr>
          <a:xfrm>
            <a:off x="6577584" y="1280160"/>
            <a:ext cx="2218943" cy="868680"/>
          </a:xfrm>
          <a:prstGeom prst="roundRect">
            <a:avLst>
              <a:gd name="adj" fmla="val 842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0"/>
              </a:spcAft>
              <a:buNone/>
            </a:pPr>
            <a:r>
              <a:rPr sz="1800" b="1" i="0">
                <a:solidFill>
                  <a:srgbClr val="FFFFFF"/>
                </a:solidFill>
                <a:latin typeface="Arial"/>
              </a:rPr>
              <a:t>MLO3</a:t>
            </a:r>
          </a:p>
          <a:p>
            <a:pPr marL="0" indent="0" algn="ctr">
              <a:spcAft>
                <a:spcPts val="400"/>
              </a:spcAft>
              <a:buNone/>
            </a:pPr>
            <a:r>
              <a:rPr sz="1300" b="1" i="0">
                <a:solidFill>
                  <a:srgbClr val="FFFFFF"/>
                </a:solidFill>
                <a:latin typeface="Arial"/>
              </a:rPr>
              <a:t>SELECT + JUSTIFY</a:t>
            </a:r>
          </a:p>
        </p:txBody>
      </p:sp>
      <p:sp>
        <p:nvSpPr>
          <p:cNvPr id="9" name="Rounded Rectangle 8"/>
          <p:cNvSpPr/>
          <p:nvPr/>
        </p:nvSpPr>
        <p:spPr>
          <a:xfrm>
            <a:off x="6577584" y="2240280"/>
            <a:ext cx="2218943" cy="2240280"/>
          </a:xfrm>
          <a:prstGeom prst="roundRect">
            <a:avLst>
              <a:gd name="adj" fmla="val 329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t"/>
          <a:lstStyle/>
          <a:p>
            <a:pPr marL="164592" indent="-146304" algn="l">
              <a:spcAft>
                <a:spcPts val="800"/>
              </a:spcAft>
              <a:buFont typeface="Arial"/>
              <a:buChar char="•"/>
            </a:pPr>
            <a:r>
              <a:rPr sz="1500" b="0" i="0">
                <a:solidFill>
                  <a:srgbClr val="262626"/>
                </a:solidFill>
                <a:latin typeface="Arial"/>
              </a:rPr>
              <a:t>Choose the approach for a real problem</a:t>
            </a:r>
          </a:p>
          <a:p>
            <a:pPr marL="164592" indent="-146304" algn="l">
              <a:spcAft>
                <a:spcPts val="800"/>
              </a:spcAft>
              <a:buFont typeface="Arial"/>
              <a:buChar char="•"/>
            </a:pPr>
            <a:r>
              <a:rPr sz="1500" b="0" i="0">
                <a:solidFill>
                  <a:srgbClr val="262626"/>
                </a:solidFill>
                <a:latin typeface="Arial"/>
              </a:rPr>
              <a:t>e.g. interpretable model vs black box</a:t>
            </a:r>
          </a:p>
          <a:p>
            <a:pPr marL="164592" indent="-146304" algn="l">
              <a:spcAft>
                <a:spcPts val="800"/>
              </a:spcAft>
              <a:buFont typeface="Arial"/>
              <a:buChar char="•"/>
            </a:pPr>
            <a:r>
              <a:rPr sz="1500" b="0" i="0">
                <a:solidFill>
                  <a:srgbClr val="262626"/>
                </a:solidFill>
                <a:latin typeface="Arial"/>
              </a:rPr>
              <a:t>Defend your choice</a:t>
            </a:r>
          </a:p>
        </p:txBody>
      </p:sp>
      <p:sp>
        <p:nvSpPr>
          <p:cNvPr id="10" name="Chevron 9"/>
          <p:cNvSpPr/>
          <p:nvPr/>
        </p:nvSpPr>
        <p:spPr>
          <a:xfrm>
            <a:off x="1810512" y="4800600"/>
            <a:ext cx="2328672" cy="685800"/>
          </a:xfrm>
          <a:prstGeom prst="chevron">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500" b="1" i="0">
                <a:solidFill>
                  <a:srgbClr val="FFFFFF"/>
                </a:solidFill>
                <a:latin typeface="Arial"/>
              </a:rPr>
              <a:t>Understand</a:t>
            </a:r>
          </a:p>
        </p:txBody>
      </p:sp>
      <p:sp>
        <p:nvSpPr>
          <p:cNvPr id="11" name="Chevron 10"/>
          <p:cNvSpPr/>
          <p:nvPr/>
        </p:nvSpPr>
        <p:spPr>
          <a:xfrm>
            <a:off x="4139183" y="4800600"/>
            <a:ext cx="2328672" cy="685800"/>
          </a:xfrm>
          <a:prstGeom prst="chevron">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500" b="1" i="0">
                <a:solidFill>
                  <a:srgbClr val="FFFFFF"/>
                </a:solidFill>
                <a:latin typeface="Arial"/>
              </a:rPr>
              <a:t>Apply</a:t>
            </a:r>
          </a:p>
        </p:txBody>
      </p:sp>
      <p:sp>
        <p:nvSpPr>
          <p:cNvPr id="12" name="Chevron 11"/>
          <p:cNvSpPr/>
          <p:nvPr/>
        </p:nvSpPr>
        <p:spPr>
          <a:xfrm>
            <a:off x="6467855" y="4800600"/>
            <a:ext cx="2328672" cy="685800"/>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500" b="1" i="0">
                <a:solidFill>
                  <a:srgbClr val="FFFFFF"/>
                </a:solidFill>
                <a:latin typeface="Arial"/>
              </a:rPr>
              <a:t>Evaluate &amp; choose</a:t>
            </a:r>
          </a:p>
        </p:txBody>
      </p:sp>
      <p:sp>
        <p:nvSpPr>
          <p:cNvPr id="13" name="TextBox 12"/>
          <p:cNvSpPr txBox="1"/>
          <p:nvPr/>
        </p:nvSpPr>
        <p:spPr>
          <a:xfrm>
            <a:off x="1810512" y="5623560"/>
            <a:ext cx="6986015" cy="457200"/>
          </a:xfrm>
          <a:prstGeom prst="rect">
            <a:avLst/>
          </a:prstGeom>
          <a:noFill/>
        </p:spPr>
        <p:txBody>
          <a:bodyPr wrap="square" lIns="54864" tIns="54864" rIns="54864" bIns="54864" anchor="t"/>
          <a:lstStyle/>
          <a:p>
            <a:pPr marL="0" indent="0" algn="ctr">
              <a:spcAft>
                <a:spcPts val="400"/>
              </a:spcAft>
              <a:buNone/>
            </a:pPr>
            <a:r>
              <a:rPr sz="1300" b="0" i="1">
                <a:solidFill>
                  <a:srgbClr val="595959"/>
                </a:solidFill>
                <a:latin typeface="Arial"/>
              </a:rPr>
              <a:t>The outcomes build on each other, and so does the module.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Why does the Python practical run one week behind the lecture topic?</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 (Understanding): </a:t>
            </a:r>
            <a:r>
              <a:rPr sz="1400" b="0" i="1">
                <a:solidFill>
                  <a:srgbClr val="595959"/>
                </a:solidFill>
                <a:latin typeface="Arial"/>
              </a:rPr>
              <a:t>Why does the Python practical run one week behind the lecture topic?</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So that each method is first understood in theory and then implemented. For example, exploratory data analysis (EDA) is taught in Week 2 and practised in Python in Week 3.</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How the module is built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RECALL</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2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dirty="0">
                <a:solidFill>
                  <a:srgbClr val="1F3864"/>
                </a:solidFill>
                <a:latin typeface="Arial"/>
              </a:rPr>
              <a:t>What do the three module learning outcomes (MLO1</a:t>
            </a:r>
            <a:r>
              <a:rPr lang="en-GB" sz="2400" b="1" i="0" dirty="0">
                <a:solidFill>
                  <a:srgbClr val="1F3864"/>
                </a:solidFill>
                <a:latin typeface="Arial"/>
              </a:rPr>
              <a:t>-</a:t>
            </a:r>
            <a:r>
              <a:rPr sz="2400" b="1" i="0" dirty="0">
                <a:solidFill>
                  <a:srgbClr val="1F3864"/>
                </a:solidFill>
                <a:latin typeface="Arial"/>
              </a:rPr>
              <a:t>MLO3) ask you to do?</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dirty="0">
                <a:solidFill>
                  <a:srgbClr val="595959"/>
                </a:solidFill>
                <a:latin typeface="Arial"/>
              </a:rPr>
              <a:t>Q2 (Recall): </a:t>
            </a:r>
            <a:r>
              <a:rPr sz="1400" b="0" i="1" dirty="0">
                <a:solidFill>
                  <a:srgbClr val="595959"/>
                </a:solidFill>
                <a:latin typeface="Arial"/>
              </a:rPr>
              <a:t>What do the three module learning outcomes (MLO1</a:t>
            </a:r>
            <a:r>
              <a:rPr lang="en-GB" sz="1400" b="0" i="1" dirty="0">
                <a:solidFill>
                  <a:srgbClr val="595959"/>
                </a:solidFill>
                <a:latin typeface="Arial"/>
              </a:rPr>
              <a:t>-</a:t>
            </a:r>
            <a:r>
              <a:rPr sz="1400" b="0" i="1" dirty="0">
                <a:solidFill>
                  <a:srgbClr val="595959"/>
                </a:solidFill>
                <a:latin typeface="Arial"/>
              </a:rPr>
              <a:t>MLO3) ask you to do?</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MLO1: explain fundamental concepts in ML and AI. MLO2: apply data mining tools to a problem and interpret the results. MLO3: select and justify an AI or ML approach for a specific problem. Together they move from understanding, to applying, to evaluating and choosing.</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Learning outcomes; What the outcomes ask of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Outlook 2</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The definition of Data Mining</a:t>
            </a:r>
          </a:p>
          <a:p>
            <a:pPr marL="342900" indent="-342900">
              <a:buFont typeface="Arial" panose="020B0604020202020204" pitchFamily="34" charset="0"/>
              <a:buChar char="•"/>
            </a:pPr>
            <a:r>
              <a:rPr lang="en-GB" dirty="0"/>
              <a:t>The definition of AI and relations to Data Mining</a:t>
            </a:r>
          </a:p>
          <a:p>
            <a:pPr marL="342900" indent="-342900">
              <a:buFont typeface="Arial" panose="020B0604020202020204" pitchFamily="34" charset="0"/>
              <a:buChar char="•"/>
            </a:pPr>
            <a:r>
              <a:rPr lang="en-GB" dirty="0"/>
              <a:t>A bit of history of AI and branches </a:t>
            </a:r>
          </a:p>
          <a:p>
            <a:pPr marL="342900" indent="-342900">
              <a:buFont typeface="Arial" panose="020B0604020202020204" pitchFamily="34" charset="0"/>
              <a:buChar char="•"/>
            </a:pPr>
            <a:r>
              <a:rPr lang="en-GB" dirty="0"/>
              <a:t>Different levels of machine intelligence (a demo)</a:t>
            </a:r>
          </a:p>
          <a:p>
            <a:pPr marL="342900" indent="-342900">
              <a:buFont typeface="Arial" panose="020B0604020202020204" pitchFamily="34" charset="0"/>
              <a:buChar char="•"/>
            </a:pPr>
            <a:r>
              <a:rPr lang="en-GB" dirty="0"/>
              <a:t>Turing test demo for fun</a:t>
            </a:r>
          </a:p>
          <a:p>
            <a:pPr marL="342900" indent="-342900">
              <a:buFont typeface="Arial" panose="020B0604020202020204" pitchFamily="34" charset="0"/>
              <a:buChar char="•"/>
            </a:pPr>
            <a:r>
              <a:rPr lang="en-GB" dirty="0"/>
              <a:t>Self-Reading Homework </a:t>
            </a:r>
          </a:p>
        </p:txBody>
      </p:sp>
    </p:spTree>
    <p:extLst>
      <p:ext uri="{BB962C8B-B14F-4D97-AF65-F5344CB8AC3E}">
        <p14:creationId xmlns:p14="http://schemas.microsoft.com/office/powerpoint/2010/main" val="2225487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0" y="3581400"/>
            <a:ext cx="3429000" cy="595996"/>
          </a:xfrm>
        </p:spPr>
        <p:txBody>
          <a:bodyPr/>
          <a:lstStyle/>
          <a:p>
            <a:r>
              <a:rPr lang="en-GB" dirty="0"/>
              <a:t>Data Mining</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057400"/>
            <a:ext cx="374332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1121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Section overview: data mining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428837"/>
            <a:ext cx="3017520" cy="982805"/>
          </a:xfrm>
          <a:prstGeom prst="rect">
            <a:avLst/>
          </a:prstGeom>
          <a:ln w="9525">
            <a:solidFill>
              <a:srgbClr val="A6B8D6"/>
            </a:solidFill>
          </a:ln>
        </p:spPr>
      </p:pic>
      <p:sp>
        <p:nvSpPr>
          <p:cNvPr id="5" name="Rounded Rectangle 4"/>
          <p:cNvSpPr/>
          <p:nvPr/>
        </p:nvSpPr>
        <p:spPr>
          <a:xfrm>
            <a:off x="5010912" y="1280160"/>
            <a:ext cx="3785615" cy="1280160"/>
          </a:xfrm>
          <a:prstGeom prst="roundRect">
            <a:avLst>
              <a:gd name="adj" fmla="val 5714"/>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300" b="0" i="0">
                <a:solidFill>
                  <a:srgbClr val="262626"/>
                </a:solidFill>
                <a:latin typeface="Arial"/>
              </a:rPr>
              <a:t>The icon combines a database (the stacked cylinder), a pickaxe and a map: data are “mined” to uncover structure that can be read like a map.</a:t>
            </a:r>
          </a:p>
        </p:txBody>
      </p:sp>
      <p:sp>
        <p:nvSpPr>
          <p:cNvPr id="6" name="Rounded Rectangle 5"/>
          <p:cNvSpPr/>
          <p:nvPr/>
        </p:nvSpPr>
        <p:spPr>
          <a:xfrm>
            <a:off x="1810512" y="278892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This section covers</a:t>
            </a:r>
          </a:p>
          <a:p>
            <a:pPr marL="164592" indent="-146304" algn="l">
              <a:spcAft>
                <a:spcPts val="600"/>
              </a:spcAft>
              <a:buFont typeface="Arial"/>
              <a:buChar char="•"/>
            </a:pPr>
            <a:r>
              <a:rPr sz="1400" b="0" i="0">
                <a:solidFill>
                  <a:srgbClr val="262626"/>
                </a:solidFill>
                <a:latin typeface="Arial"/>
              </a:rPr>
              <a:t>What data mining is, and what it aims to achieve</a:t>
            </a:r>
          </a:p>
          <a:p>
            <a:pPr marL="164592" indent="-146304" algn="l">
              <a:spcAft>
                <a:spcPts val="600"/>
              </a:spcAft>
              <a:buFont typeface="Arial"/>
              <a:buChar char="•"/>
            </a:pPr>
            <a:r>
              <a:rPr sz="1400" b="0" i="0">
                <a:solidFill>
                  <a:srgbClr val="262626"/>
                </a:solidFill>
                <a:latin typeface="Arial"/>
              </a:rPr>
              <a:t>Where data mining fits in the knowledge discovery (KDD) process</a:t>
            </a:r>
          </a:p>
          <a:p>
            <a:pPr marL="164592" indent="-146304" algn="l">
              <a:spcAft>
                <a:spcPts val="600"/>
              </a:spcAft>
              <a:buFont typeface="Arial"/>
              <a:buChar char="•"/>
            </a:pPr>
            <a:r>
              <a:rPr sz="1400" b="0" i="0">
                <a:solidFill>
                  <a:srgbClr val="262626"/>
                </a:solidFill>
                <a:latin typeface="Arial"/>
              </a:rPr>
              <a:t>A worked example: learning a decision tree from a small customer table</a:t>
            </a:r>
          </a:p>
        </p:txBody>
      </p:sp>
      <p:sp>
        <p:nvSpPr>
          <p:cNvPr id="7" name="Rounded Rectangle 6"/>
          <p:cNvSpPr/>
          <p:nvPr/>
        </p:nvSpPr>
        <p:spPr>
          <a:xfrm>
            <a:off x="1810512" y="5715000"/>
            <a:ext cx="6986015" cy="685800"/>
          </a:xfrm>
          <a:prstGeom prst="roundRect">
            <a:avLst>
              <a:gd name="adj" fmla="val 10666"/>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FFFFFF"/>
                </a:solidFill>
                <a:latin typeface="Arial"/>
              </a:rPr>
              <a:t>NOTE  </a:t>
            </a:r>
            <a:r>
              <a:rPr sz="1300" b="0" i="0">
                <a:solidFill>
                  <a:srgbClr val="FFFFFF"/>
                </a:solidFill>
                <a:latin typeface="Arial"/>
              </a:rPr>
              <a:t>The name is a metaphor: we mine data for knowledge, not for data. Hence the term “knowledge discovery”.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Data Mining?</a:t>
            </a:r>
          </a:p>
        </p:txBody>
      </p:sp>
      <p:sp>
        <p:nvSpPr>
          <p:cNvPr id="3" name="Content Placeholder 2"/>
          <p:cNvSpPr>
            <a:spLocks noGrp="1"/>
          </p:cNvSpPr>
          <p:nvPr>
            <p:ph idx="1"/>
          </p:nvPr>
        </p:nvSpPr>
        <p:spPr/>
        <p:txBody>
          <a:bodyPr/>
          <a:lstStyle/>
          <a:p>
            <a:r>
              <a:rPr lang="en-GB" dirty="0"/>
              <a:t>Data mining is a process to </a:t>
            </a:r>
            <a:r>
              <a:rPr lang="en-GB" dirty="0">
                <a:solidFill>
                  <a:srgbClr val="FF0000"/>
                </a:solidFill>
              </a:rPr>
              <a:t>turn raw data into useful information and knowledge</a:t>
            </a:r>
            <a:r>
              <a:rPr lang="en-GB" dirty="0"/>
              <a:t> by using software and algorithms to look for </a:t>
            </a:r>
            <a:r>
              <a:rPr lang="en-GB" dirty="0">
                <a:solidFill>
                  <a:srgbClr val="FF0000"/>
                </a:solidFill>
              </a:rPr>
              <a:t>patterns</a:t>
            </a:r>
            <a:r>
              <a:rPr lang="en-GB" dirty="0"/>
              <a:t> in </a:t>
            </a:r>
            <a:r>
              <a:rPr lang="en-GB" dirty="0">
                <a:solidFill>
                  <a:srgbClr val="FF0000"/>
                </a:solidFill>
              </a:rPr>
              <a:t>large batches of data</a:t>
            </a:r>
            <a:r>
              <a:rPr lang="en-GB" dirty="0"/>
              <a:t>. </a:t>
            </a:r>
          </a:p>
          <a:p>
            <a:endParaRPr lang="en-GB" dirty="0"/>
          </a:p>
          <a:p>
            <a:r>
              <a:rPr lang="en-GB" dirty="0"/>
              <a:t>For example: businesses can learn more about their customers to develop more effective marketing strategies, increase sales and decrease costs. </a:t>
            </a:r>
          </a:p>
        </p:txBody>
      </p:sp>
      <p:sp>
        <p:nvSpPr>
          <p:cNvPr id="4" name="AutoShape 2" descr="Data Science Apriori Algorithm in Python - Market Basket Analys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851905"/>
            <a:ext cx="3200400" cy="1640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A5E71F02-3882-1FFB-1A71-6921A4798B71}"/>
              </a:ext>
            </a:extLst>
          </p:cNvPr>
          <p:cNvPicPr>
            <a:picLocks noChangeAspect="1"/>
          </p:cNvPicPr>
          <p:nvPr/>
        </p:nvPicPr>
        <p:blipFill>
          <a:blip r:embed="rId3"/>
          <a:stretch>
            <a:fillRect/>
          </a:stretch>
        </p:blipFill>
        <p:spPr>
          <a:xfrm>
            <a:off x="5791200" y="5281404"/>
            <a:ext cx="1159127" cy="895560"/>
          </a:xfrm>
          <a:prstGeom prst="rect">
            <a:avLst/>
          </a:prstGeom>
        </p:spPr>
      </p:pic>
      <p:pic>
        <p:nvPicPr>
          <p:cNvPr id="1026" name="Picture 2" descr="Lagers Of the World - case of 12 Premium bottled beers An ideal beer gift  for men and women - by Traditional Beer Company : Amazon.co.uk: Grocery">
            <a:extLst>
              <a:ext uri="{FF2B5EF4-FFF2-40B4-BE49-F238E27FC236}">
                <a16:creationId xmlns:a16="http://schemas.microsoft.com/office/drawing/2014/main" id="{C16720C5-AE1E-8C85-F3EC-304225F22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5281404"/>
            <a:ext cx="1345787" cy="895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06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images: market baskets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85547"/>
            <a:ext cx="2743200" cy="1406545"/>
          </a:xfrm>
          <a:prstGeom prst="rect">
            <a:avLst/>
          </a:prstGeom>
          <a:ln w="9525">
            <a:solidFill>
              <a:srgbClr val="A6B8D6"/>
            </a:solidFill>
          </a:ln>
        </p:spPr>
      </p:pic>
      <p:pic>
        <p:nvPicPr>
          <p:cNvPr id="5" name="Picture 4" descr="image.png"/>
          <p:cNvPicPr>
            <a:picLocks noChangeAspect="1"/>
          </p:cNvPicPr>
          <p:nvPr/>
        </p:nvPicPr>
        <p:blipFill>
          <a:blip r:embed="rId3"/>
          <a:stretch>
            <a:fillRect/>
          </a:stretch>
        </p:blipFill>
        <p:spPr>
          <a:xfrm>
            <a:off x="4736592" y="1282339"/>
            <a:ext cx="1828800" cy="1412960"/>
          </a:xfrm>
          <a:prstGeom prst="rect">
            <a:avLst/>
          </a:prstGeom>
          <a:ln w="9525">
            <a:solidFill>
              <a:srgbClr val="A6B8D6"/>
            </a:solidFill>
          </a:ln>
        </p:spPr>
      </p:pic>
      <p:pic>
        <p:nvPicPr>
          <p:cNvPr id="6" name="Picture 5" descr="image.jpeg"/>
          <p:cNvPicPr>
            <a:picLocks noChangeAspect="1"/>
          </p:cNvPicPr>
          <p:nvPr/>
        </p:nvPicPr>
        <p:blipFill>
          <a:blip r:embed="rId4"/>
          <a:stretch>
            <a:fillRect/>
          </a:stretch>
        </p:blipFill>
        <p:spPr>
          <a:xfrm>
            <a:off x="6748272" y="1307309"/>
            <a:ext cx="2048255" cy="1363021"/>
          </a:xfrm>
          <a:prstGeom prst="rect">
            <a:avLst/>
          </a:prstGeom>
          <a:ln w="9525">
            <a:solidFill>
              <a:srgbClr val="A6B8D6"/>
            </a:solidFill>
          </a:ln>
        </p:spPr>
      </p:pic>
      <p:sp>
        <p:nvSpPr>
          <p:cNvPr id="7" name="TextBox 6"/>
          <p:cNvSpPr txBox="1"/>
          <p:nvPr/>
        </p:nvSpPr>
        <p:spPr>
          <a:xfrm>
            <a:off x="1810512" y="2743200"/>
            <a:ext cx="6986015" cy="320040"/>
          </a:xfrm>
          <a:prstGeom prst="rect">
            <a:avLst/>
          </a:prstGeom>
          <a:noFill/>
        </p:spPr>
        <p:txBody>
          <a:bodyPr wrap="square" lIns="54864" tIns="54864" rIns="54864" bIns="54864" anchor="t"/>
          <a:lstStyle/>
          <a:p>
            <a:pPr marL="0" indent="0" algn="ctr">
              <a:spcAft>
                <a:spcPts val="400"/>
              </a:spcAft>
              <a:buNone/>
            </a:pPr>
            <a:r>
              <a:rPr sz="1100" b="0" i="1">
                <a:solidFill>
                  <a:srgbClr val="595959"/>
                </a:solidFill>
                <a:latin typeface="Arial"/>
              </a:rPr>
              <a:t>Bread, milk and butter icons  •  a pack of nappies  •  a case of beers</a:t>
            </a:r>
          </a:p>
        </p:txBody>
      </p:sp>
      <p:sp>
        <p:nvSpPr>
          <p:cNvPr id="8" name="Rounded Rectangle 7"/>
          <p:cNvSpPr/>
          <p:nvPr/>
        </p:nvSpPr>
        <p:spPr>
          <a:xfrm>
            <a:off x="1810512" y="3154680"/>
            <a:ext cx="6986015" cy="2148840"/>
          </a:xfrm>
          <a:prstGeom prst="roundRect">
            <a:avLst>
              <a:gd name="adj" fmla="val 3404"/>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Why these images? Market basket analysis</a:t>
            </a:r>
          </a:p>
          <a:p>
            <a:pPr marL="164592" indent="-146304" algn="l">
              <a:spcAft>
                <a:spcPts val="600"/>
              </a:spcAft>
              <a:buFont typeface="Arial"/>
              <a:buChar char="•"/>
            </a:pPr>
            <a:r>
              <a:rPr sz="1300" b="0" i="0">
                <a:solidFill>
                  <a:srgbClr val="262626"/>
                </a:solidFill>
                <a:latin typeface="Arial"/>
              </a:rPr>
              <a:t>Supermarkets analyse millions of till receipts to find products that are bought together.</a:t>
            </a:r>
          </a:p>
          <a:p>
            <a:pPr marL="164592" indent="-146304" algn="l">
              <a:spcAft>
                <a:spcPts val="600"/>
              </a:spcAft>
              <a:buFont typeface="Arial"/>
              <a:buChar char="•"/>
            </a:pPr>
            <a:r>
              <a:rPr sz="1300" b="0" i="0">
                <a:solidFill>
                  <a:srgbClr val="262626"/>
                </a:solidFill>
                <a:latin typeface="Arial"/>
              </a:rPr>
              <a:t>Bread, milk and butter illustrate an obvious pattern, written as an association rule: </a:t>
            </a:r>
            <a:r>
              <a:rPr sz="1300" b="1" i="0">
                <a:solidFill>
                  <a:srgbClr val="262626"/>
                </a:solidFill>
                <a:latin typeface="Arial"/>
              </a:rPr>
              <a:t>{bread, milk} ⇒ {butter}</a:t>
            </a:r>
          </a:p>
          <a:p>
            <a:pPr marL="164592" indent="-146304" algn="l">
              <a:spcAft>
                <a:spcPts val="600"/>
              </a:spcAft>
              <a:buFont typeface="Arial"/>
              <a:buChar char="•"/>
            </a:pPr>
            <a:r>
              <a:rPr sz="1300" b="0" i="0">
                <a:solidFill>
                  <a:srgbClr val="262626"/>
                </a:solidFill>
                <a:latin typeface="Arial"/>
              </a:rPr>
              <a:t>Nappies and beer refer to a famous retail story: an analysis supposedly found young fathers buying both in the evening. The story is partly legend, but it shows how data mining can reveal patterns nobody looked for.</a:t>
            </a:r>
          </a:p>
        </p:txBody>
      </p:sp>
      <p:sp>
        <p:nvSpPr>
          <p:cNvPr id="9" name="Rounded Rectangle 8"/>
          <p:cNvSpPr/>
          <p:nvPr/>
        </p:nvSpPr>
        <p:spPr>
          <a:xfrm>
            <a:off x="1810512" y="5486400"/>
            <a:ext cx="6986015" cy="822960"/>
          </a:xfrm>
          <a:prstGeom prst="roundRect">
            <a:avLst>
              <a:gd name="adj" fmla="val 8888"/>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FFFFFF"/>
                </a:solidFill>
                <a:latin typeface="Arial"/>
              </a:rPr>
              <a:t>LATER IN THE MODULE  </a:t>
            </a:r>
            <a:r>
              <a:rPr sz="1300" b="0" i="0">
                <a:solidFill>
                  <a:srgbClr val="FFFFFF"/>
                </a:solidFill>
                <a:latin typeface="Arial"/>
              </a:rPr>
              <a:t>Frequent patterns and association rules are the topic of Week 3; Python practice follows in Week 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Unpacking the definition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2218943" cy="1783080"/>
          </a:xfrm>
          <a:prstGeom prst="roundRect">
            <a:avLst>
              <a:gd name="adj" fmla="val 410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C00000"/>
                </a:solidFill>
                <a:latin typeface="Arial"/>
              </a:rPr>
              <a:t>Raw data → knowledge</a:t>
            </a:r>
          </a:p>
          <a:p>
            <a:pPr marL="0" indent="0" algn="l">
              <a:spcAft>
                <a:spcPts val="400"/>
              </a:spcAft>
              <a:buNone/>
            </a:pPr>
            <a:r>
              <a:rPr sz="1300" b="0" i="0">
                <a:solidFill>
                  <a:srgbClr val="262626"/>
                </a:solidFill>
                <a:latin typeface="Arial"/>
              </a:rPr>
              <a:t>Data alone is a cost (storage, security). Value appears when it supports a decision.</a:t>
            </a:r>
          </a:p>
        </p:txBody>
      </p:sp>
      <p:sp>
        <p:nvSpPr>
          <p:cNvPr id="5" name="Rounded Rectangle 4"/>
          <p:cNvSpPr/>
          <p:nvPr/>
        </p:nvSpPr>
        <p:spPr>
          <a:xfrm>
            <a:off x="4194047" y="1234440"/>
            <a:ext cx="2218943" cy="1783080"/>
          </a:xfrm>
          <a:prstGeom prst="roundRect">
            <a:avLst>
              <a:gd name="adj" fmla="val 410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C00000"/>
                </a:solidFill>
                <a:latin typeface="Arial"/>
              </a:rPr>
              <a:t>Patterns</a:t>
            </a:r>
          </a:p>
          <a:p>
            <a:pPr marL="0" indent="0" algn="l">
              <a:spcAft>
                <a:spcPts val="400"/>
              </a:spcAft>
              <a:buNone/>
            </a:pPr>
            <a:r>
              <a:rPr sz="1300" b="0" i="0">
                <a:solidFill>
                  <a:srgbClr val="262626"/>
                </a:solidFill>
                <a:latin typeface="Arial"/>
              </a:rPr>
              <a:t>Items that occur together, groups of similar cases, rules that predict an outcome.</a:t>
            </a:r>
          </a:p>
        </p:txBody>
      </p:sp>
      <p:sp>
        <p:nvSpPr>
          <p:cNvPr id="6" name="Rounded Rectangle 5"/>
          <p:cNvSpPr/>
          <p:nvPr/>
        </p:nvSpPr>
        <p:spPr>
          <a:xfrm>
            <a:off x="6577584" y="1234440"/>
            <a:ext cx="2218943" cy="1783080"/>
          </a:xfrm>
          <a:prstGeom prst="roundRect">
            <a:avLst>
              <a:gd name="adj" fmla="val 410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C00000"/>
                </a:solidFill>
                <a:latin typeface="Arial"/>
              </a:rPr>
              <a:t>Large batches</a:t>
            </a:r>
          </a:p>
          <a:p>
            <a:pPr marL="0" indent="0" algn="l">
              <a:spcAft>
                <a:spcPts val="400"/>
              </a:spcAft>
              <a:buNone/>
            </a:pPr>
            <a:r>
              <a:rPr sz="1300" b="0" i="0">
                <a:solidFill>
                  <a:srgbClr val="262626"/>
                </a:solidFill>
                <a:latin typeface="Arial"/>
              </a:rPr>
              <a:t>Far too much for any human to inspect, so we need algorithms.</a:t>
            </a:r>
          </a:p>
        </p:txBody>
      </p:sp>
      <p:sp>
        <p:nvSpPr>
          <p:cNvPr id="7" name="Rounded Rectangle 6"/>
          <p:cNvSpPr/>
          <p:nvPr/>
        </p:nvSpPr>
        <p:spPr>
          <a:xfrm>
            <a:off x="1810512" y="3200400"/>
            <a:ext cx="6986015" cy="1783080"/>
          </a:xfrm>
          <a:prstGeom prst="roundRect">
            <a:avLst>
              <a:gd name="adj" fmla="val 4102"/>
            </a:avLst>
          </a:prstGeom>
          <a:solidFill>
            <a:srgbClr val="FFFFFF"/>
          </a:solidFill>
          <a:ln w="15875">
            <a:solidFill>
              <a:srgbClr val="A6B8D6"/>
            </a:solid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t"/>
          <a:lstStyle/>
          <a:p>
            <a:pPr marL="0" indent="0" algn="l">
              <a:spcAft>
                <a:spcPts val="600"/>
              </a:spcAft>
              <a:buNone/>
            </a:pPr>
            <a:r>
              <a:rPr sz="1600" b="1" i="0">
                <a:solidFill>
                  <a:srgbClr val="1F3864"/>
                </a:solidFill>
                <a:latin typeface="Arial"/>
              </a:rPr>
              <a:t>Typical applications</a:t>
            </a:r>
          </a:p>
          <a:p>
            <a:pPr marL="164592" indent="-146304" algn="l">
              <a:spcAft>
                <a:spcPts val="400"/>
              </a:spcAft>
              <a:buFont typeface="Arial"/>
              <a:buChar char="•"/>
            </a:pPr>
            <a:r>
              <a:rPr sz="1300" b="1" i="0">
                <a:solidFill>
                  <a:srgbClr val="262626"/>
                </a:solidFill>
                <a:latin typeface="Arial"/>
              </a:rPr>
              <a:t>Retail: </a:t>
            </a:r>
            <a:r>
              <a:rPr sz="1300" b="0" i="0">
                <a:solidFill>
                  <a:srgbClr val="262626"/>
                </a:solidFill>
                <a:latin typeface="Arial"/>
              </a:rPr>
              <a:t>market basket analysis for store layout, promotions and stock planning</a:t>
            </a:r>
          </a:p>
          <a:p>
            <a:pPr marL="164592" indent="-146304" algn="l">
              <a:spcAft>
                <a:spcPts val="400"/>
              </a:spcAft>
              <a:buFont typeface="Arial"/>
              <a:buChar char="•"/>
            </a:pPr>
            <a:r>
              <a:rPr sz="1300" b="1" i="0">
                <a:solidFill>
                  <a:srgbClr val="262626"/>
                </a:solidFill>
                <a:latin typeface="Arial"/>
              </a:rPr>
              <a:t>Banking: </a:t>
            </a:r>
            <a:r>
              <a:rPr sz="1300" b="0" i="0">
                <a:solidFill>
                  <a:srgbClr val="262626"/>
                </a:solidFill>
                <a:latin typeface="Arial"/>
              </a:rPr>
              <a:t>detecting unusual, possibly fraudulent, transactions</a:t>
            </a:r>
          </a:p>
          <a:p>
            <a:pPr marL="164592" indent="-146304" algn="l">
              <a:spcAft>
                <a:spcPts val="400"/>
              </a:spcAft>
              <a:buFont typeface="Arial"/>
              <a:buChar char="•"/>
            </a:pPr>
            <a:r>
              <a:rPr sz="1300" b="1" i="0">
                <a:solidFill>
                  <a:srgbClr val="262626"/>
                </a:solidFill>
                <a:latin typeface="Arial"/>
              </a:rPr>
              <a:t>Healthcare, streaming, manufacturing: </a:t>
            </a:r>
            <a:r>
              <a:rPr sz="1300" b="0" i="0">
                <a:solidFill>
                  <a:srgbClr val="262626"/>
                </a:solidFill>
                <a:latin typeface="Arial"/>
              </a:rPr>
              <a:t>diagnosis support, recommendations, predictive maintenance</a:t>
            </a:r>
          </a:p>
        </p:txBody>
      </p:sp>
      <p:sp>
        <p:nvSpPr>
          <p:cNvPr id="8" name="Rounded Rectangle 7"/>
          <p:cNvSpPr/>
          <p:nvPr/>
        </p:nvSpPr>
        <p:spPr>
          <a:xfrm>
            <a:off x="1810512" y="5212080"/>
            <a:ext cx="6986015" cy="777240"/>
          </a:xfrm>
          <a:prstGeom prst="roundRect">
            <a:avLst>
              <a:gd name="adj" fmla="val 9411"/>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REFLECT  </a:t>
            </a:r>
            <a:r>
              <a:rPr sz="1400" b="0" i="0">
                <a:solidFill>
                  <a:srgbClr val="262626"/>
                </a:solidFill>
                <a:latin typeface="Arial"/>
              </a:rPr>
              <a:t>Which apps or services that you use every day rely on finding patterns in data?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Aim of Data Mining</a:t>
            </a:r>
          </a:p>
        </p:txBody>
      </p:sp>
      <p:sp>
        <p:nvSpPr>
          <p:cNvPr id="3" name="Content Placeholder 2"/>
          <p:cNvSpPr>
            <a:spLocks noGrp="1"/>
          </p:cNvSpPr>
          <p:nvPr>
            <p:ph idx="1"/>
          </p:nvPr>
        </p:nvSpPr>
        <p:spPr/>
        <p:txBody>
          <a:bodyPr/>
          <a:lstStyle/>
          <a:p>
            <a:endParaRPr lang="en-GB" dirty="0"/>
          </a:p>
        </p:txBody>
      </p:sp>
      <p:pic>
        <p:nvPicPr>
          <p:cNvPr id="2050" name="Picture 2" descr="Data Mining and Soft Computing. Francisco Herrera - PDF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7391400" cy="553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228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rich data, poor information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jpeg"/>
          <p:cNvPicPr>
            <a:picLocks noChangeAspect="1"/>
          </p:cNvPicPr>
          <p:nvPr/>
        </p:nvPicPr>
        <p:blipFill>
          <a:blip r:embed="rId2"/>
          <a:stretch>
            <a:fillRect/>
          </a:stretch>
        </p:blipFill>
        <p:spPr>
          <a:xfrm>
            <a:off x="1810512" y="1270492"/>
            <a:ext cx="3383280" cy="2533935"/>
          </a:xfrm>
          <a:prstGeom prst="rect">
            <a:avLst/>
          </a:prstGeom>
          <a:ln w="9525">
            <a:solidFill>
              <a:srgbClr val="A6B8D6"/>
            </a:solidFill>
          </a:ln>
        </p:spPr>
      </p:pic>
      <p:sp>
        <p:nvSpPr>
          <p:cNvPr id="5" name="Rounded Rectangle 4"/>
          <p:cNvSpPr/>
          <p:nvPr/>
        </p:nvSpPr>
        <p:spPr>
          <a:xfrm>
            <a:off x="5376672" y="1234440"/>
            <a:ext cx="3419855" cy="2606040"/>
          </a:xfrm>
          <a:prstGeom prst="roundRect">
            <a:avLst>
              <a:gd name="adj" fmla="val 280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Reading the cartoon</a:t>
            </a:r>
          </a:p>
          <a:p>
            <a:pPr marL="164592" indent="-146304" algn="l">
              <a:spcAft>
                <a:spcPts val="600"/>
              </a:spcAft>
              <a:buFont typeface="Arial"/>
              <a:buChar char="•"/>
            </a:pPr>
            <a:r>
              <a:rPr sz="1200" b="0" i="0">
                <a:solidFill>
                  <a:srgbClr val="262626"/>
                </a:solidFill>
                <a:latin typeface="Arial"/>
              </a:rPr>
              <a:t>Left: a person surrounded by stacks of data asks “How can I analyse this data?”</a:t>
            </a:r>
          </a:p>
          <a:p>
            <a:pPr marL="164592" indent="-146304" algn="l">
              <a:spcAft>
                <a:spcPts val="600"/>
              </a:spcAft>
              <a:buFont typeface="Arial"/>
              <a:buChar char="•"/>
            </a:pPr>
            <a:r>
              <a:rPr sz="1200" b="0" i="0">
                <a:solidFill>
                  <a:srgbClr val="262626"/>
                </a:solidFill>
                <a:latin typeface="Arial"/>
              </a:rPr>
              <a:t>Right: after mining, the data yield a small cart labelled “knowledge”.</a:t>
            </a:r>
          </a:p>
          <a:p>
            <a:pPr marL="164592" indent="-146304" algn="l">
              <a:spcAft>
                <a:spcPts val="600"/>
              </a:spcAft>
              <a:buFont typeface="Arial"/>
              <a:buChar char="•"/>
            </a:pPr>
            <a:r>
              <a:rPr sz="1200" b="0" i="0">
                <a:solidFill>
                  <a:srgbClr val="262626"/>
                </a:solidFill>
                <a:latin typeface="Arial"/>
              </a:rPr>
              <a:t>The arrow between them is the data mining process.</a:t>
            </a:r>
          </a:p>
        </p:txBody>
      </p:sp>
      <p:sp>
        <p:nvSpPr>
          <p:cNvPr id="6" name="Rounded Rectangle 5"/>
          <p:cNvSpPr/>
          <p:nvPr/>
        </p:nvSpPr>
        <p:spPr>
          <a:xfrm>
            <a:off x="1810512" y="4023360"/>
            <a:ext cx="6986015" cy="1417320"/>
          </a:xfrm>
          <a:prstGeom prst="roundRect">
            <a:avLst>
              <a:gd name="adj" fmla="val 516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message</a:t>
            </a:r>
          </a:p>
          <a:p>
            <a:pPr marL="0" indent="0" algn="l">
              <a:spcAft>
                <a:spcPts val="600"/>
              </a:spcAft>
              <a:buNone/>
            </a:pPr>
            <a:r>
              <a:rPr sz="1300" b="0" i="0">
                <a:solidFill>
                  <a:srgbClr val="262626"/>
                </a:solidFill>
                <a:latin typeface="Arial"/>
              </a:rPr>
              <a:t>“We have rich data, but poor information.” Organisations collect far more data than they analyse; data mining searches for the interesting patterns that turn data into knowledge.</a:t>
            </a:r>
          </a:p>
        </p:txBody>
      </p:sp>
      <p:sp>
        <p:nvSpPr>
          <p:cNvPr id="7" name="Rounded Rectangle 6"/>
          <p:cNvSpPr/>
          <p:nvPr/>
        </p:nvSpPr>
        <p:spPr>
          <a:xfrm>
            <a:off x="1810512" y="5623559"/>
            <a:ext cx="6986015" cy="685800"/>
          </a:xfrm>
          <a:prstGeom prst="roundRect">
            <a:avLst>
              <a:gd name="adj" fmla="val 10666"/>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NOTE  </a:t>
            </a:r>
            <a:r>
              <a:rPr sz="1300" b="0" i="0">
                <a:solidFill>
                  <a:srgbClr val="262626"/>
                </a:solidFill>
                <a:latin typeface="Arial"/>
              </a:rPr>
              <a:t>Only a small amount of knowledge comes out of a large amount of data, as the cart shows.</a:t>
            </a:r>
          </a:p>
        </p:txBody>
      </p:sp>
      <p:sp>
        <p:nvSpPr>
          <p:cNvPr id="8" name="TextBox 7"/>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Figure source: Han and Kamber (2006), Data Mining: Concepts and Techniques, 2nd edn (citation printed on the image).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What makes a pattern interesting?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822960"/>
          </a:xfrm>
          <a:prstGeom prst="roundRect">
            <a:avLst>
              <a:gd name="adj" fmla="val 8888"/>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DATA RICH, INFORMATION POOR  </a:t>
            </a:r>
            <a:r>
              <a:rPr sz="1400" b="0" i="0">
                <a:solidFill>
                  <a:srgbClr val="FFFFFF"/>
                </a:solidFill>
                <a:latin typeface="Arial"/>
              </a:rPr>
              <a:t>Banks, hospitals and phone operators collect data every second; most of it is never analysed.</a:t>
            </a:r>
          </a:p>
        </p:txBody>
      </p:sp>
      <p:sp>
        <p:nvSpPr>
          <p:cNvPr id="5" name="TextBox 4"/>
          <p:cNvSpPr txBox="1"/>
          <p:nvPr/>
        </p:nvSpPr>
        <p:spPr>
          <a:xfrm>
            <a:off x="1810512" y="2240280"/>
            <a:ext cx="6986015" cy="365760"/>
          </a:xfrm>
          <a:prstGeom prst="rect">
            <a:avLst/>
          </a:prstGeom>
          <a:noFill/>
        </p:spPr>
        <p:txBody>
          <a:bodyPr wrap="square" lIns="54864" tIns="54864" rIns="54864" bIns="54864" anchor="t"/>
          <a:lstStyle/>
          <a:p>
            <a:pPr marL="0" indent="0" algn="l">
              <a:spcAft>
                <a:spcPts val="400"/>
              </a:spcAft>
              <a:buNone/>
            </a:pPr>
            <a:r>
              <a:rPr sz="1700" b="1" i="0">
                <a:solidFill>
                  <a:srgbClr val="1F3864"/>
                </a:solidFill>
                <a:latin typeface="Arial"/>
              </a:rPr>
              <a:t>An interesting pattern is…</a:t>
            </a:r>
          </a:p>
        </p:txBody>
      </p:sp>
      <p:sp>
        <p:nvSpPr>
          <p:cNvPr id="6" name="Rounded Rectangle 5"/>
          <p:cNvSpPr/>
          <p:nvPr/>
        </p:nvSpPr>
        <p:spPr>
          <a:xfrm>
            <a:off x="1810512" y="2743200"/>
            <a:ext cx="3410711"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Valid</a:t>
            </a:r>
          </a:p>
          <a:p>
            <a:pPr marL="0" indent="0" algn="l">
              <a:spcAft>
                <a:spcPts val="400"/>
              </a:spcAft>
              <a:buNone/>
            </a:pPr>
            <a:r>
              <a:rPr sz="1400" b="0" i="0">
                <a:solidFill>
                  <a:srgbClr val="262626"/>
                </a:solidFill>
                <a:latin typeface="Arial"/>
              </a:rPr>
              <a:t>It still holds on new data.</a:t>
            </a:r>
          </a:p>
        </p:txBody>
      </p:sp>
      <p:sp>
        <p:nvSpPr>
          <p:cNvPr id="7" name="Rounded Rectangle 6"/>
          <p:cNvSpPr/>
          <p:nvPr/>
        </p:nvSpPr>
        <p:spPr>
          <a:xfrm>
            <a:off x="5385816" y="2743200"/>
            <a:ext cx="3410711"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Novel</a:t>
            </a:r>
          </a:p>
          <a:p>
            <a:pPr marL="0" indent="0" algn="l">
              <a:spcAft>
                <a:spcPts val="400"/>
              </a:spcAft>
              <a:buNone/>
            </a:pPr>
            <a:r>
              <a:rPr sz="1400" b="0" i="0">
                <a:solidFill>
                  <a:srgbClr val="262626"/>
                </a:solidFill>
                <a:latin typeface="Arial"/>
              </a:rPr>
              <a:t>It is not already known.</a:t>
            </a:r>
          </a:p>
        </p:txBody>
      </p:sp>
      <p:sp>
        <p:nvSpPr>
          <p:cNvPr id="8" name="Rounded Rectangle 7"/>
          <p:cNvSpPr/>
          <p:nvPr/>
        </p:nvSpPr>
        <p:spPr>
          <a:xfrm>
            <a:off x="1810512" y="3840480"/>
            <a:ext cx="3410711"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Useful</a:t>
            </a:r>
          </a:p>
          <a:p>
            <a:pPr marL="0" indent="0" algn="l">
              <a:spcAft>
                <a:spcPts val="400"/>
              </a:spcAft>
              <a:buNone/>
            </a:pPr>
            <a:r>
              <a:rPr sz="1400" b="0" i="0">
                <a:solidFill>
                  <a:srgbClr val="262626"/>
                </a:solidFill>
                <a:latin typeface="Arial"/>
              </a:rPr>
              <a:t>It can support an action or decision.</a:t>
            </a:r>
          </a:p>
        </p:txBody>
      </p:sp>
      <p:sp>
        <p:nvSpPr>
          <p:cNvPr id="9" name="Rounded Rectangle 8"/>
          <p:cNvSpPr/>
          <p:nvPr/>
        </p:nvSpPr>
        <p:spPr>
          <a:xfrm>
            <a:off x="5385816" y="3840480"/>
            <a:ext cx="3410711"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Understandable</a:t>
            </a:r>
          </a:p>
          <a:p>
            <a:pPr marL="0" indent="0" algn="l">
              <a:spcAft>
                <a:spcPts val="400"/>
              </a:spcAft>
              <a:buNone/>
            </a:pPr>
            <a:r>
              <a:rPr sz="1400" b="0" i="0">
                <a:solidFill>
                  <a:srgbClr val="262626"/>
                </a:solidFill>
                <a:latin typeface="Arial"/>
              </a:rPr>
              <a:t>People can interpret it.</a:t>
            </a:r>
          </a:p>
        </p:txBody>
      </p:sp>
      <p:sp>
        <p:nvSpPr>
          <p:cNvPr id="10" name="Rounded Rectangle 9"/>
          <p:cNvSpPr/>
          <p:nvPr/>
        </p:nvSpPr>
        <p:spPr>
          <a:xfrm>
            <a:off x="1810512" y="5074920"/>
            <a:ext cx="6986015" cy="822960"/>
          </a:xfrm>
          <a:prstGeom prst="roundRect">
            <a:avLst>
              <a:gd name="adj" fmla="val 8888"/>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EXAMPLE  </a:t>
            </a:r>
            <a:r>
              <a:rPr sz="1400" b="0" i="0">
                <a:solidFill>
                  <a:srgbClr val="262626"/>
                </a:solidFill>
                <a:latin typeface="Arial"/>
              </a:rPr>
              <a:t>“Buyers of a left shoe also buy a right shoe” is true, but not interesting.</a:t>
            </a:r>
          </a:p>
        </p:txBody>
      </p:sp>
      <p:sp>
        <p:nvSpPr>
          <p:cNvPr id="11" name="TextBox 10"/>
          <p:cNvSpPr txBox="1"/>
          <p:nvPr/>
        </p:nvSpPr>
        <p:spPr>
          <a:xfrm>
            <a:off x="1810512" y="59893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 criteria from Fayyad, Piatetsky-Shapiro and Smyth (1996); Han and Kamber (2006).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important step of knowledge discovery</a:t>
            </a:r>
          </a:p>
        </p:txBody>
      </p:sp>
      <p:pic>
        <p:nvPicPr>
          <p:cNvPr id="3076" name="Picture 4" descr="Data Mining and Knowledge Discovery Database(Kdd Process) - DataFla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8153884"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EF930450-540E-4644-9517-3DEB4D88DA82}"/>
              </a:ext>
            </a:extLst>
          </p:cNvPr>
          <p:cNvSpPr/>
          <p:nvPr/>
        </p:nvSpPr>
        <p:spPr>
          <a:xfrm>
            <a:off x="7696200" y="1524000"/>
            <a:ext cx="1447800" cy="1447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833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the KDD process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2901035" y="1234440"/>
            <a:ext cx="4804968" cy="2514600"/>
          </a:xfrm>
          <a:prstGeom prst="rect">
            <a:avLst/>
          </a:prstGeom>
          <a:ln w="9525">
            <a:solidFill>
              <a:srgbClr val="A6B8D6"/>
            </a:solidFill>
          </a:ln>
        </p:spPr>
      </p:pic>
      <p:sp>
        <p:nvSpPr>
          <p:cNvPr id="5" name="Rounded Rectangle 4"/>
          <p:cNvSpPr/>
          <p:nvPr/>
        </p:nvSpPr>
        <p:spPr>
          <a:xfrm>
            <a:off x="1810512" y="3931920"/>
            <a:ext cx="6986015" cy="2377440"/>
          </a:xfrm>
          <a:prstGeom prst="roundRect">
            <a:avLst>
              <a:gd name="adj" fmla="val 307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Reading the figure</a:t>
            </a:r>
          </a:p>
          <a:p>
            <a:pPr marL="164592" indent="-146304" algn="l">
              <a:spcAft>
                <a:spcPts val="600"/>
              </a:spcAft>
              <a:buFont typeface="Arial"/>
              <a:buChar char="•"/>
            </a:pPr>
            <a:r>
              <a:rPr sz="1300" b="0" i="0">
                <a:solidFill>
                  <a:srgbClr val="262626"/>
                </a:solidFill>
                <a:latin typeface="Arial"/>
              </a:rPr>
              <a:t>Read it as a staircase from bottom left (raw data) to top right (knowledge).</a:t>
            </a:r>
          </a:p>
          <a:p>
            <a:pPr marL="164592" indent="-146304" algn="l">
              <a:spcAft>
                <a:spcPts val="600"/>
              </a:spcAft>
              <a:buFont typeface="Arial"/>
              <a:buChar char="•"/>
            </a:pPr>
            <a:r>
              <a:rPr sz="1300" b="0" i="0">
                <a:solidFill>
                  <a:srgbClr val="262626"/>
                </a:solidFill>
                <a:latin typeface="Arial"/>
              </a:rPr>
              <a:t>Each labelled step (selection, preprocessing, transformation, data mining, interpretation/evaluation) produces a new version of the data: target data, preprocessed data, transformed data, patterns.</a:t>
            </a:r>
          </a:p>
          <a:p>
            <a:pPr marL="164592" indent="-146304" algn="l">
              <a:spcAft>
                <a:spcPts val="600"/>
              </a:spcAft>
              <a:buFont typeface="Arial"/>
              <a:buChar char="•"/>
            </a:pPr>
            <a:r>
              <a:rPr sz="1300" b="0" i="0">
                <a:solidFill>
                  <a:srgbClr val="262626"/>
                </a:solidFill>
                <a:latin typeface="Arial"/>
              </a:rPr>
              <a:t>The dotted lines along the bottom show that you can return to any earlier step: the process is iterative.</a:t>
            </a:r>
          </a:p>
          <a:p>
            <a:pPr marL="164592" indent="-146304" algn="l">
              <a:spcAft>
                <a:spcPts val="600"/>
              </a:spcAft>
              <a:buFont typeface="Arial"/>
              <a:buChar char="•"/>
            </a:pPr>
            <a:r>
              <a:rPr sz="1300" b="0" i="0">
                <a:solidFill>
                  <a:srgbClr val="262626"/>
                </a:solidFill>
                <a:latin typeface="Arial"/>
              </a:rPr>
              <a:t>The red circle on the original slide highlights the goal of the whole process: knowledge.</a:t>
            </a:r>
          </a:p>
        </p:txBody>
      </p:sp>
      <p:sp>
        <p:nvSpPr>
          <p:cNvPr id="6" name="TextBox 5"/>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Figure source: DataFlair illustration of the KDD process described by Fayyad, Piatetsky-Shapiro and Smyth (1996).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five steps of KDD</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Oval 3"/>
          <p:cNvSpPr/>
          <p:nvPr/>
        </p:nvSpPr>
        <p:spPr>
          <a:xfrm>
            <a:off x="1810512" y="1344168"/>
            <a:ext cx="457200" cy="457200"/>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Aft>
                <a:spcPts val="400"/>
              </a:spcAft>
              <a:buNone/>
            </a:pPr>
            <a:r>
              <a:rPr sz="1400" b="1" i="0">
                <a:solidFill>
                  <a:srgbClr val="FFFFFF"/>
                </a:solidFill>
                <a:latin typeface="Arial"/>
              </a:rPr>
              <a:t>1</a:t>
            </a:r>
          </a:p>
        </p:txBody>
      </p:sp>
      <p:sp>
        <p:nvSpPr>
          <p:cNvPr id="5" name="TextBox 4"/>
          <p:cNvSpPr txBox="1"/>
          <p:nvPr/>
        </p:nvSpPr>
        <p:spPr>
          <a:xfrm>
            <a:off x="2377440" y="1234440"/>
            <a:ext cx="3776472" cy="914400"/>
          </a:xfrm>
          <a:prstGeom prst="rect">
            <a:avLst/>
          </a:prstGeom>
          <a:noFill/>
        </p:spPr>
        <p:txBody>
          <a:bodyPr wrap="square" lIns="54864" tIns="54864" rIns="54864" bIns="54864" anchor="t"/>
          <a:lstStyle/>
          <a:p>
            <a:pPr marL="0" indent="0" algn="l">
              <a:spcAft>
                <a:spcPts val="100"/>
              </a:spcAft>
              <a:buNone/>
            </a:pPr>
            <a:r>
              <a:rPr sz="1500" b="1" i="0">
                <a:solidFill>
                  <a:srgbClr val="1F3864"/>
                </a:solidFill>
                <a:latin typeface="Arial"/>
              </a:rPr>
              <a:t>Selection</a:t>
            </a:r>
          </a:p>
          <a:p>
            <a:pPr marL="0" indent="0" algn="l">
              <a:spcAft>
                <a:spcPts val="400"/>
              </a:spcAft>
              <a:buNone/>
            </a:pPr>
            <a:r>
              <a:rPr sz="1200" b="0" i="0">
                <a:solidFill>
                  <a:srgbClr val="262626"/>
                </a:solidFill>
                <a:latin typeface="Arial"/>
              </a:rPr>
              <a:t>Choose the relevant data, e.g. for customer churn: billing and complaints, not network logs.</a:t>
            </a:r>
          </a:p>
        </p:txBody>
      </p:sp>
      <p:sp>
        <p:nvSpPr>
          <p:cNvPr id="6" name="Oval 5"/>
          <p:cNvSpPr/>
          <p:nvPr/>
        </p:nvSpPr>
        <p:spPr>
          <a:xfrm>
            <a:off x="1810512" y="2331720"/>
            <a:ext cx="457200" cy="457200"/>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Aft>
                <a:spcPts val="400"/>
              </a:spcAft>
              <a:buNone/>
            </a:pPr>
            <a:r>
              <a:rPr sz="1400" b="1" i="0">
                <a:solidFill>
                  <a:srgbClr val="FFFFFF"/>
                </a:solidFill>
                <a:latin typeface="Arial"/>
              </a:rPr>
              <a:t>2</a:t>
            </a:r>
          </a:p>
        </p:txBody>
      </p:sp>
      <p:sp>
        <p:nvSpPr>
          <p:cNvPr id="7" name="TextBox 6"/>
          <p:cNvSpPr txBox="1"/>
          <p:nvPr/>
        </p:nvSpPr>
        <p:spPr>
          <a:xfrm>
            <a:off x="2377440" y="2221992"/>
            <a:ext cx="3776472" cy="914400"/>
          </a:xfrm>
          <a:prstGeom prst="rect">
            <a:avLst/>
          </a:prstGeom>
          <a:noFill/>
        </p:spPr>
        <p:txBody>
          <a:bodyPr wrap="square" lIns="54864" tIns="54864" rIns="54864" bIns="54864" anchor="t"/>
          <a:lstStyle/>
          <a:p>
            <a:pPr marL="0" indent="0" algn="l">
              <a:spcAft>
                <a:spcPts val="100"/>
              </a:spcAft>
              <a:buNone/>
            </a:pPr>
            <a:r>
              <a:rPr sz="1500" b="1" i="0">
                <a:solidFill>
                  <a:srgbClr val="1F3864"/>
                </a:solidFill>
                <a:latin typeface="Arial"/>
              </a:rPr>
              <a:t>Pre-processing</a:t>
            </a:r>
          </a:p>
          <a:p>
            <a:pPr marL="0" indent="0" algn="l">
              <a:spcAft>
                <a:spcPts val="400"/>
              </a:spcAft>
              <a:buNone/>
            </a:pPr>
            <a:r>
              <a:rPr sz="1200" b="0" i="0">
                <a:solidFill>
                  <a:srgbClr val="262626"/>
                </a:solidFill>
                <a:latin typeface="Arial"/>
              </a:rPr>
              <a:t>Fix missing values, duplicates, typos, outliers, formats (Week 2).</a:t>
            </a:r>
          </a:p>
        </p:txBody>
      </p:sp>
      <p:sp>
        <p:nvSpPr>
          <p:cNvPr id="8" name="Oval 7"/>
          <p:cNvSpPr/>
          <p:nvPr/>
        </p:nvSpPr>
        <p:spPr>
          <a:xfrm>
            <a:off x="1810512" y="3319272"/>
            <a:ext cx="457200" cy="457200"/>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Aft>
                <a:spcPts val="400"/>
              </a:spcAft>
              <a:buNone/>
            </a:pPr>
            <a:r>
              <a:rPr sz="1400" b="1" i="0">
                <a:solidFill>
                  <a:srgbClr val="FFFFFF"/>
                </a:solidFill>
                <a:latin typeface="Arial"/>
              </a:rPr>
              <a:t>3</a:t>
            </a:r>
          </a:p>
        </p:txBody>
      </p:sp>
      <p:sp>
        <p:nvSpPr>
          <p:cNvPr id="9" name="TextBox 8"/>
          <p:cNvSpPr txBox="1"/>
          <p:nvPr/>
        </p:nvSpPr>
        <p:spPr>
          <a:xfrm>
            <a:off x="2377440" y="3209544"/>
            <a:ext cx="3776472" cy="914400"/>
          </a:xfrm>
          <a:prstGeom prst="rect">
            <a:avLst/>
          </a:prstGeom>
          <a:noFill/>
        </p:spPr>
        <p:txBody>
          <a:bodyPr wrap="square" lIns="54864" tIns="54864" rIns="54864" bIns="54864" anchor="t"/>
          <a:lstStyle/>
          <a:p>
            <a:pPr marL="0" indent="0" algn="l">
              <a:spcAft>
                <a:spcPts val="100"/>
              </a:spcAft>
              <a:buNone/>
            </a:pPr>
            <a:r>
              <a:rPr sz="1500" b="1" i="0">
                <a:solidFill>
                  <a:srgbClr val="1F3864"/>
                </a:solidFill>
                <a:latin typeface="Arial"/>
              </a:rPr>
              <a:t>Transformation</a:t>
            </a:r>
          </a:p>
          <a:p>
            <a:pPr marL="0" indent="0" algn="l">
              <a:spcAft>
                <a:spcPts val="400"/>
              </a:spcAft>
              <a:buNone/>
            </a:pPr>
            <a:r>
              <a:rPr sz="1200" b="0" i="0">
                <a:solidFill>
                  <a:srgbClr val="262626"/>
                </a:solidFill>
                <a:latin typeface="Arial"/>
              </a:rPr>
              <a:t>Normalise, encode categories, create features, reduce dimensions.</a:t>
            </a:r>
          </a:p>
        </p:txBody>
      </p:sp>
      <p:sp>
        <p:nvSpPr>
          <p:cNvPr id="10" name="Oval 9"/>
          <p:cNvSpPr/>
          <p:nvPr/>
        </p:nvSpPr>
        <p:spPr>
          <a:xfrm>
            <a:off x="1810512" y="4306824"/>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Aft>
                <a:spcPts val="400"/>
              </a:spcAft>
              <a:buNone/>
            </a:pPr>
            <a:r>
              <a:rPr sz="1400" b="1" i="0">
                <a:solidFill>
                  <a:srgbClr val="FFFFFF"/>
                </a:solidFill>
                <a:latin typeface="Arial"/>
              </a:rPr>
              <a:t>4</a:t>
            </a:r>
          </a:p>
        </p:txBody>
      </p:sp>
      <p:sp>
        <p:nvSpPr>
          <p:cNvPr id="11" name="TextBox 10"/>
          <p:cNvSpPr txBox="1"/>
          <p:nvPr/>
        </p:nvSpPr>
        <p:spPr>
          <a:xfrm>
            <a:off x="2377440" y="4197096"/>
            <a:ext cx="3776472" cy="914400"/>
          </a:xfrm>
          <a:prstGeom prst="rect">
            <a:avLst/>
          </a:prstGeom>
          <a:noFill/>
        </p:spPr>
        <p:txBody>
          <a:bodyPr wrap="square" lIns="54864" tIns="54864" rIns="54864" bIns="54864" anchor="t"/>
          <a:lstStyle/>
          <a:p>
            <a:pPr marL="0" indent="0" algn="l">
              <a:spcAft>
                <a:spcPts val="100"/>
              </a:spcAft>
              <a:buNone/>
            </a:pPr>
            <a:r>
              <a:rPr sz="1500" b="1" i="0">
                <a:solidFill>
                  <a:srgbClr val="1F3864"/>
                </a:solidFill>
                <a:latin typeface="Arial"/>
              </a:rPr>
              <a:t>Data mining</a:t>
            </a:r>
          </a:p>
          <a:p>
            <a:pPr marL="0" indent="0" algn="l">
              <a:spcAft>
                <a:spcPts val="400"/>
              </a:spcAft>
              <a:buNone/>
            </a:pPr>
            <a:r>
              <a:rPr sz="1200" b="0" i="0">
                <a:solidFill>
                  <a:srgbClr val="262626"/>
                </a:solidFill>
                <a:latin typeface="Arial"/>
              </a:rPr>
              <a:t>Apply the algorithm: classification, clustering, association rules.</a:t>
            </a:r>
          </a:p>
        </p:txBody>
      </p:sp>
      <p:sp>
        <p:nvSpPr>
          <p:cNvPr id="12" name="Oval 11"/>
          <p:cNvSpPr/>
          <p:nvPr/>
        </p:nvSpPr>
        <p:spPr>
          <a:xfrm>
            <a:off x="1810512" y="5294376"/>
            <a:ext cx="457200" cy="457200"/>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Aft>
                <a:spcPts val="400"/>
              </a:spcAft>
              <a:buNone/>
            </a:pPr>
            <a:r>
              <a:rPr sz="1400" b="1" i="0">
                <a:solidFill>
                  <a:srgbClr val="FFFFFF"/>
                </a:solidFill>
                <a:latin typeface="Arial"/>
              </a:rPr>
              <a:t>5</a:t>
            </a:r>
          </a:p>
        </p:txBody>
      </p:sp>
      <p:sp>
        <p:nvSpPr>
          <p:cNvPr id="13" name="TextBox 12"/>
          <p:cNvSpPr txBox="1"/>
          <p:nvPr/>
        </p:nvSpPr>
        <p:spPr>
          <a:xfrm>
            <a:off x="2377440" y="5184648"/>
            <a:ext cx="3776472" cy="914400"/>
          </a:xfrm>
          <a:prstGeom prst="rect">
            <a:avLst/>
          </a:prstGeom>
          <a:noFill/>
        </p:spPr>
        <p:txBody>
          <a:bodyPr wrap="square" lIns="54864" tIns="54864" rIns="54864" bIns="54864" anchor="t"/>
          <a:lstStyle/>
          <a:p>
            <a:pPr marL="0" indent="0" algn="l">
              <a:spcAft>
                <a:spcPts val="100"/>
              </a:spcAft>
              <a:buNone/>
            </a:pPr>
            <a:r>
              <a:rPr sz="1500" b="1" i="0">
                <a:solidFill>
                  <a:srgbClr val="1F3864"/>
                </a:solidFill>
                <a:latin typeface="Arial"/>
              </a:rPr>
              <a:t>Interpretation</a:t>
            </a:r>
          </a:p>
          <a:p>
            <a:pPr marL="0" indent="0" algn="l">
              <a:spcAft>
                <a:spcPts val="400"/>
              </a:spcAft>
              <a:buNone/>
            </a:pPr>
            <a:r>
              <a:rPr sz="1200" b="0" i="0">
                <a:solidFill>
                  <a:srgbClr val="262626"/>
                </a:solidFill>
                <a:latin typeface="Arial"/>
              </a:rPr>
              <a:t>Are the patterns valid and useful? Turn them into actionable knowledge.</a:t>
            </a:r>
          </a:p>
        </p:txBody>
      </p:sp>
      <p:sp>
        <p:nvSpPr>
          <p:cNvPr id="14" name="Rounded Rectangle 13"/>
          <p:cNvSpPr/>
          <p:nvPr/>
        </p:nvSpPr>
        <p:spPr>
          <a:xfrm>
            <a:off x="6336792" y="1234440"/>
            <a:ext cx="2459735" cy="18288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200"/>
              </a:spcAft>
              <a:buNone/>
            </a:pPr>
            <a:r>
              <a:rPr sz="3000" b="1" i="0" dirty="0">
                <a:solidFill>
                  <a:srgbClr val="FFFFFF"/>
                </a:solidFill>
                <a:latin typeface="Arial"/>
              </a:rPr>
              <a:t>60</a:t>
            </a:r>
            <a:r>
              <a:rPr lang="en-GB" sz="3000" b="1" i="0" dirty="0">
                <a:solidFill>
                  <a:srgbClr val="FFFFFF"/>
                </a:solidFill>
                <a:latin typeface="Arial"/>
              </a:rPr>
              <a:t>-</a:t>
            </a:r>
            <a:r>
              <a:rPr sz="3000" b="1" i="0" dirty="0">
                <a:solidFill>
                  <a:srgbClr val="FFFFFF"/>
                </a:solidFill>
                <a:latin typeface="Arial"/>
              </a:rPr>
              <a:t>80%</a:t>
            </a:r>
          </a:p>
          <a:p>
            <a:pPr marL="0" indent="0" algn="ctr">
              <a:spcAft>
                <a:spcPts val="400"/>
              </a:spcAft>
              <a:buNone/>
            </a:pPr>
            <a:r>
              <a:rPr sz="1300" b="0" i="0" dirty="0">
                <a:solidFill>
                  <a:srgbClr val="FFFFFF"/>
                </a:solidFill>
                <a:latin typeface="Arial"/>
              </a:rPr>
              <a:t>of a data scientist’s time is often spent on steps 1</a:t>
            </a:r>
            <a:r>
              <a:rPr lang="en-GB" sz="1300" b="0" i="0" dirty="0">
                <a:solidFill>
                  <a:srgbClr val="FFFFFF"/>
                </a:solidFill>
                <a:latin typeface="Arial"/>
              </a:rPr>
              <a:t>-</a:t>
            </a:r>
            <a:r>
              <a:rPr sz="1300" b="0" i="0" dirty="0">
                <a:solidFill>
                  <a:srgbClr val="FFFFFF"/>
                </a:solidFill>
                <a:latin typeface="Arial"/>
              </a:rPr>
              <a:t>3</a:t>
            </a:r>
          </a:p>
        </p:txBody>
      </p:sp>
      <p:sp>
        <p:nvSpPr>
          <p:cNvPr id="15" name="Rounded Rectangle 14"/>
          <p:cNvSpPr/>
          <p:nvPr/>
        </p:nvSpPr>
        <p:spPr>
          <a:xfrm>
            <a:off x="6336792" y="3200400"/>
            <a:ext cx="2459735"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Garbage in, garbage out</a:t>
            </a:r>
          </a:p>
          <a:p>
            <a:pPr marL="0" indent="0" algn="l">
              <a:spcAft>
                <a:spcPts val="400"/>
              </a:spcAft>
              <a:buNone/>
            </a:pPr>
            <a:r>
              <a:rPr sz="1200" b="0" i="0">
                <a:solidFill>
                  <a:srgbClr val="262626"/>
                </a:solidFill>
                <a:latin typeface="Arial"/>
              </a:rPr>
              <a:t>Bad data gives bad models.</a:t>
            </a:r>
          </a:p>
        </p:txBody>
      </p:sp>
      <p:sp>
        <p:nvSpPr>
          <p:cNvPr id="16" name="Rounded Rectangle 15"/>
          <p:cNvSpPr/>
          <p:nvPr/>
        </p:nvSpPr>
        <p:spPr>
          <a:xfrm>
            <a:off x="6336792" y="4297680"/>
            <a:ext cx="2459735"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Iterative</a:t>
            </a:r>
          </a:p>
          <a:p>
            <a:pPr marL="0" indent="0" algn="l">
              <a:spcAft>
                <a:spcPts val="400"/>
              </a:spcAft>
              <a:buNone/>
            </a:pPr>
            <a:r>
              <a:rPr sz="1200" b="0" i="0">
                <a:solidFill>
                  <a:srgbClr val="262626"/>
                </a:solidFill>
                <a:latin typeface="Arial"/>
              </a:rPr>
              <a:t>Poor results? Go back a step.</a:t>
            </a:r>
          </a:p>
        </p:txBody>
      </p:sp>
      <p:sp>
        <p:nvSpPr>
          <p:cNvPr id="17" name="Rounded Rectangle 16"/>
          <p:cNvSpPr/>
          <p:nvPr/>
        </p:nvSpPr>
        <p:spPr>
          <a:xfrm>
            <a:off x="6336792" y="5394959"/>
            <a:ext cx="2459735"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In industry: CRISP-DM</a:t>
            </a:r>
          </a:p>
          <a:p>
            <a:pPr marL="0" indent="0" algn="l">
              <a:spcAft>
                <a:spcPts val="400"/>
              </a:spcAft>
              <a:buNone/>
            </a:pPr>
            <a:r>
              <a:rPr sz="1200" b="0" i="0">
                <a:solidFill>
                  <a:srgbClr val="262626"/>
                </a:solidFill>
                <a:latin typeface="Arial"/>
              </a:rPr>
              <a:t>Same logic, different names.</a:t>
            </a:r>
          </a:p>
        </p:txBody>
      </p:sp>
      <p:sp>
        <p:nvSpPr>
          <p:cNvPr id="18" name="TextBox 17"/>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Fayyad, Piatetsky-Shapiro and Smyth (1996).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RECALL</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3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What are the five steps of the KDD process, and which one is data mining?</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Q3 (Recall): </a:t>
            </a:r>
            <a:r>
              <a:rPr sz="1400" b="0" i="1">
                <a:solidFill>
                  <a:srgbClr val="595959"/>
                </a:solidFill>
                <a:latin typeface="Arial"/>
              </a:rPr>
              <a:t>What are the five steps of the KDD process, and which one is data mining?</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dirty="0">
                <a:solidFill>
                  <a:srgbClr val="FFFFFF"/>
                </a:solidFill>
                <a:latin typeface="Arial"/>
              </a:rPr>
              <a:t>Model answer</a:t>
            </a:r>
          </a:p>
          <a:p>
            <a:pPr marL="0" indent="0" algn="l">
              <a:spcAft>
                <a:spcPts val="400"/>
              </a:spcAft>
              <a:buNone/>
            </a:pPr>
            <a:r>
              <a:rPr sz="1700" b="0" i="0" dirty="0">
                <a:solidFill>
                  <a:srgbClr val="FFFFFF"/>
                </a:solidFill>
                <a:latin typeface="Arial"/>
              </a:rPr>
              <a:t>Selection, pre-processing, transformation, data mining, and interpretation/evaluation. Data mining is only step 4: most of the effort usually goes into steps 1</a:t>
            </a:r>
            <a:r>
              <a:rPr lang="en-GB" sz="1700" b="0" i="0" dirty="0">
                <a:solidFill>
                  <a:srgbClr val="FFFFFF"/>
                </a:solidFill>
                <a:latin typeface="Arial"/>
              </a:rPr>
              <a:t>-</a:t>
            </a:r>
            <a:r>
              <a:rPr sz="1700" b="0" i="0" dirty="0">
                <a:solidFill>
                  <a:srgbClr val="FFFFFF"/>
                </a:solidFill>
                <a:latin typeface="Arial"/>
              </a:rPr>
              <a:t>3, and the process is iterative.</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The figure: the KDD process; The five steps of KDD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4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Is “buyers of a left shoe also buy a right shoe” an interesting pattern? Use the four criteria.</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Q4 (Understanding): </a:t>
            </a:r>
            <a:r>
              <a:rPr sz="1400" b="0" i="1">
                <a:solidFill>
                  <a:srgbClr val="595959"/>
                </a:solidFill>
                <a:latin typeface="Arial"/>
              </a:rPr>
              <a:t>Is “buyers of a left shoe also buy a right shoe” an interesting pattern? Use the four criteria.</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No. It is valid, but it is not novel (everyone already knows it) and not useful (it supports no new decision). An interesting pattern must be valid, novel, useful and understandable.</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What makes a pattern interesting?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Mining example</a:t>
            </a:r>
          </a:p>
        </p:txBody>
      </p:sp>
      <p:pic>
        <p:nvPicPr>
          <p:cNvPr id="4098" name="Picture 2" descr="Data Requirements for Process Mining — Flux Capaci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24" y="1524000"/>
            <a:ext cx="8872351"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796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table and tree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62779" y="1234440"/>
            <a:ext cx="6881481" cy="2423160"/>
          </a:xfrm>
          <a:prstGeom prst="rect">
            <a:avLst/>
          </a:prstGeom>
          <a:ln w="9525">
            <a:solidFill>
              <a:srgbClr val="A6B8D6"/>
            </a:solidFill>
          </a:ln>
        </p:spPr>
      </p:pic>
      <p:sp>
        <p:nvSpPr>
          <p:cNvPr id="5" name="Rounded Rectangle 4"/>
          <p:cNvSpPr/>
          <p:nvPr/>
        </p:nvSpPr>
        <p:spPr>
          <a:xfrm>
            <a:off x="1810512" y="3794760"/>
            <a:ext cx="3429000" cy="2514600"/>
          </a:xfrm>
          <a:prstGeom prst="roundRect">
            <a:avLst>
              <a:gd name="adj" fmla="val 29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table</a:t>
            </a:r>
          </a:p>
          <a:p>
            <a:pPr marL="164592" indent="-146304" algn="l">
              <a:spcAft>
                <a:spcPts val="600"/>
              </a:spcAft>
              <a:buFont typeface="Arial"/>
              <a:buChar char="•"/>
            </a:pPr>
            <a:r>
              <a:rPr sz="1200" b="0" i="0">
                <a:solidFill>
                  <a:srgbClr val="262626"/>
                </a:solidFill>
                <a:latin typeface="Arial"/>
              </a:rPr>
              <a:t>Instances (rows): 10 customers</a:t>
            </a:r>
          </a:p>
          <a:p>
            <a:pPr marL="164592" indent="-146304" algn="l">
              <a:spcAft>
                <a:spcPts val="600"/>
              </a:spcAft>
              <a:buFont typeface="Arial"/>
              <a:buChar char="•"/>
            </a:pPr>
            <a:r>
              <a:rPr sz="1200" b="0" i="0">
                <a:solidFill>
                  <a:srgbClr val="262626"/>
                </a:solidFill>
                <a:latin typeface="Arial"/>
              </a:rPr>
              <a:t>Attributes (columns): name, salary, sex, age</a:t>
            </a:r>
          </a:p>
          <a:p>
            <a:pPr marL="164592" indent="-146304" algn="l">
              <a:spcAft>
                <a:spcPts val="600"/>
              </a:spcAft>
              <a:buFont typeface="Arial"/>
              <a:buChar char="•"/>
            </a:pPr>
            <a:r>
              <a:rPr sz="1200" b="0" i="0">
                <a:solidFill>
                  <a:srgbClr val="262626"/>
                </a:solidFill>
                <a:latin typeface="Arial"/>
              </a:rPr>
              <a:t>Classification target (green column, arrow): “Buy widget”, Yes or No</a:t>
            </a:r>
          </a:p>
          <a:p>
            <a:pPr marL="164592" indent="-146304" algn="l">
              <a:spcAft>
                <a:spcPts val="600"/>
              </a:spcAft>
              <a:buFont typeface="Arial"/>
              <a:buChar char="•"/>
            </a:pPr>
            <a:r>
              <a:rPr sz="1200" b="0" i="0">
                <a:solidFill>
                  <a:srgbClr val="262626"/>
                </a:solidFill>
                <a:latin typeface="Arial"/>
              </a:rPr>
              <a:t>Task: predict the target from the attributes</a:t>
            </a:r>
          </a:p>
        </p:txBody>
      </p:sp>
      <p:sp>
        <p:nvSpPr>
          <p:cNvPr id="6" name="Rounded Rectangle 5"/>
          <p:cNvSpPr/>
          <p:nvPr/>
        </p:nvSpPr>
        <p:spPr>
          <a:xfrm>
            <a:off x="5367528" y="3794760"/>
            <a:ext cx="3428999" cy="2514600"/>
          </a:xfrm>
          <a:prstGeom prst="roundRect">
            <a:avLst>
              <a:gd name="adj" fmla="val 29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decision tree</a:t>
            </a:r>
          </a:p>
          <a:p>
            <a:pPr marL="164592" indent="-146304" algn="l">
              <a:spcAft>
                <a:spcPts val="600"/>
              </a:spcAft>
              <a:buFont typeface="Arial"/>
              <a:buChar char="•"/>
            </a:pPr>
            <a:r>
              <a:rPr sz="1200" b="0" i="0">
                <a:solidFill>
                  <a:srgbClr val="262626"/>
                </a:solidFill>
                <a:latin typeface="Arial"/>
              </a:rPr>
              <a:t>Start at the top node and answer each question.</a:t>
            </a:r>
          </a:p>
          <a:p>
            <a:pPr marL="164592" indent="-146304" algn="l">
              <a:spcAft>
                <a:spcPts val="600"/>
              </a:spcAft>
              <a:buFont typeface="Arial"/>
              <a:buChar char="•"/>
            </a:pPr>
            <a:r>
              <a:rPr sz="1200" b="0" i="0">
                <a:solidFill>
                  <a:srgbClr val="262626"/>
                </a:solidFill>
                <a:latin typeface="Arial"/>
              </a:rPr>
              <a:t>Female → No.</a:t>
            </a:r>
          </a:p>
          <a:p>
            <a:pPr marL="164592" indent="-146304" algn="l">
              <a:spcAft>
                <a:spcPts val="600"/>
              </a:spcAft>
              <a:buFont typeface="Arial"/>
              <a:buChar char="•"/>
            </a:pPr>
            <a:r>
              <a:rPr sz="1200" b="0" i="0">
                <a:solidFill>
                  <a:srgbClr val="262626"/>
                </a:solidFill>
                <a:latin typeface="Arial"/>
              </a:rPr>
              <a:t>Male → check salary: ≤ 18,000 → No; &gt; 18,000 → Yes.</a:t>
            </a:r>
          </a:p>
          <a:p>
            <a:pPr marL="164592" indent="-146304" algn="l">
              <a:spcAft>
                <a:spcPts val="600"/>
              </a:spcAft>
              <a:buFont typeface="Arial"/>
              <a:buChar char="•"/>
            </a:pPr>
            <a:r>
              <a:rPr sz="1200" b="0" i="0">
                <a:solidFill>
                  <a:srgbClr val="262626"/>
                </a:solidFill>
                <a:latin typeface="Arial"/>
              </a:rPr>
              <a:t>Check: Jones (male, 25,000) → Yes, which matches the table.</a:t>
            </a:r>
          </a:p>
        </p:txBody>
      </p:sp>
      <p:sp>
        <p:nvSpPr>
          <p:cNvPr id="7" name="TextBox 6"/>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Figure: illustrative example data and the decision tree learned from them (image adapted from a web tutorial).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Would you trust this rule?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200"/>
              </a:spcAft>
              <a:buNone/>
            </a:pPr>
            <a:r>
              <a:rPr sz="1600" b="1" i="0">
                <a:solidFill>
                  <a:srgbClr val="FFFFFF"/>
                </a:solidFill>
                <a:latin typeface="Arial"/>
              </a:rPr>
              <a:t>Learned rule:  </a:t>
            </a:r>
            <a:r>
              <a:rPr sz="1600" b="0" i="0">
                <a:solidFill>
                  <a:srgbClr val="FFFFFF"/>
                </a:solidFill>
                <a:latin typeface="Arial"/>
              </a:rPr>
              <a:t>IF male AND salary &gt; 18,000  →  buys the widget</a:t>
            </a:r>
          </a:p>
          <a:p>
            <a:pPr marL="0" indent="0" algn="ctr">
              <a:spcAft>
                <a:spcPts val="400"/>
              </a:spcAft>
              <a:buNone/>
            </a:pPr>
            <a:r>
              <a:rPr sz="1200" b="0" i="0">
                <a:solidFill>
                  <a:srgbClr val="FFFFFF"/>
                </a:solidFill>
                <a:latin typeface="Arial"/>
              </a:rPr>
              <a:t>It fits all 10 customers. “Age” is never used; “name” is only an identifier.</a:t>
            </a:r>
          </a:p>
        </p:txBody>
      </p:sp>
      <p:sp>
        <p:nvSpPr>
          <p:cNvPr id="5" name="Rounded Rectangle 4"/>
          <p:cNvSpPr/>
          <p:nvPr/>
        </p:nvSpPr>
        <p:spPr>
          <a:xfrm>
            <a:off x="1810512" y="2331720"/>
            <a:ext cx="6986015" cy="640080"/>
          </a:xfrm>
          <a:prstGeom prst="roundRect">
            <a:avLst>
              <a:gd name="adj" fmla="val 11428"/>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500" b="1" i="0">
                <a:solidFill>
                  <a:srgbClr val="C55A11"/>
                </a:solidFill>
                <a:latin typeface="Arial"/>
              </a:rPr>
              <a:t>REFLECT  </a:t>
            </a:r>
            <a:r>
              <a:rPr sz="1500" b="0" i="0">
                <a:solidFill>
                  <a:srgbClr val="262626"/>
                </a:solidFill>
                <a:latin typeface="Arial"/>
              </a:rPr>
              <a:t>Would you trust this rule? Would you base a marketing campaign on it?</a:t>
            </a:r>
          </a:p>
        </p:txBody>
      </p:sp>
      <p:sp>
        <p:nvSpPr>
          <p:cNvPr id="6" name="Rounded Rectangle 5"/>
          <p:cNvSpPr/>
          <p:nvPr/>
        </p:nvSpPr>
        <p:spPr>
          <a:xfrm>
            <a:off x="1810512" y="3154680"/>
            <a:ext cx="2218943"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Overfitting</a:t>
            </a:r>
          </a:p>
          <a:p>
            <a:pPr marL="0" indent="0" algn="l">
              <a:spcAft>
                <a:spcPts val="400"/>
              </a:spcAft>
              <a:buNone/>
            </a:pPr>
            <a:r>
              <a:rPr sz="1500" b="0" i="0">
                <a:solidFill>
                  <a:srgbClr val="262626"/>
                </a:solidFill>
                <a:latin typeface="Arial"/>
              </a:rPr>
              <a:t>Only 10 customers. A perfect fit says little about the next thousand.</a:t>
            </a:r>
          </a:p>
        </p:txBody>
      </p:sp>
      <p:sp>
        <p:nvSpPr>
          <p:cNvPr id="7" name="Rounded Rectangle 6"/>
          <p:cNvSpPr/>
          <p:nvPr/>
        </p:nvSpPr>
        <p:spPr>
          <a:xfrm>
            <a:off x="4194047" y="3154680"/>
            <a:ext cx="2218943"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Correlation ≠ causation</a:t>
            </a:r>
          </a:p>
          <a:p>
            <a:pPr marL="0" indent="0" algn="l">
              <a:spcAft>
                <a:spcPts val="400"/>
              </a:spcAft>
              <a:buNone/>
            </a:pPr>
            <a:r>
              <a:rPr sz="1500" b="0" i="0">
                <a:solidFill>
                  <a:srgbClr val="262626"/>
                </a:solidFill>
                <a:latin typeface="Arial"/>
              </a:rPr>
              <a:t>The rule does not explain why anyone buys.</a:t>
            </a:r>
          </a:p>
        </p:txBody>
      </p:sp>
      <p:sp>
        <p:nvSpPr>
          <p:cNvPr id="8" name="Rounded Rectangle 7"/>
          <p:cNvSpPr/>
          <p:nvPr/>
        </p:nvSpPr>
        <p:spPr>
          <a:xfrm>
            <a:off x="6577584" y="3154680"/>
            <a:ext cx="2218943"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Fairness</a:t>
            </a:r>
          </a:p>
          <a:p>
            <a:pPr marL="0" indent="0" algn="l">
              <a:spcAft>
                <a:spcPts val="400"/>
              </a:spcAft>
              <a:buNone/>
            </a:pPr>
            <a:r>
              <a:rPr sz="1500" b="0" i="0">
                <a:solidFill>
                  <a:srgbClr val="262626"/>
                </a:solidFill>
                <a:latin typeface="Arial"/>
              </a:rPr>
              <a:t>Rules based on sex can be discriminatory and unlawful, e.g. for loans (EU law).</a:t>
            </a:r>
          </a:p>
        </p:txBody>
      </p:sp>
      <p:sp>
        <p:nvSpPr>
          <p:cNvPr id="9" name="Rounded Rectangle 8"/>
          <p:cNvSpPr/>
          <p:nvPr/>
        </p:nvSpPr>
        <p:spPr>
          <a:xfrm>
            <a:off x="1810512" y="5212080"/>
            <a:ext cx="6986015" cy="868680"/>
          </a:xfrm>
          <a:prstGeom prst="roundRect">
            <a:avLst>
              <a:gd name="adj" fmla="val 842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FFFFFF"/>
                </a:solidFill>
                <a:latin typeface="Arial"/>
              </a:rPr>
              <a:t>KEY POINT  </a:t>
            </a:r>
            <a:r>
              <a:rPr sz="1300" b="0" i="0">
                <a:solidFill>
                  <a:srgbClr val="FFFFFF"/>
                </a:solidFill>
                <a:latin typeface="Arial"/>
              </a:rPr>
              <a:t>One tiny example, three big themes: generalisation, causality, fairness. We build decision trees in Python in Week 5.</a:t>
            </a:r>
          </a:p>
        </p:txBody>
      </p:sp>
      <p:sp>
        <p:nvSpPr>
          <p:cNvPr id="10" name="TextBox 9"/>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Example data: illustrative only.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5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Why is a decision tree that fits all 10 customers perfectly not convincing?</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Q5 (Understanding): </a:t>
            </a:r>
            <a:r>
              <a:rPr sz="1400" b="0" i="1">
                <a:solidFill>
                  <a:srgbClr val="595959"/>
                </a:solidFill>
                <a:latin typeface="Arial"/>
              </a:rPr>
              <a:t>Why is a decision tree that fits all 10 customers perfectly not convincing?</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Ten cases are far too few: a perfect fit may simply memorise them (overfitting) and fail on new customers. The rule also shows correlation, not causation, and a rule based on sex raises fairness concerns.</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Would you trust this rule?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3581400"/>
            <a:ext cx="5105400" cy="595996"/>
          </a:xfrm>
        </p:spPr>
        <p:txBody>
          <a:bodyPr/>
          <a:lstStyle/>
          <a:p>
            <a:r>
              <a:rPr lang="en-GB" dirty="0"/>
              <a:t>Artificial Intelligence (AI) </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42" name="Picture 2" descr="Machine Learning. Research: J.C. Kuang | by Media-Nxt Editors | Newhouse  Media-Nxt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524000"/>
            <a:ext cx="2447925" cy="1866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656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Section overview: AI</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30222" y="1280160"/>
            <a:ext cx="2338018" cy="1783080"/>
          </a:xfrm>
          <a:prstGeom prst="rect">
            <a:avLst/>
          </a:prstGeom>
          <a:ln w="9525">
            <a:solidFill>
              <a:srgbClr val="A6B8D6"/>
            </a:solidFill>
          </a:ln>
        </p:spPr>
      </p:pic>
      <p:sp>
        <p:nvSpPr>
          <p:cNvPr id="5" name="Rounded Rectangle 4"/>
          <p:cNvSpPr/>
          <p:nvPr/>
        </p:nvSpPr>
        <p:spPr>
          <a:xfrm>
            <a:off x="4370831" y="1280160"/>
            <a:ext cx="4425695" cy="1783080"/>
          </a:xfrm>
          <a:prstGeom prst="roundRect">
            <a:avLst>
              <a:gd name="adj" fmla="val 410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300" b="0" i="0">
                <a:solidFill>
                  <a:srgbClr val="262626"/>
                </a:solidFill>
                <a:latin typeface="Arial"/>
              </a:rPr>
              <a:t>The illustration shows a laptop wearing a graduation cap, connected to books, a light bulb and other ideas. It suggests a machine that learns and reasons, which is the theme of AI.</a:t>
            </a:r>
          </a:p>
        </p:txBody>
      </p:sp>
      <p:sp>
        <p:nvSpPr>
          <p:cNvPr id="6" name="Rounded Rectangle 5"/>
          <p:cNvSpPr/>
          <p:nvPr/>
        </p:nvSpPr>
        <p:spPr>
          <a:xfrm>
            <a:off x="1810512" y="3291839"/>
            <a:ext cx="6986015" cy="2377440"/>
          </a:xfrm>
          <a:prstGeom prst="roundRect">
            <a:avLst>
              <a:gd name="adj" fmla="val 307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This section covers</a:t>
            </a:r>
          </a:p>
          <a:p>
            <a:pPr marL="164592" indent="-146304" algn="l">
              <a:spcAft>
                <a:spcPts val="600"/>
              </a:spcAft>
              <a:buFont typeface="Arial"/>
              <a:buChar char="•"/>
            </a:pPr>
            <a:r>
              <a:rPr sz="1400" b="0" i="0">
                <a:solidFill>
                  <a:srgbClr val="262626"/>
                </a:solidFill>
                <a:latin typeface="Arial"/>
              </a:rPr>
              <a:t>How leading textbooks define artificial intelligence</a:t>
            </a:r>
          </a:p>
          <a:p>
            <a:pPr marL="164592" indent="-146304" algn="l">
              <a:spcAft>
                <a:spcPts val="600"/>
              </a:spcAft>
              <a:buFont typeface="Arial"/>
              <a:buChar char="•"/>
            </a:pPr>
            <a:r>
              <a:rPr sz="1400" b="0" i="0">
                <a:solidFill>
                  <a:srgbClr val="262626"/>
                </a:solidFill>
                <a:latin typeface="Arial"/>
              </a:rPr>
              <a:t>The four approaches to AI (Russell and Norvig)</a:t>
            </a:r>
          </a:p>
          <a:p>
            <a:pPr marL="164592" indent="-146304" algn="l">
              <a:spcAft>
                <a:spcPts val="600"/>
              </a:spcAft>
              <a:buFont typeface="Arial"/>
              <a:buChar char="•"/>
            </a:pPr>
            <a:r>
              <a:rPr sz="1400" b="0" i="0">
                <a:solidFill>
                  <a:srgbClr val="262626"/>
                </a:solidFill>
                <a:latin typeface="Arial"/>
              </a:rPr>
              <a:t>How data mining, machine learning and AI relate to each other</a:t>
            </a:r>
          </a:p>
        </p:txBody>
      </p:sp>
      <p:sp>
        <p:nvSpPr>
          <p:cNvPr id="7" name="Rounded Rectangle 6"/>
          <p:cNvSpPr/>
          <p:nvPr/>
        </p:nvSpPr>
        <p:spPr>
          <a:xfrm>
            <a:off x="1810512" y="5852159"/>
            <a:ext cx="6986015" cy="548640"/>
          </a:xfrm>
          <a:prstGeom prst="roundRect">
            <a:avLst>
              <a:gd name="adj" fmla="val 13333"/>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FFFFFF"/>
                </a:solidFill>
                <a:latin typeface="Arial"/>
              </a:rPr>
              <a:t>NOTE  </a:t>
            </a:r>
            <a:r>
              <a:rPr sz="1300" b="0" i="0">
                <a:solidFill>
                  <a:srgbClr val="FFFFFF"/>
                </a:solidFill>
                <a:latin typeface="Arial"/>
              </a:rPr>
              <a:t>Data mining gives patterns; AI asks how machines can use knowledge to act intelligently.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AI?</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5515" y="1175948"/>
            <a:ext cx="7357252" cy="354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val="4107413200"/>
              </p:ext>
            </p:extLst>
          </p:nvPr>
        </p:nvGraphicFramePr>
        <p:xfrm>
          <a:off x="1828800" y="4953000"/>
          <a:ext cx="7010400" cy="1280160"/>
        </p:xfrm>
        <a:graphic>
          <a:graphicData uri="http://schemas.openxmlformats.org/drawingml/2006/table">
            <a:tbl>
              <a:tblPr firstRow="1" bandRow="1">
                <a:tableStyleId>{5C22544A-7EE6-4342-B048-85BDC9FD1C3A}</a:tableStyleId>
              </a:tblPr>
              <a:tblGrid>
                <a:gridCol w="3712773">
                  <a:extLst>
                    <a:ext uri="{9D8B030D-6E8A-4147-A177-3AD203B41FA5}">
                      <a16:colId xmlns:a16="http://schemas.microsoft.com/office/drawing/2014/main" val="20000"/>
                    </a:ext>
                  </a:extLst>
                </a:gridCol>
                <a:gridCol w="3297627">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think like humans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think rationally</a:t>
                      </a:r>
                    </a:p>
                    <a:p>
                      <a:endParaRPr lang="en-GB" dirty="0"/>
                    </a:p>
                  </a:txBody>
                  <a:tcPr/>
                </a:tc>
                <a:extLst>
                  <a:ext uri="{0D108BD9-81ED-4DB2-BD59-A6C34878D82A}">
                    <a16:rowId xmlns:a16="http://schemas.microsoft.com/office/drawing/2014/main" val="10000"/>
                  </a:ext>
                </a:extLst>
              </a:tr>
              <a:tr h="370840">
                <a:tc>
                  <a:txBody>
                    <a:bodyPr/>
                    <a:lstStyle/>
                    <a:p>
                      <a:r>
                        <a:rPr lang="en-GB" dirty="0">
                          <a:solidFill>
                            <a:srgbClr val="FF0000"/>
                          </a:solidFill>
                        </a:rPr>
                        <a:t>Systems that act like humans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act rationally</a:t>
                      </a:r>
                    </a:p>
                    <a:p>
                      <a:endParaRPr lang="en-GB" dirty="0"/>
                    </a:p>
                  </a:txBody>
                  <a:tcPr/>
                </a:tc>
                <a:extLst>
                  <a:ext uri="{0D108BD9-81ED-4DB2-BD59-A6C34878D82A}">
                    <a16:rowId xmlns:a16="http://schemas.microsoft.com/office/drawing/2014/main" val="10001"/>
                  </a:ext>
                </a:extLst>
              </a:tr>
            </a:tbl>
          </a:graphicData>
        </a:graphic>
      </p:graphicFrame>
      <p:sp>
        <p:nvSpPr>
          <p:cNvPr id="3" name="TextBox 2"/>
          <p:cNvSpPr txBox="1"/>
          <p:nvPr/>
        </p:nvSpPr>
        <p:spPr>
          <a:xfrm>
            <a:off x="1828800" y="839273"/>
            <a:ext cx="6045438" cy="369332"/>
          </a:xfrm>
          <a:prstGeom prst="rect">
            <a:avLst/>
          </a:prstGeom>
          <a:noFill/>
        </p:spPr>
        <p:txBody>
          <a:bodyPr wrap="none" rtlCol="0">
            <a:spAutoFit/>
          </a:bodyPr>
          <a:lstStyle/>
          <a:p>
            <a:r>
              <a:rPr lang="en-GB" dirty="0"/>
              <a:t>Artificial Intelligence, A Modern Approach. Second Edition</a:t>
            </a:r>
          </a:p>
        </p:txBody>
      </p:sp>
    </p:spTree>
    <p:extLst>
      <p:ext uri="{BB962C8B-B14F-4D97-AF65-F5344CB8AC3E}">
        <p14:creationId xmlns:p14="http://schemas.microsoft.com/office/powerpoint/2010/main" val="405531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eight definitions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3075960" y="1234440"/>
            <a:ext cx="4455119" cy="2148840"/>
          </a:xfrm>
          <a:prstGeom prst="rect">
            <a:avLst/>
          </a:prstGeom>
          <a:ln w="9525">
            <a:solidFill>
              <a:srgbClr val="A6B8D6"/>
            </a:solidFill>
          </a:ln>
        </p:spPr>
      </p:pic>
      <p:sp>
        <p:nvSpPr>
          <p:cNvPr id="5" name="TextBox 4"/>
          <p:cNvSpPr txBox="1"/>
          <p:nvPr/>
        </p:nvSpPr>
        <p:spPr>
          <a:xfrm>
            <a:off x="1810512" y="3429000"/>
            <a:ext cx="6986015" cy="320040"/>
          </a:xfrm>
          <a:prstGeom prst="rect">
            <a:avLst/>
          </a:prstGeom>
          <a:noFill/>
        </p:spPr>
        <p:txBody>
          <a:bodyPr wrap="square" lIns="54864" tIns="54864" rIns="54864" bIns="54864" anchor="t"/>
          <a:lstStyle/>
          <a:p>
            <a:pPr marL="0" indent="0" algn="l">
              <a:spcAft>
                <a:spcPts val="400"/>
              </a:spcAft>
              <a:buNone/>
            </a:pPr>
            <a:r>
              <a:rPr sz="1400" b="1" i="0">
                <a:solidFill>
                  <a:srgbClr val="1F3864"/>
                </a:solidFill>
                <a:latin typeface="Arial"/>
              </a:rPr>
              <a:t>The eight definitions, grouped as in the table below them on the original slide</a:t>
            </a:r>
          </a:p>
        </p:txBody>
      </p:sp>
      <p:sp>
        <p:nvSpPr>
          <p:cNvPr id="6" name="Rounded Rectangle 5"/>
          <p:cNvSpPr/>
          <p:nvPr/>
        </p:nvSpPr>
        <p:spPr>
          <a:xfrm>
            <a:off x="1810512" y="3840480"/>
            <a:ext cx="3410711"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300" b="1" i="0">
                <a:solidFill>
                  <a:srgbClr val="2F5DA8"/>
                </a:solidFill>
                <a:latin typeface="Arial"/>
              </a:rPr>
              <a:t>Think like humans</a:t>
            </a:r>
          </a:p>
          <a:p>
            <a:pPr marL="0" indent="0" algn="l">
              <a:spcAft>
                <a:spcPts val="200"/>
              </a:spcAft>
              <a:buNone/>
            </a:pPr>
            <a:r>
              <a:rPr sz="1100" b="0" i="0">
                <a:solidFill>
                  <a:srgbClr val="262626"/>
                </a:solidFill>
                <a:latin typeface="Arial"/>
              </a:rPr>
              <a:t>Haugeland (1985): machines with minds</a:t>
            </a:r>
          </a:p>
          <a:p>
            <a:pPr marL="0" indent="0" algn="l">
              <a:spcAft>
                <a:spcPts val="200"/>
              </a:spcAft>
              <a:buNone/>
            </a:pPr>
            <a:r>
              <a:rPr sz="1100" b="0" i="0">
                <a:solidFill>
                  <a:srgbClr val="262626"/>
                </a:solidFill>
                <a:latin typeface="Arial"/>
              </a:rPr>
              <a:t>Bellman (1978): automating human-like thinking</a:t>
            </a:r>
          </a:p>
        </p:txBody>
      </p:sp>
      <p:sp>
        <p:nvSpPr>
          <p:cNvPr id="7" name="Rounded Rectangle 6"/>
          <p:cNvSpPr/>
          <p:nvPr/>
        </p:nvSpPr>
        <p:spPr>
          <a:xfrm>
            <a:off x="5385815" y="3840480"/>
            <a:ext cx="3410711"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300" b="1" i="0">
                <a:solidFill>
                  <a:srgbClr val="2F5DA8"/>
                </a:solidFill>
                <a:latin typeface="Arial"/>
              </a:rPr>
              <a:t>Think rationally</a:t>
            </a:r>
          </a:p>
          <a:p>
            <a:pPr marL="0" indent="0" algn="l">
              <a:spcAft>
                <a:spcPts val="200"/>
              </a:spcAft>
              <a:buNone/>
            </a:pPr>
            <a:r>
              <a:rPr sz="1100" b="0" i="0">
                <a:solidFill>
                  <a:srgbClr val="262626"/>
                </a:solidFill>
                <a:latin typeface="Arial"/>
              </a:rPr>
              <a:t>Charniak and McDermott (1985): mental faculties as computation</a:t>
            </a:r>
          </a:p>
          <a:p>
            <a:pPr marL="0" indent="0" algn="l">
              <a:spcAft>
                <a:spcPts val="200"/>
              </a:spcAft>
              <a:buNone/>
            </a:pPr>
            <a:r>
              <a:rPr sz="1100" b="0" i="0">
                <a:solidFill>
                  <a:srgbClr val="262626"/>
                </a:solidFill>
                <a:latin typeface="Arial"/>
              </a:rPr>
              <a:t>Winston (1992): computations to perceive, reason, act</a:t>
            </a:r>
          </a:p>
        </p:txBody>
      </p:sp>
      <p:sp>
        <p:nvSpPr>
          <p:cNvPr id="8" name="Rounded Rectangle 7"/>
          <p:cNvSpPr/>
          <p:nvPr/>
        </p:nvSpPr>
        <p:spPr>
          <a:xfrm>
            <a:off x="1810512" y="5074920"/>
            <a:ext cx="3410711"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300" b="1" i="0">
                <a:solidFill>
                  <a:srgbClr val="2F5DA8"/>
                </a:solidFill>
                <a:latin typeface="Arial"/>
              </a:rPr>
              <a:t>Act like humans</a:t>
            </a:r>
          </a:p>
          <a:p>
            <a:pPr marL="0" indent="0" algn="l">
              <a:spcAft>
                <a:spcPts val="200"/>
              </a:spcAft>
              <a:buNone/>
            </a:pPr>
            <a:r>
              <a:rPr sz="1100" b="0" i="0">
                <a:solidFill>
                  <a:srgbClr val="262626"/>
                </a:solidFill>
                <a:latin typeface="Arial"/>
              </a:rPr>
              <a:t>Kurzweil (1990): machines doing what needs intelligence in people</a:t>
            </a:r>
          </a:p>
          <a:p>
            <a:pPr marL="0" indent="0" algn="l">
              <a:spcAft>
                <a:spcPts val="200"/>
              </a:spcAft>
              <a:buNone/>
            </a:pPr>
            <a:r>
              <a:rPr sz="1100" b="0" i="0">
                <a:solidFill>
                  <a:srgbClr val="262626"/>
                </a:solidFill>
                <a:latin typeface="Arial"/>
              </a:rPr>
              <a:t>Rich and Knight (1991): doing what people currently do better</a:t>
            </a:r>
          </a:p>
        </p:txBody>
      </p:sp>
      <p:sp>
        <p:nvSpPr>
          <p:cNvPr id="9" name="Rounded Rectangle 8"/>
          <p:cNvSpPr/>
          <p:nvPr/>
        </p:nvSpPr>
        <p:spPr>
          <a:xfrm>
            <a:off x="5385815" y="5074920"/>
            <a:ext cx="3410711"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300" b="1" i="0">
                <a:solidFill>
                  <a:srgbClr val="2F5DA8"/>
                </a:solidFill>
                <a:latin typeface="Arial"/>
              </a:rPr>
              <a:t>Act rationally</a:t>
            </a:r>
          </a:p>
          <a:p>
            <a:pPr marL="0" indent="0" algn="l">
              <a:spcAft>
                <a:spcPts val="200"/>
              </a:spcAft>
              <a:buNone/>
            </a:pPr>
            <a:r>
              <a:rPr sz="1100" b="0" i="0">
                <a:solidFill>
                  <a:srgbClr val="262626"/>
                </a:solidFill>
                <a:latin typeface="Arial"/>
              </a:rPr>
              <a:t>Schalkoff (1990): emulating intelligent behaviour computationally</a:t>
            </a:r>
          </a:p>
          <a:p>
            <a:pPr marL="0" indent="0" algn="l">
              <a:spcAft>
                <a:spcPts val="200"/>
              </a:spcAft>
              <a:buNone/>
            </a:pPr>
            <a:r>
              <a:rPr sz="1100" b="0" i="0">
                <a:solidFill>
                  <a:srgbClr val="262626"/>
                </a:solidFill>
                <a:latin typeface="Arial"/>
              </a:rPr>
              <a:t>Luger and Stubblefield (1993): automating intelligent behaviour</a:t>
            </a:r>
          </a:p>
        </p:txBody>
      </p:sp>
      <p:sp>
        <p:nvSpPr>
          <p:cNvPr id="10" name="TextBox 9"/>
          <p:cNvSpPr txBox="1"/>
          <p:nvPr/>
        </p:nvSpPr>
        <p:spPr>
          <a:xfrm>
            <a:off x="1810512" y="6382512"/>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Figure source: Russell and Norvig (2003), Artificial Intelligence: A Modern Approach, 2nd edn, Figure 1.1. The colours on the original slide mark the four quadrants.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Four approaches to AI</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TextBox 3"/>
          <p:cNvSpPr txBox="1"/>
          <p:nvPr/>
        </p:nvSpPr>
        <p:spPr>
          <a:xfrm>
            <a:off x="2907791" y="1188720"/>
            <a:ext cx="2862072" cy="365760"/>
          </a:xfrm>
          <a:prstGeom prst="rect">
            <a:avLst/>
          </a:prstGeom>
          <a:noFill/>
        </p:spPr>
        <p:txBody>
          <a:bodyPr wrap="square" lIns="54864" tIns="54864" rIns="54864" bIns="54864" anchor="t"/>
          <a:lstStyle/>
          <a:p>
            <a:pPr marL="0" indent="0" algn="ctr">
              <a:spcAft>
                <a:spcPts val="400"/>
              </a:spcAft>
              <a:buNone/>
            </a:pPr>
            <a:r>
              <a:rPr sz="1300" b="1" i="0">
                <a:solidFill>
                  <a:srgbClr val="595959"/>
                </a:solidFill>
                <a:latin typeface="Arial"/>
              </a:rPr>
              <a:t>HUMAN</a:t>
            </a:r>
          </a:p>
        </p:txBody>
      </p:sp>
      <p:sp>
        <p:nvSpPr>
          <p:cNvPr id="5" name="TextBox 4"/>
          <p:cNvSpPr txBox="1"/>
          <p:nvPr/>
        </p:nvSpPr>
        <p:spPr>
          <a:xfrm>
            <a:off x="5934455" y="1188720"/>
            <a:ext cx="2862072" cy="365760"/>
          </a:xfrm>
          <a:prstGeom prst="rect">
            <a:avLst/>
          </a:prstGeom>
          <a:noFill/>
        </p:spPr>
        <p:txBody>
          <a:bodyPr wrap="square" lIns="54864" tIns="54864" rIns="54864" bIns="54864" anchor="t"/>
          <a:lstStyle/>
          <a:p>
            <a:pPr marL="0" indent="0" algn="ctr">
              <a:spcAft>
                <a:spcPts val="400"/>
              </a:spcAft>
              <a:buNone/>
            </a:pPr>
            <a:r>
              <a:rPr sz="1300" b="1" i="0">
                <a:solidFill>
                  <a:srgbClr val="595959"/>
                </a:solidFill>
                <a:latin typeface="Arial"/>
              </a:rPr>
              <a:t>RATIONAL</a:t>
            </a:r>
          </a:p>
        </p:txBody>
      </p:sp>
      <p:sp>
        <p:nvSpPr>
          <p:cNvPr id="6" name="TextBox 5"/>
          <p:cNvSpPr txBox="1"/>
          <p:nvPr/>
        </p:nvSpPr>
        <p:spPr>
          <a:xfrm>
            <a:off x="1810512" y="1600200"/>
            <a:ext cx="1051560" cy="1737360"/>
          </a:xfrm>
          <a:prstGeom prst="rect">
            <a:avLst/>
          </a:prstGeom>
          <a:noFill/>
        </p:spPr>
        <p:txBody>
          <a:bodyPr wrap="square" lIns="54864" tIns="54864" rIns="54864" bIns="54864" anchor="ctr"/>
          <a:lstStyle/>
          <a:p>
            <a:pPr marL="0" indent="0" algn="ctr">
              <a:spcAft>
                <a:spcPts val="400"/>
              </a:spcAft>
              <a:buNone/>
            </a:pPr>
            <a:r>
              <a:rPr sz="1200" b="1" i="0">
                <a:solidFill>
                  <a:srgbClr val="595959"/>
                </a:solidFill>
                <a:latin typeface="Arial"/>
              </a:rPr>
              <a:t>THINKING</a:t>
            </a:r>
          </a:p>
        </p:txBody>
      </p:sp>
      <p:sp>
        <p:nvSpPr>
          <p:cNvPr id="7" name="Rounded Rectangle 6"/>
          <p:cNvSpPr/>
          <p:nvPr/>
        </p:nvSpPr>
        <p:spPr>
          <a:xfrm>
            <a:off x="2907791" y="1600200"/>
            <a:ext cx="2862072" cy="1737360"/>
          </a:xfrm>
          <a:prstGeom prst="roundRect">
            <a:avLst>
              <a:gd name="adj" fmla="val 421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Think like humans</a:t>
            </a:r>
          </a:p>
          <a:p>
            <a:pPr marL="0" indent="0" algn="l">
              <a:spcAft>
                <a:spcPts val="400"/>
              </a:spcAft>
              <a:buNone/>
            </a:pPr>
            <a:r>
              <a:rPr sz="1300" b="0" i="0">
                <a:solidFill>
                  <a:srgbClr val="262626"/>
                </a:solidFill>
                <a:latin typeface="Arial"/>
              </a:rPr>
              <a:t>Cognitive modelling: needs psychology and neuroscience (cognitive science).</a:t>
            </a:r>
          </a:p>
        </p:txBody>
      </p:sp>
      <p:sp>
        <p:nvSpPr>
          <p:cNvPr id="8" name="Rounded Rectangle 7"/>
          <p:cNvSpPr/>
          <p:nvPr/>
        </p:nvSpPr>
        <p:spPr>
          <a:xfrm>
            <a:off x="5934456" y="1600200"/>
            <a:ext cx="2862072" cy="1737360"/>
          </a:xfrm>
          <a:prstGeom prst="roundRect">
            <a:avLst>
              <a:gd name="adj" fmla="val 421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Think rationally</a:t>
            </a:r>
          </a:p>
          <a:p>
            <a:pPr marL="0" indent="0" algn="l">
              <a:spcAft>
                <a:spcPts val="400"/>
              </a:spcAft>
              <a:buNone/>
            </a:pPr>
            <a:r>
              <a:rPr sz="1300" b="0" i="0">
                <a:solidFill>
                  <a:srgbClr val="262626"/>
                </a:solidFill>
                <a:latin typeface="Arial"/>
              </a:rPr>
              <a:t>“Laws of thought”: Aristotle and formal logic.</a:t>
            </a:r>
          </a:p>
        </p:txBody>
      </p:sp>
      <p:sp>
        <p:nvSpPr>
          <p:cNvPr id="9" name="TextBox 8"/>
          <p:cNvSpPr txBox="1"/>
          <p:nvPr/>
        </p:nvSpPr>
        <p:spPr>
          <a:xfrm>
            <a:off x="1810512" y="3474720"/>
            <a:ext cx="1051560" cy="1737360"/>
          </a:xfrm>
          <a:prstGeom prst="rect">
            <a:avLst/>
          </a:prstGeom>
          <a:noFill/>
        </p:spPr>
        <p:txBody>
          <a:bodyPr wrap="square" lIns="54864" tIns="54864" rIns="54864" bIns="54864" anchor="ctr"/>
          <a:lstStyle/>
          <a:p>
            <a:pPr marL="0" indent="0" algn="ctr">
              <a:spcAft>
                <a:spcPts val="400"/>
              </a:spcAft>
              <a:buNone/>
            </a:pPr>
            <a:r>
              <a:rPr sz="1200" b="1" i="0">
                <a:solidFill>
                  <a:srgbClr val="595959"/>
                </a:solidFill>
                <a:latin typeface="Arial"/>
              </a:rPr>
              <a:t>ACTING</a:t>
            </a:r>
          </a:p>
        </p:txBody>
      </p:sp>
      <p:sp>
        <p:nvSpPr>
          <p:cNvPr id="10" name="Rounded Rectangle 9"/>
          <p:cNvSpPr/>
          <p:nvPr/>
        </p:nvSpPr>
        <p:spPr>
          <a:xfrm>
            <a:off x="2907791" y="3474720"/>
            <a:ext cx="2862072" cy="1737360"/>
          </a:xfrm>
          <a:prstGeom prst="roundRect">
            <a:avLst>
              <a:gd name="adj" fmla="val 421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Act like humans</a:t>
            </a:r>
          </a:p>
          <a:p>
            <a:pPr marL="0" indent="0" algn="l">
              <a:spcAft>
                <a:spcPts val="400"/>
              </a:spcAft>
              <a:buNone/>
            </a:pPr>
            <a:r>
              <a:rPr sz="1300" b="0" i="0">
                <a:solidFill>
                  <a:srgbClr val="262626"/>
                </a:solidFill>
                <a:latin typeface="Arial"/>
              </a:rPr>
              <a:t>The Turing test: behaviour indistinguishable from a human.</a:t>
            </a:r>
          </a:p>
        </p:txBody>
      </p:sp>
      <p:sp>
        <p:nvSpPr>
          <p:cNvPr id="11" name="Rounded Rectangle 10"/>
          <p:cNvSpPr/>
          <p:nvPr/>
        </p:nvSpPr>
        <p:spPr>
          <a:xfrm>
            <a:off x="5934456" y="3474720"/>
            <a:ext cx="2862072" cy="1737360"/>
          </a:xfrm>
          <a:prstGeom prst="roundRect">
            <a:avLst>
              <a:gd name="adj" fmla="val 421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FFFFFF"/>
                </a:solidFill>
                <a:latin typeface="Arial"/>
              </a:rPr>
              <a:t>Act rationally</a:t>
            </a:r>
          </a:p>
          <a:p>
            <a:pPr marL="0" indent="0" algn="l">
              <a:spcAft>
                <a:spcPts val="400"/>
              </a:spcAft>
              <a:buNone/>
            </a:pPr>
            <a:r>
              <a:rPr sz="1300" b="0" i="0">
                <a:solidFill>
                  <a:srgbClr val="FFFFFF"/>
                </a:solidFill>
                <a:latin typeface="Arial"/>
              </a:rPr>
              <a:t>The rational agent: acts for the best expected outcome. The dominant view today.</a:t>
            </a:r>
          </a:p>
        </p:txBody>
      </p:sp>
      <p:sp>
        <p:nvSpPr>
          <p:cNvPr id="12" name="Rounded Rectangle 11"/>
          <p:cNvSpPr/>
          <p:nvPr/>
        </p:nvSpPr>
        <p:spPr>
          <a:xfrm>
            <a:off x="1810512" y="5394959"/>
            <a:ext cx="6986015" cy="914400"/>
          </a:xfrm>
          <a:prstGeom prst="roundRect">
            <a:avLst>
              <a:gd name="adj" fmla="val 8000"/>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C55A11"/>
                </a:solidFill>
                <a:latin typeface="Arial"/>
              </a:rPr>
              <a:t>REFLECT  </a:t>
            </a:r>
            <a:r>
              <a:rPr sz="1300" b="0" i="0">
                <a:solidFill>
                  <a:srgbClr val="262626"/>
                </a:solidFill>
                <a:latin typeface="Arial"/>
              </a:rPr>
              <a:t>Which quadrant fits a self-driving car? Usually “act rationally”: we want optimal, safe driving, not human-like driving. Where would you place ChatGPT?</a:t>
            </a:r>
          </a:p>
        </p:txBody>
      </p:sp>
      <p:sp>
        <p:nvSpPr>
          <p:cNvPr id="13" name="TextBox 12"/>
          <p:cNvSpPr txBox="1"/>
          <p:nvPr/>
        </p:nvSpPr>
        <p:spPr>
          <a:xfrm>
            <a:off x="1810512" y="640080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 Russell and Norvig (2003; 2020).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38761D"/>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APPLICATION</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6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Which of the four approaches to AI fits a self-driving car, and why?</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Q6 (Application): </a:t>
            </a:r>
            <a:r>
              <a:rPr sz="1400" b="0" i="1">
                <a:solidFill>
                  <a:srgbClr val="595959"/>
                </a:solidFill>
                <a:latin typeface="Arial"/>
              </a:rPr>
              <a:t>Which of the four approaches to AI fits a self-driving car, and why?</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Acting rationally. We want the car to choose the best and safest action in each situation, not to imitate how an average human drives, mistakes included.</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Four approaches to AI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Modern or Your Definition </a:t>
            </a:r>
          </a:p>
        </p:txBody>
      </p:sp>
      <p:sp>
        <p:nvSpPr>
          <p:cNvPr id="3" name="Content Placeholder 2"/>
          <p:cNvSpPr>
            <a:spLocks noGrp="1"/>
          </p:cNvSpPr>
          <p:nvPr>
            <p:ph idx="1"/>
          </p:nvPr>
        </p:nvSpPr>
        <p:spPr/>
        <p:txBody>
          <a:bodyPr/>
          <a:lstStyle/>
          <a:p>
            <a:r>
              <a:rPr lang="en-GB" dirty="0"/>
              <a:t>“AI refers to the simulation of human intelligence in machines that are programmed to think like humans and mimic their actions. The term may also be applied to any machine that exhibits traits associated with a human mind such as learning and problem-solving.”</a:t>
            </a:r>
          </a:p>
          <a:p>
            <a:pPr marL="342900" indent="-342900" algn="r">
              <a:buFontTx/>
              <a:buChar char="-"/>
            </a:pPr>
            <a:r>
              <a:rPr lang="en-GB" dirty="0"/>
              <a:t>Investopedia</a:t>
            </a:r>
          </a:p>
          <a:p>
            <a:r>
              <a:rPr lang="en-GB" dirty="0"/>
              <a:t>AI refers to a soft or hard device that can make inferences and best decisions to support next action or provide recommendations through collected digital information and humankind learning process.</a:t>
            </a:r>
          </a:p>
          <a:p>
            <a:pPr algn="r"/>
            <a:r>
              <a:rPr lang="en-GB" dirty="0"/>
              <a:t>- Dr Hong Qing Yu (working definition) </a:t>
            </a:r>
          </a:p>
        </p:txBody>
      </p:sp>
    </p:spTree>
    <p:extLst>
      <p:ext uri="{BB962C8B-B14F-4D97-AF65-F5344CB8AC3E}">
        <p14:creationId xmlns:p14="http://schemas.microsoft.com/office/powerpoint/2010/main" val="88444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Comparing the definitions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200"/>
              </a:spcAft>
              <a:buNone/>
            </a:pPr>
            <a:r>
              <a:rPr sz="1600" b="1" i="0">
                <a:solidFill>
                  <a:srgbClr val="2F5DA8"/>
                </a:solidFill>
                <a:latin typeface="Arial"/>
              </a:rPr>
              <a:t>Investopedia</a:t>
            </a:r>
          </a:p>
          <a:p>
            <a:pPr marL="0" indent="0" algn="l">
              <a:spcAft>
                <a:spcPts val="800"/>
              </a:spcAft>
              <a:buNone/>
            </a:pPr>
            <a:r>
              <a:rPr sz="1400" b="1" i="0">
                <a:solidFill>
                  <a:srgbClr val="262626"/>
                </a:solidFill>
                <a:latin typeface="Arial"/>
              </a:rPr>
              <a:t>Human-centred</a:t>
            </a:r>
          </a:p>
          <a:p>
            <a:pPr marL="164592" indent="-146304" algn="l">
              <a:spcAft>
                <a:spcPts val="400"/>
              </a:spcAft>
              <a:buFont typeface="Arial"/>
              <a:buChar char="•"/>
            </a:pPr>
            <a:r>
              <a:rPr sz="1400" b="0" i="0">
                <a:solidFill>
                  <a:srgbClr val="262626"/>
                </a:solidFill>
                <a:latin typeface="Arial"/>
              </a:rPr>
              <a:t>“Simulation of human intelligence”</a:t>
            </a:r>
          </a:p>
          <a:p>
            <a:pPr marL="164592" indent="-146304" algn="l">
              <a:spcAft>
                <a:spcPts val="400"/>
              </a:spcAft>
              <a:buFont typeface="Arial"/>
              <a:buChar char="•"/>
            </a:pPr>
            <a:r>
              <a:rPr sz="1400" b="0" i="0">
                <a:solidFill>
                  <a:srgbClr val="262626"/>
                </a:solidFill>
                <a:latin typeface="Arial"/>
              </a:rPr>
              <a:t>“Think like humans and mimic their actions”</a:t>
            </a:r>
          </a:p>
          <a:p>
            <a:pPr marL="0" indent="0" algn="l">
              <a:spcAft>
                <a:spcPts val="400"/>
              </a:spcAft>
              <a:buNone/>
            </a:pPr>
            <a:r>
              <a:rPr sz="1400" b="0" i="0">
                <a:solidFill>
                  <a:srgbClr val="595959"/>
                </a:solidFill>
                <a:latin typeface="Arial"/>
              </a:rPr>
              <a:t>→ the human column of Russell &amp; Norvig</a:t>
            </a:r>
          </a:p>
        </p:txBody>
      </p:sp>
      <p:sp>
        <p:nvSpPr>
          <p:cNvPr id="5" name="Rounded Rectangle 4"/>
          <p:cNvSpPr/>
          <p:nvPr/>
        </p:nvSpPr>
        <p:spPr>
          <a:xfrm>
            <a:off x="5385816" y="1234440"/>
            <a:ext cx="3410711"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200"/>
              </a:spcAft>
              <a:buNone/>
            </a:pPr>
            <a:r>
              <a:rPr sz="1600" b="1" i="0">
                <a:solidFill>
                  <a:srgbClr val="2F5DA8"/>
                </a:solidFill>
                <a:latin typeface="Arial"/>
              </a:rPr>
              <a:t>Working definition (Dr Hong Qing Yu)</a:t>
            </a:r>
          </a:p>
          <a:p>
            <a:pPr marL="0" indent="0" algn="l">
              <a:spcAft>
                <a:spcPts val="800"/>
              </a:spcAft>
              <a:buNone/>
            </a:pPr>
            <a:r>
              <a:rPr sz="1400" b="1" i="0">
                <a:solidFill>
                  <a:srgbClr val="262626"/>
                </a:solidFill>
                <a:latin typeface="Arial"/>
              </a:rPr>
              <a:t>Rational and data-driven</a:t>
            </a:r>
          </a:p>
          <a:p>
            <a:pPr marL="164592" indent="-146304" algn="l">
              <a:spcAft>
                <a:spcPts val="400"/>
              </a:spcAft>
              <a:buFont typeface="Arial"/>
              <a:buChar char="•"/>
            </a:pPr>
            <a:r>
              <a:rPr sz="1400" b="1" i="0">
                <a:solidFill>
                  <a:srgbClr val="262626"/>
                </a:solidFill>
                <a:latin typeface="Arial"/>
              </a:rPr>
              <a:t>“Soft or hard device”</a:t>
            </a:r>
            <a:r>
              <a:rPr sz="1400" b="0" i="0">
                <a:solidFill>
                  <a:srgbClr val="262626"/>
                </a:solidFill>
                <a:latin typeface="Arial"/>
              </a:rPr>
              <a:t>: software or robot</a:t>
            </a:r>
          </a:p>
          <a:p>
            <a:pPr marL="164592" indent="-146304" algn="l">
              <a:spcAft>
                <a:spcPts val="400"/>
              </a:spcAft>
              <a:buFont typeface="Arial"/>
              <a:buChar char="•"/>
            </a:pPr>
            <a:r>
              <a:rPr sz="1400" b="1" i="0">
                <a:solidFill>
                  <a:srgbClr val="262626"/>
                </a:solidFill>
                <a:latin typeface="Arial"/>
              </a:rPr>
              <a:t>“Best decisions”</a:t>
            </a:r>
            <a:r>
              <a:rPr sz="1400" b="0" i="0">
                <a:solidFill>
                  <a:srgbClr val="262626"/>
                </a:solidFill>
                <a:latin typeface="Arial"/>
              </a:rPr>
              <a:t>: a rational agent</a:t>
            </a:r>
          </a:p>
          <a:p>
            <a:pPr marL="164592" indent="-146304" algn="l">
              <a:spcAft>
                <a:spcPts val="400"/>
              </a:spcAft>
              <a:buFont typeface="Arial"/>
              <a:buChar char="•"/>
            </a:pPr>
            <a:r>
              <a:rPr sz="1400" b="1" i="0">
                <a:solidFill>
                  <a:srgbClr val="262626"/>
                </a:solidFill>
                <a:latin typeface="Arial"/>
              </a:rPr>
              <a:t>“Collected digital information”</a:t>
            </a:r>
            <a:r>
              <a:rPr sz="1400" b="0" i="0">
                <a:solidFill>
                  <a:srgbClr val="262626"/>
                </a:solidFill>
                <a:latin typeface="Arial"/>
              </a:rPr>
              <a:t>: the link to data mining</a:t>
            </a:r>
          </a:p>
        </p:txBody>
      </p:sp>
      <p:sp>
        <p:nvSpPr>
          <p:cNvPr id="6" name="Rounded Rectangle 5"/>
          <p:cNvSpPr/>
          <p:nvPr/>
        </p:nvSpPr>
        <p:spPr>
          <a:xfrm>
            <a:off x="1810512" y="4206240"/>
            <a:ext cx="6986015" cy="868680"/>
          </a:xfrm>
          <a:prstGeom prst="roundRect">
            <a:avLst>
              <a:gd name="adj" fmla="val 8421"/>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ACTIVITY  </a:t>
            </a:r>
            <a:r>
              <a:rPr sz="1400" b="0" i="0">
                <a:solidFill>
                  <a:srgbClr val="262626"/>
                </a:solidFill>
                <a:latin typeface="Arial"/>
              </a:rPr>
              <a:t>Write your own one-sentence definition (“For me, AI is …”) and place it in one of the four quadrants.</a:t>
            </a:r>
          </a:p>
        </p:txBody>
      </p:sp>
      <p:sp>
        <p:nvSpPr>
          <p:cNvPr id="7" name="TextBox 6"/>
          <p:cNvSpPr txBox="1"/>
          <p:nvPr/>
        </p:nvSpPr>
        <p:spPr>
          <a:xfrm>
            <a:off x="1810512" y="5257800"/>
            <a:ext cx="6986015" cy="548640"/>
          </a:xfrm>
          <a:prstGeom prst="rect">
            <a:avLst/>
          </a:prstGeom>
          <a:noFill/>
        </p:spPr>
        <p:txBody>
          <a:bodyPr wrap="square" lIns="54864" tIns="54864" rIns="54864" bIns="54864" anchor="t"/>
          <a:lstStyle/>
          <a:p>
            <a:pPr marL="0" indent="0" algn="ctr">
              <a:spcAft>
                <a:spcPts val="400"/>
              </a:spcAft>
              <a:buNone/>
            </a:pPr>
            <a:r>
              <a:rPr sz="1300" b="0" i="1">
                <a:solidFill>
                  <a:srgbClr val="595959"/>
                </a:solidFill>
                <a:latin typeface="Arial"/>
              </a:rPr>
              <a:t>There is no single agreed definition: AI sits between computer science, maths, psychology, philosophy and engineering.</a:t>
            </a:r>
          </a:p>
        </p:txBody>
      </p:sp>
      <p:sp>
        <p:nvSpPr>
          <p:cNvPr id="8" name="TextBox 7"/>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Investopedia (n.d.); working definition by Dr Hong Qing Yu (original lecture slides).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title of the module</a:t>
            </a:r>
          </a:p>
        </p:txBody>
      </p:sp>
      <p:sp>
        <p:nvSpPr>
          <p:cNvPr id="3" name="Content Placeholder 2"/>
          <p:cNvSpPr>
            <a:spLocks noGrp="1"/>
          </p:cNvSpPr>
          <p:nvPr>
            <p:ph idx="1"/>
          </p:nvPr>
        </p:nvSpPr>
        <p:spPr/>
        <p:txBody>
          <a:bodyPr/>
          <a:lstStyle/>
          <a:p>
            <a:r>
              <a:rPr lang="en-GB" dirty="0"/>
              <a:t>Frontiers in AI and Data Science (good name!), but you may feel a bit of confusion. </a:t>
            </a:r>
          </a:p>
          <a:p>
            <a:endParaRPr lang="en-GB" dirty="0"/>
          </a:p>
          <a:p>
            <a:r>
              <a:rPr lang="en-GB" dirty="0"/>
              <a:t>Actually, data mining partially belongs to AI field</a:t>
            </a:r>
          </a:p>
          <a:p>
            <a:endParaRPr lang="en-GB" dirty="0"/>
          </a:p>
          <a:p>
            <a:endParaRPr lang="en-GB" dirty="0"/>
          </a:p>
        </p:txBody>
      </p:sp>
      <p:sp>
        <p:nvSpPr>
          <p:cNvPr id="4" name="AutoShape 2" descr="53,992 Confused Illustrations, Royalty-Free Vector Graphics &amp; Clip Art -  iStoc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733800"/>
            <a:ext cx="2486025" cy="1838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572000" y="3777734"/>
            <a:ext cx="4301177" cy="369332"/>
          </a:xfrm>
          <a:prstGeom prst="rect">
            <a:avLst/>
          </a:prstGeom>
          <a:noFill/>
        </p:spPr>
        <p:txBody>
          <a:bodyPr wrap="none" rtlCol="0">
            <a:spAutoFit/>
          </a:bodyPr>
          <a:lstStyle/>
          <a:p>
            <a:r>
              <a:rPr lang="en-GB" dirty="0">
                <a:solidFill>
                  <a:srgbClr val="FF0000"/>
                </a:solidFill>
              </a:rPr>
              <a:t>How about MACHINE LEARNING then?</a:t>
            </a:r>
          </a:p>
        </p:txBody>
      </p:sp>
    </p:spTree>
    <p:extLst>
      <p:ext uri="{BB962C8B-B14F-4D97-AF65-F5344CB8AC3E}">
        <p14:creationId xmlns:p14="http://schemas.microsoft.com/office/powerpoint/2010/main" val="260524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image: why the confusion?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94611"/>
            <a:ext cx="2743200" cy="2028496"/>
          </a:xfrm>
          <a:prstGeom prst="rect">
            <a:avLst/>
          </a:prstGeom>
          <a:ln w="9525">
            <a:solidFill>
              <a:srgbClr val="A6B8D6"/>
            </a:solidFill>
          </a:ln>
        </p:spPr>
      </p:pic>
      <p:sp>
        <p:nvSpPr>
          <p:cNvPr id="5" name="Rounded Rectangle 4"/>
          <p:cNvSpPr/>
          <p:nvPr/>
        </p:nvSpPr>
        <p:spPr>
          <a:xfrm>
            <a:off x="4736592" y="1280160"/>
            <a:ext cx="4059935" cy="2057400"/>
          </a:xfrm>
          <a:prstGeom prst="roundRect">
            <a:avLst>
              <a:gd name="adj" fmla="val 355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Why this image?</a:t>
            </a:r>
          </a:p>
          <a:p>
            <a:pPr marL="0" indent="0" algn="l">
              <a:spcAft>
                <a:spcPts val="600"/>
              </a:spcAft>
              <a:buNone/>
            </a:pPr>
            <a:r>
              <a:rPr sz="1300" b="0" i="0">
                <a:solidFill>
                  <a:srgbClr val="262626"/>
                </a:solidFill>
                <a:latin typeface="Arial"/>
              </a:rPr>
              <a:t>Two puzzled people with question marks represent a common confusion: the terms data mining, machine learning and AI overlap, and are often used as if they meant the same thing.</a:t>
            </a:r>
          </a:p>
        </p:txBody>
      </p:sp>
      <p:sp>
        <p:nvSpPr>
          <p:cNvPr id="6" name="Rounded Rectangle 5"/>
          <p:cNvSpPr/>
          <p:nvPr/>
        </p:nvSpPr>
        <p:spPr>
          <a:xfrm>
            <a:off x="1810512" y="3566160"/>
            <a:ext cx="6986015"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point of the slide</a:t>
            </a:r>
          </a:p>
          <a:p>
            <a:pPr marL="164592" indent="-146304" algn="l">
              <a:spcAft>
                <a:spcPts val="600"/>
              </a:spcAft>
              <a:buFont typeface="Arial"/>
              <a:buChar char="•"/>
            </a:pPr>
            <a:r>
              <a:rPr sz="1300" b="0" i="0">
                <a:solidFill>
                  <a:srgbClr val="262626"/>
                </a:solidFill>
                <a:latin typeface="Arial"/>
              </a:rPr>
              <a:t>A module that combines AI and data science covers related, overlapping fields.</a:t>
            </a:r>
          </a:p>
          <a:p>
            <a:pPr marL="164592" indent="-146304" algn="l">
              <a:spcAft>
                <a:spcPts val="600"/>
              </a:spcAft>
              <a:buFont typeface="Arial"/>
              <a:buChar char="•"/>
            </a:pPr>
            <a:r>
              <a:rPr sz="1300" b="0" i="0">
                <a:solidFill>
                  <a:srgbClr val="262626"/>
                </a:solidFill>
                <a:latin typeface="Arial"/>
              </a:rPr>
              <a:t>Data mining partly belongs to AI: some of its methods come from AI, others from statistics and databases.</a:t>
            </a:r>
          </a:p>
          <a:p>
            <a:pPr marL="164592" indent="-146304" algn="l">
              <a:spcAft>
                <a:spcPts val="600"/>
              </a:spcAft>
              <a:buFont typeface="Arial"/>
              <a:buChar char="•"/>
            </a:pPr>
            <a:r>
              <a:rPr sz="1300" b="0" i="0">
                <a:solidFill>
                  <a:srgbClr val="262626"/>
                </a:solidFill>
                <a:latin typeface="Arial"/>
              </a:rPr>
              <a:t>The next slides define machine learning and show how the fields overlap.</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Data mining, ML and AI</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914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ctr"/>
          <a:lstStyle/>
          <a:p>
            <a:pPr marL="0" indent="0" algn="l">
              <a:spcAft>
                <a:spcPts val="400"/>
              </a:spcAft>
              <a:buNone/>
            </a:pPr>
            <a:r>
              <a:rPr sz="1600" b="1" i="0">
                <a:solidFill>
                  <a:srgbClr val="1F3864"/>
                </a:solidFill>
                <a:latin typeface="Arial"/>
              </a:rPr>
              <a:t>Artificial intelligence:  </a:t>
            </a:r>
            <a:r>
              <a:rPr sz="1400" b="0" i="0">
                <a:solidFill>
                  <a:srgbClr val="262626"/>
                </a:solidFill>
                <a:latin typeface="Arial"/>
              </a:rPr>
              <a:t>The broad goal: systems that perceive, reason, decide and act. Machine learning is its most successful approach today.</a:t>
            </a:r>
          </a:p>
        </p:txBody>
      </p:sp>
      <p:sp>
        <p:nvSpPr>
          <p:cNvPr id="5" name="Rounded Rectangle 4"/>
          <p:cNvSpPr/>
          <p:nvPr/>
        </p:nvSpPr>
        <p:spPr>
          <a:xfrm>
            <a:off x="1810512" y="2286000"/>
            <a:ext cx="6986015" cy="914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ctr"/>
          <a:lstStyle/>
          <a:p>
            <a:pPr marL="0" indent="0" algn="l">
              <a:spcAft>
                <a:spcPts val="400"/>
              </a:spcAft>
              <a:buNone/>
            </a:pPr>
            <a:r>
              <a:rPr sz="1600" b="1" i="0">
                <a:solidFill>
                  <a:srgbClr val="2F5DA8"/>
                </a:solidFill>
                <a:latin typeface="Arial"/>
              </a:rPr>
              <a:t>Machine learning:  </a:t>
            </a:r>
            <a:r>
              <a:rPr sz="1400" b="0" i="0">
                <a:solidFill>
                  <a:srgbClr val="262626"/>
                </a:solidFill>
                <a:latin typeface="Arial"/>
              </a:rPr>
              <a:t>The algorithms that learn from data.</a:t>
            </a:r>
          </a:p>
        </p:txBody>
      </p:sp>
      <p:sp>
        <p:nvSpPr>
          <p:cNvPr id="6" name="Rounded Rectangle 5"/>
          <p:cNvSpPr/>
          <p:nvPr/>
        </p:nvSpPr>
        <p:spPr>
          <a:xfrm>
            <a:off x="1810512" y="3337560"/>
            <a:ext cx="6986015" cy="914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ctr"/>
          <a:lstStyle/>
          <a:p>
            <a:pPr marL="0" indent="0" algn="l">
              <a:spcAft>
                <a:spcPts val="400"/>
              </a:spcAft>
              <a:buNone/>
            </a:pPr>
            <a:r>
              <a:rPr sz="1600" b="1" i="0">
                <a:solidFill>
                  <a:srgbClr val="C00000"/>
                </a:solidFill>
                <a:latin typeface="Arial"/>
              </a:rPr>
              <a:t>Data mining:  </a:t>
            </a:r>
            <a:r>
              <a:rPr sz="1400" b="0" i="0">
                <a:solidFill>
                  <a:srgbClr val="262626"/>
                </a:solidFill>
                <a:latin typeface="Arial"/>
              </a:rPr>
              <a:t>The process of finding knowledge in data. It uses ML, statistics and databases as tools.</a:t>
            </a:r>
          </a:p>
        </p:txBody>
      </p:sp>
      <p:sp>
        <p:nvSpPr>
          <p:cNvPr id="7" name="TextBox 6"/>
          <p:cNvSpPr txBox="1"/>
          <p:nvPr/>
        </p:nvSpPr>
        <p:spPr>
          <a:xfrm>
            <a:off x="1810512" y="4480559"/>
            <a:ext cx="6986015" cy="365760"/>
          </a:xfrm>
          <a:prstGeom prst="rect">
            <a:avLst/>
          </a:prstGeom>
          <a:noFill/>
        </p:spPr>
        <p:txBody>
          <a:bodyPr wrap="square" lIns="54864" tIns="54864" rIns="54864" bIns="54864" anchor="t"/>
          <a:lstStyle/>
          <a:p>
            <a:pPr marL="0" indent="0" algn="l">
              <a:spcAft>
                <a:spcPts val="400"/>
              </a:spcAft>
              <a:buNone/>
            </a:pPr>
            <a:r>
              <a:rPr sz="1500" b="1" i="0">
                <a:solidFill>
                  <a:srgbClr val="1F3864"/>
                </a:solidFill>
                <a:latin typeface="Arial"/>
              </a:rPr>
              <a:t>Two classic definitions of machine learning</a:t>
            </a:r>
          </a:p>
        </p:txBody>
      </p:sp>
      <p:sp>
        <p:nvSpPr>
          <p:cNvPr id="8" name="Rounded Rectangle 7"/>
          <p:cNvSpPr/>
          <p:nvPr/>
        </p:nvSpPr>
        <p:spPr>
          <a:xfrm>
            <a:off x="1810512" y="4937759"/>
            <a:ext cx="3410711" cy="1508760"/>
          </a:xfrm>
          <a:prstGeom prst="roundRect">
            <a:avLst>
              <a:gd name="adj" fmla="val 4848"/>
            </a:avLst>
          </a:prstGeom>
          <a:solidFill>
            <a:srgbClr val="FFFFFF"/>
          </a:solidFill>
          <a:ln>
            <a:solidFill>
              <a:srgbClr val="A6B8D6"/>
            </a:solid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Arthur Samuel (1959)</a:t>
            </a:r>
          </a:p>
          <a:p>
            <a:pPr marL="0" indent="0" algn="l">
              <a:spcAft>
                <a:spcPts val="400"/>
              </a:spcAft>
              <a:buNone/>
            </a:pPr>
            <a:r>
              <a:rPr sz="1300" b="0" i="0">
                <a:solidFill>
                  <a:srgbClr val="262626"/>
                </a:solidFill>
                <a:latin typeface="Arial"/>
              </a:rPr>
              <a:t>“The ability to learn without being explicitly programmed.”</a:t>
            </a:r>
          </a:p>
        </p:txBody>
      </p:sp>
      <p:sp>
        <p:nvSpPr>
          <p:cNvPr id="9" name="Rounded Rectangle 8"/>
          <p:cNvSpPr/>
          <p:nvPr/>
        </p:nvSpPr>
        <p:spPr>
          <a:xfrm>
            <a:off x="5385816" y="4937759"/>
            <a:ext cx="3410711" cy="1508760"/>
          </a:xfrm>
          <a:prstGeom prst="roundRect">
            <a:avLst>
              <a:gd name="adj" fmla="val 4848"/>
            </a:avLst>
          </a:prstGeom>
          <a:solidFill>
            <a:srgbClr val="FFFFFF"/>
          </a:solidFill>
          <a:ln>
            <a:solidFill>
              <a:srgbClr val="A6B8D6"/>
            </a:solid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Tom Mitchell (1997)</a:t>
            </a:r>
          </a:p>
          <a:p>
            <a:pPr marL="0" indent="0" algn="l">
              <a:spcAft>
                <a:spcPts val="400"/>
              </a:spcAft>
              <a:buNone/>
            </a:pPr>
            <a:r>
              <a:rPr sz="1300" b="0" i="0">
                <a:solidFill>
                  <a:srgbClr val="262626"/>
                </a:solidFill>
                <a:latin typeface="Arial"/>
              </a:rPr>
              <a:t>A program learns from experience E, for task T and performance measure P, if its performance on T, measured by P, improves with E.</a:t>
            </a:r>
          </a:p>
        </p:txBody>
      </p:sp>
      <p:sp>
        <p:nvSpPr>
          <p:cNvPr id="10" name="TextBox 9"/>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Samuel (1959); Mitchell (1997).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 between Data Mining, Machine Learning, AI and others</a:t>
            </a:r>
            <a:br>
              <a:rPr lang="en-GB" dirty="0"/>
            </a:br>
            <a:endParaRPr lang="en-GB" dirty="0"/>
          </a:p>
        </p:txBody>
      </p:sp>
      <p:pic>
        <p:nvPicPr>
          <p:cNvPr id="4098" name="Picture 2" descr="Machine Learning vs. Statistical Model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24000"/>
            <a:ext cx="7315200" cy="4499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92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Reading the diagram</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graphicFrame>
        <p:nvGraphicFramePr>
          <p:cNvPr id="4" name="Table 3"/>
          <p:cNvGraphicFramePr>
            <a:graphicFrameLocks noGrp="1"/>
          </p:cNvGraphicFramePr>
          <p:nvPr/>
        </p:nvGraphicFramePr>
        <p:xfrm>
          <a:off x="1810512" y="1234440"/>
          <a:ext cx="6986015" cy="3291839"/>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837175">
                  <a:extLst>
                    <a:ext uri="{9D8B030D-6E8A-4147-A177-3AD203B41FA5}">
                      <a16:colId xmlns:a16="http://schemas.microsoft.com/office/drawing/2014/main" val="20001"/>
                    </a:ext>
                  </a:extLst>
                </a:gridCol>
              </a:tblGrid>
              <a:tr h="548639">
                <a:tc>
                  <a:txBody>
                    <a:bodyPr/>
                    <a:lstStyle/>
                    <a:p>
                      <a:pPr marL="0" indent="0" algn="l">
                        <a:spcAft>
                          <a:spcPts val="400"/>
                        </a:spcAft>
                        <a:buNone/>
                      </a:pPr>
                      <a:r>
                        <a:rPr sz="1400" b="1" i="0">
                          <a:solidFill>
                            <a:srgbClr val="FFFFFF"/>
                          </a:solidFill>
                          <a:latin typeface="Arial"/>
                        </a:rPr>
                        <a:t>Statistics</a:t>
                      </a:r>
                    </a:p>
                  </a:txBody>
                  <a:tcPr anchor="ctr">
                    <a:solidFill>
                      <a:srgbClr val="1F3864"/>
                    </a:solidFill>
                  </a:tcPr>
                </a:tc>
                <a:tc>
                  <a:txBody>
                    <a:bodyPr/>
                    <a:lstStyle/>
                    <a:p>
                      <a:pPr marL="0" indent="0" algn="l">
                        <a:spcAft>
                          <a:spcPts val="400"/>
                        </a:spcAft>
                        <a:buNone/>
                      </a:pPr>
                      <a:r>
                        <a:rPr sz="1400" b="0" i="0">
                          <a:solidFill>
                            <a:srgbClr val="262626"/>
                          </a:solidFill>
                          <a:latin typeface="Arial"/>
                        </a:rPr>
                        <a:t>The mathematical foundation: probability, testing, regression</a:t>
                      </a:r>
                    </a:p>
                  </a:txBody>
                  <a:tcPr anchor="ctr">
                    <a:solidFill>
                      <a:srgbClr val="E8EEF7"/>
                    </a:solidFill>
                  </a:tcPr>
                </a:tc>
                <a:extLst>
                  <a:ext uri="{0D108BD9-81ED-4DB2-BD59-A6C34878D82A}">
                    <a16:rowId xmlns:a16="http://schemas.microsoft.com/office/drawing/2014/main" val="10000"/>
                  </a:ext>
                </a:extLst>
              </a:tr>
              <a:tr h="548639">
                <a:tc>
                  <a:txBody>
                    <a:bodyPr/>
                    <a:lstStyle/>
                    <a:p>
                      <a:pPr marL="0" indent="0" algn="l">
                        <a:spcAft>
                          <a:spcPts val="400"/>
                        </a:spcAft>
                        <a:buNone/>
                      </a:pPr>
                      <a:r>
                        <a:rPr sz="1400" b="1" i="0">
                          <a:solidFill>
                            <a:srgbClr val="FFFFFF"/>
                          </a:solidFill>
                          <a:latin typeface="Arial"/>
                        </a:rPr>
                        <a:t>Databases</a:t>
                      </a:r>
                    </a:p>
                  </a:txBody>
                  <a:tcPr anchor="ctr">
                    <a:solidFill>
                      <a:srgbClr val="1F3864"/>
                    </a:solidFill>
                  </a:tcPr>
                </a:tc>
                <a:tc>
                  <a:txBody>
                    <a:bodyPr/>
                    <a:lstStyle/>
                    <a:p>
                      <a:pPr marL="0" indent="0" algn="l">
                        <a:spcAft>
                          <a:spcPts val="400"/>
                        </a:spcAft>
                        <a:buNone/>
                      </a:pPr>
                      <a:r>
                        <a:rPr sz="1400" b="0" i="0">
                          <a:solidFill>
                            <a:srgbClr val="262626"/>
                          </a:solidFill>
                          <a:latin typeface="Arial"/>
                        </a:rPr>
                        <a:t>Storing, managing and querying data efficiently</a:t>
                      </a:r>
                    </a:p>
                  </a:txBody>
                  <a:tcPr anchor="ctr">
                    <a:solidFill>
                      <a:srgbClr val="FFFFFF"/>
                    </a:solidFill>
                  </a:tcPr>
                </a:tc>
                <a:extLst>
                  <a:ext uri="{0D108BD9-81ED-4DB2-BD59-A6C34878D82A}">
                    <a16:rowId xmlns:a16="http://schemas.microsoft.com/office/drawing/2014/main" val="10001"/>
                  </a:ext>
                </a:extLst>
              </a:tr>
              <a:tr h="548639">
                <a:tc>
                  <a:txBody>
                    <a:bodyPr/>
                    <a:lstStyle/>
                    <a:p>
                      <a:pPr marL="0" indent="0" algn="l">
                        <a:spcAft>
                          <a:spcPts val="400"/>
                        </a:spcAft>
                        <a:buNone/>
                      </a:pPr>
                      <a:r>
                        <a:rPr sz="1400" b="1" i="0">
                          <a:solidFill>
                            <a:srgbClr val="FFFFFF"/>
                          </a:solidFill>
                          <a:latin typeface="Arial"/>
                        </a:rPr>
                        <a:t>Machine learning</a:t>
                      </a:r>
                    </a:p>
                  </a:txBody>
                  <a:tcPr anchor="ctr">
                    <a:solidFill>
                      <a:srgbClr val="1F3864"/>
                    </a:solidFill>
                  </a:tcPr>
                </a:tc>
                <a:tc>
                  <a:txBody>
                    <a:bodyPr/>
                    <a:lstStyle/>
                    <a:p>
                      <a:pPr marL="0" indent="0" algn="l">
                        <a:spcAft>
                          <a:spcPts val="400"/>
                        </a:spcAft>
                        <a:buNone/>
                      </a:pPr>
                      <a:r>
                        <a:rPr sz="1400" b="0" i="0">
                          <a:solidFill>
                            <a:srgbClr val="262626"/>
                          </a:solidFill>
                          <a:latin typeface="Arial"/>
                        </a:rPr>
                        <a:t>The learning algorithms; mostly inside AI</a:t>
                      </a:r>
                    </a:p>
                  </a:txBody>
                  <a:tcPr anchor="ctr">
                    <a:solidFill>
                      <a:srgbClr val="E8EEF7"/>
                    </a:solidFill>
                  </a:tcPr>
                </a:tc>
                <a:extLst>
                  <a:ext uri="{0D108BD9-81ED-4DB2-BD59-A6C34878D82A}">
                    <a16:rowId xmlns:a16="http://schemas.microsoft.com/office/drawing/2014/main" val="10002"/>
                  </a:ext>
                </a:extLst>
              </a:tr>
              <a:tr h="548639">
                <a:tc>
                  <a:txBody>
                    <a:bodyPr/>
                    <a:lstStyle/>
                    <a:p>
                      <a:pPr marL="0" indent="0" algn="l">
                        <a:spcAft>
                          <a:spcPts val="400"/>
                        </a:spcAft>
                        <a:buNone/>
                      </a:pPr>
                      <a:r>
                        <a:rPr sz="1400" b="1" i="0">
                          <a:solidFill>
                            <a:srgbClr val="FFFFFF"/>
                          </a:solidFill>
                          <a:latin typeface="Arial"/>
                        </a:rPr>
                        <a:t>Pattern recognition</a:t>
                      </a:r>
                    </a:p>
                  </a:txBody>
                  <a:tcPr anchor="ctr">
                    <a:solidFill>
                      <a:srgbClr val="1F3864"/>
                    </a:solidFill>
                  </a:tcPr>
                </a:tc>
                <a:tc>
                  <a:txBody>
                    <a:bodyPr/>
                    <a:lstStyle/>
                    <a:p>
                      <a:pPr marL="0" indent="0" algn="l">
                        <a:spcAft>
                          <a:spcPts val="400"/>
                        </a:spcAft>
                        <a:buNone/>
                      </a:pPr>
                      <a:r>
                        <a:rPr sz="1400" b="0" i="0">
                          <a:solidFill>
                            <a:srgbClr val="262626"/>
                          </a:solidFill>
                          <a:latin typeface="Arial"/>
                        </a:rPr>
                        <a:t>Between statistics and ML, e.g. faces, handwriting</a:t>
                      </a:r>
                    </a:p>
                  </a:txBody>
                  <a:tcPr anchor="ctr">
                    <a:solidFill>
                      <a:srgbClr val="FFFFFF"/>
                    </a:solidFill>
                  </a:tcPr>
                </a:tc>
                <a:extLst>
                  <a:ext uri="{0D108BD9-81ED-4DB2-BD59-A6C34878D82A}">
                    <a16:rowId xmlns:a16="http://schemas.microsoft.com/office/drawing/2014/main" val="10003"/>
                  </a:ext>
                </a:extLst>
              </a:tr>
              <a:tr h="548639">
                <a:tc>
                  <a:txBody>
                    <a:bodyPr/>
                    <a:lstStyle/>
                    <a:p>
                      <a:pPr marL="0" indent="0" algn="l">
                        <a:spcAft>
                          <a:spcPts val="400"/>
                        </a:spcAft>
                        <a:buNone/>
                      </a:pPr>
                      <a:r>
                        <a:rPr sz="1400" b="1" i="0">
                          <a:solidFill>
                            <a:srgbClr val="FFFFFF"/>
                          </a:solidFill>
                          <a:latin typeface="Arial"/>
                        </a:rPr>
                        <a:t>Neurocomputing</a:t>
                      </a:r>
                    </a:p>
                  </a:txBody>
                  <a:tcPr anchor="ctr">
                    <a:solidFill>
                      <a:srgbClr val="1F3864"/>
                    </a:solidFill>
                  </a:tcPr>
                </a:tc>
                <a:tc>
                  <a:txBody>
                    <a:bodyPr/>
                    <a:lstStyle/>
                    <a:p>
                      <a:pPr marL="0" indent="0" algn="l">
                        <a:spcAft>
                          <a:spcPts val="400"/>
                        </a:spcAft>
                        <a:buNone/>
                      </a:pPr>
                      <a:r>
                        <a:rPr sz="1400" b="0" i="0">
                          <a:solidFill>
                            <a:srgbClr val="262626"/>
                          </a:solidFill>
                          <a:latin typeface="Arial"/>
                        </a:rPr>
                        <a:t>Brain-inspired computing: neural networks → deep learning</a:t>
                      </a:r>
                    </a:p>
                  </a:txBody>
                  <a:tcPr anchor="ctr">
                    <a:solidFill>
                      <a:srgbClr val="E8EEF7"/>
                    </a:solidFill>
                  </a:tcPr>
                </a:tc>
                <a:extLst>
                  <a:ext uri="{0D108BD9-81ED-4DB2-BD59-A6C34878D82A}">
                    <a16:rowId xmlns:a16="http://schemas.microsoft.com/office/drawing/2014/main" val="10004"/>
                  </a:ext>
                </a:extLst>
              </a:tr>
              <a:tr h="548644">
                <a:tc>
                  <a:txBody>
                    <a:bodyPr/>
                    <a:lstStyle/>
                    <a:p>
                      <a:pPr marL="0" indent="0" algn="l">
                        <a:spcAft>
                          <a:spcPts val="400"/>
                        </a:spcAft>
                        <a:buNone/>
                      </a:pPr>
                      <a:r>
                        <a:rPr sz="1400" b="1" i="0">
                          <a:solidFill>
                            <a:srgbClr val="FFFFFF"/>
                          </a:solidFill>
                          <a:latin typeface="Arial"/>
                        </a:rPr>
                        <a:t>KDD</a:t>
                      </a:r>
                    </a:p>
                  </a:txBody>
                  <a:tcPr anchor="ctr">
                    <a:solidFill>
                      <a:srgbClr val="1F3864"/>
                    </a:solidFill>
                  </a:tcPr>
                </a:tc>
                <a:tc>
                  <a:txBody>
                    <a:bodyPr/>
                    <a:lstStyle/>
                    <a:p>
                      <a:pPr marL="0" indent="0" algn="l">
                        <a:spcAft>
                          <a:spcPts val="400"/>
                        </a:spcAft>
                        <a:buNone/>
                      </a:pPr>
                      <a:r>
                        <a:rPr sz="1400" b="0" i="0">
                          <a:solidFill>
                            <a:srgbClr val="262626"/>
                          </a:solidFill>
                          <a:latin typeface="Arial"/>
                        </a:rPr>
                        <a:t>The whole discovery process; contains data mining</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810512" y="6217920"/>
            <a:ext cx="6986015" cy="45720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Figure on the previous slide: a Venn diagram of data mining and neighbouring fields, widely used in data mining teaching (often attributed to SAS Institute).</a:t>
            </a:r>
          </a:p>
        </p:txBody>
      </p:sp>
      <p:sp>
        <p:nvSpPr>
          <p:cNvPr id="6" name="Rounded Rectangle 5"/>
          <p:cNvSpPr/>
          <p:nvPr/>
        </p:nvSpPr>
        <p:spPr>
          <a:xfrm>
            <a:off x="1810512" y="4800600"/>
            <a:ext cx="6986015" cy="1371600"/>
          </a:xfrm>
          <a:prstGeom prst="roundRect">
            <a:avLst>
              <a:gd name="adj" fmla="val 5333"/>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TAKEAWAY  </a:t>
            </a:r>
            <a:r>
              <a:rPr sz="1400" b="0" i="0">
                <a:solidFill>
                  <a:srgbClr val="FFFFFF"/>
                </a:solidFill>
                <a:latin typeface="Arial"/>
              </a:rPr>
              <a:t>Data mining is interdisciplinary: you need statistics, databases, ML and AI. Drawn today, one more circle would surround it all: Data Science, plus domain knowledge.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7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How are data mining, machine learning and AI related?</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Q7 (Understanding): </a:t>
            </a:r>
            <a:r>
              <a:rPr sz="1400" b="0" i="1">
                <a:solidFill>
                  <a:srgbClr val="595959"/>
                </a:solidFill>
                <a:latin typeface="Arial"/>
              </a:rPr>
              <a:t>How are data mining, machine learning and AI related?</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AI is the broad goal of building intelligent systems; machine learning is the set of algorithms that learn from data and is AI’s most successful approach today; data mining is the process of finding knowledge in data, using ML together with statistics and databases. The fields overlap rather than nest neatly.</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Data mining, ML and AI; Reading the diagram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1" y="3976004"/>
            <a:ext cx="4571999" cy="595996"/>
          </a:xfrm>
        </p:spPr>
        <p:txBody>
          <a:bodyPr/>
          <a:lstStyle/>
          <a:p>
            <a:r>
              <a:rPr lang="en-GB" dirty="0"/>
              <a:t>A bit of History of AI</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1266" name="Picture 2" descr="Alan Turing | 0-day Clothing: T-Shirts for Hackers, Engineers and Geeks | Alan  turing, Computer science, T shi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1785254"/>
            <a:ext cx="2247900"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98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Section overview: history</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46838"/>
            <a:ext cx="1737360" cy="1575402"/>
          </a:xfrm>
          <a:prstGeom prst="rect">
            <a:avLst/>
          </a:prstGeom>
          <a:ln w="9525">
            <a:solidFill>
              <a:srgbClr val="A6B8D6"/>
            </a:solidFill>
          </a:ln>
        </p:spPr>
      </p:pic>
      <p:sp>
        <p:nvSpPr>
          <p:cNvPr id="5" name="Rounded Rectangle 4"/>
          <p:cNvSpPr/>
          <p:nvPr/>
        </p:nvSpPr>
        <p:spPr>
          <a:xfrm>
            <a:off x="3730752" y="1234440"/>
            <a:ext cx="5065775" cy="1600200"/>
          </a:xfrm>
          <a:prstGeom prst="roundRect">
            <a:avLst>
              <a:gd name="adj" fmla="val 457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300" b="1" i="0">
                <a:solidFill>
                  <a:srgbClr val="262626"/>
                </a:solidFill>
                <a:latin typeface="Arial"/>
              </a:rPr>
              <a:t>Image: </a:t>
            </a:r>
            <a:r>
              <a:rPr sz="1300" b="0" i="0">
                <a:solidFill>
                  <a:srgbClr val="262626"/>
                </a:solidFill>
                <a:latin typeface="Arial"/>
              </a:rPr>
              <a:t>a stylised portrait of Alan Turing with his words “Machines take me by surprise with great frequency” (Turing, 1950). He wrote this in reply to the objection that machines can never do anything new.</a:t>
            </a:r>
          </a:p>
        </p:txBody>
      </p:sp>
      <p:sp>
        <p:nvSpPr>
          <p:cNvPr id="6" name="TextBox 5"/>
          <p:cNvSpPr txBox="1"/>
          <p:nvPr/>
        </p:nvSpPr>
        <p:spPr>
          <a:xfrm>
            <a:off x="1810512" y="3017520"/>
            <a:ext cx="6986015" cy="365760"/>
          </a:xfrm>
          <a:prstGeom prst="rect">
            <a:avLst/>
          </a:prstGeom>
          <a:noFill/>
        </p:spPr>
        <p:txBody>
          <a:bodyPr wrap="square" lIns="54864" tIns="54864" rIns="54864" bIns="54864" anchor="t"/>
          <a:lstStyle/>
          <a:p>
            <a:pPr marL="0" indent="0" algn="l">
              <a:spcAft>
                <a:spcPts val="400"/>
              </a:spcAft>
              <a:buNone/>
            </a:pPr>
            <a:r>
              <a:rPr sz="1500" b="1" i="0">
                <a:solidFill>
                  <a:srgbClr val="1F3864"/>
                </a:solidFill>
                <a:latin typeface="Arial"/>
              </a:rPr>
              <a:t>This section: a timeline of AI</a:t>
            </a:r>
          </a:p>
        </p:txBody>
      </p:sp>
      <p:sp>
        <p:nvSpPr>
          <p:cNvPr id="7" name="Rounded Rectangle 6"/>
          <p:cNvSpPr/>
          <p:nvPr/>
        </p:nvSpPr>
        <p:spPr>
          <a:xfrm>
            <a:off x="1810512" y="3474720"/>
            <a:ext cx="1664207" cy="1097280"/>
          </a:xfrm>
          <a:prstGeom prst="roundRect">
            <a:avLst>
              <a:gd name="adj" fmla="val 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a:solidFill>
                  <a:srgbClr val="2F5DA8"/>
                </a:solidFill>
                <a:latin typeface="Arial"/>
              </a:rPr>
              <a:t>1950</a:t>
            </a:r>
          </a:p>
          <a:p>
            <a:pPr marL="0" indent="0" algn="ctr">
              <a:spcAft>
                <a:spcPts val="400"/>
              </a:spcAft>
              <a:buNone/>
            </a:pPr>
            <a:r>
              <a:rPr sz="1200" b="0" i="0">
                <a:solidFill>
                  <a:srgbClr val="262626"/>
                </a:solidFill>
                <a:latin typeface="Arial"/>
              </a:rPr>
              <a:t>Turing asks “Can machines think?”</a:t>
            </a:r>
          </a:p>
        </p:txBody>
      </p:sp>
      <p:sp>
        <p:nvSpPr>
          <p:cNvPr id="8" name="Rounded Rectangle 7"/>
          <p:cNvSpPr/>
          <p:nvPr/>
        </p:nvSpPr>
        <p:spPr>
          <a:xfrm>
            <a:off x="3584448" y="3474720"/>
            <a:ext cx="1664207" cy="1097280"/>
          </a:xfrm>
          <a:prstGeom prst="roundRect">
            <a:avLst>
              <a:gd name="adj" fmla="val 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a:solidFill>
                  <a:srgbClr val="2F5DA8"/>
                </a:solidFill>
                <a:latin typeface="Arial"/>
              </a:rPr>
              <a:t>1956</a:t>
            </a:r>
          </a:p>
          <a:p>
            <a:pPr marL="0" indent="0" algn="ctr">
              <a:spcAft>
                <a:spcPts val="400"/>
              </a:spcAft>
              <a:buNone/>
            </a:pPr>
            <a:r>
              <a:rPr sz="1200" b="0" i="0">
                <a:solidFill>
                  <a:srgbClr val="262626"/>
                </a:solidFill>
                <a:latin typeface="Arial"/>
              </a:rPr>
              <a:t>Dartmouth: AI is born</a:t>
            </a:r>
          </a:p>
        </p:txBody>
      </p:sp>
      <p:sp>
        <p:nvSpPr>
          <p:cNvPr id="9" name="Rounded Rectangle 8"/>
          <p:cNvSpPr/>
          <p:nvPr/>
        </p:nvSpPr>
        <p:spPr>
          <a:xfrm>
            <a:off x="5358383" y="3474720"/>
            <a:ext cx="1664207" cy="1097280"/>
          </a:xfrm>
          <a:prstGeom prst="roundRect">
            <a:avLst>
              <a:gd name="adj" fmla="val 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dirty="0">
                <a:solidFill>
                  <a:srgbClr val="2F5DA8"/>
                </a:solidFill>
                <a:latin typeface="Arial"/>
              </a:rPr>
              <a:t>1956</a:t>
            </a:r>
            <a:r>
              <a:rPr lang="en-GB" sz="1400" b="1" i="0" dirty="0">
                <a:solidFill>
                  <a:srgbClr val="2F5DA8"/>
                </a:solidFill>
                <a:latin typeface="Arial"/>
              </a:rPr>
              <a:t>-</a:t>
            </a:r>
            <a:r>
              <a:rPr sz="1400" b="1" i="0" dirty="0">
                <a:solidFill>
                  <a:srgbClr val="2F5DA8"/>
                </a:solidFill>
                <a:latin typeface="Arial"/>
              </a:rPr>
              <a:t>74</a:t>
            </a:r>
          </a:p>
          <a:p>
            <a:pPr marL="0" indent="0" algn="ctr">
              <a:spcAft>
                <a:spcPts val="400"/>
              </a:spcAft>
              <a:buNone/>
            </a:pPr>
            <a:r>
              <a:rPr sz="1200" b="0" i="0" dirty="0">
                <a:solidFill>
                  <a:srgbClr val="262626"/>
                </a:solidFill>
                <a:latin typeface="Arial"/>
              </a:rPr>
              <a:t>Golden years</a:t>
            </a:r>
          </a:p>
        </p:txBody>
      </p:sp>
      <p:sp>
        <p:nvSpPr>
          <p:cNvPr id="10" name="Rounded Rectangle 9"/>
          <p:cNvSpPr/>
          <p:nvPr/>
        </p:nvSpPr>
        <p:spPr>
          <a:xfrm>
            <a:off x="7132320" y="3474720"/>
            <a:ext cx="1664207" cy="1097280"/>
          </a:xfrm>
          <a:prstGeom prst="roundRect">
            <a:avLst>
              <a:gd name="adj" fmla="val 6666"/>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dirty="0">
                <a:solidFill>
                  <a:srgbClr val="C55A11"/>
                </a:solidFill>
                <a:latin typeface="Arial"/>
              </a:rPr>
              <a:t>1974</a:t>
            </a:r>
            <a:r>
              <a:rPr lang="en-GB" sz="1400" b="1" i="0" dirty="0">
                <a:solidFill>
                  <a:srgbClr val="C55A11"/>
                </a:solidFill>
                <a:latin typeface="Arial"/>
              </a:rPr>
              <a:t>-</a:t>
            </a:r>
            <a:r>
              <a:rPr sz="1400" b="1" i="0" dirty="0">
                <a:solidFill>
                  <a:srgbClr val="C55A11"/>
                </a:solidFill>
                <a:latin typeface="Arial"/>
              </a:rPr>
              <a:t>80</a:t>
            </a:r>
          </a:p>
          <a:p>
            <a:pPr marL="0" indent="0" algn="ctr">
              <a:spcAft>
                <a:spcPts val="400"/>
              </a:spcAft>
              <a:buNone/>
            </a:pPr>
            <a:r>
              <a:rPr sz="1200" b="0" i="0" dirty="0">
                <a:solidFill>
                  <a:srgbClr val="262626"/>
                </a:solidFill>
                <a:latin typeface="Arial"/>
              </a:rPr>
              <a:t>First AI winter</a:t>
            </a:r>
          </a:p>
        </p:txBody>
      </p:sp>
      <p:sp>
        <p:nvSpPr>
          <p:cNvPr id="11" name="Rounded Rectangle 10"/>
          <p:cNvSpPr/>
          <p:nvPr/>
        </p:nvSpPr>
        <p:spPr>
          <a:xfrm>
            <a:off x="1810512" y="4709160"/>
            <a:ext cx="1664207" cy="1097280"/>
          </a:xfrm>
          <a:prstGeom prst="roundRect">
            <a:avLst>
              <a:gd name="adj" fmla="val 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dirty="0">
                <a:solidFill>
                  <a:srgbClr val="2F5DA8"/>
                </a:solidFill>
                <a:latin typeface="Arial"/>
              </a:rPr>
              <a:t>1980</a:t>
            </a:r>
            <a:r>
              <a:rPr lang="en-GB" sz="1400" b="1" i="0" dirty="0">
                <a:solidFill>
                  <a:srgbClr val="2F5DA8"/>
                </a:solidFill>
                <a:latin typeface="Arial"/>
              </a:rPr>
              <a:t>-</a:t>
            </a:r>
            <a:r>
              <a:rPr sz="1400" b="1" i="0" dirty="0">
                <a:solidFill>
                  <a:srgbClr val="2F5DA8"/>
                </a:solidFill>
                <a:latin typeface="Arial"/>
              </a:rPr>
              <a:t>87</a:t>
            </a:r>
          </a:p>
          <a:p>
            <a:pPr marL="0" indent="0" algn="ctr">
              <a:spcAft>
                <a:spcPts val="400"/>
              </a:spcAft>
              <a:buNone/>
            </a:pPr>
            <a:r>
              <a:rPr sz="1200" b="0" i="0" dirty="0">
                <a:solidFill>
                  <a:srgbClr val="262626"/>
                </a:solidFill>
                <a:latin typeface="Arial"/>
              </a:rPr>
              <a:t>Expert systems boom</a:t>
            </a:r>
          </a:p>
        </p:txBody>
      </p:sp>
      <p:sp>
        <p:nvSpPr>
          <p:cNvPr id="12" name="Rounded Rectangle 11"/>
          <p:cNvSpPr/>
          <p:nvPr/>
        </p:nvSpPr>
        <p:spPr>
          <a:xfrm>
            <a:off x="3584448" y="4709160"/>
            <a:ext cx="1664207" cy="1097280"/>
          </a:xfrm>
          <a:prstGeom prst="roundRect">
            <a:avLst>
              <a:gd name="adj" fmla="val 6666"/>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dirty="0">
                <a:solidFill>
                  <a:srgbClr val="C55A11"/>
                </a:solidFill>
                <a:latin typeface="Arial"/>
              </a:rPr>
              <a:t>1987</a:t>
            </a:r>
            <a:r>
              <a:rPr lang="en-GB" sz="1400" b="1" i="0" dirty="0">
                <a:solidFill>
                  <a:srgbClr val="C55A11"/>
                </a:solidFill>
                <a:latin typeface="Arial"/>
              </a:rPr>
              <a:t>-</a:t>
            </a:r>
            <a:r>
              <a:rPr sz="1400" b="1" i="0" dirty="0">
                <a:solidFill>
                  <a:srgbClr val="C55A11"/>
                </a:solidFill>
                <a:latin typeface="Arial"/>
              </a:rPr>
              <a:t>93</a:t>
            </a:r>
          </a:p>
          <a:p>
            <a:pPr marL="0" indent="0" algn="ctr">
              <a:spcAft>
                <a:spcPts val="400"/>
              </a:spcAft>
              <a:buNone/>
            </a:pPr>
            <a:r>
              <a:rPr sz="1200" b="0" i="0" dirty="0">
                <a:solidFill>
                  <a:srgbClr val="262626"/>
                </a:solidFill>
                <a:latin typeface="Arial"/>
              </a:rPr>
              <a:t>Second AI winter</a:t>
            </a:r>
          </a:p>
        </p:txBody>
      </p:sp>
      <p:sp>
        <p:nvSpPr>
          <p:cNvPr id="13" name="Rounded Rectangle 12"/>
          <p:cNvSpPr/>
          <p:nvPr/>
        </p:nvSpPr>
        <p:spPr>
          <a:xfrm>
            <a:off x="5358383" y="4709160"/>
            <a:ext cx="1664207" cy="1097280"/>
          </a:xfrm>
          <a:prstGeom prst="roundRect">
            <a:avLst>
              <a:gd name="adj" fmla="val 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a:solidFill>
                  <a:srgbClr val="2F5DA8"/>
                </a:solidFill>
                <a:latin typeface="Arial"/>
              </a:rPr>
              <a:t>1990s</a:t>
            </a:r>
          </a:p>
          <a:p>
            <a:pPr marL="0" indent="0" algn="ctr">
              <a:spcAft>
                <a:spcPts val="400"/>
              </a:spcAft>
              <a:buNone/>
            </a:pPr>
            <a:r>
              <a:rPr sz="1200" b="0" i="0">
                <a:solidFill>
                  <a:srgbClr val="262626"/>
                </a:solidFill>
                <a:latin typeface="Arial"/>
              </a:rPr>
              <a:t>Learning and probability</a:t>
            </a:r>
          </a:p>
        </p:txBody>
      </p:sp>
      <p:sp>
        <p:nvSpPr>
          <p:cNvPr id="14" name="Rounded Rectangle 13"/>
          <p:cNvSpPr/>
          <p:nvPr/>
        </p:nvSpPr>
        <p:spPr>
          <a:xfrm>
            <a:off x="7132320" y="4709160"/>
            <a:ext cx="1664207" cy="1097280"/>
          </a:xfrm>
          <a:prstGeom prst="roundRect">
            <a:avLst>
              <a:gd name="adj" fmla="val 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8404" rIns="54864" bIns="38404" rtlCol="0" anchor="t"/>
          <a:lstStyle/>
          <a:p>
            <a:pPr marL="0" indent="0" algn="ctr">
              <a:spcAft>
                <a:spcPts val="300"/>
              </a:spcAft>
              <a:buNone/>
            </a:pPr>
            <a:r>
              <a:rPr sz="1400" b="1" i="0" dirty="0">
                <a:solidFill>
                  <a:srgbClr val="2F5DA8"/>
                </a:solidFill>
                <a:latin typeface="Arial"/>
              </a:rPr>
              <a:t>2010s</a:t>
            </a:r>
            <a:r>
              <a:rPr lang="en-GB" sz="1400" b="1" i="0" dirty="0">
                <a:solidFill>
                  <a:srgbClr val="2F5DA8"/>
                </a:solidFill>
                <a:latin typeface="Arial"/>
              </a:rPr>
              <a:t>-</a:t>
            </a:r>
            <a:endParaRPr sz="1400" b="1" i="0" dirty="0">
              <a:solidFill>
                <a:srgbClr val="2F5DA8"/>
              </a:solidFill>
              <a:latin typeface="Arial"/>
            </a:endParaRPr>
          </a:p>
          <a:p>
            <a:pPr marL="0" indent="0" algn="ctr">
              <a:spcAft>
                <a:spcPts val="400"/>
              </a:spcAft>
              <a:buNone/>
            </a:pPr>
            <a:r>
              <a:rPr sz="1200" b="0" i="0" dirty="0">
                <a:solidFill>
                  <a:srgbClr val="262626"/>
                </a:solidFill>
                <a:latin typeface="Arial"/>
              </a:rPr>
              <a:t>Deep learning boom</a:t>
            </a:r>
          </a:p>
        </p:txBody>
      </p:sp>
      <p:sp>
        <p:nvSpPr>
          <p:cNvPr id="15" name="TextBox 14"/>
          <p:cNvSpPr txBox="1"/>
          <p:nvPr/>
        </p:nvSpPr>
        <p:spPr>
          <a:xfrm>
            <a:off x="1810512" y="603504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Orange boxes mark the two “AI winters”: periods of reduced funding and interest.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(start)</a:t>
            </a:r>
          </a:p>
        </p:txBody>
      </p:sp>
      <p:sp>
        <p:nvSpPr>
          <p:cNvPr id="3" name="Content Placeholder 2"/>
          <p:cNvSpPr>
            <a:spLocks noGrp="1"/>
          </p:cNvSpPr>
          <p:nvPr>
            <p:ph idx="1"/>
          </p:nvPr>
        </p:nvSpPr>
        <p:spPr/>
        <p:txBody>
          <a:bodyPr/>
          <a:lstStyle/>
          <a:p>
            <a:r>
              <a:rPr lang="en-GB" i="1" dirty="0"/>
              <a:t>Long </a:t>
            </a:r>
            <a:r>
              <a:rPr lang="en-GB" i="1" dirty="0" err="1"/>
              <a:t>long</a:t>
            </a:r>
            <a:r>
              <a:rPr lang="en-GB" i="1" dirty="0"/>
              <a:t> ago… </a:t>
            </a:r>
          </a:p>
          <a:p>
            <a:r>
              <a:rPr lang="en-GB" i="1" dirty="0"/>
              <a:t>Philosopher Aristotle (384-322 B.C.)</a:t>
            </a:r>
          </a:p>
          <a:p>
            <a:r>
              <a:rPr lang="en-GB" i="1" dirty="0"/>
              <a:t>My story will start from 1950 in the UK and one important publication:</a:t>
            </a:r>
          </a:p>
          <a:p>
            <a:pPr marL="0" lvl="1" indent="0">
              <a:spcBef>
                <a:spcPts val="1000"/>
              </a:spcBef>
              <a:buNone/>
            </a:pPr>
            <a:r>
              <a:rPr lang="en-GB" altLang="en-US" sz="2000" i="1" dirty="0"/>
              <a:t>Turing, A.M. (1950), Computing machinery and intelligence, Mind, Vol. 59, pp. 433-460.</a:t>
            </a:r>
            <a:endParaRPr lang="en-GB" altLang="en-US" sz="2400" i="1" dirty="0"/>
          </a:p>
          <a:p>
            <a:endParaRPr lang="en-GB" i="1" dirty="0"/>
          </a:p>
          <a:p>
            <a:endParaRPr lang="en-GB" i="1"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733800"/>
            <a:ext cx="517834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ounded Rectangle 4"/>
          <p:cNvSpPr/>
          <p:nvPr/>
        </p:nvSpPr>
        <p:spPr>
          <a:xfrm>
            <a:off x="5508171" y="5984421"/>
            <a:ext cx="1828800" cy="3429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3483429"/>
            <a:ext cx="1553620" cy="2077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356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fade">
                                      <p:cBhvr>
                                        <p:cTn id="16" dur="500"/>
                                        <p:tgtEl>
                                          <p:spTgt spid="512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images: Mind and Turing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82802"/>
            <a:ext cx="4480560" cy="2189275"/>
          </a:xfrm>
          <a:prstGeom prst="rect">
            <a:avLst/>
          </a:prstGeom>
          <a:ln w="9525">
            <a:solidFill>
              <a:srgbClr val="A6B8D6"/>
            </a:solidFill>
          </a:ln>
        </p:spPr>
      </p:pic>
      <p:pic>
        <p:nvPicPr>
          <p:cNvPr id="5" name="Picture 4" descr="image.png"/>
          <p:cNvPicPr>
            <a:picLocks noChangeAspect="1"/>
          </p:cNvPicPr>
          <p:nvPr/>
        </p:nvPicPr>
        <p:blipFill>
          <a:blip r:embed="rId3"/>
          <a:stretch>
            <a:fillRect/>
          </a:stretch>
        </p:blipFill>
        <p:spPr>
          <a:xfrm>
            <a:off x="6780853" y="1234440"/>
            <a:ext cx="1708773" cy="2286000"/>
          </a:xfrm>
          <a:prstGeom prst="rect">
            <a:avLst/>
          </a:prstGeom>
          <a:ln w="9525">
            <a:solidFill>
              <a:srgbClr val="A6B8D6"/>
            </a:solidFill>
          </a:ln>
        </p:spPr>
      </p:pic>
      <p:sp>
        <p:nvSpPr>
          <p:cNvPr id="6" name="Rounded Rectangle 5"/>
          <p:cNvSpPr/>
          <p:nvPr/>
        </p:nvSpPr>
        <p:spPr>
          <a:xfrm>
            <a:off x="1810512" y="3703320"/>
            <a:ext cx="4480560" cy="2606040"/>
          </a:xfrm>
          <a:prstGeom prst="roundRect">
            <a:avLst>
              <a:gd name="adj" fmla="val 280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Left: the 1950 article</a:t>
            </a:r>
          </a:p>
          <a:p>
            <a:pPr marL="164592" indent="-146304" algn="l">
              <a:spcAft>
                <a:spcPts val="600"/>
              </a:spcAft>
              <a:buFont typeface="Arial"/>
              <a:buChar char="•"/>
            </a:pPr>
            <a:r>
              <a:rPr sz="1200" b="0" i="0">
                <a:solidFill>
                  <a:srgbClr val="262626"/>
                </a:solidFill>
                <a:latin typeface="Arial"/>
              </a:rPr>
              <a:t>Title page of “Computing Machinery and Intelligence” in Mind, a quarterly review of psychology and philosophy.</a:t>
            </a:r>
          </a:p>
          <a:p>
            <a:pPr marL="164592" indent="-146304" algn="l">
              <a:spcAft>
                <a:spcPts val="600"/>
              </a:spcAft>
              <a:buFont typeface="Arial"/>
              <a:buChar char="•"/>
            </a:pPr>
            <a:r>
              <a:rPr sz="1200" b="0" i="0">
                <a:solidFill>
                  <a:srgbClr val="262626"/>
                </a:solidFill>
                <a:latin typeface="Arial"/>
              </a:rPr>
              <a:t>The red box highlights its opening question: “Can machines think?”</a:t>
            </a:r>
          </a:p>
          <a:p>
            <a:pPr marL="164592" indent="-146304" algn="l">
              <a:spcAft>
                <a:spcPts val="600"/>
              </a:spcAft>
              <a:buFont typeface="Arial"/>
              <a:buChar char="•"/>
            </a:pPr>
            <a:r>
              <a:rPr sz="1200" b="0" i="0">
                <a:solidFill>
                  <a:srgbClr val="262626"/>
                </a:solidFill>
                <a:latin typeface="Arial"/>
              </a:rPr>
              <a:t>Publishing in a philosophy journal shows that AI began as a philosophical question as well as a technical one.</a:t>
            </a:r>
          </a:p>
        </p:txBody>
      </p:sp>
      <p:sp>
        <p:nvSpPr>
          <p:cNvPr id="7" name="Rounded Rectangle 6"/>
          <p:cNvSpPr/>
          <p:nvPr/>
        </p:nvSpPr>
        <p:spPr>
          <a:xfrm>
            <a:off x="6473952" y="3703320"/>
            <a:ext cx="2322575" cy="2606040"/>
          </a:xfrm>
          <a:prstGeom prst="roundRect">
            <a:avLst>
              <a:gd name="adj" fmla="val 314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dirty="0">
                <a:solidFill>
                  <a:srgbClr val="1F3864"/>
                </a:solidFill>
                <a:latin typeface="Arial"/>
              </a:rPr>
              <a:t>Right: Alan Turing</a:t>
            </a:r>
          </a:p>
          <a:p>
            <a:pPr marL="0" indent="0" algn="l">
              <a:spcAft>
                <a:spcPts val="600"/>
              </a:spcAft>
              <a:buNone/>
            </a:pPr>
            <a:r>
              <a:rPr sz="1200" b="0" i="0" dirty="0">
                <a:solidFill>
                  <a:srgbClr val="262626"/>
                </a:solidFill>
                <a:latin typeface="Arial"/>
              </a:rPr>
              <a:t>Alan Turing (1912</a:t>
            </a:r>
            <a:r>
              <a:rPr lang="en-GB" sz="1200" b="0" i="0" dirty="0">
                <a:solidFill>
                  <a:srgbClr val="262626"/>
                </a:solidFill>
                <a:latin typeface="Arial"/>
              </a:rPr>
              <a:t>-</a:t>
            </a:r>
            <a:r>
              <a:rPr sz="1200" b="0" i="0" dirty="0">
                <a:solidFill>
                  <a:srgbClr val="262626"/>
                </a:solidFill>
                <a:latin typeface="Arial"/>
              </a:rPr>
              <a:t>1954), British mathematician and a founder of computer science.</a:t>
            </a:r>
          </a:p>
        </p:txBody>
      </p:sp>
      <p:sp>
        <p:nvSpPr>
          <p:cNvPr id="8" name="TextBox 7"/>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dirty="0">
                <a:solidFill>
                  <a:srgbClr val="595959"/>
                </a:solidFill>
                <a:latin typeface="Arial"/>
              </a:rPr>
              <a:t>Source: Turing (1950). Aristotle (384</a:t>
            </a:r>
            <a:r>
              <a:rPr lang="en-GB" sz="1000" b="0" i="1" dirty="0">
                <a:solidFill>
                  <a:srgbClr val="595959"/>
                </a:solidFill>
                <a:latin typeface="Arial"/>
              </a:rPr>
              <a:t>-</a:t>
            </a:r>
            <a:r>
              <a:rPr sz="1000" b="0" i="1" dirty="0">
                <a:solidFill>
                  <a:srgbClr val="595959"/>
                </a:solidFill>
                <a:latin typeface="Arial"/>
              </a:rPr>
              <a:t>322 BC) appears on the slide as the earliest attempt to </a:t>
            </a:r>
            <a:r>
              <a:rPr sz="1000" b="0" i="1" dirty="0" err="1">
                <a:solidFill>
                  <a:srgbClr val="595959"/>
                </a:solidFill>
                <a:latin typeface="Arial"/>
              </a:rPr>
              <a:t>formalise</a:t>
            </a:r>
            <a:r>
              <a:rPr sz="1000" b="0" i="1" dirty="0">
                <a:solidFill>
                  <a:srgbClr val="595959"/>
                </a:solidFill>
                <a:latin typeface="Arial"/>
              </a:rPr>
              <a:t> reasoning.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From Aristotle to Turing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cxnSp>
        <p:nvCxnSpPr>
          <p:cNvPr id="4" name="Connector 3"/>
          <p:cNvCxnSpPr/>
          <p:nvPr/>
        </p:nvCxnSpPr>
        <p:spPr>
          <a:xfrm>
            <a:off x="1901952" y="2057400"/>
            <a:ext cx="6803136" cy="0"/>
          </a:xfrm>
          <a:prstGeom prst="line">
            <a:avLst/>
          </a:prstGeom>
          <a:ln w="38100">
            <a:solidFill>
              <a:srgbClr val="A6B8D6"/>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583179"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847087" y="1490472"/>
            <a:ext cx="1673351" cy="411480"/>
          </a:xfrm>
          <a:prstGeom prst="rect">
            <a:avLst/>
          </a:prstGeom>
          <a:noFill/>
        </p:spPr>
        <p:txBody>
          <a:bodyPr wrap="square" lIns="54864" tIns="54864" rIns="54864" bIns="54864" anchor="b"/>
          <a:lstStyle/>
          <a:p>
            <a:pPr marL="0" indent="0" algn="ctr">
              <a:spcAft>
                <a:spcPts val="400"/>
              </a:spcAft>
              <a:buNone/>
            </a:pPr>
            <a:r>
              <a:rPr sz="1400" b="1" i="0">
                <a:solidFill>
                  <a:srgbClr val="2F5DA8"/>
                </a:solidFill>
                <a:latin typeface="Arial"/>
              </a:rPr>
              <a:t>384 BC</a:t>
            </a:r>
          </a:p>
        </p:txBody>
      </p:sp>
      <p:sp>
        <p:nvSpPr>
          <p:cNvPr id="7" name="TextBox 6"/>
          <p:cNvSpPr txBox="1"/>
          <p:nvPr/>
        </p:nvSpPr>
        <p:spPr>
          <a:xfrm>
            <a:off x="1847087" y="2240280"/>
            <a:ext cx="1673351" cy="1188720"/>
          </a:xfrm>
          <a:prstGeom prst="rect">
            <a:avLst/>
          </a:prstGeom>
          <a:noFill/>
        </p:spPr>
        <p:txBody>
          <a:bodyPr wrap="square" lIns="54864" tIns="54864" rIns="54864" bIns="54864" anchor="t"/>
          <a:lstStyle/>
          <a:p>
            <a:pPr marL="0" indent="0" algn="ctr">
              <a:spcAft>
                <a:spcPts val="400"/>
              </a:spcAft>
              <a:buNone/>
            </a:pPr>
            <a:r>
              <a:rPr sz="1300" b="0" i="0">
                <a:solidFill>
                  <a:srgbClr val="262626"/>
                </a:solidFill>
                <a:latin typeface="Arial"/>
              </a:rPr>
              <a:t>Aristotle, born in Stagira (northern Greece): the syllogism</a:t>
            </a:r>
          </a:p>
        </p:txBody>
      </p:sp>
      <p:sp>
        <p:nvSpPr>
          <p:cNvPr id="8" name="Oval 7"/>
          <p:cNvSpPr/>
          <p:nvPr/>
        </p:nvSpPr>
        <p:spPr>
          <a:xfrm>
            <a:off x="4329683"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93591" y="1490472"/>
            <a:ext cx="1673351" cy="411480"/>
          </a:xfrm>
          <a:prstGeom prst="rect">
            <a:avLst/>
          </a:prstGeom>
          <a:noFill/>
        </p:spPr>
        <p:txBody>
          <a:bodyPr wrap="square" lIns="54864" tIns="54864" rIns="54864" bIns="54864" anchor="b"/>
          <a:lstStyle/>
          <a:p>
            <a:pPr marL="0" indent="0" algn="ctr">
              <a:spcAft>
                <a:spcPts val="400"/>
              </a:spcAft>
              <a:buNone/>
            </a:pPr>
            <a:r>
              <a:rPr sz="1400" b="1" i="0">
                <a:solidFill>
                  <a:srgbClr val="2F5DA8"/>
                </a:solidFill>
                <a:latin typeface="Arial"/>
              </a:rPr>
              <a:t>1936</a:t>
            </a:r>
          </a:p>
        </p:txBody>
      </p:sp>
      <p:sp>
        <p:nvSpPr>
          <p:cNvPr id="10" name="TextBox 9"/>
          <p:cNvSpPr txBox="1"/>
          <p:nvPr/>
        </p:nvSpPr>
        <p:spPr>
          <a:xfrm>
            <a:off x="3593591" y="2240280"/>
            <a:ext cx="1673351" cy="1188720"/>
          </a:xfrm>
          <a:prstGeom prst="rect">
            <a:avLst/>
          </a:prstGeom>
          <a:noFill/>
        </p:spPr>
        <p:txBody>
          <a:bodyPr wrap="square" lIns="54864" tIns="54864" rIns="54864" bIns="54864" anchor="t"/>
          <a:lstStyle/>
          <a:p>
            <a:pPr marL="0" indent="0" algn="ctr">
              <a:spcAft>
                <a:spcPts val="400"/>
              </a:spcAft>
              <a:buNone/>
            </a:pPr>
            <a:r>
              <a:rPr sz="1300" b="0" i="0">
                <a:solidFill>
                  <a:srgbClr val="262626"/>
                </a:solidFill>
                <a:latin typeface="Arial"/>
              </a:rPr>
              <a:t>Turing machine: the model of every computer</a:t>
            </a:r>
          </a:p>
        </p:txBody>
      </p:sp>
      <p:sp>
        <p:nvSpPr>
          <p:cNvPr id="11" name="Oval 10"/>
          <p:cNvSpPr/>
          <p:nvPr/>
        </p:nvSpPr>
        <p:spPr>
          <a:xfrm>
            <a:off x="6076187"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40095" y="1490472"/>
            <a:ext cx="1673351" cy="411480"/>
          </a:xfrm>
          <a:prstGeom prst="rect">
            <a:avLst/>
          </a:prstGeom>
          <a:noFill/>
        </p:spPr>
        <p:txBody>
          <a:bodyPr wrap="square" lIns="54864" tIns="54864" rIns="54864" bIns="54864" anchor="b"/>
          <a:lstStyle/>
          <a:p>
            <a:pPr marL="0" indent="0" algn="ctr">
              <a:spcAft>
                <a:spcPts val="400"/>
              </a:spcAft>
              <a:buNone/>
            </a:pPr>
            <a:r>
              <a:rPr sz="1400" b="1" i="0" dirty="0">
                <a:solidFill>
                  <a:srgbClr val="2F5DA8"/>
                </a:solidFill>
                <a:latin typeface="Arial"/>
              </a:rPr>
              <a:t>1939</a:t>
            </a:r>
            <a:r>
              <a:rPr lang="en-GB" sz="1400" b="1" i="0" dirty="0">
                <a:solidFill>
                  <a:srgbClr val="2F5DA8"/>
                </a:solidFill>
                <a:latin typeface="Arial"/>
              </a:rPr>
              <a:t>-</a:t>
            </a:r>
            <a:r>
              <a:rPr sz="1400" b="1" i="0" dirty="0">
                <a:solidFill>
                  <a:srgbClr val="2F5DA8"/>
                </a:solidFill>
                <a:latin typeface="Arial"/>
              </a:rPr>
              <a:t>45</a:t>
            </a:r>
          </a:p>
        </p:txBody>
      </p:sp>
      <p:sp>
        <p:nvSpPr>
          <p:cNvPr id="13" name="TextBox 12"/>
          <p:cNvSpPr txBox="1"/>
          <p:nvPr/>
        </p:nvSpPr>
        <p:spPr>
          <a:xfrm>
            <a:off x="5340095" y="2240280"/>
            <a:ext cx="1673351" cy="1188720"/>
          </a:xfrm>
          <a:prstGeom prst="rect">
            <a:avLst/>
          </a:prstGeom>
          <a:noFill/>
        </p:spPr>
        <p:txBody>
          <a:bodyPr wrap="square" lIns="54864" tIns="54864" rIns="54864" bIns="54864" anchor="t"/>
          <a:lstStyle/>
          <a:p>
            <a:pPr marL="0" indent="0" algn="ctr">
              <a:spcAft>
                <a:spcPts val="400"/>
              </a:spcAft>
              <a:buNone/>
            </a:pPr>
            <a:r>
              <a:rPr sz="1300" b="0" i="0">
                <a:solidFill>
                  <a:srgbClr val="262626"/>
                </a:solidFill>
                <a:latin typeface="Arial"/>
              </a:rPr>
              <a:t>Bletchley Park: breaking the Enigma code</a:t>
            </a:r>
          </a:p>
        </p:txBody>
      </p:sp>
      <p:sp>
        <p:nvSpPr>
          <p:cNvPr id="14" name="Oval 13"/>
          <p:cNvSpPr/>
          <p:nvPr/>
        </p:nvSpPr>
        <p:spPr>
          <a:xfrm>
            <a:off x="7822692"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086599" y="1490472"/>
            <a:ext cx="1673351" cy="411480"/>
          </a:xfrm>
          <a:prstGeom prst="rect">
            <a:avLst/>
          </a:prstGeom>
          <a:noFill/>
        </p:spPr>
        <p:txBody>
          <a:bodyPr wrap="square" lIns="54864" tIns="54864" rIns="54864" bIns="54864" anchor="b"/>
          <a:lstStyle/>
          <a:p>
            <a:pPr marL="0" indent="0" algn="ctr">
              <a:spcAft>
                <a:spcPts val="400"/>
              </a:spcAft>
              <a:buNone/>
            </a:pPr>
            <a:r>
              <a:rPr sz="1400" b="1" i="0">
                <a:solidFill>
                  <a:srgbClr val="2F5DA8"/>
                </a:solidFill>
                <a:latin typeface="Arial"/>
              </a:rPr>
              <a:t>1950</a:t>
            </a:r>
          </a:p>
        </p:txBody>
      </p:sp>
      <p:sp>
        <p:nvSpPr>
          <p:cNvPr id="16" name="TextBox 15"/>
          <p:cNvSpPr txBox="1"/>
          <p:nvPr/>
        </p:nvSpPr>
        <p:spPr>
          <a:xfrm>
            <a:off x="7086599" y="2240280"/>
            <a:ext cx="1673351" cy="1188720"/>
          </a:xfrm>
          <a:prstGeom prst="rect">
            <a:avLst/>
          </a:prstGeom>
          <a:noFill/>
        </p:spPr>
        <p:txBody>
          <a:bodyPr wrap="square" lIns="54864" tIns="54864" rIns="54864" bIns="54864" anchor="t"/>
          <a:lstStyle/>
          <a:p>
            <a:pPr marL="0" indent="0" algn="ctr">
              <a:spcAft>
                <a:spcPts val="400"/>
              </a:spcAft>
              <a:buNone/>
            </a:pPr>
            <a:r>
              <a:rPr sz="1300" b="0" i="0">
                <a:solidFill>
                  <a:srgbClr val="262626"/>
                </a:solidFill>
                <a:latin typeface="Arial"/>
              </a:rPr>
              <a:t>“Computing Machinery and Intelligence”</a:t>
            </a:r>
          </a:p>
        </p:txBody>
      </p:sp>
      <p:sp>
        <p:nvSpPr>
          <p:cNvPr id="17" name="Rounded Rectangle 16"/>
          <p:cNvSpPr/>
          <p:nvPr/>
        </p:nvSpPr>
        <p:spPr>
          <a:xfrm>
            <a:off x="1810512" y="3703320"/>
            <a:ext cx="6986015" cy="1325880"/>
          </a:xfrm>
          <a:prstGeom prst="roundRect">
            <a:avLst>
              <a:gd name="adj" fmla="val 551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600" b="1" i="0">
                <a:solidFill>
                  <a:srgbClr val="FFFFFF"/>
                </a:solidFill>
                <a:latin typeface="Arial"/>
              </a:rPr>
              <a:t>All men are mortal.  Socrates is a man.  ∴ Socrates is mortal.</a:t>
            </a:r>
          </a:p>
          <a:p>
            <a:pPr marL="0" indent="0" algn="ctr">
              <a:spcAft>
                <a:spcPts val="400"/>
              </a:spcAft>
              <a:buNone/>
            </a:pPr>
            <a:r>
              <a:rPr sz="1300" b="0" i="0">
                <a:solidFill>
                  <a:srgbClr val="FFFFFF"/>
                </a:solidFill>
                <a:latin typeface="Arial"/>
              </a:rPr>
              <a:t>Reasoning as formal rules that can be applied mechanically: the philosophical root of AI</a:t>
            </a:r>
          </a:p>
        </p:txBody>
      </p:sp>
      <p:sp>
        <p:nvSpPr>
          <p:cNvPr id="18" name="Rounded Rectangle 17"/>
          <p:cNvSpPr/>
          <p:nvPr/>
        </p:nvSpPr>
        <p:spPr>
          <a:xfrm>
            <a:off x="1810512" y="5212080"/>
            <a:ext cx="6986015" cy="960120"/>
          </a:xfrm>
          <a:prstGeom prst="roundRect">
            <a:avLst>
              <a:gd name="adj" fmla="val 7619"/>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DID YOU KNOW?  </a:t>
            </a:r>
            <a:r>
              <a:rPr sz="1400" b="0" i="0">
                <a:solidFill>
                  <a:srgbClr val="262626"/>
                </a:solidFill>
                <a:latin typeface="Arial"/>
              </a:rPr>
              <a:t>Computing’s highest honour, the Turing Award (“the Nobel Prize of computing”), is named after Alan Turing.</a:t>
            </a:r>
          </a:p>
        </p:txBody>
      </p:sp>
      <p:sp>
        <p:nvSpPr>
          <p:cNvPr id="19" name="TextBox 18"/>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Turing (1950).</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(born)</a:t>
            </a:r>
          </a:p>
        </p:txBody>
      </p:sp>
      <p:sp>
        <p:nvSpPr>
          <p:cNvPr id="3" name="Content Placeholder 2"/>
          <p:cNvSpPr>
            <a:spLocks noGrp="1"/>
          </p:cNvSpPr>
          <p:nvPr>
            <p:ph idx="1"/>
          </p:nvPr>
        </p:nvSpPr>
        <p:spPr>
          <a:xfrm>
            <a:off x="1143001" y="990600"/>
            <a:ext cx="7382232" cy="4761979"/>
          </a:xfrm>
        </p:spPr>
        <p:txBody>
          <a:bodyPr/>
          <a:lstStyle/>
          <a:p>
            <a:r>
              <a:rPr lang="en-GB" altLang="en-US" dirty="0"/>
              <a:t>The official birth of artificial intelligence:</a:t>
            </a:r>
          </a:p>
          <a:p>
            <a:pPr lvl="1"/>
            <a:r>
              <a:rPr lang="en-GB" altLang="en-US" sz="2000" dirty="0"/>
              <a:t>1956: Dartmouth Conference - </a:t>
            </a:r>
            <a:r>
              <a:rPr lang="en-US" altLang="en-US" sz="2000" dirty="0"/>
              <a:t>"Artificial Intelligence" adopted</a:t>
            </a:r>
          </a:p>
          <a:p>
            <a:pPr lvl="1"/>
            <a:r>
              <a:rPr lang="en-GB" altLang="en-US" sz="2000" dirty="0"/>
              <a:t>The term ‘Artificial Intelligence’ was coined in a proposal for the conference at Dartmouth College in 1956</a:t>
            </a:r>
          </a:p>
          <a:p>
            <a:pPr lvl="1"/>
            <a:endParaRPr lang="en-GB" altLang="en-US" sz="2000" dirty="0"/>
          </a:p>
          <a:p>
            <a:pPr marL="457200" lvl="1" indent="-457200" fontAlgn="base">
              <a:lnSpc>
                <a:spcPct val="100000"/>
              </a:lnSpc>
              <a:spcBef>
                <a:spcPct val="0"/>
              </a:spcBef>
              <a:spcAft>
                <a:spcPct val="0"/>
              </a:spcAft>
              <a:buNone/>
            </a:pPr>
            <a:r>
              <a:rPr lang="en-US" altLang="en-US" sz="2000" dirty="0">
                <a:solidFill>
                  <a:srgbClr val="202122"/>
                </a:solidFill>
                <a:latin typeface="Arial" charset="0"/>
                <a:cs typeface="Arial" charset="0"/>
              </a:rPr>
              <a:t>1) </a:t>
            </a:r>
            <a:r>
              <a:rPr lang="en-US" altLang="en-US" sz="2000" dirty="0">
                <a:solidFill>
                  <a:srgbClr val="0B0080"/>
                </a:solidFill>
                <a:latin typeface="Arial" charset="0"/>
                <a:cs typeface="Arial" charset="0"/>
                <a:hlinkClick r:id="rId2" tooltip="Marvin Minsky"/>
              </a:rPr>
              <a:t>Dr. Marvin Minsky</a:t>
            </a:r>
            <a:r>
              <a:rPr lang="en-US" altLang="en-US" sz="2000" dirty="0">
                <a:solidFill>
                  <a:srgbClr val="0B0080"/>
                </a:solidFill>
                <a:latin typeface="Arial" charset="0"/>
                <a:cs typeface="Arial" charset="0"/>
              </a:rPr>
              <a:t> (MIT co-founder)</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2) </a:t>
            </a:r>
            <a:r>
              <a:rPr lang="en-US" altLang="en-US" sz="2000" u="sng" dirty="0">
                <a:solidFill>
                  <a:srgbClr val="0B0080"/>
                </a:solidFill>
                <a:latin typeface="Arial" charset="0"/>
                <a:cs typeface="Arial" charset="0"/>
                <a:hlinkClick r:id="rId3" tooltip="Julian Bigelow"/>
              </a:rPr>
              <a:t>Dr. Julian Bigelow</a:t>
            </a:r>
            <a:r>
              <a:rPr lang="en-US" altLang="en-US" sz="2000" u="sng" dirty="0">
                <a:solidFill>
                  <a:srgbClr val="0B0080"/>
                </a:solidFill>
                <a:latin typeface="Arial" charset="0"/>
                <a:cs typeface="Arial" charset="0"/>
              </a:rPr>
              <a:t> (</a:t>
            </a:r>
            <a:r>
              <a:rPr lang="en-US" altLang="en-US" sz="2000" u="sng" dirty="0" err="1">
                <a:solidFill>
                  <a:srgbClr val="0B0080"/>
                </a:solidFill>
                <a:latin typeface="Arial" charset="0"/>
                <a:cs typeface="Arial" charset="0"/>
              </a:rPr>
              <a:t>Computing</a:t>
            </a:r>
            <a:r>
              <a:rPr lang="en-US" altLang="en-US" sz="2000" u="sng"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3) </a:t>
            </a:r>
            <a:r>
              <a:rPr lang="en-US" altLang="en-US" sz="2000" dirty="0">
                <a:solidFill>
                  <a:srgbClr val="0B0080"/>
                </a:solidFill>
                <a:latin typeface="Arial" charset="0"/>
                <a:cs typeface="Arial" charset="0"/>
                <a:hlinkClick r:id="rId4" tooltip="Donald MacCrimmon MacKay"/>
              </a:rPr>
              <a:t>Professor D.M. Mackay</a:t>
            </a:r>
            <a:r>
              <a:rPr lang="en-US" altLang="en-US" sz="2000" dirty="0">
                <a:solidFill>
                  <a:srgbClr val="0B0080"/>
                </a:solidFill>
                <a:latin typeface="Arial" charset="0"/>
                <a:cs typeface="Arial" charset="0"/>
              </a:rPr>
              <a:t> (</a:t>
            </a:r>
            <a:r>
              <a:rPr lang="en-GB" sz="2000" dirty="0"/>
              <a:t>Neuro</a:t>
            </a:r>
            <a:r>
              <a:rPr lang="en-US" altLang="en-US" sz="2000"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4) </a:t>
            </a:r>
            <a:r>
              <a:rPr lang="en-US" altLang="en-US" sz="2000" dirty="0">
                <a:solidFill>
                  <a:srgbClr val="0B0080"/>
                </a:solidFill>
                <a:latin typeface="Arial" charset="0"/>
                <a:cs typeface="Arial" charset="0"/>
                <a:hlinkClick r:id="rId5" tooltip="Ray Solomonoff"/>
              </a:rPr>
              <a:t>Mr. Ray </a:t>
            </a:r>
            <a:r>
              <a:rPr lang="en-US" altLang="en-US" sz="2000" dirty="0" err="1">
                <a:solidFill>
                  <a:srgbClr val="0B0080"/>
                </a:solidFill>
                <a:latin typeface="Arial" charset="0"/>
                <a:cs typeface="Arial" charset="0"/>
                <a:hlinkClick r:id="rId5" tooltip="Ray Solomonoff"/>
              </a:rPr>
              <a:t>Solomonoff</a:t>
            </a:r>
            <a:r>
              <a:rPr lang="en-US" altLang="en-US" sz="2000" dirty="0">
                <a:solidFill>
                  <a:srgbClr val="0B0080"/>
                </a:solidFill>
                <a:latin typeface="Arial" charset="0"/>
                <a:cs typeface="Arial" charset="0"/>
              </a:rPr>
              <a:t> (Probability)</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5) </a:t>
            </a:r>
            <a:r>
              <a:rPr lang="en-US" altLang="en-US" sz="2000" dirty="0">
                <a:solidFill>
                  <a:srgbClr val="0B0080"/>
                </a:solidFill>
                <a:latin typeface="Arial" charset="0"/>
                <a:cs typeface="Arial" charset="0"/>
                <a:hlinkClick r:id="rId6" tooltip="John Henry Holland"/>
              </a:rPr>
              <a:t>Mr. John Holland</a:t>
            </a:r>
            <a:r>
              <a:rPr lang="en-US" altLang="en-US" sz="2000" dirty="0">
                <a:solidFill>
                  <a:srgbClr val="0B0080"/>
                </a:solidFill>
                <a:latin typeface="Arial" charset="0"/>
                <a:cs typeface="Arial" charset="0"/>
              </a:rPr>
              <a:t> (</a:t>
            </a:r>
            <a:r>
              <a:rPr lang="en-GB" sz="2000" u="sng" dirty="0"/>
              <a:t>genetic</a:t>
            </a:r>
            <a:r>
              <a:rPr lang="en-US" altLang="en-US" sz="2000"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6) </a:t>
            </a:r>
            <a:r>
              <a:rPr lang="en-US" altLang="en-US" sz="2000" dirty="0">
                <a:solidFill>
                  <a:srgbClr val="0B0080"/>
                </a:solidFill>
                <a:latin typeface="Arial" charset="0"/>
                <a:cs typeface="Arial" charset="0"/>
                <a:hlinkClick r:id="rId7" tooltip="John McCarthy (computer scientist)"/>
              </a:rPr>
              <a:t>Mr. John McCarthy</a:t>
            </a:r>
            <a:r>
              <a:rPr lang="en-US" altLang="en-US" sz="2000" dirty="0">
                <a:solidFill>
                  <a:srgbClr val="0B0080"/>
                </a:solidFill>
                <a:latin typeface="Arial" charset="0"/>
                <a:cs typeface="Arial" charset="0"/>
              </a:rPr>
              <a:t> (MIT, lisp)</a:t>
            </a:r>
          </a:p>
          <a:p>
            <a:pPr marL="457200" lvl="1" indent="-457200" eaLnBrk="0" fontAlgn="base" hangingPunct="0">
              <a:lnSpc>
                <a:spcPct val="100000"/>
              </a:lnSpc>
              <a:spcBef>
                <a:spcPct val="0"/>
              </a:spcBef>
              <a:spcAft>
                <a:spcPct val="0"/>
              </a:spcAft>
              <a:buNone/>
            </a:pPr>
            <a:r>
              <a:rPr lang="en-GB" sz="2000" dirty="0"/>
              <a:t>7) </a:t>
            </a:r>
            <a:r>
              <a:rPr lang="en-GB" sz="2000" u="sng" dirty="0" err="1">
                <a:hlinkClick r:id="rId8"/>
              </a:rPr>
              <a:t>Dr.</a:t>
            </a:r>
            <a:r>
              <a:rPr lang="en-GB" sz="2000" u="sng" dirty="0">
                <a:hlinkClick r:id="rId8"/>
              </a:rPr>
              <a:t> Claude Shannon</a:t>
            </a:r>
            <a:r>
              <a:rPr lang="en-GB" sz="2000" u="sng" dirty="0"/>
              <a:t> (IT)</a:t>
            </a:r>
            <a:endParaRPr lang="en-GB" altLang="en-US" sz="2000" dirty="0"/>
          </a:p>
          <a:p>
            <a:pPr lvl="1"/>
            <a:endParaRPr lang="en-GB" altLang="en-US" sz="2000" dirty="0"/>
          </a:p>
          <a:p>
            <a:endParaRPr lang="en-GB" dirty="0"/>
          </a:p>
        </p:txBody>
      </p:sp>
      <p:pic>
        <p:nvPicPr>
          <p:cNvPr id="1026" name="Picture 2" descr="pbs.twimg.com/media/DHbVdasWAAII-zx.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506453" y="2819400"/>
            <a:ext cx="3465094"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169595"/>
            <a:ext cx="256464" cy="3391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45720" rIns="0" bIns="1587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4106645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images: Dartmouth 1956</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jpeg"/>
          <p:cNvPicPr>
            <a:picLocks noChangeAspect="1"/>
          </p:cNvPicPr>
          <p:nvPr/>
        </p:nvPicPr>
        <p:blipFill>
          <a:blip r:embed="rId2"/>
          <a:stretch>
            <a:fillRect/>
          </a:stretch>
        </p:blipFill>
        <p:spPr>
          <a:xfrm>
            <a:off x="1812379" y="1234440"/>
            <a:ext cx="3288104" cy="2606040"/>
          </a:xfrm>
          <a:prstGeom prst="rect">
            <a:avLst/>
          </a:prstGeom>
          <a:ln w="9525">
            <a:solidFill>
              <a:srgbClr val="A6B8D6"/>
            </a:solidFill>
          </a:ln>
        </p:spPr>
      </p:pic>
      <p:sp>
        <p:nvSpPr>
          <p:cNvPr id="5" name="Rounded Rectangle 4"/>
          <p:cNvSpPr/>
          <p:nvPr/>
        </p:nvSpPr>
        <p:spPr>
          <a:xfrm>
            <a:off x="5285231" y="1234440"/>
            <a:ext cx="3511295" cy="2606040"/>
          </a:xfrm>
          <a:prstGeom prst="roundRect">
            <a:avLst>
              <a:gd name="adj" fmla="val 280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photograph</a:t>
            </a:r>
          </a:p>
          <a:p>
            <a:pPr marL="0" indent="0" algn="l">
              <a:spcAft>
                <a:spcPts val="600"/>
              </a:spcAft>
              <a:buNone/>
            </a:pPr>
            <a:r>
              <a:rPr sz="1200" b="0" i="0">
                <a:solidFill>
                  <a:srgbClr val="262626"/>
                </a:solidFill>
                <a:latin typeface="Arial"/>
              </a:rPr>
              <a:t>A group of participants of the 1956 Dartmouth summer workshop, photographed in front of Dartmouth Hall, New Hampshire. It is one of the few photographs of the event that gave AI its name.</a:t>
            </a:r>
          </a:p>
        </p:txBody>
      </p:sp>
      <p:sp>
        <p:nvSpPr>
          <p:cNvPr id="6" name="Rounded Rectangle 5"/>
          <p:cNvSpPr/>
          <p:nvPr/>
        </p:nvSpPr>
        <p:spPr>
          <a:xfrm>
            <a:off x="1810512" y="4023360"/>
            <a:ext cx="6986015" cy="2286000"/>
          </a:xfrm>
          <a:prstGeom prst="roundRect">
            <a:avLst>
              <a:gd name="adj" fmla="val 32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list of names</a:t>
            </a:r>
          </a:p>
          <a:p>
            <a:pPr marL="164592" indent="-146304" algn="l">
              <a:spcAft>
                <a:spcPts val="600"/>
              </a:spcAft>
              <a:buFont typeface="Arial"/>
              <a:buChar char="•"/>
            </a:pPr>
            <a:r>
              <a:rPr sz="1300" b="0" i="0">
                <a:solidFill>
                  <a:srgbClr val="262626"/>
                </a:solidFill>
                <a:latin typeface="Arial"/>
              </a:rPr>
              <a:t>The underlined names are links to each person’s biography (Wikipedia).</a:t>
            </a:r>
          </a:p>
          <a:p>
            <a:pPr marL="164592" indent="-146304" algn="l">
              <a:spcAft>
                <a:spcPts val="600"/>
              </a:spcAft>
              <a:buFont typeface="Arial"/>
              <a:buChar char="•"/>
            </a:pPr>
            <a:r>
              <a:rPr sz="1300" b="0" i="0">
                <a:solidFill>
                  <a:srgbClr val="262626"/>
                </a:solidFill>
                <a:latin typeface="Arial"/>
              </a:rPr>
              <a:t>The labels in brackets give each person’s field: neuroscience, probability, genetic algorithms, information theory (IT), and the Lisp language.</a:t>
            </a:r>
          </a:p>
          <a:p>
            <a:pPr marL="164592" indent="-146304" algn="l">
              <a:spcAft>
                <a:spcPts val="600"/>
              </a:spcAft>
              <a:buFont typeface="Arial"/>
              <a:buChar char="•"/>
            </a:pPr>
            <a:r>
              <a:rPr sz="1300" b="0" i="0">
                <a:solidFill>
                  <a:srgbClr val="262626"/>
                </a:solidFill>
                <a:latin typeface="Arial"/>
              </a:rPr>
              <a:t>The 1955 proposal was written by McCarthy, Minsky, Rochester and Shannon; other researchers attended for parts of the summer.</a:t>
            </a:r>
          </a:p>
        </p:txBody>
      </p:sp>
      <p:sp>
        <p:nvSpPr>
          <p:cNvPr id="7" name="TextBox 6"/>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McCarthy et al. (1955); photograph of the Dartmouth workshop participants, 1956.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Dartmouth 1956</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1371600"/>
          </a:xfrm>
          <a:prstGeom prst="roundRect">
            <a:avLst>
              <a:gd name="adj" fmla="val 5333"/>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15214" rIns="164592" bIns="115214" rtlCol="0" anchor="ctr"/>
          <a:lstStyle/>
          <a:p>
            <a:pPr marL="0" indent="0" algn="l">
              <a:spcAft>
                <a:spcPts val="400"/>
              </a:spcAft>
              <a:buNone/>
            </a:pPr>
            <a:r>
              <a:rPr sz="1500" b="0" i="1">
                <a:solidFill>
                  <a:srgbClr val="FFFFFF"/>
                </a:solidFill>
                <a:latin typeface="Arial"/>
              </a:rPr>
              <a:t>“Every aspect of learning or any other feature of intelligence can in principle be so precisely described that a machine can be made to simulate it.”</a:t>
            </a:r>
          </a:p>
          <a:p>
            <a:pPr marL="0" indent="0" algn="r">
              <a:spcAft>
                <a:spcPts val="400"/>
              </a:spcAft>
              <a:buNone/>
            </a:pPr>
            <a:r>
              <a:rPr sz="1200" b="0" i="0">
                <a:solidFill>
                  <a:srgbClr val="FFFFFF"/>
                </a:solidFill>
                <a:latin typeface="Arial"/>
              </a:rPr>
              <a:t>Dartmouth proposal, 1955</a:t>
            </a:r>
          </a:p>
        </p:txBody>
      </p:sp>
      <p:sp>
        <p:nvSpPr>
          <p:cNvPr id="5" name="TextBox 4"/>
          <p:cNvSpPr txBox="1"/>
          <p:nvPr/>
        </p:nvSpPr>
        <p:spPr>
          <a:xfrm>
            <a:off x="1810512" y="2743200"/>
            <a:ext cx="6986015" cy="777240"/>
          </a:xfrm>
          <a:prstGeom prst="rect">
            <a:avLst/>
          </a:prstGeom>
          <a:noFill/>
        </p:spPr>
        <p:txBody>
          <a:bodyPr wrap="square" lIns="54864" tIns="54864" rIns="54864" bIns="54864" anchor="t"/>
          <a:lstStyle/>
          <a:p>
            <a:pPr marL="0" indent="0" algn="l">
              <a:spcAft>
                <a:spcPts val="400"/>
              </a:spcAft>
              <a:buNone/>
            </a:pPr>
            <a:r>
              <a:rPr sz="1400" b="0" i="0">
                <a:solidFill>
                  <a:srgbClr val="262626"/>
                </a:solidFill>
                <a:latin typeface="Arial"/>
              </a:rPr>
              <a:t>Written by </a:t>
            </a:r>
            <a:r>
              <a:rPr sz="1400" b="1" i="0">
                <a:solidFill>
                  <a:srgbClr val="262626"/>
                </a:solidFill>
                <a:latin typeface="Arial"/>
              </a:rPr>
              <a:t>John McCarthy, Marvin Minsky, Nathaniel Rochester (IBM) and Claude Shannon (Bell Labs)</a:t>
            </a:r>
            <a:r>
              <a:rPr sz="1400" b="0" i="0">
                <a:solidFill>
                  <a:srgbClr val="262626"/>
                </a:solidFill>
                <a:latin typeface="Arial"/>
              </a:rPr>
              <a:t>. McCarthy coined the term “artificial intelligence”.</a:t>
            </a:r>
          </a:p>
        </p:txBody>
      </p:sp>
      <p:sp>
        <p:nvSpPr>
          <p:cNvPr id="6" name="TextBox 5"/>
          <p:cNvSpPr txBox="1"/>
          <p:nvPr/>
        </p:nvSpPr>
        <p:spPr>
          <a:xfrm>
            <a:off x="1810512" y="3566160"/>
            <a:ext cx="6986015" cy="365760"/>
          </a:xfrm>
          <a:prstGeom prst="rect">
            <a:avLst/>
          </a:prstGeom>
          <a:noFill/>
        </p:spPr>
        <p:txBody>
          <a:bodyPr wrap="square" lIns="54864" tIns="54864" rIns="54864" bIns="54864" anchor="t"/>
          <a:lstStyle/>
          <a:p>
            <a:pPr marL="0" indent="0" algn="l">
              <a:spcAft>
                <a:spcPts val="400"/>
              </a:spcAft>
              <a:buNone/>
            </a:pPr>
            <a:r>
              <a:rPr sz="1500" b="1" i="0">
                <a:solidFill>
                  <a:srgbClr val="1F3864"/>
                </a:solidFill>
                <a:latin typeface="Arial"/>
              </a:rPr>
              <a:t>Interdisciplinary from birth</a:t>
            </a:r>
          </a:p>
        </p:txBody>
      </p:sp>
      <p:sp>
        <p:nvSpPr>
          <p:cNvPr id="7" name="Rounded Rectangle 6"/>
          <p:cNvSpPr/>
          <p:nvPr/>
        </p:nvSpPr>
        <p:spPr>
          <a:xfrm>
            <a:off x="1810512" y="3977639"/>
            <a:ext cx="2255519" cy="438912"/>
          </a:xfrm>
          <a:prstGeom prst="roundRect">
            <a:avLst>
              <a:gd name="adj" fmla="val 1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300" b="1" i="0">
                <a:solidFill>
                  <a:srgbClr val="2F5DA8"/>
                </a:solidFill>
                <a:latin typeface="Arial"/>
              </a:rPr>
              <a:t>Mathematics</a:t>
            </a:r>
          </a:p>
        </p:txBody>
      </p:sp>
      <p:sp>
        <p:nvSpPr>
          <p:cNvPr id="8" name="Rounded Rectangle 7"/>
          <p:cNvSpPr/>
          <p:nvPr/>
        </p:nvSpPr>
        <p:spPr>
          <a:xfrm>
            <a:off x="4175760" y="3977639"/>
            <a:ext cx="2255519" cy="438912"/>
          </a:xfrm>
          <a:prstGeom prst="roundRect">
            <a:avLst>
              <a:gd name="adj" fmla="val 1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300" b="1" i="0">
                <a:solidFill>
                  <a:srgbClr val="2F5DA8"/>
                </a:solidFill>
                <a:latin typeface="Arial"/>
              </a:rPr>
              <a:t>Engineering</a:t>
            </a:r>
          </a:p>
        </p:txBody>
      </p:sp>
      <p:sp>
        <p:nvSpPr>
          <p:cNvPr id="9" name="Rounded Rectangle 8"/>
          <p:cNvSpPr/>
          <p:nvPr/>
        </p:nvSpPr>
        <p:spPr>
          <a:xfrm>
            <a:off x="6541007" y="3977639"/>
            <a:ext cx="2255519" cy="438912"/>
          </a:xfrm>
          <a:prstGeom prst="roundRect">
            <a:avLst>
              <a:gd name="adj" fmla="val 1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300" b="1" i="0">
                <a:solidFill>
                  <a:srgbClr val="2F5DA8"/>
                </a:solidFill>
                <a:latin typeface="Arial"/>
              </a:rPr>
              <a:t>Neuroscience</a:t>
            </a:r>
          </a:p>
        </p:txBody>
      </p:sp>
      <p:sp>
        <p:nvSpPr>
          <p:cNvPr id="10" name="Rounded Rectangle 9"/>
          <p:cNvSpPr/>
          <p:nvPr/>
        </p:nvSpPr>
        <p:spPr>
          <a:xfrm>
            <a:off x="1810512" y="4526279"/>
            <a:ext cx="2255519" cy="438912"/>
          </a:xfrm>
          <a:prstGeom prst="roundRect">
            <a:avLst>
              <a:gd name="adj" fmla="val 1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300" b="1" i="0">
                <a:solidFill>
                  <a:srgbClr val="2F5DA8"/>
                </a:solidFill>
                <a:latin typeface="Arial"/>
              </a:rPr>
              <a:t>Probability</a:t>
            </a:r>
          </a:p>
        </p:txBody>
      </p:sp>
      <p:sp>
        <p:nvSpPr>
          <p:cNvPr id="11" name="Rounded Rectangle 10"/>
          <p:cNvSpPr/>
          <p:nvPr/>
        </p:nvSpPr>
        <p:spPr>
          <a:xfrm>
            <a:off x="4175760" y="4526279"/>
            <a:ext cx="2255519" cy="438912"/>
          </a:xfrm>
          <a:prstGeom prst="roundRect">
            <a:avLst>
              <a:gd name="adj" fmla="val 1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300" b="1" i="0">
                <a:solidFill>
                  <a:srgbClr val="2F5DA8"/>
                </a:solidFill>
                <a:latin typeface="Arial"/>
              </a:rPr>
              <a:t>Information theory</a:t>
            </a:r>
          </a:p>
        </p:txBody>
      </p:sp>
      <p:sp>
        <p:nvSpPr>
          <p:cNvPr id="12" name="Rounded Rectangle 11"/>
          <p:cNvSpPr/>
          <p:nvPr/>
        </p:nvSpPr>
        <p:spPr>
          <a:xfrm>
            <a:off x="6541007" y="4526279"/>
            <a:ext cx="2255519" cy="438912"/>
          </a:xfrm>
          <a:prstGeom prst="roundRect">
            <a:avLst>
              <a:gd name="adj" fmla="val 16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300" b="1" i="0">
                <a:solidFill>
                  <a:srgbClr val="2F5DA8"/>
                </a:solidFill>
                <a:latin typeface="Arial"/>
              </a:rPr>
              <a:t>Genetic algorithms</a:t>
            </a:r>
          </a:p>
        </p:txBody>
      </p:sp>
      <p:sp>
        <p:nvSpPr>
          <p:cNvPr id="13" name="Rounded Rectangle 12"/>
          <p:cNvSpPr/>
          <p:nvPr/>
        </p:nvSpPr>
        <p:spPr>
          <a:xfrm>
            <a:off x="1810512" y="5212080"/>
            <a:ext cx="6986015" cy="1005840"/>
          </a:xfrm>
          <a:prstGeom prst="roundRect">
            <a:avLst>
              <a:gd name="adj" fmla="val 7272"/>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FIRST AI PROGRAM  </a:t>
            </a:r>
            <a:r>
              <a:rPr sz="1400" b="0" i="0">
                <a:solidFill>
                  <a:srgbClr val="262626"/>
                </a:solidFill>
                <a:latin typeface="Arial"/>
              </a:rPr>
              <a:t>Newell &amp; Simon’s Logic Theorist proved 38 of the first 52 theorems of Principia Mathematica.</a:t>
            </a:r>
          </a:p>
        </p:txBody>
      </p:sp>
      <p:sp>
        <p:nvSpPr>
          <p:cNvPr id="14" name="TextBox 13"/>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McCarthy et al. (1955); Newell and Simon (1956).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RECALL</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8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Where and when was the term “artificial intelligence” introduced, and by whom?</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Q8 (Recall): </a:t>
            </a:r>
            <a:r>
              <a:rPr sz="1400" b="0" i="1">
                <a:solidFill>
                  <a:srgbClr val="595959"/>
                </a:solidFill>
                <a:latin typeface="Arial"/>
              </a:rPr>
              <a:t>Where and when was the term “artificial intelligence” introduced, and by whom?</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In the 1955 proposal for the 1956 Dartmouth summer workshop. John McCarthy coined the term; the proposal was also signed by Minsky, Rochester and Shannon.</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Dartmouth 1956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(early days)</a:t>
            </a:r>
          </a:p>
        </p:txBody>
      </p:sp>
      <p:sp>
        <p:nvSpPr>
          <p:cNvPr id="3" name="Content Placeholder 2"/>
          <p:cNvSpPr>
            <a:spLocks noGrp="1"/>
          </p:cNvSpPr>
          <p:nvPr>
            <p:ph idx="1"/>
          </p:nvPr>
        </p:nvSpPr>
        <p:spPr>
          <a:xfrm>
            <a:off x="1809892" y="1143000"/>
            <a:ext cx="6705458" cy="5333999"/>
          </a:xfrm>
        </p:spPr>
        <p:txBody>
          <a:bodyPr/>
          <a:lstStyle/>
          <a:p>
            <a:r>
              <a:rPr lang="en-GB" sz="1800" dirty="0">
                <a:solidFill>
                  <a:srgbClr val="0070C0"/>
                </a:solidFill>
              </a:rPr>
              <a:t>Two major themes that have driven AI development from the start to today are: Game-play and Robot</a:t>
            </a:r>
          </a:p>
          <a:p>
            <a:r>
              <a:rPr lang="en-GB" altLang="en-US" sz="1800" dirty="0"/>
              <a:t>One of the early research in AI is search problem such as for game-playing. Game-playing can be usefully viewed as a search problem in a space defined by a fixed set of rules </a:t>
            </a:r>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r>
              <a:rPr lang="en-GB" altLang="en-US" sz="1800" dirty="0"/>
              <a:t>Nodes are either white or black corresponding to reflect the adversaries’ turns.</a:t>
            </a:r>
          </a:p>
          <a:p>
            <a:r>
              <a:rPr lang="en-GB" altLang="en-US" sz="1800" dirty="0"/>
              <a:t>The tree of possible moves can be searched for favourable positions.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667000"/>
            <a:ext cx="5688013"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0343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a game tree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59345"/>
            <a:ext cx="4023360" cy="2327629"/>
          </a:xfrm>
          <a:prstGeom prst="rect">
            <a:avLst/>
          </a:prstGeom>
          <a:ln w="9525">
            <a:solidFill>
              <a:srgbClr val="A6B8D6"/>
            </a:solidFill>
          </a:ln>
        </p:spPr>
      </p:pic>
      <p:sp>
        <p:nvSpPr>
          <p:cNvPr id="5" name="Rounded Rectangle 4"/>
          <p:cNvSpPr/>
          <p:nvPr/>
        </p:nvSpPr>
        <p:spPr>
          <a:xfrm>
            <a:off x="6016752" y="1234440"/>
            <a:ext cx="2779775" cy="2377440"/>
          </a:xfrm>
          <a:prstGeom prst="roundRect">
            <a:avLst>
              <a:gd name="adj" fmla="val 307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A game tree</a:t>
            </a:r>
          </a:p>
          <a:p>
            <a:pPr marL="164592" indent="-146304" algn="l">
              <a:spcAft>
                <a:spcPts val="600"/>
              </a:spcAft>
              <a:buFont typeface="Arial"/>
              <a:buChar char="•"/>
            </a:pPr>
            <a:r>
              <a:rPr sz="1200" b="0" i="0">
                <a:solidFill>
                  <a:srgbClr val="262626"/>
                </a:solidFill>
                <a:latin typeface="Arial"/>
              </a:rPr>
              <a:t>Each node is a position in the game.</a:t>
            </a:r>
          </a:p>
          <a:p>
            <a:pPr marL="164592" indent="-146304" algn="l">
              <a:spcAft>
                <a:spcPts val="600"/>
              </a:spcAft>
              <a:buFont typeface="Arial"/>
              <a:buChar char="•"/>
            </a:pPr>
            <a:r>
              <a:rPr sz="1200" b="0" i="0">
                <a:solidFill>
                  <a:srgbClr val="262626"/>
                </a:solidFill>
                <a:latin typeface="Arial"/>
              </a:rPr>
              <a:t>Branches are the moves available from that position.</a:t>
            </a:r>
          </a:p>
          <a:p>
            <a:pPr marL="164592" indent="-146304" algn="l">
              <a:spcAft>
                <a:spcPts val="600"/>
              </a:spcAft>
              <a:buFont typeface="Arial"/>
              <a:buChar char="•"/>
            </a:pPr>
            <a:r>
              <a:rPr sz="1200" b="0" i="0">
                <a:solidFill>
                  <a:srgbClr val="262626"/>
                </a:solidFill>
                <a:latin typeface="Arial"/>
              </a:rPr>
              <a:t>Black and white nodes alternate, like the two players’ turns.</a:t>
            </a:r>
          </a:p>
        </p:txBody>
      </p:sp>
      <p:sp>
        <p:nvSpPr>
          <p:cNvPr id="6" name="Rounded Rectangle 5"/>
          <p:cNvSpPr/>
          <p:nvPr/>
        </p:nvSpPr>
        <p:spPr>
          <a:xfrm>
            <a:off x="1810512" y="3794760"/>
            <a:ext cx="6986015" cy="2514600"/>
          </a:xfrm>
          <a:prstGeom prst="roundRect">
            <a:avLst>
              <a:gd name="adj" fmla="val 29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Linking the tree to the board</a:t>
            </a:r>
          </a:p>
          <a:p>
            <a:pPr marL="164592" indent="-146304" algn="l">
              <a:spcAft>
                <a:spcPts val="600"/>
              </a:spcAft>
              <a:buFont typeface="Arial"/>
              <a:buChar char="•"/>
            </a:pPr>
            <a:r>
              <a:rPr sz="1300" b="0" i="0">
                <a:solidFill>
                  <a:srgbClr val="262626"/>
                </a:solidFill>
                <a:latin typeface="Arial"/>
              </a:rPr>
              <a:t>The dotted line connects one node of the tree to the chessboard: every node stands for a complete board position.</a:t>
            </a:r>
          </a:p>
          <a:p>
            <a:pPr marL="164592" indent="-146304" algn="l">
              <a:spcAft>
                <a:spcPts val="600"/>
              </a:spcAft>
              <a:buFont typeface="Arial"/>
              <a:buChar char="•"/>
            </a:pPr>
            <a:r>
              <a:rPr sz="1300" b="0" i="0">
                <a:solidFill>
                  <a:srgbClr val="262626"/>
                </a:solidFill>
                <a:latin typeface="Arial"/>
              </a:rPr>
              <a:t>Searching the tree means looking ahead: “if I play this, my opponent can reply with that…”.</a:t>
            </a:r>
          </a:p>
          <a:p>
            <a:pPr marL="164592" indent="-146304" algn="l">
              <a:spcAft>
                <a:spcPts val="600"/>
              </a:spcAft>
              <a:buFont typeface="Arial"/>
              <a:buChar char="•"/>
            </a:pPr>
            <a:r>
              <a:rPr sz="1300" b="0" i="0">
                <a:solidFill>
                  <a:srgbClr val="262626"/>
                </a:solidFill>
                <a:latin typeface="Arial"/>
              </a:rPr>
              <a:t>The program picks the branch that leads to the best position it can guarantee, assuming the opponent also plays well (the minimax idea).</a:t>
            </a:r>
          </a:p>
        </p:txBody>
      </p:sp>
      <p:sp>
        <p:nvSpPr>
          <p:cNvPr id="7" name="TextBox 6"/>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Shannon (1950); Russell and Norvig (2020), chapter on adversarial search.</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Game playing as search</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t"/>
          <a:lstStyle/>
          <a:p>
            <a:pPr marL="0" indent="0" algn="l">
              <a:spcAft>
                <a:spcPts val="600"/>
              </a:spcAft>
              <a:buNone/>
            </a:pPr>
            <a:r>
              <a:rPr sz="1600" b="1" i="0">
                <a:solidFill>
                  <a:srgbClr val="1F3864"/>
                </a:solidFill>
                <a:latin typeface="Arial"/>
              </a:rPr>
              <a:t>How a program plays</a:t>
            </a:r>
          </a:p>
          <a:p>
            <a:pPr marL="164592" indent="-146304" algn="l">
              <a:spcAft>
                <a:spcPts val="800"/>
              </a:spcAft>
              <a:buFont typeface="Arial"/>
              <a:buChar char="•"/>
            </a:pPr>
            <a:r>
              <a:rPr sz="1400" b="1" i="0">
                <a:solidFill>
                  <a:srgbClr val="262626"/>
                </a:solidFill>
                <a:latin typeface="Arial"/>
              </a:rPr>
              <a:t>Minimax: </a:t>
            </a:r>
            <a:r>
              <a:rPr sz="1400" b="0" i="0">
                <a:solidFill>
                  <a:srgbClr val="262626"/>
                </a:solidFill>
                <a:latin typeface="Arial"/>
              </a:rPr>
              <a:t>pick the move that is best assuming the opponent also plays their best.</a:t>
            </a:r>
          </a:p>
          <a:p>
            <a:pPr marL="164592" indent="-146304" algn="l">
              <a:spcAft>
                <a:spcPts val="400"/>
              </a:spcAft>
              <a:buFont typeface="Arial"/>
              <a:buChar char="•"/>
            </a:pPr>
            <a:r>
              <a:rPr sz="1400" b="1" i="0">
                <a:solidFill>
                  <a:srgbClr val="262626"/>
                </a:solidFill>
                <a:latin typeface="Arial"/>
              </a:rPr>
              <a:t>Alpha-beta pruning: </a:t>
            </a:r>
            <a:r>
              <a:rPr sz="1400" b="0" i="0">
                <a:solidFill>
                  <a:srgbClr val="262626"/>
                </a:solidFill>
                <a:latin typeface="Arial"/>
              </a:rPr>
              <a:t>skip branches that cannot change the decision.</a:t>
            </a:r>
          </a:p>
        </p:txBody>
      </p:sp>
      <p:sp>
        <p:nvSpPr>
          <p:cNvPr id="5" name="Rounded Rectangle 4"/>
          <p:cNvSpPr/>
          <p:nvPr/>
        </p:nvSpPr>
        <p:spPr>
          <a:xfrm>
            <a:off x="5385816" y="1234440"/>
            <a:ext cx="3410711"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2200" b="1" i="0">
                <a:solidFill>
                  <a:srgbClr val="FFFFFF"/>
                </a:solidFill>
                <a:latin typeface="Arial"/>
              </a:rPr>
              <a:t>~35</a:t>
            </a:r>
            <a:r>
              <a:rPr sz="2200" b="0" i="0">
                <a:solidFill>
                  <a:srgbClr val="FFFFFF"/>
                </a:solidFill>
                <a:latin typeface="Arial"/>
              </a:rPr>
              <a:t>  </a:t>
            </a:r>
            <a:r>
              <a:rPr sz="1200" b="0" i="0">
                <a:solidFill>
                  <a:srgbClr val="FFFFFF"/>
                </a:solidFill>
                <a:latin typeface="Arial"/>
              </a:rPr>
              <a:t>legal moves per chess position</a:t>
            </a:r>
          </a:p>
        </p:txBody>
      </p:sp>
      <p:sp>
        <p:nvSpPr>
          <p:cNvPr id="6" name="Rounded Rectangle 5"/>
          <p:cNvSpPr/>
          <p:nvPr/>
        </p:nvSpPr>
        <p:spPr>
          <a:xfrm>
            <a:off x="5385816" y="2286000"/>
            <a:ext cx="3410711"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2200" b="1" i="0">
                <a:solidFill>
                  <a:srgbClr val="FFFFFF"/>
                </a:solidFill>
                <a:latin typeface="Arial"/>
              </a:rPr>
              <a:t>2.7 × 10</a:t>
            </a:r>
            <a:r>
              <a:rPr sz="2200" b="1" i="0" baseline="30000">
                <a:solidFill>
                  <a:srgbClr val="FFFFFF"/>
                </a:solidFill>
                <a:latin typeface="Arial"/>
              </a:rPr>
              <a:t>15</a:t>
            </a:r>
            <a:r>
              <a:rPr sz="2200" b="0" i="0">
                <a:solidFill>
                  <a:srgbClr val="FFFFFF"/>
                </a:solidFill>
                <a:latin typeface="Arial"/>
              </a:rPr>
              <a:t>  </a:t>
            </a:r>
            <a:r>
              <a:rPr sz="1200" b="0" i="0">
                <a:solidFill>
                  <a:srgbClr val="FFFFFF"/>
                </a:solidFill>
                <a:latin typeface="Arial"/>
              </a:rPr>
              <a:t>positions only 10 moves (plies) ahead</a:t>
            </a:r>
          </a:p>
        </p:txBody>
      </p:sp>
      <p:sp>
        <p:nvSpPr>
          <p:cNvPr id="7" name="Rounded Rectangle 6"/>
          <p:cNvSpPr/>
          <p:nvPr/>
        </p:nvSpPr>
        <p:spPr>
          <a:xfrm>
            <a:off x="5385816" y="3337560"/>
            <a:ext cx="3410711"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2200" b="1" i="0">
                <a:solidFill>
                  <a:srgbClr val="FFFFFF"/>
                </a:solidFill>
                <a:latin typeface="Arial"/>
              </a:rPr>
              <a:t>~10</a:t>
            </a:r>
            <a:r>
              <a:rPr sz="2200" b="1" i="0" baseline="30000">
                <a:solidFill>
                  <a:srgbClr val="FFFFFF"/>
                </a:solidFill>
                <a:latin typeface="Arial"/>
              </a:rPr>
              <a:t>120</a:t>
            </a:r>
            <a:r>
              <a:rPr sz="2200" b="0" i="0">
                <a:solidFill>
                  <a:srgbClr val="FFFFFF"/>
                </a:solidFill>
                <a:latin typeface="Arial"/>
              </a:rPr>
              <a:t>  </a:t>
            </a:r>
            <a:r>
              <a:rPr sz="1200" b="0" i="0">
                <a:solidFill>
                  <a:srgbClr val="FFFFFF"/>
                </a:solidFill>
                <a:latin typeface="Arial"/>
              </a:rPr>
              <a:t>possible games (Shannon, 1950): more than atoms in the universe</a:t>
            </a:r>
          </a:p>
        </p:txBody>
      </p:sp>
      <p:sp>
        <p:nvSpPr>
          <p:cNvPr id="8" name="Rounded Rectangle 7"/>
          <p:cNvSpPr/>
          <p:nvPr/>
        </p:nvSpPr>
        <p:spPr>
          <a:xfrm>
            <a:off x="1810512" y="4480560"/>
            <a:ext cx="6986015"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KEY POINT  </a:t>
            </a:r>
            <a:r>
              <a:rPr sz="1400" b="0" i="0">
                <a:solidFill>
                  <a:srgbClr val="FFFFFF"/>
                </a:solidFill>
                <a:latin typeface="Arial"/>
              </a:rPr>
              <a:t>You cannot search everything: you need clever search and good evaluation of positions.</a:t>
            </a:r>
          </a:p>
        </p:txBody>
      </p:sp>
      <p:sp>
        <p:nvSpPr>
          <p:cNvPr id="9" name="Rounded Rectangle 8"/>
          <p:cNvSpPr/>
          <p:nvPr/>
        </p:nvSpPr>
        <p:spPr>
          <a:xfrm>
            <a:off x="1810512" y="553212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ORIGIN  </a:t>
            </a:r>
            <a:r>
              <a:rPr sz="1300" b="0" i="0">
                <a:solidFill>
                  <a:srgbClr val="262626"/>
                </a:solidFill>
                <a:latin typeface="Arial"/>
              </a:rPr>
              <a:t>Arthur Samuel’s checkers program (IBM, 1950s) improved by playing itself: the origin of “machine learning”.</a:t>
            </a:r>
          </a:p>
        </p:txBody>
      </p:sp>
      <p:sp>
        <p:nvSpPr>
          <p:cNvPr id="10" name="TextBox 9"/>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Shannon (1950); Samuel (1959).</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(victory)</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altLang="en-US" dirty="0"/>
              <a:t>The real success of AI in game-playing was achieved much later after many years’ effort.</a:t>
            </a:r>
          </a:p>
          <a:p>
            <a:pPr marL="342900" indent="-342900">
              <a:buFont typeface="Arial" panose="020B0604020202020204" pitchFamily="34" charset="0"/>
              <a:buChar char="•"/>
            </a:pPr>
            <a:r>
              <a:rPr lang="en-GB" altLang="en-US" dirty="0"/>
              <a:t>It has been shown that this search based approach works extremely well. </a:t>
            </a:r>
          </a:p>
          <a:p>
            <a:pPr marL="342900" indent="-342900">
              <a:buFont typeface="Arial" panose="020B0604020202020204" pitchFamily="34" charset="0"/>
              <a:buChar char="•"/>
            </a:pPr>
            <a:r>
              <a:rPr lang="en-GB" altLang="en-US" dirty="0"/>
              <a:t>In 1996 IBM Deep Blue won a game against Garry Kasparov but lost the match. In 1997 an upgraded version won an entire match.</a:t>
            </a:r>
          </a:p>
          <a:p>
            <a:endParaRPr lang="en-GB"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038600"/>
            <a:ext cx="3886200" cy="2384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1CB244AA-5641-4E15-8E49-746009649A16}"/>
              </a:ext>
            </a:extLst>
          </p:cNvPr>
          <p:cNvSpPr txBox="1"/>
          <p:nvPr/>
        </p:nvSpPr>
        <p:spPr>
          <a:xfrm>
            <a:off x="1295400" y="5230863"/>
            <a:ext cx="3048000" cy="923330"/>
          </a:xfrm>
          <a:prstGeom prst="rect">
            <a:avLst/>
          </a:prstGeom>
          <a:noFill/>
        </p:spPr>
        <p:txBody>
          <a:bodyPr wrap="square">
            <a:spAutoFit/>
          </a:bodyPr>
          <a:lstStyle/>
          <a:p>
            <a:r>
              <a:rPr lang="en-GB" dirty="0">
                <a:hlinkClick r:id="rId3"/>
              </a:rPr>
              <a:t>https://www.kaggle.com/harryyu/week10-reinforcement-learning-frozenlake-v0</a:t>
            </a:r>
            <a:r>
              <a:rPr lang="en-GB" dirty="0"/>
              <a:t> </a:t>
            </a:r>
          </a:p>
        </p:txBody>
      </p:sp>
    </p:spTree>
    <p:extLst>
      <p:ext uri="{BB962C8B-B14F-4D97-AF65-F5344CB8AC3E}">
        <p14:creationId xmlns:p14="http://schemas.microsoft.com/office/powerpoint/2010/main" val="33064791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image and the link</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37643"/>
            <a:ext cx="3566160" cy="2188153"/>
          </a:xfrm>
          <a:prstGeom prst="rect">
            <a:avLst/>
          </a:prstGeom>
          <a:ln w="9525">
            <a:solidFill>
              <a:srgbClr val="A6B8D6"/>
            </a:solidFill>
          </a:ln>
        </p:spPr>
      </p:pic>
      <p:sp>
        <p:nvSpPr>
          <p:cNvPr id="5" name="Rounded Rectangle 4"/>
          <p:cNvSpPr/>
          <p:nvPr/>
        </p:nvSpPr>
        <p:spPr>
          <a:xfrm>
            <a:off x="5559552" y="1234440"/>
            <a:ext cx="3236975" cy="2194560"/>
          </a:xfrm>
          <a:prstGeom prst="roundRect">
            <a:avLst>
              <a:gd name="adj" fmla="val 333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photograph</a:t>
            </a:r>
          </a:p>
          <a:p>
            <a:pPr marL="0" indent="0" algn="l">
              <a:spcAft>
                <a:spcPts val="600"/>
              </a:spcAft>
              <a:buNone/>
            </a:pPr>
            <a:r>
              <a:rPr sz="1200" b="0" i="0">
                <a:solidFill>
                  <a:srgbClr val="262626"/>
                </a:solidFill>
                <a:latin typeface="Arial"/>
              </a:rPr>
              <a:t>World chess champion Garry Kasparov (left) playing IBM’s Deep Blue. A member of the IBM team sits opposite and moves the pieces chosen by the computer. The name plates read “Garry Kasparov” and “Deep Blue”.</a:t>
            </a:r>
          </a:p>
        </p:txBody>
      </p:sp>
      <p:sp>
        <p:nvSpPr>
          <p:cNvPr id="6" name="Rounded Rectangle 5"/>
          <p:cNvSpPr/>
          <p:nvPr/>
        </p:nvSpPr>
        <p:spPr>
          <a:xfrm>
            <a:off x="1810512" y="3611880"/>
            <a:ext cx="6986015"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link on the slide</a:t>
            </a:r>
          </a:p>
          <a:p>
            <a:pPr marL="164592" indent="-146304" algn="l">
              <a:spcAft>
                <a:spcPts val="600"/>
              </a:spcAft>
              <a:buFont typeface="Arial"/>
              <a:buChar char="•"/>
            </a:pPr>
            <a:r>
              <a:rPr sz="1300" b="0" i="0">
                <a:solidFill>
                  <a:srgbClr val="262626"/>
                </a:solidFill>
                <a:latin typeface="Arial"/>
              </a:rPr>
              <a:t>It points to a Kaggle notebook on reinforcement learning using the FrozenLake environment.</a:t>
            </a:r>
          </a:p>
          <a:p>
            <a:pPr marL="164592" indent="-146304" algn="l">
              <a:spcAft>
                <a:spcPts val="600"/>
              </a:spcAft>
              <a:buFont typeface="Arial"/>
              <a:buChar char="•"/>
            </a:pPr>
            <a:r>
              <a:rPr sz="1300" b="0" i="0">
                <a:solidFill>
                  <a:srgbClr val="262626"/>
                </a:solidFill>
                <a:latin typeface="Arial"/>
              </a:rPr>
              <a:t>FrozenLake is a small grid world: an agent must learn by trial and error to cross a frozen lake to a goal without falling through holes.</a:t>
            </a:r>
          </a:p>
          <a:p>
            <a:pPr marL="164592" indent="-146304" algn="l">
              <a:spcAft>
                <a:spcPts val="600"/>
              </a:spcAft>
              <a:buFont typeface="Arial"/>
              <a:buChar char="•"/>
            </a:pPr>
            <a:r>
              <a:rPr sz="1300" b="0" i="0">
                <a:solidFill>
                  <a:srgbClr val="262626"/>
                </a:solidFill>
                <a:latin typeface="Arial"/>
              </a:rPr>
              <a:t>It previews the next step after search-based game playing: systems that learn from experience, such as AlphaGo. Reinforcement learning is Week 11.</a:t>
            </a:r>
          </a:p>
        </p:txBody>
      </p:sp>
      <p:sp>
        <p:nvSpPr>
          <p:cNvPr id="7" name="TextBox 6"/>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Campbell, Hoane and Hsu (2002); Silver et al. (2016).</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From Deep Blue to AlphaGo</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cxnSp>
        <p:nvCxnSpPr>
          <p:cNvPr id="4" name="Connector 3"/>
          <p:cNvCxnSpPr/>
          <p:nvPr/>
        </p:nvCxnSpPr>
        <p:spPr>
          <a:xfrm>
            <a:off x="1901952" y="2057400"/>
            <a:ext cx="6803136" cy="0"/>
          </a:xfrm>
          <a:prstGeom prst="line">
            <a:avLst/>
          </a:prstGeom>
          <a:ln w="38100">
            <a:solidFill>
              <a:srgbClr val="A6B8D6"/>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874264"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847087" y="1490472"/>
            <a:ext cx="2255519" cy="411480"/>
          </a:xfrm>
          <a:prstGeom prst="rect">
            <a:avLst/>
          </a:prstGeom>
          <a:noFill/>
        </p:spPr>
        <p:txBody>
          <a:bodyPr wrap="square" lIns="54864" tIns="54864" rIns="54864" bIns="54864" anchor="b"/>
          <a:lstStyle/>
          <a:p>
            <a:pPr marL="0" indent="0" algn="ctr">
              <a:spcAft>
                <a:spcPts val="400"/>
              </a:spcAft>
              <a:buNone/>
            </a:pPr>
            <a:r>
              <a:rPr sz="1400" b="1" i="0">
                <a:solidFill>
                  <a:srgbClr val="2F5DA8"/>
                </a:solidFill>
                <a:latin typeface="Arial"/>
              </a:rPr>
              <a:t>Feb 1996</a:t>
            </a:r>
          </a:p>
        </p:txBody>
      </p:sp>
      <p:sp>
        <p:nvSpPr>
          <p:cNvPr id="7" name="TextBox 6"/>
          <p:cNvSpPr txBox="1"/>
          <p:nvPr/>
        </p:nvSpPr>
        <p:spPr>
          <a:xfrm>
            <a:off x="1847087" y="2240280"/>
            <a:ext cx="2255519" cy="914400"/>
          </a:xfrm>
          <a:prstGeom prst="rect">
            <a:avLst/>
          </a:prstGeom>
          <a:noFill/>
        </p:spPr>
        <p:txBody>
          <a:bodyPr wrap="square" lIns="54864" tIns="54864" rIns="54864" bIns="54864" anchor="t"/>
          <a:lstStyle/>
          <a:p>
            <a:pPr marL="0" indent="0" algn="ctr">
              <a:spcAft>
                <a:spcPts val="400"/>
              </a:spcAft>
              <a:buNone/>
            </a:pPr>
            <a:r>
              <a:rPr sz="1300" b="0" i="0" dirty="0">
                <a:solidFill>
                  <a:srgbClr val="262626"/>
                </a:solidFill>
                <a:latin typeface="Arial"/>
              </a:rPr>
              <a:t>Deep Blue wins one game, but Kasparov wins the match 4</a:t>
            </a:r>
            <a:r>
              <a:rPr lang="en-GB" sz="1300" b="0" i="0" dirty="0">
                <a:solidFill>
                  <a:srgbClr val="262626"/>
                </a:solidFill>
                <a:latin typeface="Arial"/>
              </a:rPr>
              <a:t>-</a:t>
            </a:r>
            <a:r>
              <a:rPr sz="1300" b="0" i="0" dirty="0">
                <a:solidFill>
                  <a:srgbClr val="262626"/>
                </a:solidFill>
                <a:latin typeface="Arial"/>
              </a:rPr>
              <a:t>2</a:t>
            </a:r>
          </a:p>
        </p:txBody>
      </p:sp>
      <p:sp>
        <p:nvSpPr>
          <p:cNvPr id="8" name="Oval 7"/>
          <p:cNvSpPr/>
          <p:nvPr/>
        </p:nvSpPr>
        <p:spPr>
          <a:xfrm>
            <a:off x="5202935"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175759" y="1490472"/>
            <a:ext cx="2255519" cy="411480"/>
          </a:xfrm>
          <a:prstGeom prst="rect">
            <a:avLst/>
          </a:prstGeom>
          <a:noFill/>
        </p:spPr>
        <p:txBody>
          <a:bodyPr wrap="square" lIns="54864" tIns="54864" rIns="54864" bIns="54864" anchor="b"/>
          <a:lstStyle/>
          <a:p>
            <a:pPr marL="0" indent="0" algn="ctr">
              <a:spcAft>
                <a:spcPts val="400"/>
              </a:spcAft>
              <a:buNone/>
            </a:pPr>
            <a:r>
              <a:rPr sz="1400" b="1" i="0">
                <a:solidFill>
                  <a:srgbClr val="2F5DA8"/>
                </a:solidFill>
                <a:latin typeface="Arial"/>
              </a:rPr>
              <a:t>May 1997</a:t>
            </a:r>
          </a:p>
        </p:txBody>
      </p:sp>
      <p:sp>
        <p:nvSpPr>
          <p:cNvPr id="10" name="TextBox 9"/>
          <p:cNvSpPr txBox="1"/>
          <p:nvPr/>
        </p:nvSpPr>
        <p:spPr>
          <a:xfrm>
            <a:off x="4175759" y="2240280"/>
            <a:ext cx="2255519" cy="914400"/>
          </a:xfrm>
          <a:prstGeom prst="rect">
            <a:avLst/>
          </a:prstGeom>
          <a:noFill/>
        </p:spPr>
        <p:txBody>
          <a:bodyPr wrap="square" lIns="54864" tIns="54864" rIns="54864" bIns="54864" anchor="t"/>
          <a:lstStyle/>
          <a:p>
            <a:pPr marL="0" indent="0" algn="ctr">
              <a:spcAft>
                <a:spcPts val="400"/>
              </a:spcAft>
              <a:buNone/>
            </a:pPr>
            <a:r>
              <a:rPr sz="1300" b="0" i="0" dirty="0">
                <a:solidFill>
                  <a:srgbClr val="262626"/>
                </a:solidFill>
                <a:latin typeface="Arial"/>
              </a:rPr>
              <a:t>Upgraded Deep Blue wins the rematch 3½</a:t>
            </a:r>
            <a:r>
              <a:rPr lang="en-GB" sz="1300" b="0" i="0" dirty="0">
                <a:solidFill>
                  <a:srgbClr val="262626"/>
                </a:solidFill>
                <a:latin typeface="Arial"/>
              </a:rPr>
              <a:t>-</a:t>
            </a:r>
            <a:r>
              <a:rPr sz="1300" b="0" i="0" dirty="0">
                <a:solidFill>
                  <a:srgbClr val="262626"/>
                </a:solidFill>
                <a:latin typeface="Arial"/>
              </a:rPr>
              <a:t>2½</a:t>
            </a:r>
          </a:p>
        </p:txBody>
      </p:sp>
      <p:sp>
        <p:nvSpPr>
          <p:cNvPr id="11" name="Oval 10"/>
          <p:cNvSpPr/>
          <p:nvPr/>
        </p:nvSpPr>
        <p:spPr>
          <a:xfrm>
            <a:off x="7531608"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04431" y="1490472"/>
            <a:ext cx="2255519" cy="411480"/>
          </a:xfrm>
          <a:prstGeom prst="rect">
            <a:avLst/>
          </a:prstGeom>
          <a:noFill/>
        </p:spPr>
        <p:txBody>
          <a:bodyPr wrap="square" lIns="54864" tIns="54864" rIns="54864" bIns="54864" anchor="b"/>
          <a:lstStyle/>
          <a:p>
            <a:pPr marL="0" indent="0" algn="ctr">
              <a:spcAft>
                <a:spcPts val="400"/>
              </a:spcAft>
              <a:buNone/>
            </a:pPr>
            <a:r>
              <a:rPr sz="1400" b="1" i="0">
                <a:solidFill>
                  <a:srgbClr val="2F5DA8"/>
                </a:solidFill>
                <a:latin typeface="Arial"/>
              </a:rPr>
              <a:t>Mar 2016</a:t>
            </a:r>
          </a:p>
        </p:txBody>
      </p:sp>
      <p:sp>
        <p:nvSpPr>
          <p:cNvPr id="13" name="TextBox 12"/>
          <p:cNvSpPr txBox="1"/>
          <p:nvPr/>
        </p:nvSpPr>
        <p:spPr>
          <a:xfrm>
            <a:off x="6504431" y="2240280"/>
            <a:ext cx="2255519" cy="914400"/>
          </a:xfrm>
          <a:prstGeom prst="rect">
            <a:avLst/>
          </a:prstGeom>
          <a:noFill/>
        </p:spPr>
        <p:txBody>
          <a:bodyPr wrap="square" lIns="54864" tIns="54864" rIns="54864" bIns="54864" anchor="t"/>
          <a:lstStyle/>
          <a:p>
            <a:pPr marL="0" indent="0" algn="ctr">
              <a:spcAft>
                <a:spcPts val="400"/>
              </a:spcAft>
              <a:buNone/>
            </a:pPr>
            <a:r>
              <a:rPr sz="1300" b="0" i="0" dirty="0">
                <a:solidFill>
                  <a:srgbClr val="262626"/>
                </a:solidFill>
                <a:latin typeface="Arial"/>
              </a:rPr>
              <a:t>AlphaGo beats Go champion Lee Sedol 4</a:t>
            </a:r>
            <a:r>
              <a:rPr lang="en-GB" sz="1300" b="0" i="0" dirty="0">
                <a:solidFill>
                  <a:srgbClr val="262626"/>
                </a:solidFill>
                <a:latin typeface="Arial"/>
              </a:rPr>
              <a:t>-</a:t>
            </a:r>
            <a:r>
              <a:rPr sz="1300" b="0" i="0" dirty="0">
                <a:solidFill>
                  <a:srgbClr val="262626"/>
                </a:solidFill>
                <a:latin typeface="Arial"/>
              </a:rPr>
              <a:t>1</a:t>
            </a:r>
          </a:p>
        </p:txBody>
      </p:sp>
      <p:sp>
        <p:nvSpPr>
          <p:cNvPr id="14" name="Rounded Rectangle 13"/>
          <p:cNvSpPr/>
          <p:nvPr/>
        </p:nvSpPr>
        <p:spPr>
          <a:xfrm>
            <a:off x="1810512" y="3337560"/>
            <a:ext cx="3410711" cy="1600200"/>
          </a:xfrm>
          <a:prstGeom prst="roundRect">
            <a:avLst>
              <a:gd name="adj" fmla="val 457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Deep Blue: programmed</a:t>
            </a:r>
          </a:p>
          <a:p>
            <a:pPr marL="164592" indent="-146304" algn="l">
              <a:spcAft>
                <a:spcPts val="400"/>
              </a:spcAft>
              <a:buFont typeface="Arial"/>
              <a:buChar char="•"/>
            </a:pPr>
            <a:r>
              <a:rPr sz="1300" b="0" i="0">
                <a:solidFill>
                  <a:srgbClr val="262626"/>
                </a:solidFill>
                <a:latin typeface="Arial"/>
              </a:rPr>
              <a:t>Brute-force search, ~200 million positions per second</a:t>
            </a:r>
          </a:p>
          <a:p>
            <a:pPr marL="164592" indent="-146304" algn="l">
              <a:spcAft>
                <a:spcPts val="400"/>
              </a:spcAft>
              <a:buFont typeface="Arial"/>
              <a:buChar char="•"/>
            </a:pPr>
            <a:r>
              <a:rPr sz="1300" b="0" i="0">
                <a:solidFill>
                  <a:srgbClr val="262626"/>
                </a:solidFill>
                <a:latin typeface="Arial"/>
              </a:rPr>
              <a:t>Evaluation hand-crafted with grandmasters</a:t>
            </a:r>
          </a:p>
        </p:txBody>
      </p:sp>
      <p:sp>
        <p:nvSpPr>
          <p:cNvPr id="15" name="Rounded Rectangle 14"/>
          <p:cNvSpPr/>
          <p:nvPr/>
        </p:nvSpPr>
        <p:spPr>
          <a:xfrm>
            <a:off x="5385816" y="3337560"/>
            <a:ext cx="3410711" cy="1600200"/>
          </a:xfrm>
          <a:prstGeom prst="roundRect">
            <a:avLst>
              <a:gd name="adj" fmla="val 457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38761D"/>
                </a:solidFill>
                <a:latin typeface="Arial"/>
              </a:rPr>
              <a:t>AlphaGo: learned</a:t>
            </a:r>
          </a:p>
          <a:p>
            <a:pPr marL="164592" indent="-146304" algn="l">
              <a:spcAft>
                <a:spcPts val="400"/>
              </a:spcAft>
              <a:buFont typeface="Arial"/>
              <a:buChar char="•"/>
            </a:pPr>
            <a:r>
              <a:rPr sz="1300" b="0" i="0">
                <a:solidFill>
                  <a:srgbClr val="262626"/>
                </a:solidFill>
                <a:latin typeface="Arial"/>
              </a:rPr>
              <a:t>Tree search + deep neural networks</a:t>
            </a:r>
          </a:p>
          <a:p>
            <a:pPr marL="164592" indent="-146304" algn="l">
              <a:spcAft>
                <a:spcPts val="400"/>
              </a:spcAft>
              <a:buFont typeface="Arial"/>
              <a:buChar char="•"/>
            </a:pPr>
            <a:r>
              <a:rPr sz="1300" b="0" i="0">
                <a:solidFill>
                  <a:srgbClr val="262626"/>
                </a:solidFill>
                <a:latin typeface="Arial"/>
              </a:rPr>
              <a:t>Reinforcement learning from self-play</a:t>
            </a:r>
          </a:p>
        </p:txBody>
      </p:sp>
      <p:sp>
        <p:nvSpPr>
          <p:cNvPr id="16" name="Rounded Rectangle 15"/>
          <p:cNvSpPr/>
          <p:nvPr/>
        </p:nvSpPr>
        <p:spPr>
          <a:xfrm>
            <a:off x="1810512" y="5166359"/>
            <a:ext cx="6986015"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THE SHIFT  </a:t>
            </a:r>
            <a:r>
              <a:rPr sz="1400" b="0" i="0">
                <a:solidFill>
                  <a:srgbClr val="FFFFFF"/>
                </a:solidFill>
                <a:latin typeface="Arial"/>
              </a:rPr>
              <a:t>From hand-programmed knowledge to learned knowledge. Reinforcement learning is Week 11.</a:t>
            </a:r>
          </a:p>
        </p:txBody>
      </p:sp>
      <p:sp>
        <p:nvSpPr>
          <p:cNvPr id="17" name="TextBox 16"/>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Campbell, Hoane and Hsu (2002); Silver et al. (2016).</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9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What is the key difference between how Deep Blue (1997) and AlphaGo (2016) played?</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Q9 (Understanding): </a:t>
            </a:r>
            <a:r>
              <a:rPr sz="1400" b="0" i="1">
                <a:solidFill>
                  <a:srgbClr val="595959"/>
                </a:solidFill>
                <a:latin typeface="Arial"/>
              </a:rPr>
              <a:t>What is the key difference between how Deep Blue (1997) and AlphaGo (2016) played?</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Deep Blue relied on brute-force search with an evaluation function hand-crafted by experts (programmed knowledge). AlphaGo combined search with deep neural networks trained by reinforcement learning from self-play (learned knowledge).</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From Deep Blue to AlphaGo</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(development)</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altLang="en-US" sz="2000" b="1" dirty="0"/>
              <a:t>deductive logic (theorem-provers)</a:t>
            </a:r>
            <a:r>
              <a:rPr lang="en-GB" altLang="en-US" sz="2000" dirty="0"/>
              <a:t>:</a:t>
            </a:r>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r>
              <a:rPr lang="en-GB" altLang="en-US" sz="2000" b="1" dirty="0"/>
              <a:t>Common sense reasoning</a:t>
            </a:r>
            <a:r>
              <a:rPr lang="en-GB" altLang="en-US" sz="2000" dirty="0"/>
              <a:t>: the idea was to code common sense knowledge as logical axioms, and employ a theorem-prover (John McCarthy and Patrick Hayes)</a:t>
            </a:r>
          </a:p>
          <a:p>
            <a:pPr marL="342900" lvl="1" indent="-342900">
              <a:spcBef>
                <a:spcPts val="1000"/>
              </a:spcBef>
            </a:pPr>
            <a:r>
              <a:rPr lang="en-GB" altLang="en-US" sz="2000" b="1" dirty="0"/>
              <a:t>Reasoning as search</a:t>
            </a:r>
            <a:r>
              <a:rPr lang="en-GB" altLang="en-US" sz="2000" dirty="0"/>
              <a:t>: Newell and Simon developed a program called the "General Problem Solver".</a:t>
            </a:r>
          </a:p>
          <a:p>
            <a:pPr marL="342900" lvl="1" indent="-342900">
              <a:spcBef>
                <a:spcPts val="1000"/>
              </a:spcBef>
            </a:pPr>
            <a:r>
              <a:rPr lang="en-GB" altLang="en-US" sz="2000" b="1" dirty="0"/>
              <a:t>Natural language Processing</a:t>
            </a:r>
            <a:r>
              <a:rPr lang="en-GB" altLang="en-US" sz="2000" dirty="0"/>
              <a:t>: Ross </a:t>
            </a:r>
            <a:r>
              <a:rPr lang="en-GB" altLang="en-US" sz="2000" dirty="0" err="1"/>
              <a:t>Quillian</a:t>
            </a:r>
            <a:r>
              <a:rPr lang="en-GB" altLang="en-US" sz="2000" dirty="0"/>
              <a:t> proposed the semantic networks and Margaret </a:t>
            </a:r>
            <a:r>
              <a:rPr lang="en-GB" altLang="en-US" sz="2000" dirty="0" err="1"/>
              <a:t>Masterman</a:t>
            </a:r>
            <a:r>
              <a:rPr lang="en-GB" altLang="en-US" sz="2000" dirty="0"/>
              <a:t> &amp; colleagues at Cambridge design semantic networks for machine translation</a:t>
            </a:r>
            <a:endParaRPr lang="en-GB" altLang="en-US" dirty="0"/>
          </a:p>
          <a:p>
            <a:pPr marL="342900" indent="-342900">
              <a:buFont typeface="Arial" panose="020B0604020202020204" pitchFamily="34" charset="0"/>
              <a:buChar char="•"/>
            </a:pPr>
            <a:endParaRPr lang="en-GB"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828800"/>
            <a:ext cx="6002337"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9499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logic notation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42622" y="1234440"/>
            <a:ext cx="6921795" cy="1417320"/>
          </a:xfrm>
          <a:prstGeom prst="rect">
            <a:avLst/>
          </a:prstGeom>
          <a:ln w="9525">
            <a:solidFill>
              <a:srgbClr val="A6B8D6"/>
            </a:solidFill>
          </a:ln>
        </p:spPr>
      </p:pic>
      <p:graphicFrame>
        <p:nvGraphicFramePr>
          <p:cNvPr id="5" name="Table 4"/>
          <p:cNvGraphicFramePr>
            <a:graphicFrameLocks noGrp="1"/>
          </p:cNvGraphicFramePr>
          <p:nvPr/>
        </p:nvGraphicFramePr>
        <p:xfrm>
          <a:off x="1810512" y="2834640"/>
          <a:ext cx="6986015" cy="1828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734055">
                  <a:extLst>
                    <a:ext uri="{9D8B030D-6E8A-4147-A177-3AD203B41FA5}">
                      <a16:colId xmlns:a16="http://schemas.microsoft.com/office/drawing/2014/main" val="20002"/>
                    </a:ext>
                  </a:extLst>
                </a:gridCol>
              </a:tblGrid>
              <a:tr h="457200">
                <a:tc>
                  <a:txBody>
                    <a:bodyPr/>
                    <a:lstStyle/>
                    <a:p>
                      <a:pPr marL="0" indent="0" algn="l">
                        <a:spcAft>
                          <a:spcPts val="400"/>
                        </a:spcAft>
                        <a:buNone/>
                      </a:pPr>
                      <a:r>
                        <a:rPr sz="1300" b="1" i="0">
                          <a:solidFill>
                            <a:srgbClr val="FFFFFF"/>
                          </a:solidFill>
                          <a:latin typeface="Arial"/>
                        </a:rPr>
                        <a:t>English</a:t>
                      </a:r>
                    </a:p>
                  </a:txBody>
                  <a:tcPr>
                    <a:solidFill>
                      <a:srgbClr val="1F3864"/>
                    </a:solidFill>
                  </a:tcPr>
                </a:tc>
                <a:tc>
                  <a:txBody>
                    <a:bodyPr/>
                    <a:lstStyle/>
                    <a:p>
                      <a:pPr marL="0" indent="0" algn="l">
                        <a:spcAft>
                          <a:spcPts val="400"/>
                        </a:spcAft>
                        <a:buNone/>
                      </a:pPr>
                      <a:r>
                        <a:rPr sz="1300" b="1" i="0">
                          <a:solidFill>
                            <a:srgbClr val="FFFFFF"/>
                          </a:solidFill>
                          <a:latin typeface="Arial"/>
                        </a:rPr>
                        <a:t>First-order logic</a:t>
                      </a:r>
                    </a:p>
                  </a:txBody>
                  <a:tcPr>
                    <a:solidFill>
                      <a:srgbClr val="1F3864"/>
                    </a:solidFill>
                  </a:tcPr>
                </a:tc>
                <a:tc>
                  <a:txBody>
                    <a:bodyPr/>
                    <a:lstStyle/>
                    <a:p>
                      <a:pPr marL="0" indent="0" algn="l">
                        <a:spcAft>
                          <a:spcPts val="400"/>
                        </a:spcAft>
                        <a:buNone/>
                      </a:pPr>
                      <a:r>
                        <a:rPr sz="1300" b="1" i="0">
                          <a:solidFill>
                            <a:srgbClr val="FFFFFF"/>
                          </a:solidFill>
                          <a:latin typeface="Arial"/>
                        </a:rPr>
                        <a:t>Meaning</a:t>
                      </a:r>
                    </a:p>
                  </a:txBody>
                  <a:tcPr>
                    <a:solidFill>
                      <a:srgbClr val="1F3864"/>
                    </a:solidFill>
                  </a:tcPr>
                </a:tc>
                <a:extLst>
                  <a:ext uri="{0D108BD9-81ED-4DB2-BD59-A6C34878D82A}">
                    <a16:rowId xmlns:a16="http://schemas.microsoft.com/office/drawing/2014/main" val="10000"/>
                  </a:ext>
                </a:extLst>
              </a:tr>
              <a:tr h="457200">
                <a:tc>
                  <a:txBody>
                    <a:bodyPr/>
                    <a:lstStyle/>
                    <a:p>
                      <a:pPr marL="0" indent="0" algn="l">
                        <a:spcAft>
                          <a:spcPts val="400"/>
                        </a:spcAft>
                        <a:buNone/>
                      </a:pPr>
                      <a:r>
                        <a:rPr sz="1200" b="0" i="0">
                          <a:solidFill>
                            <a:srgbClr val="262626"/>
                          </a:solidFill>
                          <a:latin typeface="Arial"/>
                        </a:rPr>
                        <a:t>All men are mortal</a:t>
                      </a:r>
                    </a:p>
                  </a:txBody>
                  <a:tcPr>
                    <a:solidFill>
                      <a:srgbClr val="E8EEF7"/>
                    </a:solidFill>
                  </a:tcPr>
                </a:tc>
                <a:tc>
                  <a:txBody>
                    <a:bodyPr/>
                    <a:lstStyle/>
                    <a:p>
                      <a:pPr marL="0" indent="0" algn="l">
                        <a:spcAft>
                          <a:spcPts val="400"/>
                        </a:spcAft>
                        <a:buNone/>
                      </a:pPr>
                      <a:r>
                        <a:rPr sz="1200" b="0" i="0">
                          <a:solidFill>
                            <a:srgbClr val="262626"/>
                          </a:solidFill>
                          <a:latin typeface="Arial"/>
                        </a:rPr>
                        <a:t>∀x (man(x) → mortal(x))</a:t>
                      </a:r>
                    </a:p>
                  </a:txBody>
                  <a:tcPr>
                    <a:solidFill>
                      <a:srgbClr val="E8EEF7"/>
                    </a:solidFill>
                  </a:tcPr>
                </a:tc>
                <a:tc>
                  <a:txBody>
                    <a:bodyPr/>
                    <a:lstStyle/>
                    <a:p>
                      <a:pPr marL="0" indent="0" algn="l">
                        <a:spcAft>
                          <a:spcPts val="400"/>
                        </a:spcAft>
                        <a:buNone/>
                      </a:pPr>
                      <a:r>
                        <a:rPr sz="1200" b="0" i="0">
                          <a:solidFill>
                            <a:srgbClr val="262626"/>
                          </a:solidFill>
                          <a:latin typeface="Arial"/>
                        </a:rPr>
                        <a:t>For every x: if x is a man, then x is mortal</a:t>
                      </a:r>
                    </a:p>
                  </a:txBody>
                  <a:tcPr>
                    <a:solidFill>
                      <a:srgbClr val="E8EEF7"/>
                    </a:solidFill>
                  </a:tcPr>
                </a:tc>
                <a:extLst>
                  <a:ext uri="{0D108BD9-81ED-4DB2-BD59-A6C34878D82A}">
                    <a16:rowId xmlns:a16="http://schemas.microsoft.com/office/drawing/2014/main" val="10001"/>
                  </a:ext>
                </a:extLst>
              </a:tr>
              <a:tr h="457200">
                <a:tc>
                  <a:txBody>
                    <a:bodyPr/>
                    <a:lstStyle/>
                    <a:p>
                      <a:pPr marL="0" indent="0" algn="l">
                        <a:spcAft>
                          <a:spcPts val="400"/>
                        </a:spcAft>
                        <a:buNone/>
                      </a:pPr>
                      <a:r>
                        <a:rPr sz="1200" b="0" i="0">
                          <a:solidFill>
                            <a:srgbClr val="262626"/>
                          </a:solidFill>
                          <a:latin typeface="Arial"/>
                        </a:rPr>
                        <a:t>Socrates is a man</a:t>
                      </a:r>
                    </a:p>
                  </a:txBody>
                  <a:tcPr>
                    <a:solidFill>
                      <a:srgbClr val="FFFFFF"/>
                    </a:solidFill>
                  </a:tcPr>
                </a:tc>
                <a:tc>
                  <a:txBody>
                    <a:bodyPr/>
                    <a:lstStyle/>
                    <a:p>
                      <a:pPr marL="0" indent="0" algn="l">
                        <a:spcAft>
                          <a:spcPts val="400"/>
                        </a:spcAft>
                        <a:buNone/>
                      </a:pPr>
                      <a:r>
                        <a:rPr sz="1200" b="0" i="0">
                          <a:solidFill>
                            <a:srgbClr val="262626"/>
                          </a:solidFill>
                          <a:latin typeface="Arial"/>
                        </a:rPr>
                        <a:t>man(Socrates)</a:t>
                      </a:r>
                    </a:p>
                  </a:txBody>
                  <a:tcPr>
                    <a:solidFill>
                      <a:srgbClr val="FFFFFF"/>
                    </a:solidFill>
                  </a:tcPr>
                </a:tc>
                <a:tc>
                  <a:txBody>
                    <a:bodyPr/>
                    <a:lstStyle/>
                    <a:p>
                      <a:pPr marL="0" indent="0" algn="l">
                        <a:spcAft>
                          <a:spcPts val="400"/>
                        </a:spcAft>
                        <a:buNone/>
                      </a:pPr>
                      <a:r>
                        <a:rPr sz="1200" b="0" i="0">
                          <a:solidFill>
                            <a:srgbClr val="262626"/>
                          </a:solidFill>
                          <a:latin typeface="Arial"/>
                        </a:rPr>
                        <a:t>A fact about one individual</a:t>
                      </a:r>
                    </a:p>
                  </a:txBody>
                  <a:tcPr>
                    <a:solidFill>
                      <a:srgbClr val="FFFFFF"/>
                    </a:solidFill>
                  </a:tcPr>
                </a:tc>
                <a:extLst>
                  <a:ext uri="{0D108BD9-81ED-4DB2-BD59-A6C34878D82A}">
                    <a16:rowId xmlns:a16="http://schemas.microsoft.com/office/drawing/2014/main" val="10002"/>
                  </a:ext>
                </a:extLst>
              </a:tr>
              <a:tr h="457200">
                <a:tc>
                  <a:txBody>
                    <a:bodyPr/>
                    <a:lstStyle/>
                    <a:p>
                      <a:pPr marL="0" indent="0" algn="l">
                        <a:spcAft>
                          <a:spcPts val="400"/>
                        </a:spcAft>
                        <a:buNone/>
                      </a:pPr>
                      <a:r>
                        <a:rPr sz="1200" b="0" i="0">
                          <a:solidFill>
                            <a:srgbClr val="262626"/>
                          </a:solidFill>
                          <a:latin typeface="Arial"/>
                        </a:rPr>
                        <a:t>Socrates is mortal</a:t>
                      </a:r>
                    </a:p>
                  </a:txBody>
                  <a:tcPr>
                    <a:solidFill>
                      <a:srgbClr val="E8EEF7"/>
                    </a:solidFill>
                  </a:tcPr>
                </a:tc>
                <a:tc>
                  <a:txBody>
                    <a:bodyPr/>
                    <a:lstStyle/>
                    <a:p>
                      <a:pPr marL="0" indent="0" algn="l">
                        <a:spcAft>
                          <a:spcPts val="400"/>
                        </a:spcAft>
                        <a:buNone/>
                      </a:pPr>
                      <a:r>
                        <a:rPr sz="1200" b="0" i="0">
                          <a:solidFill>
                            <a:srgbClr val="262626"/>
                          </a:solidFill>
                          <a:latin typeface="Arial"/>
                        </a:rPr>
                        <a:t>mortal(Socrates)</a:t>
                      </a:r>
                    </a:p>
                  </a:txBody>
                  <a:tcPr>
                    <a:solidFill>
                      <a:srgbClr val="E8EEF7"/>
                    </a:solidFill>
                  </a:tcPr>
                </a:tc>
                <a:tc>
                  <a:txBody>
                    <a:bodyPr/>
                    <a:lstStyle/>
                    <a:p>
                      <a:pPr marL="0" indent="0" algn="l">
                        <a:spcAft>
                          <a:spcPts val="400"/>
                        </a:spcAft>
                        <a:buNone/>
                      </a:pPr>
                      <a:r>
                        <a:rPr sz="1200" b="0" i="0">
                          <a:solidFill>
                            <a:srgbClr val="262626"/>
                          </a:solidFill>
                          <a:latin typeface="Arial"/>
                        </a:rPr>
                        <a:t>The conclusion, written below the line</a:t>
                      </a:r>
                    </a:p>
                  </a:txBody>
                  <a:tcPr>
                    <a:solidFill>
                      <a:srgbClr val="E8EEF7"/>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810512" y="4846320"/>
            <a:ext cx="6986015" cy="1463040"/>
          </a:xfrm>
          <a:prstGeom prst="roundRect">
            <a:avLst>
              <a:gd name="adj" fmla="val 5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Symbols</a:t>
            </a:r>
          </a:p>
          <a:p>
            <a:pPr marL="0" indent="0" algn="l">
              <a:spcAft>
                <a:spcPts val="600"/>
              </a:spcAft>
              <a:buNone/>
            </a:pPr>
            <a:r>
              <a:rPr sz="1300" b="0" i="0">
                <a:solidFill>
                  <a:srgbClr val="262626"/>
                </a:solidFill>
                <a:latin typeface="Arial"/>
              </a:rPr>
              <a:t>∀ = “for all”;  → = “if … then”;  the horizontal line separates the premises (above) from the conclusion (below). A theorem prover applies such inference rules automatically to derive new facts.</a:t>
            </a:r>
          </a:p>
        </p:txBody>
      </p:sp>
      <p:sp>
        <p:nvSpPr>
          <p:cNvPr id="7" name="TextBox 6"/>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This syllogism goes back to Aristotle; the logical form is standard first-order logic (Russell and Norvig, 2020).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Four early directions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1920240"/>
          </a:xfrm>
          <a:prstGeom prst="roundRect">
            <a:avLst>
              <a:gd name="adj" fmla="val 38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Theorem proving</a:t>
            </a:r>
          </a:p>
          <a:p>
            <a:pPr marL="0" indent="0" algn="l">
              <a:spcAft>
                <a:spcPts val="600"/>
              </a:spcAft>
              <a:buNone/>
            </a:pPr>
            <a:r>
              <a:rPr sz="1400" b="0" i="0">
                <a:solidFill>
                  <a:srgbClr val="262626"/>
                </a:solidFill>
                <a:latin typeface="Arial"/>
              </a:rPr>
              <a:t>Write knowledge in logic; the program derives new facts automatically.</a:t>
            </a:r>
          </a:p>
          <a:p>
            <a:pPr marL="0" indent="0" algn="l">
              <a:spcAft>
                <a:spcPts val="400"/>
              </a:spcAft>
              <a:buNone/>
            </a:pPr>
            <a:r>
              <a:rPr sz="1400" b="1" i="0">
                <a:solidFill>
                  <a:srgbClr val="38761D"/>
                </a:solidFill>
                <a:latin typeface="Arial"/>
              </a:rPr>
              <a:t>→ Week 12</a:t>
            </a:r>
          </a:p>
        </p:txBody>
      </p:sp>
      <p:sp>
        <p:nvSpPr>
          <p:cNvPr id="5" name="Rounded Rectangle 4"/>
          <p:cNvSpPr/>
          <p:nvPr/>
        </p:nvSpPr>
        <p:spPr>
          <a:xfrm>
            <a:off x="5385816" y="1234440"/>
            <a:ext cx="3410711" cy="1920240"/>
          </a:xfrm>
          <a:prstGeom prst="roundRect">
            <a:avLst>
              <a:gd name="adj" fmla="val 38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Common-sense reasoning</a:t>
            </a:r>
          </a:p>
          <a:p>
            <a:pPr marL="0" indent="0" algn="l">
              <a:spcAft>
                <a:spcPts val="600"/>
              </a:spcAft>
              <a:buNone/>
            </a:pPr>
            <a:r>
              <a:rPr sz="1400" b="0" i="0">
                <a:solidFill>
                  <a:srgbClr val="262626"/>
                </a:solidFill>
                <a:latin typeface="Arial"/>
              </a:rPr>
              <a:t>McCarthy &amp; Hayes: everyday knowledge as axioms. Far harder than expected, and still hard today.</a:t>
            </a:r>
          </a:p>
          <a:p>
            <a:pPr marL="0" indent="0" algn="l">
              <a:spcAft>
                <a:spcPts val="400"/>
              </a:spcAft>
              <a:buNone/>
            </a:pPr>
            <a:r>
              <a:rPr sz="1400" b="1" i="0">
                <a:solidFill>
                  <a:srgbClr val="38761D"/>
                </a:solidFill>
                <a:latin typeface="Arial"/>
              </a:rPr>
              <a:t>→ Week 12</a:t>
            </a:r>
          </a:p>
        </p:txBody>
      </p:sp>
      <p:sp>
        <p:nvSpPr>
          <p:cNvPr id="6" name="Rounded Rectangle 5"/>
          <p:cNvSpPr/>
          <p:nvPr/>
        </p:nvSpPr>
        <p:spPr>
          <a:xfrm>
            <a:off x="1810512" y="3337560"/>
            <a:ext cx="3410711" cy="1920240"/>
          </a:xfrm>
          <a:prstGeom prst="roundRect">
            <a:avLst>
              <a:gd name="adj" fmla="val 38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Reasoning as search</a:t>
            </a:r>
          </a:p>
          <a:p>
            <a:pPr marL="0" indent="0" algn="l">
              <a:spcAft>
                <a:spcPts val="600"/>
              </a:spcAft>
              <a:buNone/>
            </a:pPr>
            <a:r>
              <a:rPr sz="1400" b="0" i="0">
                <a:solidFill>
                  <a:srgbClr val="262626"/>
                </a:solidFill>
                <a:latin typeface="Arial"/>
              </a:rPr>
              <a:t>General Problem Solver (~1957): means-ends analysis reduces the gap between current state and goal.</a:t>
            </a:r>
          </a:p>
          <a:p>
            <a:pPr marL="0" indent="0" algn="l">
              <a:spcAft>
                <a:spcPts val="400"/>
              </a:spcAft>
              <a:buNone/>
            </a:pPr>
            <a:r>
              <a:rPr sz="1400" b="1" i="0">
                <a:solidFill>
                  <a:srgbClr val="38761D"/>
                </a:solidFill>
                <a:latin typeface="Arial"/>
              </a:rPr>
              <a:t>→ search</a:t>
            </a:r>
          </a:p>
        </p:txBody>
      </p:sp>
      <p:sp>
        <p:nvSpPr>
          <p:cNvPr id="7" name="Rounded Rectangle 6"/>
          <p:cNvSpPr/>
          <p:nvPr/>
        </p:nvSpPr>
        <p:spPr>
          <a:xfrm>
            <a:off x="5385816" y="3337560"/>
            <a:ext cx="3410711" cy="1920240"/>
          </a:xfrm>
          <a:prstGeom prst="roundRect">
            <a:avLst>
              <a:gd name="adj" fmla="val 380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600" b="1" i="0">
                <a:solidFill>
                  <a:srgbClr val="2F5DA8"/>
                </a:solidFill>
                <a:latin typeface="Arial"/>
              </a:rPr>
              <a:t>Natural language</a:t>
            </a:r>
          </a:p>
          <a:p>
            <a:pPr marL="0" indent="0" algn="l">
              <a:spcAft>
                <a:spcPts val="600"/>
              </a:spcAft>
              <a:buNone/>
            </a:pPr>
            <a:r>
              <a:rPr sz="1400" b="0" i="0">
                <a:solidFill>
                  <a:srgbClr val="262626"/>
                </a:solidFill>
                <a:latin typeface="Arial"/>
              </a:rPr>
              <a:t>Quillian: semantic networks (“a canary is a bird; a bird can fly”). Masterman, Cambridge: machine translation.</a:t>
            </a:r>
          </a:p>
          <a:p>
            <a:pPr marL="0" indent="0" algn="l">
              <a:spcAft>
                <a:spcPts val="400"/>
              </a:spcAft>
              <a:buNone/>
            </a:pPr>
            <a:r>
              <a:rPr sz="1400" b="1" i="0">
                <a:solidFill>
                  <a:srgbClr val="38761D"/>
                </a:solidFill>
                <a:latin typeface="Arial"/>
              </a:rPr>
              <a:t>→ Week 10</a:t>
            </a:r>
          </a:p>
        </p:txBody>
      </p:sp>
      <p:sp>
        <p:nvSpPr>
          <p:cNvPr id="8" name="TextBox 7"/>
          <p:cNvSpPr txBox="1"/>
          <p:nvPr/>
        </p:nvSpPr>
        <p:spPr>
          <a:xfrm>
            <a:off x="1810512" y="5532120"/>
            <a:ext cx="6986015" cy="365760"/>
          </a:xfrm>
          <a:prstGeom prst="rect">
            <a:avLst/>
          </a:prstGeom>
          <a:noFill/>
        </p:spPr>
        <p:txBody>
          <a:bodyPr wrap="square" lIns="54864" tIns="54864" rIns="54864" bIns="54864" anchor="t"/>
          <a:lstStyle/>
          <a:p>
            <a:pPr marL="0" indent="0" algn="ctr">
              <a:spcAft>
                <a:spcPts val="400"/>
              </a:spcAft>
              <a:buNone/>
            </a:pPr>
            <a:r>
              <a:rPr sz="1300" b="0" i="1">
                <a:solidFill>
                  <a:srgbClr val="595959"/>
                </a:solidFill>
                <a:latin typeface="Arial"/>
              </a:rPr>
              <a:t>These directions are the roots of topics later in this module.</a:t>
            </a:r>
          </a:p>
        </p:txBody>
      </p:sp>
      <p:sp>
        <p:nvSpPr>
          <p:cNvPr id="9" name="TextBox 8"/>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McCarthy and Hayes (1969); Newell, Shaw and Simon (1959); Quillian (1968).</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(golden years)</a:t>
            </a:r>
          </a:p>
        </p:txBody>
      </p:sp>
      <p:sp>
        <p:nvSpPr>
          <p:cNvPr id="3" name="Content Placeholder 2"/>
          <p:cNvSpPr>
            <a:spLocks noGrp="1"/>
          </p:cNvSpPr>
          <p:nvPr>
            <p:ph idx="1"/>
          </p:nvPr>
        </p:nvSpPr>
        <p:spPr/>
        <p:txBody>
          <a:bodyPr/>
          <a:lstStyle/>
          <a:p>
            <a:r>
              <a:rPr lang="en-GB" b="1" dirty="0"/>
              <a:t>Golden years: 1956-1974</a:t>
            </a:r>
          </a:p>
          <a:p>
            <a:pPr marL="800100" lvl="2" indent="-342900">
              <a:spcBef>
                <a:spcPts val="1000"/>
              </a:spcBef>
            </a:pPr>
            <a:r>
              <a:rPr lang="en-GB" altLang="en-US" sz="2000" b="1" dirty="0"/>
              <a:t>Lisp</a:t>
            </a:r>
            <a:r>
              <a:rPr lang="en-GB" altLang="en-US" sz="2000" dirty="0"/>
              <a:t>: John McCarthy (MIT) invented the Lisp language.</a:t>
            </a:r>
          </a:p>
          <a:p>
            <a:r>
              <a:rPr lang="en-GB" altLang="en-US" b="1" dirty="0"/>
              <a:t>Funding for AI research</a:t>
            </a:r>
            <a:r>
              <a:rPr lang="en-GB" altLang="en-US" dirty="0"/>
              <a:t>:</a:t>
            </a:r>
          </a:p>
          <a:p>
            <a:pPr lvl="1"/>
            <a:r>
              <a:rPr lang="en-GB" altLang="en-US" sz="2000" dirty="0"/>
              <a:t>Significant funding from both USA and UK governments</a:t>
            </a:r>
          </a:p>
          <a:p>
            <a:r>
              <a:rPr lang="en-GB" altLang="en-US" b="1" dirty="0"/>
              <a:t>The optimism</a:t>
            </a:r>
            <a:r>
              <a:rPr lang="en-GB" altLang="en-US" dirty="0"/>
              <a:t>:</a:t>
            </a:r>
          </a:p>
          <a:p>
            <a:pPr lvl="1"/>
            <a:r>
              <a:rPr lang="en-GB" altLang="en-US" sz="2000" dirty="0"/>
              <a:t>1965, Simon: "machines will be capable, within twenty years, of doing any work a man can do"</a:t>
            </a:r>
          </a:p>
          <a:p>
            <a:pPr lvl="1"/>
            <a:r>
              <a:rPr lang="en-GB" altLang="en-US" sz="2000" dirty="0"/>
              <a:t>1970, Minsky: "In from three to eight years we will have a machine with the general intelligence of an average human being."</a:t>
            </a:r>
          </a:p>
          <a:p>
            <a:endParaRPr lang="en-GB" dirty="0"/>
          </a:p>
        </p:txBody>
      </p:sp>
    </p:spTree>
    <p:extLst>
      <p:ext uri="{BB962C8B-B14F-4D97-AF65-F5344CB8AC3E}">
        <p14:creationId xmlns:p14="http://schemas.microsoft.com/office/powerpoint/2010/main" val="22307354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golden years: lessons</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1325880"/>
          </a:xfrm>
          <a:prstGeom prst="roundRect">
            <a:avLst>
              <a:gd name="adj" fmla="val 551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Lisp (McCarthy, 1958)</a:t>
            </a:r>
          </a:p>
          <a:p>
            <a:pPr marL="0" indent="0" algn="l">
              <a:spcAft>
                <a:spcPts val="400"/>
              </a:spcAft>
              <a:buNone/>
            </a:pPr>
            <a:r>
              <a:rPr sz="1200" b="0" i="0">
                <a:solidFill>
                  <a:srgbClr val="262626"/>
                </a:solidFill>
                <a:latin typeface="Arial"/>
              </a:rPr>
              <a:t>The main AI language for decades. Ideas such as garbage collection live on, including in Python.</a:t>
            </a:r>
          </a:p>
        </p:txBody>
      </p:sp>
      <p:sp>
        <p:nvSpPr>
          <p:cNvPr id="5" name="Rounded Rectangle 4"/>
          <p:cNvSpPr/>
          <p:nvPr/>
        </p:nvSpPr>
        <p:spPr>
          <a:xfrm>
            <a:off x="1810512" y="2697480"/>
            <a:ext cx="3410711" cy="1325880"/>
          </a:xfrm>
          <a:prstGeom prst="roundRect">
            <a:avLst>
              <a:gd name="adj" fmla="val 551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Generous funding</a:t>
            </a:r>
          </a:p>
          <a:p>
            <a:pPr marL="0" indent="0" algn="l">
              <a:spcAft>
                <a:spcPts val="400"/>
              </a:spcAft>
              <a:buNone/>
            </a:pPr>
            <a:r>
              <a:rPr sz="1200" b="0" i="0">
                <a:solidFill>
                  <a:srgbClr val="262626"/>
                </a:solidFill>
                <a:latin typeface="Arial"/>
              </a:rPr>
              <a:t>ARPA (now DARPA) funded MIT, Stanford and CMU; the UK funded AI too.</a:t>
            </a:r>
          </a:p>
        </p:txBody>
      </p:sp>
      <p:sp>
        <p:nvSpPr>
          <p:cNvPr id="6" name="Rounded Rectangle 5"/>
          <p:cNvSpPr/>
          <p:nvPr/>
        </p:nvSpPr>
        <p:spPr>
          <a:xfrm>
            <a:off x="1810512" y="4160520"/>
            <a:ext cx="3410711" cy="1325880"/>
          </a:xfrm>
          <a:prstGeom prst="roundRect">
            <a:avLst>
              <a:gd name="adj" fmla="val 551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ELIZA (Weizenbaum, 1966)</a:t>
            </a:r>
          </a:p>
          <a:p>
            <a:pPr marL="0" indent="0" algn="l">
              <a:spcAft>
                <a:spcPts val="400"/>
              </a:spcAft>
              <a:buNone/>
            </a:pPr>
            <a:r>
              <a:rPr sz="1200" b="0" i="0">
                <a:solidFill>
                  <a:srgbClr val="262626"/>
                </a:solidFill>
                <a:latin typeface="Arial"/>
              </a:rPr>
              <a:t>A pattern-matching “therapist” chatbot. Users became attached, though it understood nothing.</a:t>
            </a:r>
          </a:p>
        </p:txBody>
      </p:sp>
      <p:sp>
        <p:nvSpPr>
          <p:cNvPr id="7" name="Rounded Rectangle 6"/>
          <p:cNvSpPr/>
          <p:nvPr/>
        </p:nvSpPr>
        <p:spPr>
          <a:xfrm>
            <a:off x="5385816" y="1234440"/>
            <a:ext cx="3410711" cy="4251960"/>
          </a:xfrm>
          <a:prstGeom prst="roundRect">
            <a:avLst>
              <a:gd name="adj" fmla="val 2144"/>
            </a:avLst>
          </a:prstGeom>
          <a:solidFill>
            <a:srgbClr val="FFFFFF"/>
          </a:solidFill>
          <a:ln w="15875">
            <a:solidFill>
              <a:srgbClr val="A6B8D6"/>
            </a:solidFill>
          </a:ln>
          <a:effectLst/>
        </p:spPr>
        <p:style>
          <a:lnRef idx="1">
            <a:schemeClr val="accent1"/>
          </a:lnRef>
          <a:fillRef idx="3">
            <a:schemeClr val="accent1"/>
          </a:fillRef>
          <a:effectRef idx="2">
            <a:schemeClr val="accent1"/>
          </a:effectRef>
          <a:fontRef idx="minor">
            <a:schemeClr val="lt1"/>
          </a:fontRef>
        </p:style>
        <p:txBody>
          <a:bodyPr wrap="square" lIns="146304" tIns="102412" rIns="146304" bIns="102412" rtlCol="0" anchor="t"/>
          <a:lstStyle/>
          <a:p>
            <a:pPr marL="0" indent="0" algn="l">
              <a:spcAft>
                <a:spcPts val="800"/>
              </a:spcAft>
              <a:buNone/>
            </a:pPr>
            <a:r>
              <a:rPr sz="1600" b="1" i="0">
                <a:solidFill>
                  <a:srgbClr val="1F3864"/>
                </a:solidFill>
                <a:latin typeface="Arial"/>
              </a:rPr>
              <a:t>Predictions vs reality</a:t>
            </a:r>
          </a:p>
          <a:p>
            <a:pPr marL="0" indent="0" algn="l">
              <a:spcAft>
                <a:spcPts val="100"/>
              </a:spcAft>
              <a:buNone/>
            </a:pPr>
            <a:r>
              <a:rPr sz="1300" b="1" i="0">
                <a:solidFill>
                  <a:srgbClr val="262626"/>
                </a:solidFill>
                <a:latin typeface="Arial"/>
              </a:rPr>
              <a:t>Simon, 1965</a:t>
            </a:r>
          </a:p>
          <a:p>
            <a:pPr marL="0" indent="0" algn="l">
              <a:spcAft>
                <a:spcPts val="200"/>
              </a:spcAft>
              <a:buNone/>
            </a:pPr>
            <a:r>
              <a:rPr sz="1300" b="0" i="1">
                <a:solidFill>
                  <a:srgbClr val="262626"/>
                </a:solidFill>
                <a:latin typeface="Arial"/>
              </a:rPr>
              <a:t>“within twenty years” machines would do any work a man can do</a:t>
            </a:r>
          </a:p>
          <a:p>
            <a:pPr marL="0" indent="0" algn="l">
              <a:spcAft>
                <a:spcPts val="1000"/>
              </a:spcAft>
              <a:buNone/>
            </a:pPr>
            <a:r>
              <a:rPr sz="1300" b="1" i="0">
                <a:solidFill>
                  <a:srgbClr val="C00000"/>
                </a:solidFill>
                <a:latin typeface="Arial"/>
              </a:rPr>
              <a:t>✗  Did not happen</a:t>
            </a:r>
          </a:p>
          <a:p>
            <a:pPr marL="0" indent="0" algn="l">
              <a:spcAft>
                <a:spcPts val="100"/>
              </a:spcAft>
              <a:buNone/>
            </a:pPr>
            <a:r>
              <a:rPr sz="1300" b="1" i="0">
                <a:solidFill>
                  <a:srgbClr val="262626"/>
                </a:solidFill>
                <a:latin typeface="Arial"/>
              </a:rPr>
              <a:t>Minsky, 1970</a:t>
            </a:r>
          </a:p>
          <a:p>
            <a:pPr marL="0" indent="0" algn="l">
              <a:spcAft>
                <a:spcPts val="200"/>
              </a:spcAft>
              <a:buNone/>
            </a:pPr>
            <a:r>
              <a:rPr sz="1300" b="0" i="1">
                <a:solidFill>
                  <a:srgbClr val="262626"/>
                </a:solidFill>
                <a:latin typeface="Arial"/>
              </a:rPr>
              <a:t>general human-level intelligence “in from three to eight years”</a:t>
            </a:r>
          </a:p>
          <a:p>
            <a:pPr marL="0" indent="0" algn="l">
              <a:spcAft>
                <a:spcPts val="400"/>
              </a:spcAft>
              <a:buNone/>
            </a:pPr>
            <a:r>
              <a:rPr sz="1300" b="1" i="0">
                <a:solidFill>
                  <a:srgbClr val="C00000"/>
                </a:solidFill>
                <a:latin typeface="Arial"/>
              </a:rPr>
              <a:t>✗  Did not happen</a:t>
            </a:r>
          </a:p>
        </p:txBody>
      </p:sp>
      <p:sp>
        <p:nvSpPr>
          <p:cNvPr id="8" name="Rounded Rectangle 7"/>
          <p:cNvSpPr/>
          <p:nvPr/>
        </p:nvSpPr>
        <p:spPr>
          <a:xfrm>
            <a:off x="1810512" y="5669280"/>
            <a:ext cx="6986015" cy="640080"/>
          </a:xfrm>
          <a:prstGeom prst="roundRect">
            <a:avLst>
              <a:gd name="adj" fmla="val 11428"/>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TODAY  </a:t>
            </a:r>
            <a:r>
              <a:rPr sz="1400" b="0" i="0">
                <a:solidFill>
                  <a:srgbClr val="262626"/>
                </a:solidFill>
                <a:latin typeface="Arial"/>
              </a:rPr>
              <a:t>We hear similar AGI predictions. Take them seriously, but critically.</a:t>
            </a:r>
          </a:p>
        </p:txBody>
      </p:sp>
      <p:sp>
        <p:nvSpPr>
          <p:cNvPr id="9" name="TextBox 8"/>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Simon (1965); Weizenbaum (1966); Darrach (1970).</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(1</a:t>
            </a:r>
            <a:r>
              <a:rPr lang="en-GB" baseline="30000" dirty="0"/>
              <a:t>ST</a:t>
            </a:r>
            <a:r>
              <a:rPr lang="en-GB" dirty="0"/>
              <a:t> AI winter)</a:t>
            </a:r>
          </a:p>
        </p:txBody>
      </p:sp>
      <p:sp>
        <p:nvSpPr>
          <p:cNvPr id="3" name="Content Placeholder 2"/>
          <p:cNvSpPr>
            <a:spLocks noGrp="1"/>
          </p:cNvSpPr>
          <p:nvPr>
            <p:ph idx="1"/>
          </p:nvPr>
        </p:nvSpPr>
        <p:spPr>
          <a:xfrm>
            <a:off x="1809892" y="1414985"/>
            <a:ext cx="7105508" cy="4985815"/>
          </a:xfrm>
        </p:spPr>
        <p:txBody>
          <a:bodyPr/>
          <a:lstStyle/>
          <a:p>
            <a:r>
              <a:rPr lang="en-GB" altLang="en-US" sz="1800" b="1" dirty="0"/>
              <a:t>The first AI winter 1974−1980:</a:t>
            </a:r>
            <a:endParaRPr lang="en-GB" altLang="en-US" sz="1800" dirty="0"/>
          </a:p>
          <a:p>
            <a:pPr lvl="1"/>
            <a:r>
              <a:rPr lang="en-GB" altLang="en-US" sz="1800" b="1" dirty="0"/>
              <a:t>Problems</a:t>
            </a:r>
          </a:p>
          <a:p>
            <a:pPr lvl="2"/>
            <a:r>
              <a:rPr lang="en-GB" altLang="en-US" sz="1800" b="1" dirty="0"/>
              <a:t>Limited computer power</a:t>
            </a:r>
            <a:r>
              <a:rPr lang="en-GB" altLang="en-US" sz="1800" dirty="0"/>
              <a:t>: There was not enough memory or processing speed to accomplish anything truly useful </a:t>
            </a:r>
          </a:p>
          <a:p>
            <a:pPr lvl="2"/>
            <a:r>
              <a:rPr lang="en-GB" altLang="en-US" sz="1800" b="1" dirty="0"/>
              <a:t>Intractability and the combinatorial explosion</a:t>
            </a:r>
            <a:r>
              <a:rPr lang="en-GB" altLang="en-US" sz="1800" dirty="0"/>
              <a:t>. In 1972 Richard Karp showed there are many problems that can probably only be solved in exponential time (in the size of the inputs), famously named as NP (</a:t>
            </a:r>
            <a:r>
              <a:rPr lang="en-GB" sz="2000" i="0" dirty="0">
                <a:solidFill>
                  <a:srgbClr val="202124"/>
                </a:solidFill>
                <a:effectLst/>
                <a:latin typeface="arial" panose="020B0604020202020204" pitchFamily="34" charset="0"/>
              </a:rPr>
              <a:t>nondeterministic polynomial time</a:t>
            </a:r>
            <a:r>
              <a:rPr lang="en-GB" altLang="en-US" sz="1800" dirty="0"/>
              <a:t>) complete/hard problem.  </a:t>
            </a:r>
          </a:p>
          <a:p>
            <a:pPr lvl="2"/>
            <a:r>
              <a:rPr lang="en-GB" altLang="en-US" sz="1800" b="1" dirty="0"/>
              <a:t>Common sense knowledge and reasoning</a:t>
            </a:r>
            <a:r>
              <a:rPr lang="en-GB" altLang="en-US" sz="1800" dirty="0"/>
              <a:t>. Many important applications like vision or natural language require simply enormous amounts of information about the world and handling uncertainty.</a:t>
            </a:r>
          </a:p>
          <a:p>
            <a:pPr lvl="1"/>
            <a:r>
              <a:rPr lang="en-GB" altLang="en-US" sz="1800" b="1" dirty="0"/>
              <a:t>The end of funding</a:t>
            </a:r>
          </a:p>
          <a:p>
            <a:pPr lvl="2"/>
            <a:r>
              <a:rPr lang="en-GB" altLang="en-US" sz="1800" dirty="0"/>
              <a:t>The agencies which funded AI research became frustrated with the lack of progress and eventually cut off most funding for AI research.</a:t>
            </a:r>
          </a:p>
          <a:p>
            <a:endParaRPr lang="en-GB" dirty="0"/>
          </a:p>
        </p:txBody>
      </p:sp>
    </p:spTree>
    <p:extLst>
      <p:ext uri="{BB962C8B-B14F-4D97-AF65-F5344CB8AC3E}">
        <p14:creationId xmlns:p14="http://schemas.microsoft.com/office/powerpoint/2010/main" val="42499045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Why the first winter came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TextBox 3"/>
          <p:cNvSpPr txBox="1"/>
          <p:nvPr/>
        </p:nvSpPr>
        <p:spPr>
          <a:xfrm>
            <a:off x="1810512" y="1188720"/>
            <a:ext cx="6986015" cy="365760"/>
          </a:xfrm>
          <a:prstGeom prst="rect">
            <a:avLst/>
          </a:prstGeom>
          <a:noFill/>
        </p:spPr>
        <p:txBody>
          <a:bodyPr wrap="square" lIns="54864" tIns="54864" rIns="54864" bIns="54864" anchor="t"/>
          <a:lstStyle/>
          <a:p>
            <a:pPr marL="0" indent="0" algn="l">
              <a:spcAft>
                <a:spcPts val="400"/>
              </a:spcAft>
              <a:buNone/>
            </a:pPr>
            <a:r>
              <a:rPr sz="1600" b="1" i="0">
                <a:solidFill>
                  <a:srgbClr val="1F3864"/>
                </a:solidFill>
                <a:latin typeface="Arial"/>
              </a:rPr>
              <a:t>Three problems</a:t>
            </a:r>
          </a:p>
        </p:txBody>
      </p:sp>
      <p:sp>
        <p:nvSpPr>
          <p:cNvPr id="5" name="Rounded Rectangle 4"/>
          <p:cNvSpPr/>
          <p:nvPr/>
        </p:nvSpPr>
        <p:spPr>
          <a:xfrm>
            <a:off x="1810512" y="1600200"/>
            <a:ext cx="2218943"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Computing power</a:t>
            </a:r>
          </a:p>
          <a:p>
            <a:pPr marL="0" indent="0" algn="l">
              <a:spcAft>
                <a:spcPts val="400"/>
              </a:spcAft>
              <a:buNone/>
            </a:pPr>
            <a:r>
              <a:rPr sz="1300" b="0" i="0">
                <a:solidFill>
                  <a:srgbClr val="262626"/>
                </a:solidFill>
                <a:latin typeface="Arial"/>
              </a:rPr>
              <a:t>Quillian’s language demo had a vocabulary of just 20 words: all that fitted in memory.</a:t>
            </a:r>
          </a:p>
        </p:txBody>
      </p:sp>
      <p:sp>
        <p:nvSpPr>
          <p:cNvPr id="6" name="Rounded Rectangle 5"/>
          <p:cNvSpPr/>
          <p:nvPr/>
        </p:nvSpPr>
        <p:spPr>
          <a:xfrm>
            <a:off x="4194047" y="1600200"/>
            <a:ext cx="2218943"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Combinatorial explosion</a:t>
            </a:r>
          </a:p>
          <a:p>
            <a:pPr marL="0" indent="0" algn="l">
              <a:spcAft>
                <a:spcPts val="400"/>
              </a:spcAft>
              <a:buNone/>
            </a:pPr>
            <a:r>
              <a:rPr sz="1300" b="0" i="0">
                <a:solidFill>
                  <a:srgbClr val="262626"/>
                </a:solidFill>
                <a:latin typeface="Arial"/>
              </a:rPr>
              <a:t>Karp (1972): 21 NP-complete problems. No known efficient algorithm; P vs NP is still open.</a:t>
            </a:r>
          </a:p>
        </p:txBody>
      </p:sp>
      <p:sp>
        <p:nvSpPr>
          <p:cNvPr id="7" name="Rounded Rectangle 6"/>
          <p:cNvSpPr/>
          <p:nvPr/>
        </p:nvSpPr>
        <p:spPr>
          <a:xfrm>
            <a:off x="6577584" y="1600200"/>
            <a:ext cx="2218943" cy="1828800"/>
          </a:xfrm>
          <a:prstGeom prst="roundRect">
            <a:avLst>
              <a:gd name="adj" fmla="val 4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Common sense &amp; uncertainty</a:t>
            </a:r>
          </a:p>
          <a:p>
            <a:pPr marL="0" indent="0" algn="l">
              <a:spcAft>
                <a:spcPts val="400"/>
              </a:spcAft>
              <a:buNone/>
            </a:pPr>
            <a:r>
              <a:rPr sz="1300" b="0" i="0">
                <a:solidFill>
                  <a:srgbClr val="262626"/>
                </a:solidFill>
                <a:latin typeface="Arial"/>
              </a:rPr>
              <a:t>Strict logic could not cope with a messy, uncertain world.</a:t>
            </a:r>
          </a:p>
        </p:txBody>
      </p:sp>
      <p:sp>
        <p:nvSpPr>
          <p:cNvPr id="8" name="TextBox 7"/>
          <p:cNvSpPr txBox="1"/>
          <p:nvPr/>
        </p:nvSpPr>
        <p:spPr>
          <a:xfrm>
            <a:off x="1810512" y="3657600"/>
            <a:ext cx="6986015" cy="365760"/>
          </a:xfrm>
          <a:prstGeom prst="rect">
            <a:avLst/>
          </a:prstGeom>
          <a:noFill/>
        </p:spPr>
        <p:txBody>
          <a:bodyPr wrap="square" lIns="54864" tIns="54864" rIns="54864" bIns="54864" anchor="t"/>
          <a:lstStyle/>
          <a:p>
            <a:pPr marL="0" indent="0" algn="l">
              <a:spcAft>
                <a:spcPts val="400"/>
              </a:spcAft>
              <a:buNone/>
            </a:pPr>
            <a:r>
              <a:rPr sz="1600" b="1" i="0">
                <a:solidFill>
                  <a:srgbClr val="C00000"/>
                </a:solidFill>
                <a:latin typeface="Arial"/>
              </a:rPr>
              <a:t>…so the funding stopped</a:t>
            </a:r>
          </a:p>
        </p:txBody>
      </p:sp>
      <p:sp>
        <p:nvSpPr>
          <p:cNvPr id="9" name="Rounded Rectangle 8"/>
          <p:cNvSpPr/>
          <p:nvPr/>
        </p:nvSpPr>
        <p:spPr>
          <a:xfrm>
            <a:off x="1810512" y="4069080"/>
            <a:ext cx="6986015" cy="640080"/>
          </a:xfrm>
          <a:prstGeom prst="roundRect">
            <a:avLst>
              <a:gd name="adj" fmla="val 11428"/>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UK:  </a:t>
            </a:r>
            <a:r>
              <a:rPr sz="1400" b="0" i="0">
                <a:solidFill>
                  <a:srgbClr val="262626"/>
                </a:solidFill>
                <a:latin typeface="Arial"/>
              </a:rPr>
              <a:t>Lighthill Report (1973): highly critical → sharp cuts</a:t>
            </a:r>
          </a:p>
        </p:txBody>
      </p:sp>
      <p:sp>
        <p:nvSpPr>
          <p:cNvPr id="10" name="Rounded Rectangle 9"/>
          <p:cNvSpPr/>
          <p:nvPr/>
        </p:nvSpPr>
        <p:spPr>
          <a:xfrm>
            <a:off x="1810512" y="4800600"/>
            <a:ext cx="6986015" cy="640080"/>
          </a:xfrm>
          <a:prstGeom prst="roundRect">
            <a:avLst>
              <a:gd name="adj" fmla="val 11428"/>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US:  </a:t>
            </a:r>
            <a:r>
              <a:rPr sz="1400" b="0" i="0">
                <a:solidFill>
                  <a:srgbClr val="262626"/>
                </a:solidFill>
                <a:latin typeface="Arial"/>
              </a:rPr>
              <a:t>DARPA frustrated by slow progress (e.g. speech understanding) → cuts</a:t>
            </a:r>
          </a:p>
        </p:txBody>
      </p:sp>
      <p:sp>
        <p:nvSpPr>
          <p:cNvPr id="11" name="Rounded Rectangle 10"/>
          <p:cNvSpPr/>
          <p:nvPr/>
        </p:nvSpPr>
        <p:spPr>
          <a:xfrm>
            <a:off x="1810512" y="5532120"/>
            <a:ext cx="6986015" cy="640080"/>
          </a:xfrm>
          <a:prstGeom prst="roundRect">
            <a:avLst>
              <a:gd name="adj" fmla="val 11428"/>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Neural nets:  </a:t>
            </a:r>
            <a:r>
              <a:rPr sz="1400" b="0" i="0">
                <a:solidFill>
                  <a:srgbClr val="262626"/>
                </a:solidFill>
                <a:latin typeface="Arial"/>
              </a:rPr>
              <a:t>Minsky &amp; Papert, Perceptrons (1969): limits of single-layer networks → a decade of stagnation</a:t>
            </a:r>
          </a:p>
        </p:txBody>
      </p:sp>
      <p:sp>
        <p:nvSpPr>
          <p:cNvPr id="12" name="TextBox 11"/>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Minsky and Papert (1969); Karp (1972); Lighthill (1973).</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(Rebranding)</a:t>
            </a:r>
          </a:p>
        </p:txBody>
      </p:sp>
      <p:sp>
        <p:nvSpPr>
          <p:cNvPr id="3" name="Content Placeholder 2"/>
          <p:cNvSpPr>
            <a:spLocks noGrp="1"/>
          </p:cNvSpPr>
          <p:nvPr>
            <p:ph idx="1"/>
          </p:nvPr>
        </p:nvSpPr>
        <p:spPr>
          <a:xfrm>
            <a:off x="1809892" y="990601"/>
            <a:ext cx="6705458" cy="5186364"/>
          </a:xfrm>
        </p:spPr>
        <p:txBody>
          <a:bodyPr/>
          <a:lstStyle/>
          <a:p>
            <a:r>
              <a:rPr lang="en-GB" altLang="en-US" sz="1800" b="1" dirty="0"/>
              <a:t>Boom 1980-1987:</a:t>
            </a:r>
            <a:endParaRPr lang="en-GB" altLang="en-US" sz="1800" dirty="0"/>
          </a:p>
          <a:p>
            <a:pPr lvl="1"/>
            <a:r>
              <a:rPr lang="en-GB" altLang="en-US" sz="1800" dirty="0"/>
              <a:t>In the 1980s a form of AI program called "expert systems" was adopted (rule-based technologies) by corporations around the world and knowledge representation became the focus of mainstream AI research</a:t>
            </a:r>
          </a:p>
          <a:p>
            <a:pPr lvl="2"/>
            <a:r>
              <a:rPr lang="en-GB" altLang="en-US" sz="1800" dirty="0"/>
              <a:t>The power of expert systems came from the expert knowledge using </a:t>
            </a:r>
            <a:r>
              <a:rPr lang="en-GB" altLang="en-US" sz="1800" b="1" dirty="0"/>
              <a:t>rules</a:t>
            </a:r>
            <a:r>
              <a:rPr lang="en-GB" altLang="en-US" sz="1800" dirty="0"/>
              <a:t> that are derived from the domain experts </a:t>
            </a:r>
          </a:p>
          <a:p>
            <a:pPr lvl="2"/>
            <a:r>
              <a:rPr lang="en-GB" altLang="en-US" sz="1800" dirty="0"/>
              <a:t>In 1980, an expert system called XCON was completed for the Digital Equipment Corporation. It was an enormous success: it was saving the company 40 million dollars annually by 1986</a:t>
            </a:r>
          </a:p>
          <a:p>
            <a:pPr lvl="2"/>
            <a:r>
              <a:rPr lang="en-GB" altLang="en-US" sz="1800" dirty="0"/>
              <a:t>By 1985 the market for AI had reached over a billion dollars</a:t>
            </a:r>
          </a:p>
          <a:p>
            <a:pPr lvl="1"/>
            <a:r>
              <a:rPr lang="en-GB" altLang="en-US" sz="1800" dirty="0"/>
              <a:t>The money returns: the fifth generation project</a:t>
            </a:r>
          </a:p>
          <a:p>
            <a:pPr lvl="1"/>
            <a:r>
              <a:rPr lang="en-GB" altLang="en-US" sz="1800" dirty="0"/>
              <a:t>However, the fundamental issue about uncertainty (today we call it probability and fuzzy learning) and capability of dealing with big size data aren’t really solved at all in that time.   </a:t>
            </a:r>
          </a:p>
          <a:p>
            <a:endParaRPr lang="en-GB" dirty="0"/>
          </a:p>
        </p:txBody>
      </p:sp>
    </p:spTree>
    <p:extLst>
      <p:ext uri="{BB962C8B-B14F-4D97-AF65-F5344CB8AC3E}">
        <p14:creationId xmlns:p14="http://schemas.microsoft.com/office/powerpoint/2010/main" val="29731074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How expert systems worked</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80160"/>
            <a:ext cx="1341881" cy="914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ctr"/>
          <a:lstStyle/>
          <a:p>
            <a:pPr marL="0" indent="0" algn="ctr">
              <a:spcAft>
                <a:spcPts val="400"/>
              </a:spcAft>
              <a:buNone/>
            </a:pPr>
            <a:r>
              <a:rPr sz="1200" b="1" i="0">
                <a:solidFill>
                  <a:srgbClr val="1F3864"/>
                </a:solidFill>
                <a:latin typeface="Arial"/>
              </a:rPr>
              <a:t>Human expert</a:t>
            </a:r>
          </a:p>
        </p:txBody>
      </p:sp>
      <p:sp>
        <p:nvSpPr>
          <p:cNvPr id="5" name="Right Arrow 4"/>
          <p:cNvSpPr/>
          <p:nvPr/>
        </p:nvSpPr>
        <p:spPr>
          <a:xfrm>
            <a:off x="3262122" y="1600200"/>
            <a:ext cx="320040" cy="274320"/>
          </a:xfrm>
          <a:prstGeom prst="rightArrow">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3691889" y="1280160"/>
            <a:ext cx="1341881"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ctr"/>
          <a:lstStyle/>
          <a:p>
            <a:pPr marL="0" indent="0" algn="ctr">
              <a:spcAft>
                <a:spcPts val="400"/>
              </a:spcAft>
              <a:buNone/>
            </a:pPr>
            <a:r>
              <a:rPr sz="1200" b="1" i="0" dirty="0">
                <a:solidFill>
                  <a:srgbClr val="FFFFFF"/>
                </a:solidFill>
                <a:latin typeface="Arial"/>
              </a:rPr>
              <a:t>Knowledge base
(IF</a:t>
            </a:r>
            <a:r>
              <a:rPr lang="en-GB" sz="1200" b="1" i="0" dirty="0">
                <a:solidFill>
                  <a:srgbClr val="FFFFFF"/>
                </a:solidFill>
                <a:latin typeface="Arial"/>
              </a:rPr>
              <a:t>-</a:t>
            </a:r>
            <a:r>
              <a:rPr sz="1200" b="1" i="0" dirty="0">
                <a:solidFill>
                  <a:srgbClr val="FFFFFF"/>
                </a:solidFill>
                <a:latin typeface="Arial"/>
              </a:rPr>
              <a:t>THEN rules)</a:t>
            </a:r>
          </a:p>
        </p:txBody>
      </p:sp>
      <p:sp>
        <p:nvSpPr>
          <p:cNvPr id="7" name="Right Arrow 6"/>
          <p:cNvSpPr/>
          <p:nvPr/>
        </p:nvSpPr>
        <p:spPr>
          <a:xfrm>
            <a:off x="5143499" y="1600200"/>
            <a:ext cx="320040" cy="274320"/>
          </a:xfrm>
          <a:prstGeom prst="rightArrow">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5573267" y="1280160"/>
            <a:ext cx="1341881"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ctr"/>
          <a:lstStyle/>
          <a:p>
            <a:pPr marL="0" indent="0" algn="ctr">
              <a:spcAft>
                <a:spcPts val="400"/>
              </a:spcAft>
              <a:buNone/>
            </a:pPr>
            <a:r>
              <a:rPr sz="1200" b="1" i="0">
                <a:solidFill>
                  <a:srgbClr val="FFFFFF"/>
                </a:solidFill>
                <a:latin typeface="Arial"/>
              </a:rPr>
              <a:t>Inference engine</a:t>
            </a:r>
          </a:p>
        </p:txBody>
      </p:sp>
      <p:sp>
        <p:nvSpPr>
          <p:cNvPr id="9" name="Right Arrow 8"/>
          <p:cNvSpPr/>
          <p:nvPr/>
        </p:nvSpPr>
        <p:spPr>
          <a:xfrm>
            <a:off x="7024877" y="1600200"/>
            <a:ext cx="320040" cy="274320"/>
          </a:xfrm>
          <a:prstGeom prst="rightArrow">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7454645" y="1280160"/>
            <a:ext cx="1341881"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2003" rIns="45720" bIns="32003" rtlCol="0" anchor="ctr"/>
          <a:lstStyle/>
          <a:p>
            <a:pPr marL="0" indent="0" algn="ctr">
              <a:spcAft>
                <a:spcPts val="400"/>
              </a:spcAft>
              <a:buNone/>
            </a:pPr>
            <a:r>
              <a:rPr sz="1200" b="1" i="0">
                <a:solidFill>
                  <a:srgbClr val="38761D"/>
                </a:solidFill>
                <a:latin typeface="Arial"/>
              </a:rPr>
              <a:t>Advice / decision</a:t>
            </a:r>
          </a:p>
        </p:txBody>
      </p:sp>
      <p:sp>
        <p:nvSpPr>
          <p:cNvPr id="11" name="Rounded Rectangle 10"/>
          <p:cNvSpPr/>
          <p:nvPr/>
        </p:nvSpPr>
        <p:spPr>
          <a:xfrm>
            <a:off x="1810512" y="2377440"/>
            <a:ext cx="6986015" cy="640080"/>
          </a:xfrm>
          <a:prstGeom prst="roundRect">
            <a:avLst>
              <a:gd name="adj" fmla="val 11428"/>
            </a:avLst>
          </a:prstGeom>
          <a:solidFill>
            <a:srgbClr val="FFFFFF"/>
          </a:solidFill>
          <a:ln w="15875">
            <a:solidFill>
              <a:srgbClr val="A6B8D6"/>
            </a:solid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1F3864"/>
                </a:solidFill>
                <a:latin typeface="Arial"/>
              </a:rPr>
              <a:t>Example rule:  </a:t>
            </a:r>
            <a:r>
              <a:rPr sz="1400" b="0" i="1">
                <a:solidFill>
                  <a:srgbClr val="262626"/>
                </a:solidFill>
                <a:latin typeface="Arial"/>
              </a:rPr>
              <a:t>IF fever AND infection is bacterial THEN consider antibiotic X</a:t>
            </a:r>
          </a:p>
        </p:txBody>
      </p:sp>
      <p:sp>
        <p:nvSpPr>
          <p:cNvPr id="12" name="Rounded Rectangle 11"/>
          <p:cNvSpPr/>
          <p:nvPr/>
        </p:nvSpPr>
        <p:spPr>
          <a:xfrm>
            <a:off x="1810512" y="3200400"/>
            <a:ext cx="3410711" cy="2057400"/>
          </a:xfrm>
          <a:prstGeom prst="roundRect">
            <a:avLst>
              <a:gd name="adj" fmla="val 355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The boom</a:t>
            </a:r>
          </a:p>
          <a:p>
            <a:pPr marL="164592" indent="-146304" algn="l">
              <a:spcAft>
                <a:spcPts val="400"/>
              </a:spcAft>
              <a:buFont typeface="Arial"/>
              <a:buChar char="•"/>
            </a:pPr>
            <a:r>
              <a:rPr sz="1200" b="0" i="0">
                <a:solidFill>
                  <a:srgbClr val="262626"/>
                </a:solidFill>
                <a:latin typeface="Arial"/>
              </a:rPr>
              <a:t>XCON/R1 (CMU, for DEC) configured VAX computer orders: ~$40M saved per year by 1986</a:t>
            </a:r>
          </a:p>
          <a:p>
            <a:pPr marL="164592" indent="-146304" algn="l">
              <a:spcAft>
                <a:spcPts val="400"/>
              </a:spcAft>
              <a:buFont typeface="Arial"/>
              <a:buChar char="•"/>
            </a:pPr>
            <a:r>
              <a:rPr sz="1200" b="0" i="0">
                <a:solidFill>
                  <a:srgbClr val="262626"/>
                </a:solidFill>
                <a:latin typeface="Arial"/>
              </a:rPr>
              <a:t>Corporate AI spending passed $1 billion a year by 1985</a:t>
            </a:r>
          </a:p>
          <a:p>
            <a:pPr marL="164592" indent="-146304" algn="l">
              <a:spcAft>
                <a:spcPts val="400"/>
              </a:spcAft>
              <a:buFont typeface="Arial"/>
              <a:buChar char="•"/>
            </a:pPr>
            <a:r>
              <a:rPr sz="1200" b="0" i="0">
                <a:solidFill>
                  <a:srgbClr val="262626"/>
                </a:solidFill>
                <a:latin typeface="Arial"/>
              </a:rPr>
              <a:t>Japan’s Fifth Generation project (1982); UK Alvey; US Strategic Computing</a:t>
            </a:r>
          </a:p>
        </p:txBody>
      </p:sp>
      <p:sp>
        <p:nvSpPr>
          <p:cNvPr id="13" name="Rounded Rectangle 12"/>
          <p:cNvSpPr/>
          <p:nvPr/>
        </p:nvSpPr>
        <p:spPr>
          <a:xfrm>
            <a:off x="5385816" y="3200400"/>
            <a:ext cx="3410711" cy="2057400"/>
          </a:xfrm>
          <a:prstGeom prst="roundRect">
            <a:avLst>
              <a:gd name="adj" fmla="val 3555"/>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C55A11"/>
                </a:solidFill>
                <a:latin typeface="Arial"/>
              </a:rPr>
              <a:t>The weakness</a:t>
            </a:r>
          </a:p>
          <a:p>
            <a:pPr marL="164592" indent="-146304" algn="l">
              <a:spcAft>
                <a:spcPts val="400"/>
              </a:spcAft>
              <a:buFont typeface="Arial"/>
              <a:buChar char="•"/>
            </a:pPr>
            <a:r>
              <a:rPr sz="1300" b="0" i="0">
                <a:solidFill>
                  <a:srgbClr val="262626"/>
                </a:solidFill>
                <a:latin typeface="Arial"/>
              </a:rPr>
              <a:t>Poor at handling uncertainty</a:t>
            </a:r>
          </a:p>
          <a:p>
            <a:pPr marL="164592" indent="-146304" algn="l">
              <a:spcAft>
                <a:spcPts val="400"/>
              </a:spcAft>
              <a:buFont typeface="Arial"/>
              <a:buChar char="•"/>
            </a:pPr>
            <a:r>
              <a:rPr sz="1300" b="0" i="0">
                <a:solidFill>
                  <a:srgbClr val="262626"/>
                </a:solidFill>
                <a:latin typeface="Arial"/>
              </a:rPr>
              <a:t>Could not learn from data</a:t>
            </a:r>
          </a:p>
          <a:p>
            <a:pPr marL="164592" indent="-146304" algn="l">
              <a:spcAft>
                <a:spcPts val="400"/>
              </a:spcAft>
              <a:buFont typeface="Arial"/>
              <a:buChar char="•"/>
            </a:pPr>
            <a:r>
              <a:rPr sz="1300" b="0" i="0">
                <a:solidFill>
                  <a:srgbClr val="262626"/>
                </a:solidFill>
                <a:latin typeface="Arial"/>
              </a:rPr>
              <a:t>Every rule written by hand</a:t>
            </a:r>
          </a:p>
        </p:txBody>
      </p:sp>
      <p:sp>
        <p:nvSpPr>
          <p:cNvPr id="14" name="Rounded Rectangle 13"/>
          <p:cNvSpPr/>
          <p:nvPr/>
        </p:nvSpPr>
        <p:spPr>
          <a:xfrm>
            <a:off x="1810512" y="5440680"/>
            <a:ext cx="6986015" cy="822960"/>
          </a:xfrm>
          <a:prstGeom prst="roundRect">
            <a:avLst>
              <a:gd name="adj" fmla="val 8888"/>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KEY POINT  </a:t>
            </a:r>
            <a:r>
              <a:rPr sz="1400" b="0" i="0">
                <a:solidFill>
                  <a:srgbClr val="FFFFFF"/>
                </a:solidFill>
                <a:latin typeface="Arial"/>
              </a:rPr>
              <a:t>The power came from expert knowledge, not from a clever general algorithm.</a:t>
            </a:r>
          </a:p>
        </p:txBody>
      </p:sp>
      <p:sp>
        <p:nvSpPr>
          <p:cNvPr id="15" name="TextBox 14"/>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McDermott (1982).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(2</a:t>
            </a:r>
            <a:r>
              <a:rPr lang="en-GB" baseline="30000" dirty="0"/>
              <a:t>nd</a:t>
            </a:r>
            <a:r>
              <a:rPr lang="en-GB" dirty="0"/>
              <a:t> AI winter)</a:t>
            </a:r>
          </a:p>
        </p:txBody>
      </p:sp>
      <p:sp>
        <p:nvSpPr>
          <p:cNvPr id="3" name="Content Placeholder 2"/>
          <p:cNvSpPr>
            <a:spLocks noGrp="1"/>
          </p:cNvSpPr>
          <p:nvPr>
            <p:ph idx="1"/>
          </p:nvPr>
        </p:nvSpPr>
        <p:spPr/>
        <p:txBody>
          <a:bodyPr/>
          <a:lstStyle/>
          <a:p>
            <a:r>
              <a:rPr lang="en-GB" altLang="en-US" b="1" dirty="0"/>
              <a:t>the second AI winter 1987−1993</a:t>
            </a:r>
          </a:p>
          <a:p>
            <a:pPr lvl="1"/>
            <a:r>
              <a:rPr lang="en-GB" altLang="en-US" sz="2000" dirty="0"/>
              <a:t>In 1987, the Lisp Machine market collapsed, as desktop computers from Apple and IBM had been steadily gaining speed and power and in 1987 they became more powerful than the more expensive Lisp machines made by </a:t>
            </a:r>
            <a:r>
              <a:rPr lang="en-GB" altLang="en-US" sz="2000" dirty="0" err="1"/>
              <a:t>Symbolics</a:t>
            </a:r>
            <a:r>
              <a:rPr lang="en-GB" altLang="en-US" sz="2000" dirty="0"/>
              <a:t> and others	</a:t>
            </a:r>
          </a:p>
          <a:p>
            <a:pPr lvl="1"/>
            <a:r>
              <a:rPr lang="en-GB" altLang="en-US" sz="2000" dirty="0"/>
              <a:t>Eventually the earliest successful expert systems, such as XCON, proved too expensive to maintain, as they were difficult to update and unable to learn.</a:t>
            </a:r>
          </a:p>
          <a:p>
            <a:pPr lvl="1"/>
            <a:r>
              <a:rPr lang="en-GB" altLang="en-US" sz="2000" dirty="0"/>
              <a:t>In the late 80s and early 90s, funding for AI has been deeply cut due to the limitations of the expert systems and the expectations for Japan's Fifth Generation Project not being met</a:t>
            </a:r>
          </a:p>
          <a:p>
            <a:endParaRPr lang="en-GB" dirty="0"/>
          </a:p>
        </p:txBody>
      </p:sp>
    </p:spTree>
    <p:extLst>
      <p:ext uri="{BB962C8B-B14F-4D97-AF65-F5344CB8AC3E}">
        <p14:creationId xmlns:p14="http://schemas.microsoft.com/office/powerpoint/2010/main" val="34030537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Why expert systems failed</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1234440"/>
          </a:xfrm>
          <a:prstGeom prst="roundRect">
            <a:avLst>
              <a:gd name="adj" fmla="val 592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Hardware collapse</a:t>
            </a:r>
          </a:p>
          <a:p>
            <a:pPr marL="0" indent="0" algn="l">
              <a:spcAft>
                <a:spcPts val="400"/>
              </a:spcAft>
              <a:buNone/>
            </a:pPr>
            <a:r>
              <a:rPr sz="1300" b="0" i="0">
                <a:solidFill>
                  <a:srgbClr val="262626"/>
                </a:solidFill>
                <a:latin typeface="Arial"/>
              </a:rPr>
              <a:t>Cheaper Apple and IBM desktops overtook expensive Lisp machines (1987).</a:t>
            </a:r>
          </a:p>
        </p:txBody>
      </p:sp>
      <p:sp>
        <p:nvSpPr>
          <p:cNvPr id="5" name="Rounded Rectangle 4"/>
          <p:cNvSpPr/>
          <p:nvPr/>
        </p:nvSpPr>
        <p:spPr>
          <a:xfrm>
            <a:off x="5385816" y="1234440"/>
            <a:ext cx="3410711" cy="1234440"/>
          </a:xfrm>
          <a:prstGeom prst="roundRect">
            <a:avLst>
              <a:gd name="adj" fmla="val 592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Costly maintenance</a:t>
            </a:r>
          </a:p>
          <a:p>
            <a:pPr marL="0" indent="0" algn="l">
              <a:spcAft>
                <a:spcPts val="400"/>
              </a:spcAft>
              <a:buNone/>
            </a:pPr>
            <a:r>
              <a:rPr sz="1300" b="0" i="0">
                <a:solidFill>
                  <a:srgbClr val="262626"/>
                </a:solidFill>
                <a:latin typeface="Arial"/>
              </a:rPr>
              <a:t>XCON grew to ~10,000 rules: hard to update, unable to learn.</a:t>
            </a:r>
          </a:p>
        </p:txBody>
      </p:sp>
      <p:sp>
        <p:nvSpPr>
          <p:cNvPr id="6" name="Rounded Rectangle 5"/>
          <p:cNvSpPr/>
          <p:nvPr/>
        </p:nvSpPr>
        <p:spPr>
          <a:xfrm>
            <a:off x="1810512" y="2606040"/>
            <a:ext cx="3410711" cy="1234440"/>
          </a:xfrm>
          <a:prstGeom prst="roundRect">
            <a:avLst>
              <a:gd name="adj" fmla="val 592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Brittleness</a:t>
            </a:r>
          </a:p>
          <a:p>
            <a:pPr marL="0" indent="0" algn="l">
              <a:spcAft>
                <a:spcPts val="400"/>
              </a:spcAft>
              <a:buNone/>
            </a:pPr>
            <a:r>
              <a:rPr sz="1300" b="0" i="0">
                <a:solidFill>
                  <a:srgbClr val="262626"/>
                </a:solidFill>
                <a:latin typeface="Arial"/>
              </a:rPr>
              <a:t>Absurd mistakes just outside the situations their rules covered.</a:t>
            </a:r>
          </a:p>
        </p:txBody>
      </p:sp>
      <p:sp>
        <p:nvSpPr>
          <p:cNvPr id="7" name="Rounded Rectangle 6"/>
          <p:cNvSpPr/>
          <p:nvPr/>
        </p:nvSpPr>
        <p:spPr>
          <a:xfrm>
            <a:off x="5385816" y="2606040"/>
            <a:ext cx="3410711" cy="1234440"/>
          </a:xfrm>
          <a:prstGeom prst="roundRect">
            <a:avLst>
              <a:gd name="adj" fmla="val 592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Knowledge bottleneck</a:t>
            </a:r>
          </a:p>
          <a:p>
            <a:pPr marL="0" indent="0" algn="l">
              <a:spcAft>
                <a:spcPts val="400"/>
              </a:spcAft>
              <a:buNone/>
            </a:pPr>
            <a:r>
              <a:rPr sz="1300" b="0" i="0">
                <a:solidFill>
                  <a:srgbClr val="262626"/>
                </a:solidFill>
                <a:latin typeface="Arial"/>
              </a:rPr>
              <a:t>Extracting knowledge from experts was slow and expensive.</a:t>
            </a:r>
          </a:p>
        </p:txBody>
      </p:sp>
      <p:sp>
        <p:nvSpPr>
          <p:cNvPr id="8" name="Rounded Rectangle 7"/>
          <p:cNvSpPr/>
          <p:nvPr/>
        </p:nvSpPr>
        <p:spPr>
          <a:xfrm>
            <a:off x="1810512" y="3977639"/>
            <a:ext cx="6986015" cy="1234440"/>
          </a:xfrm>
          <a:prstGeom prst="roundRect">
            <a:avLst>
              <a:gd name="adj" fmla="val 592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Broken expectations</a:t>
            </a:r>
          </a:p>
          <a:p>
            <a:pPr marL="0" indent="0" algn="l">
              <a:spcAft>
                <a:spcPts val="400"/>
              </a:spcAft>
              <a:buNone/>
            </a:pPr>
            <a:r>
              <a:rPr sz="1300" b="0" i="0">
                <a:solidFill>
                  <a:srgbClr val="262626"/>
                </a:solidFill>
                <a:latin typeface="Arial"/>
              </a:rPr>
              <a:t>Japan’s Fifth Generation project missed its goals → deep cuts.</a:t>
            </a:r>
          </a:p>
        </p:txBody>
      </p:sp>
      <p:sp>
        <p:nvSpPr>
          <p:cNvPr id="9" name="Rounded Rectangle 8"/>
          <p:cNvSpPr/>
          <p:nvPr/>
        </p:nvSpPr>
        <p:spPr>
          <a:xfrm>
            <a:off x="1810512" y="5394959"/>
            <a:ext cx="6986015" cy="868680"/>
          </a:xfrm>
          <a:prstGeom prst="roundRect">
            <a:avLst>
              <a:gd name="adj" fmla="val 842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500" b="1" i="0">
                <a:solidFill>
                  <a:srgbClr val="FFFFFF"/>
                </a:solidFill>
                <a:latin typeface="Arial"/>
              </a:rPr>
              <a:t>LESSON  </a:t>
            </a:r>
            <a:r>
              <a:rPr sz="1500" b="0" i="0">
                <a:solidFill>
                  <a:srgbClr val="FFFFFF"/>
                </a:solidFill>
                <a:latin typeface="Arial"/>
              </a:rPr>
              <a:t>Hand-written rules do not scale. The answer: let machines learn from data.</a:t>
            </a:r>
          </a:p>
        </p:txBody>
      </p:sp>
      <p:sp>
        <p:nvSpPr>
          <p:cNvPr id="10" name="TextBox 9"/>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McDermott (1982); Russell and Norvig (2020, ch. 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10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Why did expert systems fail to scale, and what lesson did AI draw from this?</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Q10 (Understanding): </a:t>
            </a:r>
            <a:r>
              <a:rPr sz="1400" b="0" i="1">
                <a:solidFill>
                  <a:srgbClr val="595959"/>
                </a:solidFill>
                <a:latin typeface="Arial"/>
              </a:rPr>
              <a:t>Why did expert systems fail to scale, and what lesson did AI draw from this?</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Every rule had to be written by hand: systems such as XCON grew to about 10,000 rules, were costly to update, brittle outside their rules, and could not learn. The lesson was to let machines learn from data instead.</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Why expert systems failed</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(late 80s to 90s new ideas)</a:t>
            </a:r>
          </a:p>
        </p:txBody>
      </p:sp>
      <p:sp>
        <p:nvSpPr>
          <p:cNvPr id="3" name="Content Placeholder 2"/>
          <p:cNvSpPr>
            <a:spLocks noGrp="1"/>
          </p:cNvSpPr>
          <p:nvPr>
            <p:ph idx="1"/>
          </p:nvPr>
        </p:nvSpPr>
        <p:spPr/>
        <p:txBody>
          <a:bodyPr/>
          <a:lstStyle/>
          <a:p>
            <a:pPr marL="0" lvl="1" indent="0">
              <a:spcBef>
                <a:spcPts val="1000"/>
              </a:spcBef>
              <a:buNone/>
            </a:pPr>
            <a:r>
              <a:rPr lang="en-GB" altLang="en-US" sz="2000" dirty="0"/>
              <a:t>In the period of 2</a:t>
            </a:r>
            <a:r>
              <a:rPr lang="en-GB" altLang="en-US" sz="2000" baseline="30000" dirty="0"/>
              <a:t>nd</a:t>
            </a:r>
            <a:r>
              <a:rPr lang="en-GB" altLang="en-US" sz="2000" dirty="0"/>
              <a:t> AI winter (in the late 80s), lots of new ideas are proposed which are the foundations of today’s AI approaches.</a:t>
            </a:r>
          </a:p>
          <a:p>
            <a:pPr marL="457200" lvl="1" indent="-457200">
              <a:spcBef>
                <a:spcPts val="1000"/>
              </a:spcBef>
            </a:pPr>
            <a:r>
              <a:rPr lang="en-GB" altLang="en-US" sz="2000" dirty="0"/>
              <a:t>A completely new approach to AI, based on robotics, has been proposed by Brooks in his paper "Elephants Don't Play Chess”, based on the belief that, to show real intelligence, a machine needs to have a body — it needs to perceive, move, survive and deal with the world.</a:t>
            </a:r>
          </a:p>
          <a:p>
            <a:pPr marL="457200" lvl="1" indent="-457200">
              <a:spcBef>
                <a:spcPts val="1000"/>
              </a:spcBef>
            </a:pPr>
            <a:r>
              <a:rPr lang="en-GB" altLang="en-US" sz="2000" dirty="0"/>
              <a:t>Artificial Neural Networks (ANN) to learn data features</a:t>
            </a:r>
          </a:p>
          <a:p>
            <a:pPr marL="457200" lvl="1" indent="-457200">
              <a:spcBef>
                <a:spcPts val="1000"/>
              </a:spcBef>
            </a:pPr>
            <a:r>
              <a:rPr lang="en-GB" altLang="en-US" sz="2000" dirty="0"/>
              <a:t>Probabilistic and Statistical approach</a:t>
            </a:r>
          </a:p>
          <a:p>
            <a:pPr marL="457200" lvl="1" indent="-457200">
              <a:spcBef>
                <a:spcPts val="1000"/>
              </a:spcBef>
            </a:pPr>
            <a:r>
              <a:rPr lang="en-GB" altLang="en-US" sz="2000" dirty="0"/>
              <a:t>Knowledge representation with Fuzzy framework</a:t>
            </a:r>
          </a:p>
          <a:p>
            <a:pPr marL="457200" lvl="1" indent="-457200">
              <a:spcBef>
                <a:spcPts val="1000"/>
              </a:spcBef>
            </a:pPr>
            <a:r>
              <a:rPr lang="en-GB" altLang="en-US" sz="2000" dirty="0"/>
              <a:t>Image processing and vision recognition </a:t>
            </a:r>
          </a:p>
          <a:p>
            <a:endParaRPr lang="en-GB" dirty="0"/>
          </a:p>
        </p:txBody>
      </p:sp>
    </p:spTree>
    <p:extLst>
      <p:ext uri="{BB962C8B-B14F-4D97-AF65-F5344CB8AC3E}">
        <p14:creationId xmlns:p14="http://schemas.microsoft.com/office/powerpoint/2010/main" val="28467905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ideas behind today’s AI</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960120" cy="658368"/>
          </a:xfrm>
          <a:prstGeom prst="roundRect">
            <a:avLst>
              <a:gd name="adj" fmla="val 1111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600" b="1" i="0">
                <a:solidFill>
                  <a:srgbClr val="FFFFFF"/>
                </a:solidFill>
                <a:latin typeface="Arial"/>
              </a:rPr>
              <a:t>1965</a:t>
            </a:r>
          </a:p>
        </p:txBody>
      </p:sp>
      <p:sp>
        <p:nvSpPr>
          <p:cNvPr id="5" name="Rounded Rectangle 4"/>
          <p:cNvSpPr/>
          <p:nvPr/>
        </p:nvSpPr>
        <p:spPr>
          <a:xfrm>
            <a:off x="2862072" y="1234440"/>
            <a:ext cx="5934455" cy="658368"/>
          </a:xfrm>
          <a:prstGeom prst="roundRect">
            <a:avLst>
              <a:gd name="adj" fmla="val 111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ctr"/>
          <a:lstStyle/>
          <a:p>
            <a:pPr marL="0" indent="0" algn="l">
              <a:spcAft>
                <a:spcPts val="400"/>
              </a:spcAft>
              <a:buNone/>
            </a:pPr>
            <a:r>
              <a:rPr sz="1300" b="0" i="0">
                <a:solidFill>
                  <a:srgbClr val="262626"/>
                </a:solidFill>
                <a:latin typeface="Arial"/>
              </a:rPr>
              <a:t>Zadeh: fuzzy sets, i.e. degrees of truth (“fairly warm”) → Sendai subway fuzzy control, 1987</a:t>
            </a:r>
          </a:p>
        </p:txBody>
      </p:sp>
      <p:sp>
        <p:nvSpPr>
          <p:cNvPr id="6" name="Rounded Rectangle 5"/>
          <p:cNvSpPr/>
          <p:nvPr/>
        </p:nvSpPr>
        <p:spPr>
          <a:xfrm>
            <a:off x="1810512" y="2002536"/>
            <a:ext cx="960120" cy="658368"/>
          </a:xfrm>
          <a:prstGeom prst="roundRect">
            <a:avLst>
              <a:gd name="adj" fmla="val 1111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600" b="1" i="0">
                <a:solidFill>
                  <a:srgbClr val="FFFFFF"/>
                </a:solidFill>
                <a:latin typeface="Arial"/>
              </a:rPr>
              <a:t>1986</a:t>
            </a:r>
          </a:p>
        </p:txBody>
      </p:sp>
      <p:sp>
        <p:nvSpPr>
          <p:cNvPr id="7" name="Rounded Rectangle 6"/>
          <p:cNvSpPr/>
          <p:nvPr/>
        </p:nvSpPr>
        <p:spPr>
          <a:xfrm>
            <a:off x="2862072" y="2002536"/>
            <a:ext cx="5934455" cy="658368"/>
          </a:xfrm>
          <a:prstGeom prst="roundRect">
            <a:avLst>
              <a:gd name="adj" fmla="val 111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ctr"/>
          <a:lstStyle/>
          <a:p>
            <a:pPr marL="0" indent="0" algn="l">
              <a:spcAft>
                <a:spcPts val="400"/>
              </a:spcAft>
              <a:buNone/>
            </a:pPr>
            <a:r>
              <a:rPr sz="1300" b="0" i="0">
                <a:solidFill>
                  <a:srgbClr val="262626"/>
                </a:solidFill>
                <a:latin typeface="Arial"/>
              </a:rPr>
              <a:t>Rumelhart, Hinton &amp; Williams popularise backpropagation for multi-layer neural networks</a:t>
            </a:r>
          </a:p>
        </p:txBody>
      </p:sp>
      <p:sp>
        <p:nvSpPr>
          <p:cNvPr id="8" name="Rounded Rectangle 7"/>
          <p:cNvSpPr/>
          <p:nvPr/>
        </p:nvSpPr>
        <p:spPr>
          <a:xfrm>
            <a:off x="1810512" y="2770632"/>
            <a:ext cx="960120" cy="658368"/>
          </a:xfrm>
          <a:prstGeom prst="roundRect">
            <a:avLst>
              <a:gd name="adj" fmla="val 1111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600" b="1" i="0">
                <a:solidFill>
                  <a:srgbClr val="FFFFFF"/>
                </a:solidFill>
                <a:latin typeface="Arial"/>
              </a:rPr>
              <a:t>1988</a:t>
            </a:r>
          </a:p>
        </p:txBody>
      </p:sp>
      <p:sp>
        <p:nvSpPr>
          <p:cNvPr id="9" name="Rounded Rectangle 8"/>
          <p:cNvSpPr/>
          <p:nvPr/>
        </p:nvSpPr>
        <p:spPr>
          <a:xfrm>
            <a:off x="2862072" y="2770632"/>
            <a:ext cx="5934455" cy="658368"/>
          </a:xfrm>
          <a:prstGeom prst="roundRect">
            <a:avLst>
              <a:gd name="adj" fmla="val 111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ctr"/>
          <a:lstStyle/>
          <a:p>
            <a:pPr marL="0" indent="0" algn="l">
              <a:spcAft>
                <a:spcPts val="400"/>
              </a:spcAft>
              <a:buNone/>
            </a:pPr>
            <a:r>
              <a:rPr sz="1300" b="0" i="0">
                <a:solidFill>
                  <a:srgbClr val="262626"/>
                </a:solidFill>
                <a:latin typeface="Arial"/>
              </a:rPr>
              <a:t>Judea Pearl: Bayesian networks → probabilistic reasoning (Naive Bayes, Week 11)</a:t>
            </a:r>
          </a:p>
        </p:txBody>
      </p:sp>
      <p:sp>
        <p:nvSpPr>
          <p:cNvPr id="10" name="Rounded Rectangle 9"/>
          <p:cNvSpPr/>
          <p:nvPr/>
        </p:nvSpPr>
        <p:spPr>
          <a:xfrm>
            <a:off x="1810512" y="3538727"/>
            <a:ext cx="960120" cy="658368"/>
          </a:xfrm>
          <a:prstGeom prst="roundRect">
            <a:avLst>
              <a:gd name="adj" fmla="val 1111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600" b="1" i="0">
                <a:solidFill>
                  <a:srgbClr val="FFFFFF"/>
                </a:solidFill>
                <a:latin typeface="Arial"/>
              </a:rPr>
              <a:t>1989</a:t>
            </a:r>
          </a:p>
        </p:txBody>
      </p:sp>
      <p:sp>
        <p:nvSpPr>
          <p:cNvPr id="11" name="Rounded Rectangle 10"/>
          <p:cNvSpPr/>
          <p:nvPr/>
        </p:nvSpPr>
        <p:spPr>
          <a:xfrm>
            <a:off x="2862072" y="3538727"/>
            <a:ext cx="5934455" cy="658368"/>
          </a:xfrm>
          <a:prstGeom prst="roundRect">
            <a:avLst>
              <a:gd name="adj" fmla="val 111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ctr"/>
          <a:lstStyle/>
          <a:p>
            <a:pPr marL="0" indent="0" algn="l">
              <a:spcAft>
                <a:spcPts val="400"/>
              </a:spcAft>
              <a:buNone/>
            </a:pPr>
            <a:r>
              <a:rPr sz="1300" b="0" i="0">
                <a:solidFill>
                  <a:srgbClr val="262626"/>
                </a:solidFill>
                <a:latin typeface="Arial"/>
              </a:rPr>
              <a:t>LeCun: neural networks read handwritten postcodes → ancestor of deep learning</a:t>
            </a:r>
          </a:p>
        </p:txBody>
      </p:sp>
      <p:sp>
        <p:nvSpPr>
          <p:cNvPr id="12" name="Rounded Rectangle 11"/>
          <p:cNvSpPr/>
          <p:nvPr/>
        </p:nvSpPr>
        <p:spPr>
          <a:xfrm>
            <a:off x="1810512" y="4306824"/>
            <a:ext cx="960120" cy="658368"/>
          </a:xfrm>
          <a:prstGeom prst="roundRect">
            <a:avLst>
              <a:gd name="adj" fmla="val 11111"/>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600" b="1" i="0">
                <a:solidFill>
                  <a:srgbClr val="FFFFFF"/>
                </a:solidFill>
                <a:latin typeface="Arial"/>
              </a:rPr>
              <a:t>1990</a:t>
            </a:r>
          </a:p>
        </p:txBody>
      </p:sp>
      <p:sp>
        <p:nvSpPr>
          <p:cNvPr id="13" name="Rounded Rectangle 12"/>
          <p:cNvSpPr/>
          <p:nvPr/>
        </p:nvSpPr>
        <p:spPr>
          <a:xfrm>
            <a:off x="2862072" y="4306824"/>
            <a:ext cx="5934455" cy="658368"/>
          </a:xfrm>
          <a:prstGeom prst="roundRect">
            <a:avLst>
              <a:gd name="adj" fmla="val 111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6809" rIns="109728" bIns="76809" rtlCol="0" anchor="ctr"/>
          <a:lstStyle/>
          <a:p>
            <a:pPr marL="0" indent="0" algn="l">
              <a:spcAft>
                <a:spcPts val="400"/>
              </a:spcAft>
              <a:buNone/>
            </a:pPr>
            <a:r>
              <a:rPr sz="1300" b="0" i="0">
                <a:solidFill>
                  <a:srgbClr val="262626"/>
                </a:solidFill>
                <a:latin typeface="Arial"/>
              </a:rPr>
              <a:t>Brooks, “Elephants Don’t Play Chess”: intelligence needs a body → iRobot, the Roomba</a:t>
            </a:r>
          </a:p>
        </p:txBody>
      </p:sp>
      <p:sp>
        <p:nvSpPr>
          <p:cNvPr id="14" name="Rounded Rectangle 13"/>
          <p:cNvSpPr/>
          <p:nvPr/>
        </p:nvSpPr>
        <p:spPr>
          <a:xfrm>
            <a:off x="1810512" y="5212080"/>
            <a:ext cx="6986015"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COMMON THREAD  </a:t>
            </a:r>
            <a:r>
              <a:rPr sz="1400" b="0" i="0">
                <a:solidFill>
                  <a:srgbClr val="FFFFFF"/>
                </a:solidFill>
                <a:latin typeface="Arial"/>
              </a:rPr>
              <a:t>From hand-coded knowledge to learning from data and handling uncertainty: the paradigm of this module.</a:t>
            </a:r>
          </a:p>
        </p:txBody>
      </p:sp>
      <p:sp>
        <p:nvSpPr>
          <p:cNvPr id="15" name="TextBox 14"/>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Zadeh (1965); Rumelhart, Hinton and Williams (1986); Pearl (1988); LeCun et al. (1989); Brooks (1990).</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698-94AE-38F4-ABFE-6759A5FC2D8D}"/>
              </a:ext>
            </a:extLst>
          </p:cNvPr>
          <p:cNvSpPr>
            <a:spLocks noGrp="1"/>
          </p:cNvSpPr>
          <p:nvPr>
            <p:ph type="title"/>
          </p:nvPr>
        </p:nvSpPr>
        <p:spPr/>
        <p:txBody>
          <a:bodyPr/>
          <a:lstStyle/>
          <a:p>
            <a:r>
              <a:rPr lang="en-GB" dirty="0"/>
              <a:t>Winter again</a:t>
            </a:r>
          </a:p>
        </p:txBody>
      </p:sp>
      <p:sp>
        <p:nvSpPr>
          <p:cNvPr id="3" name="Content Placeholder 2">
            <a:extLst>
              <a:ext uri="{FF2B5EF4-FFF2-40B4-BE49-F238E27FC236}">
                <a16:creationId xmlns:a16="http://schemas.microsoft.com/office/drawing/2014/main" id="{A0B260C8-599A-752C-BD21-C0DDBAD5C442}"/>
              </a:ext>
            </a:extLst>
          </p:cNvPr>
          <p:cNvSpPr>
            <a:spLocks noGrp="1"/>
          </p:cNvSpPr>
          <p:nvPr>
            <p:ph idx="1"/>
          </p:nvPr>
        </p:nvSpPr>
        <p:spPr/>
        <p:txBody>
          <a:bodyPr/>
          <a:lstStyle/>
          <a:p>
            <a:endParaRPr lang="en-GB"/>
          </a:p>
        </p:txBody>
      </p:sp>
      <p:pic>
        <p:nvPicPr>
          <p:cNvPr id="2050" name="Picture 2" descr="Winter Solstice 2022: When Is the First Day of Winter? What ...">
            <a:extLst>
              <a:ext uri="{FF2B5EF4-FFF2-40B4-BE49-F238E27FC236}">
                <a16:creationId xmlns:a16="http://schemas.microsoft.com/office/drawing/2014/main" id="{008C7E6E-B168-8658-0D0B-E43D44811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811" y="1295400"/>
            <a:ext cx="6858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4977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image: an AI winter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jpeg"/>
          <p:cNvPicPr>
            <a:picLocks noChangeAspect="1"/>
          </p:cNvPicPr>
          <p:nvPr/>
        </p:nvPicPr>
        <p:blipFill>
          <a:blip r:embed="rId2"/>
          <a:stretch>
            <a:fillRect/>
          </a:stretch>
        </p:blipFill>
        <p:spPr>
          <a:xfrm>
            <a:off x="1810512" y="1234440"/>
            <a:ext cx="3291840" cy="2194560"/>
          </a:xfrm>
          <a:prstGeom prst="rect">
            <a:avLst/>
          </a:prstGeom>
          <a:ln w="9525">
            <a:solidFill>
              <a:srgbClr val="A6B8D6"/>
            </a:solidFill>
          </a:ln>
        </p:spPr>
      </p:pic>
      <p:sp>
        <p:nvSpPr>
          <p:cNvPr id="5" name="Rounded Rectangle 4"/>
          <p:cNvSpPr/>
          <p:nvPr/>
        </p:nvSpPr>
        <p:spPr>
          <a:xfrm>
            <a:off x="5285231" y="1234440"/>
            <a:ext cx="3511295" cy="2194560"/>
          </a:xfrm>
          <a:prstGeom prst="roundRect">
            <a:avLst>
              <a:gd name="adj" fmla="val 333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Why a snowy image?</a:t>
            </a:r>
          </a:p>
          <a:p>
            <a:pPr marL="0" indent="0" algn="l">
              <a:spcAft>
                <a:spcPts val="600"/>
              </a:spcAft>
              <a:buNone/>
            </a:pPr>
            <a:r>
              <a:rPr sz="1300" b="0" i="0">
                <a:solidFill>
                  <a:srgbClr val="262626"/>
                </a:solidFill>
                <a:latin typeface="Arial"/>
              </a:rPr>
              <a:t>The photograph of a snow-covered forest path is a visual metaphor for an “AI winter”: a cold period of reduced funding and interest in AI.</a:t>
            </a:r>
          </a:p>
        </p:txBody>
      </p:sp>
      <p:sp>
        <p:nvSpPr>
          <p:cNvPr id="6" name="Rounded Rectangle 5"/>
          <p:cNvSpPr/>
          <p:nvPr/>
        </p:nvSpPr>
        <p:spPr>
          <a:xfrm>
            <a:off x="1810512" y="3611880"/>
            <a:ext cx="6986015" cy="1463040"/>
          </a:xfrm>
          <a:prstGeom prst="roundRect">
            <a:avLst>
              <a:gd name="adj" fmla="val 5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Where the term comes from</a:t>
            </a:r>
          </a:p>
          <a:p>
            <a:pPr marL="0" indent="0" algn="l">
              <a:spcAft>
                <a:spcPts val="600"/>
              </a:spcAft>
              <a:buNone/>
            </a:pPr>
            <a:r>
              <a:rPr sz="1300" b="0" i="0">
                <a:solidFill>
                  <a:srgbClr val="262626"/>
                </a:solidFill>
                <a:latin typeface="Arial"/>
              </a:rPr>
              <a:t>“AI winter” was coined in 1984, at the annual meeting of the American Association for Artificial Intelligence, by analogy with “nuclear winter”, as a warning that the expert-systems boom could collapse.</a:t>
            </a:r>
          </a:p>
        </p:txBody>
      </p:sp>
      <p:sp>
        <p:nvSpPr>
          <p:cNvPr id="7" name="Rounded Rectangle 6"/>
          <p:cNvSpPr/>
          <p:nvPr/>
        </p:nvSpPr>
        <p:spPr>
          <a:xfrm>
            <a:off x="1810512" y="5257800"/>
            <a:ext cx="6986015" cy="1051560"/>
          </a:xfrm>
          <a:prstGeom prst="roundRect">
            <a:avLst>
              <a:gd name="adj" fmla="val 6956"/>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C55A11"/>
                </a:solidFill>
                <a:latin typeface="Arial"/>
              </a:rPr>
              <a:t>WHY “AGAIN”?  </a:t>
            </a:r>
            <a:r>
              <a:rPr sz="1300" b="0" i="0">
                <a:solidFill>
                  <a:srgbClr val="262626"/>
                </a:solidFill>
                <a:latin typeface="Arial"/>
              </a:rPr>
              <a:t>The slide asks whether, after the two historical winters, a new period of disappointment could follow today’s boom. The next slide sets out both sides.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Could winter come again?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1234440"/>
          </a:xfrm>
          <a:prstGeom prst="roundRect">
            <a:avLst>
              <a:gd name="adj" fmla="val 592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300" b="0" i="0">
                <a:solidFill>
                  <a:srgbClr val="262626"/>
                </a:solidFill>
                <a:latin typeface="Arial"/>
              </a:rPr>
              <a:t>After 1993, “AI” stayed unfashionable. Researchers said “machine learning”, “data mining” or “informatics” instead, while AI quietly powered spam filters, search engines and recommenders.</a:t>
            </a:r>
          </a:p>
          <a:p>
            <a:pPr marL="0" indent="0" algn="l">
              <a:spcAft>
                <a:spcPts val="400"/>
              </a:spcAft>
              <a:buNone/>
            </a:pPr>
            <a:r>
              <a:rPr sz="1300" b="1" i="0">
                <a:solidFill>
                  <a:srgbClr val="1F3864"/>
                </a:solidFill>
                <a:latin typeface="Arial"/>
              </a:rPr>
              <a:t>The “AI effect”: </a:t>
            </a:r>
            <a:r>
              <a:rPr sz="1300" b="0" i="0">
                <a:solidFill>
                  <a:srgbClr val="262626"/>
                </a:solidFill>
                <a:latin typeface="Arial"/>
              </a:rPr>
              <a:t>once it works, people stop calling it AI.</a:t>
            </a:r>
          </a:p>
        </p:txBody>
      </p:sp>
      <p:sp>
        <p:nvSpPr>
          <p:cNvPr id="5" name="Rounded Rectangle 4"/>
          <p:cNvSpPr/>
          <p:nvPr/>
        </p:nvSpPr>
        <p:spPr>
          <a:xfrm>
            <a:off x="1810512" y="2651760"/>
            <a:ext cx="3410711" cy="2377440"/>
          </a:xfrm>
          <a:prstGeom prst="roundRect">
            <a:avLst>
              <a:gd name="adj" fmla="val 3076"/>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C55A11"/>
                </a:solidFill>
                <a:latin typeface="Arial"/>
              </a:rPr>
              <a:t>Signs of cooling</a:t>
            </a:r>
          </a:p>
          <a:p>
            <a:pPr marL="164592" indent="-146304" algn="l">
              <a:spcAft>
                <a:spcPts val="400"/>
              </a:spcAft>
              <a:buFont typeface="Arial"/>
              <a:buChar char="•"/>
            </a:pPr>
            <a:r>
              <a:rPr sz="1300" b="0" i="0">
                <a:solidFill>
                  <a:srgbClr val="262626"/>
                </a:solidFill>
                <a:latin typeface="Arial"/>
              </a:rPr>
              <a:t>High training and running costs; energy use</a:t>
            </a:r>
          </a:p>
          <a:p>
            <a:pPr marL="164592" indent="-146304" algn="l">
              <a:spcAft>
                <a:spcPts val="400"/>
              </a:spcAft>
              <a:buFont typeface="Arial"/>
              <a:buChar char="•"/>
            </a:pPr>
            <a:r>
              <a:rPr sz="1300" b="0" i="0">
                <a:solidFill>
                  <a:srgbClr val="262626"/>
                </a:solidFill>
                <a:latin typeface="Arial"/>
              </a:rPr>
              <a:t>Uncertain return on investment</a:t>
            </a:r>
          </a:p>
          <a:p>
            <a:pPr marL="164592" indent="-146304" algn="l">
              <a:spcAft>
                <a:spcPts val="400"/>
              </a:spcAft>
              <a:buFont typeface="Arial"/>
              <a:buChar char="•"/>
            </a:pPr>
            <a:r>
              <a:rPr sz="1300" b="0" i="0">
                <a:solidFill>
                  <a:srgbClr val="262626"/>
                </a:solidFill>
                <a:latin typeface="Arial"/>
              </a:rPr>
              <a:t>Limits of high-quality training data</a:t>
            </a:r>
          </a:p>
          <a:p>
            <a:pPr marL="164592" indent="-146304" algn="l">
              <a:spcAft>
                <a:spcPts val="400"/>
              </a:spcAft>
              <a:buFont typeface="Arial"/>
              <a:buChar char="•"/>
            </a:pPr>
            <a:r>
              <a:rPr sz="1300" b="0" i="0">
                <a:solidFill>
                  <a:srgbClr val="262626"/>
                </a:solidFill>
                <a:latin typeface="Arial"/>
              </a:rPr>
              <a:t>“Hallucinations”: confident false answers</a:t>
            </a:r>
          </a:p>
        </p:txBody>
      </p:sp>
      <p:sp>
        <p:nvSpPr>
          <p:cNvPr id="6" name="Rounded Rectangle 5"/>
          <p:cNvSpPr/>
          <p:nvPr/>
        </p:nvSpPr>
        <p:spPr>
          <a:xfrm>
            <a:off x="5385816" y="2651760"/>
            <a:ext cx="3410711" cy="2377440"/>
          </a:xfrm>
          <a:prstGeom prst="roundRect">
            <a:avLst>
              <a:gd name="adj" fmla="val 3076"/>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38761D"/>
                </a:solidFill>
                <a:latin typeface="Arial"/>
              </a:rPr>
              <a:t>Against a winter</a:t>
            </a:r>
          </a:p>
          <a:p>
            <a:pPr marL="164592" indent="-146304" algn="l">
              <a:spcAft>
                <a:spcPts val="400"/>
              </a:spcAft>
              <a:buFont typeface="Arial"/>
              <a:buChar char="•"/>
            </a:pPr>
            <a:r>
              <a:rPr sz="1300" b="0" i="0">
                <a:solidFill>
                  <a:srgbClr val="262626"/>
                </a:solidFill>
                <a:latin typeface="Arial"/>
              </a:rPr>
              <a:t>Used daily by hundreds of millions of people</a:t>
            </a:r>
          </a:p>
          <a:p>
            <a:pPr marL="164592" indent="-146304" algn="l">
              <a:spcAft>
                <a:spcPts val="400"/>
              </a:spcAft>
              <a:buFont typeface="Arial"/>
              <a:buChar char="•"/>
            </a:pPr>
            <a:r>
              <a:rPr sz="1300" b="0" i="0">
                <a:solidFill>
                  <a:srgbClr val="262626"/>
                </a:solidFill>
                <a:latin typeface="Arial"/>
              </a:rPr>
              <a:t>Generates real revenue</a:t>
            </a:r>
          </a:p>
          <a:p>
            <a:pPr marL="164592" indent="-146304" algn="l">
              <a:spcAft>
                <a:spcPts val="400"/>
              </a:spcAft>
              <a:buFont typeface="Arial"/>
              <a:buChar char="•"/>
            </a:pPr>
            <a:r>
              <a:rPr sz="1300" b="0" i="0">
                <a:solidFill>
                  <a:srgbClr val="262626"/>
                </a:solidFill>
                <a:latin typeface="Arial"/>
              </a:rPr>
              <a:t>Built into everyday products</a:t>
            </a:r>
          </a:p>
        </p:txBody>
      </p:sp>
      <p:sp>
        <p:nvSpPr>
          <p:cNvPr id="7" name="Rounded Rectangle 6"/>
          <p:cNvSpPr/>
          <p:nvPr/>
        </p:nvSpPr>
        <p:spPr>
          <a:xfrm>
            <a:off x="1810512" y="5212080"/>
            <a:ext cx="6986015" cy="1005840"/>
          </a:xfrm>
          <a:prstGeom prst="roundRect">
            <a:avLst>
              <a:gd name="adj" fmla="val 7272"/>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REFLECT  </a:t>
            </a:r>
            <a:r>
              <a:rPr sz="1400" b="0" i="0">
                <a:solidFill>
                  <a:srgbClr val="262626"/>
                </a:solidFill>
                <a:latin typeface="Arial"/>
              </a:rPr>
              <a:t>Could another AI winter come? Your skill as a professional: separate real capability from promises.</a:t>
            </a:r>
          </a:p>
        </p:txBody>
      </p:sp>
      <p:sp>
        <p:nvSpPr>
          <p:cNvPr id="8" name="TextBox 7"/>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Russell and Norvig (2020, ch. 1).</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Brief </a:t>
            </a:r>
            <a:r>
              <a:rPr lang="en-US" altLang="en-US" dirty="0"/>
              <a:t>history of AI </a:t>
            </a:r>
            <a:br>
              <a:rPr lang="en-US" altLang="en-US" dirty="0"/>
            </a:br>
            <a:r>
              <a:rPr lang="en-US" altLang="en-US" dirty="0"/>
              <a:t>(booming today)</a:t>
            </a:r>
            <a:endParaRPr lang="en-GB" dirty="0"/>
          </a:p>
        </p:txBody>
      </p:sp>
      <p:sp>
        <p:nvSpPr>
          <p:cNvPr id="3" name="Content Placeholder 2"/>
          <p:cNvSpPr>
            <a:spLocks noGrp="1"/>
          </p:cNvSpPr>
          <p:nvPr>
            <p:ph idx="1"/>
          </p:nvPr>
        </p:nvSpPr>
        <p:spPr/>
        <p:txBody>
          <a:bodyPr/>
          <a:lstStyle/>
          <a:p>
            <a:r>
              <a:rPr lang="en-GB" dirty="0"/>
              <a:t>Main reasons: </a:t>
            </a:r>
          </a:p>
          <a:p>
            <a:pPr marL="342900" indent="-342900">
              <a:buFont typeface="Arial" panose="020B0604020202020204" pitchFamily="34" charset="0"/>
              <a:buChar char="•"/>
            </a:pPr>
            <a:r>
              <a:rPr lang="en-GB" dirty="0"/>
              <a:t>Hardware power (GPU, storage)</a:t>
            </a:r>
          </a:p>
          <a:p>
            <a:pPr marL="342900" indent="-342900">
              <a:buFont typeface="Arial" panose="020B0604020202020204" pitchFamily="34" charset="0"/>
              <a:buChar char="•"/>
            </a:pPr>
            <a:r>
              <a:rPr lang="en-GB" dirty="0"/>
              <a:t>Cloud computing (Internet, </a:t>
            </a:r>
            <a:r>
              <a:rPr lang="en-GB" dirty="0" err="1"/>
              <a:t>IoT</a:t>
            </a:r>
            <a:r>
              <a:rPr lang="en-GB" dirty="0"/>
              <a:t>)</a:t>
            </a:r>
          </a:p>
          <a:p>
            <a:pPr marL="342900" indent="-342900">
              <a:buFont typeface="Arial" panose="020B0604020202020204" pitchFamily="34" charset="0"/>
              <a:buChar char="•"/>
            </a:pPr>
            <a:r>
              <a:rPr lang="en-GB" dirty="0"/>
              <a:t>Big Data (</a:t>
            </a:r>
            <a:r>
              <a:rPr lang="en-GB" dirty="0" err="1"/>
              <a:t>IoT</a:t>
            </a:r>
            <a:r>
              <a:rPr lang="en-GB" dirty="0"/>
              <a:t>, Mobile apps, Social network, Linked data, activities on Internet)</a:t>
            </a:r>
          </a:p>
          <a:p>
            <a:pPr marL="342900" indent="-342900">
              <a:buFont typeface="Arial" panose="020B0604020202020204" pitchFamily="34" charset="0"/>
              <a:buChar char="•"/>
            </a:pPr>
            <a:r>
              <a:rPr lang="en-GB" dirty="0"/>
              <a:t>Industry driven (Google, Amazon, Facebook) </a:t>
            </a:r>
          </a:p>
          <a:p>
            <a:pPr marL="342900" indent="-342900">
              <a:buFont typeface="Arial" panose="020B0604020202020204" pitchFamily="34" charset="0"/>
              <a:buChar char="•"/>
            </a:pPr>
            <a:r>
              <a:rPr lang="en-GB" altLang="en-US" dirty="0"/>
              <a:t>the creation of new ties between AI and other fields working on similar problems</a:t>
            </a:r>
          </a:p>
          <a:p>
            <a:pPr marL="342900" indent="-342900">
              <a:buFont typeface="Arial" panose="020B0604020202020204" pitchFamily="34" charset="0"/>
              <a:buChar char="•"/>
            </a:pPr>
            <a:r>
              <a:rPr lang="en-GB" altLang="en-US" dirty="0"/>
              <a:t>A greater emphasis on solving specific sub-problems</a:t>
            </a:r>
          </a:p>
        </p:txBody>
      </p:sp>
    </p:spTree>
    <p:extLst>
      <p:ext uri="{BB962C8B-B14F-4D97-AF65-F5344CB8AC3E}">
        <p14:creationId xmlns:p14="http://schemas.microsoft.com/office/powerpoint/2010/main" val="8406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9"/>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9"/>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9"/>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Milestones of the boom</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cxnSp>
        <p:nvCxnSpPr>
          <p:cNvPr id="4" name="Connector 3"/>
          <p:cNvCxnSpPr/>
          <p:nvPr/>
        </p:nvCxnSpPr>
        <p:spPr>
          <a:xfrm>
            <a:off x="1901952" y="2057400"/>
            <a:ext cx="6803136" cy="0"/>
          </a:xfrm>
          <a:prstGeom prst="line">
            <a:avLst/>
          </a:prstGeom>
          <a:ln w="38100">
            <a:solidFill>
              <a:srgbClr val="A6B8D6"/>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408529"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847088" y="1490472"/>
            <a:ext cx="1324051" cy="411480"/>
          </a:xfrm>
          <a:prstGeom prst="rect">
            <a:avLst/>
          </a:prstGeom>
          <a:noFill/>
        </p:spPr>
        <p:txBody>
          <a:bodyPr wrap="square" lIns="54864" tIns="54864" rIns="54864" bIns="54864" anchor="b"/>
          <a:lstStyle/>
          <a:p>
            <a:pPr marL="0" indent="0" algn="ctr">
              <a:spcAft>
                <a:spcPts val="400"/>
              </a:spcAft>
              <a:buNone/>
            </a:pPr>
            <a:r>
              <a:rPr sz="1500" b="1" i="0">
                <a:solidFill>
                  <a:srgbClr val="2F5DA8"/>
                </a:solidFill>
                <a:latin typeface="Arial"/>
              </a:rPr>
              <a:t>2012</a:t>
            </a:r>
          </a:p>
        </p:txBody>
      </p:sp>
      <p:sp>
        <p:nvSpPr>
          <p:cNvPr id="7" name="TextBox 6"/>
          <p:cNvSpPr txBox="1"/>
          <p:nvPr/>
        </p:nvSpPr>
        <p:spPr>
          <a:xfrm>
            <a:off x="1847088" y="2240280"/>
            <a:ext cx="1324051" cy="1371600"/>
          </a:xfrm>
          <a:prstGeom prst="rect">
            <a:avLst/>
          </a:prstGeom>
          <a:noFill/>
        </p:spPr>
        <p:txBody>
          <a:bodyPr wrap="square" lIns="54864" tIns="54864" rIns="54864" bIns="54864" anchor="t"/>
          <a:lstStyle/>
          <a:p>
            <a:pPr marL="0" indent="0" algn="ctr">
              <a:spcAft>
                <a:spcPts val="400"/>
              </a:spcAft>
              <a:buNone/>
            </a:pPr>
            <a:r>
              <a:rPr sz="1200" b="0" i="0">
                <a:solidFill>
                  <a:srgbClr val="262626"/>
                </a:solidFill>
                <a:latin typeface="Arial"/>
              </a:rPr>
              <a:t>AlexNet wins ImageNet: ~15% error vs ~26%, trained on GPUs</a:t>
            </a:r>
          </a:p>
        </p:txBody>
      </p:sp>
      <p:sp>
        <p:nvSpPr>
          <p:cNvPr id="8" name="Oval 7"/>
          <p:cNvSpPr/>
          <p:nvPr/>
        </p:nvSpPr>
        <p:spPr>
          <a:xfrm>
            <a:off x="3805732"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244291" y="1490472"/>
            <a:ext cx="1324051" cy="411480"/>
          </a:xfrm>
          <a:prstGeom prst="rect">
            <a:avLst/>
          </a:prstGeom>
          <a:noFill/>
        </p:spPr>
        <p:txBody>
          <a:bodyPr wrap="square" lIns="54864" tIns="54864" rIns="54864" bIns="54864" anchor="b"/>
          <a:lstStyle/>
          <a:p>
            <a:pPr marL="0" indent="0" algn="ctr">
              <a:spcAft>
                <a:spcPts val="400"/>
              </a:spcAft>
              <a:buNone/>
            </a:pPr>
            <a:r>
              <a:rPr sz="1500" b="1" i="0">
                <a:solidFill>
                  <a:srgbClr val="2F5DA8"/>
                </a:solidFill>
                <a:latin typeface="Arial"/>
              </a:rPr>
              <a:t>2016</a:t>
            </a:r>
          </a:p>
        </p:txBody>
      </p:sp>
      <p:sp>
        <p:nvSpPr>
          <p:cNvPr id="10" name="TextBox 9"/>
          <p:cNvSpPr txBox="1"/>
          <p:nvPr/>
        </p:nvSpPr>
        <p:spPr>
          <a:xfrm>
            <a:off x="3244291" y="2240280"/>
            <a:ext cx="1324051" cy="1371600"/>
          </a:xfrm>
          <a:prstGeom prst="rect">
            <a:avLst/>
          </a:prstGeom>
          <a:noFill/>
        </p:spPr>
        <p:txBody>
          <a:bodyPr wrap="square" lIns="54864" tIns="54864" rIns="54864" bIns="54864" anchor="t"/>
          <a:lstStyle/>
          <a:p>
            <a:pPr marL="0" indent="0" algn="ctr">
              <a:spcAft>
                <a:spcPts val="400"/>
              </a:spcAft>
              <a:buNone/>
            </a:pPr>
            <a:r>
              <a:rPr sz="1200" b="0" i="0">
                <a:solidFill>
                  <a:srgbClr val="262626"/>
                </a:solidFill>
                <a:latin typeface="Arial"/>
              </a:rPr>
              <a:t>AlphaGo beats Lee Sedol</a:t>
            </a:r>
          </a:p>
        </p:txBody>
      </p:sp>
      <p:sp>
        <p:nvSpPr>
          <p:cNvPr id="11" name="Oval 10"/>
          <p:cNvSpPr/>
          <p:nvPr/>
        </p:nvSpPr>
        <p:spPr>
          <a:xfrm>
            <a:off x="5202935"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41494" y="1490472"/>
            <a:ext cx="1324051" cy="411480"/>
          </a:xfrm>
          <a:prstGeom prst="rect">
            <a:avLst/>
          </a:prstGeom>
          <a:noFill/>
        </p:spPr>
        <p:txBody>
          <a:bodyPr wrap="square" lIns="54864" tIns="54864" rIns="54864" bIns="54864" anchor="b"/>
          <a:lstStyle/>
          <a:p>
            <a:pPr marL="0" indent="0" algn="ctr">
              <a:spcAft>
                <a:spcPts val="400"/>
              </a:spcAft>
              <a:buNone/>
            </a:pPr>
            <a:r>
              <a:rPr sz="1500" b="1" i="0">
                <a:solidFill>
                  <a:srgbClr val="2F5DA8"/>
                </a:solidFill>
                <a:latin typeface="Arial"/>
              </a:rPr>
              <a:t>2017</a:t>
            </a:r>
          </a:p>
        </p:txBody>
      </p:sp>
      <p:sp>
        <p:nvSpPr>
          <p:cNvPr id="13" name="TextBox 12"/>
          <p:cNvSpPr txBox="1"/>
          <p:nvPr/>
        </p:nvSpPr>
        <p:spPr>
          <a:xfrm>
            <a:off x="4641494" y="2240280"/>
            <a:ext cx="1324051" cy="1371600"/>
          </a:xfrm>
          <a:prstGeom prst="rect">
            <a:avLst/>
          </a:prstGeom>
          <a:noFill/>
        </p:spPr>
        <p:txBody>
          <a:bodyPr wrap="square" lIns="54864" tIns="54864" rIns="54864" bIns="54864" anchor="t"/>
          <a:lstStyle/>
          <a:p>
            <a:pPr marL="0" indent="0" algn="ctr">
              <a:spcAft>
                <a:spcPts val="400"/>
              </a:spcAft>
              <a:buNone/>
            </a:pPr>
            <a:r>
              <a:rPr sz="1200" b="0" i="0">
                <a:solidFill>
                  <a:srgbClr val="262626"/>
                </a:solidFill>
                <a:latin typeface="Arial"/>
              </a:rPr>
              <a:t>Transformer: “Attention Is All You Need” (the T in GPT)</a:t>
            </a:r>
          </a:p>
        </p:txBody>
      </p:sp>
      <p:sp>
        <p:nvSpPr>
          <p:cNvPr id="14" name="Oval 13"/>
          <p:cNvSpPr/>
          <p:nvPr/>
        </p:nvSpPr>
        <p:spPr>
          <a:xfrm>
            <a:off x="6600139"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038697" y="1490472"/>
            <a:ext cx="1324051" cy="411480"/>
          </a:xfrm>
          <a:prstGeom prst="rect">
            <a:avLst/>
          </a:prstGeom>
          <a:noFill/>
        </p:spPr>
        <p:txBody>
          <a:bodyPr wrap="square" lIns="54864" tIns="54864" rIns="54864" bIns="54864" anchor="b"/>
          <a:lstStyle/>
          <a:p>
            <a:pPr marL="0" indent="0" algn="ctr">
              <a:spcAft>
                <a:spcPts val="400"/>
              </a:spcAft>
              <a:buNone/>
            </a:pPr>
            <a:r>
              <a:rPr sz="1500" b="1" i="0">
                <a:solidFill>
                  <a:srgbClr val="2F5DA8"/>
                </a:solidFill>
                <a:latin typeface="Arial"/>
              </a:rPr>
              <a:t>2022</a:t>
            </a:r>
          </a:p>
        </p:txBody>
      </p:sp>
      <p:sp>
        <p:nvSpPr>
          <p:cNvPr id="16" name="TextBox 15"/>
          <p:cNvSpPr txBox="1"/>
          <p:nvPr/>
        </p:nvSpPr>
        <p:spPr>
          <a:xfrm>
            <a:off x="6038697" y="2240280"/>
            <a:ext cx="1324051" cy="1371600"/>
          </a:xfrm>
          <a:prstGeom prst="rect">
            <a:avLst/>
          </a:prstGeom>
          <a:noFill/>
        </p:spPr>
        <p:txBody>
          <a:bodyPr wrap="square" lIns="54864" tIns="54864" rIns="54864" bIns="54864" anchor="t"/>
          <a:lstStyle/>
          <a:p>
            <a:pPr marL="0" indent="0" algn="ctr">
              <a:spcAft>
                <a:spcPts val="400"/>
              </a:spcAft>
              <a:buNone/>
            </a:pPr>
            <a:r>
              <a:rPr sz="1200" b="0" i="0">
                <a:solidFill>
                  <a:srgbClr val="262626"/>
                </a:solidFill>
                <a:latin typeface="Arial"/>
              </a:rPr>
              <a:t>ChatGPT released (November)</a:t>
            </a:r>
          </a:p>
        </p:txBody>
      </p:sp>
      <p:sp>
        <p:nvSpPr>
          <p:cNvPr id="17" name="Oval 16"/>
          <p:cNvSpPr/>
          <p:nvPr/>
        </p:nvSpPr>
        <p:spPr>
          <a:xfrm>
            <a:off x="7997342" y="1956816"/>
            <a:ext cx="201168" cy="20116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435900" y="1490472"/>
            <a:ext cx="1324051" cy="411480"/>
          </a:xfrm>
          <a:prstGeom prst="rect">
            <a:avLst/>
          </a:prstGeom>
          <a:noFill/>
        </p:spPr>
        <p:txBody>
          <a:bodyPr wrap="square" lIns="54864" tIns="54864" rIns="54864" bIns="54864" anchor="b"/>
          <a:lstStyle/>
          <a:p>
            <a:pPr marL="0" indent="0" algn="ctr">
              <a:spcAft>
                <a:spcPts val="400"/>
              </a:spcAft>
              <a:buNone/>
            </a:pPr>
            <a:r>
              <a:rPr sz="1500" b="1" i="0">
                <a:solidFill>
                  <a:srgbClr val="2F5DA8"/>
                </a:solidFill>
                <a:latin typeface="Arial"/>
              </a:rPr>
              <a:t>2024</a:t>
            </a:r>
          </a:p>
        </p:txBody>
      </p:sp>
      <p:sp>
        <p:nvSpPr>
          <p:cNvPr id="19" name="TextBox 18"/>
          <p:cNvSpPr txBox="1"/>
          <p:nvPr/>
        </p:nvSpPr>
        <p:spPr>
          <a:xfrm>
            <a:off x="7435900" y="2240280"/>
            <a:ext cx="1324051" cy="1371600"/>
          </a:xfrm>
          <a:prstGeom prst="rect">
            <a:avLst/>
          </a:prstGeom>
          <a:noFill/>
        </p:spPr>
        <p:txBody>
          <a:bodyPr wrap="square" lIns="54864" tIns="54864" rIns="54864" bIns="54864" anchor="t"/>
          <a:lstStyle/>
          <a:p>
            <a:pPr marL="0" indent="0" algn="ctr">
              <a:spcAft>
                <a:spcPts val="400"/>
              </a:spcAft>
              <a:buNone/>
            </a:pPr>
            <a:r>
              <a:rPr sz="1200" b="0" i="0">
                <a:solidFill>
                  <a:srgbClr val="262626"/>
                </a:solidFill>
                <a:latin typeface="Arial"/>
              </a:rPr>
              <a:t>Nobel Prizes for AI pioneers</a:t>
            </a:r>
          </a:p>
        </p:txBody>
      </p:sp>
      <p:sp>
        <p:nvSpPr>
          <p:cNvPr id="20" name="Rounded Rectangle 19"/>
          <p:cNvSpPr/>
          <p:nvPr/>
        </p:nvSpPr>
        <p:spPr>
          <a:xfrm>
            <a:off x="1810512" y="3840480"/>
            <a:ext cx="3410711" cy="1325880"/>
          </a:xfrm>
          <a:prstGeom prst="roundRect">
            <a:avLst>
              <a:gd name="adj" fmla="val 551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Physics Nobel 2024</a:t>
            </a:r>
          </a:p>
          <a:p>
            <a:pPr marL="0" indent="0" algn="l">
              <a:spcAft>
                <a:spcPts val="400"/>
              </a:spcAft>
              <a:buNone/>
            </a:pPr>
            <a:r>
              <a:rPr sz="1300" b="0" i="0">
                <a:solidFill>
                  <a:srgbClr val="262626"/>
                </a:solidFill>
                <a:latin typeface="Arial"/>
              </a:rPr>
              <a:t>John Hopfield &amp; Geoffrey Hinton: foundations of neural networks</a:t>
            </a:r>
          </a:p>
        </p:txBody>
      </p:sp>
      <p:sp>
        <p:nvSpPr>
          <p:cNvPr id="21" name="Rounded Rectangle 20"/>
          <p:cNvSpPr/>
          <p:nvPr/>
        </p:nvSpPr>
        <p:spPr>
          <a:xfrm>
            <a:off x="5385816" y="3840480"/>
            <a:ext cx="3410711" cy="1325880"/>
          </a:xfrm>
          <a:prstGeom prst="roundRect">
            <a:avLst>
              <a:gd name="adj" fmla="val 551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Chemistry Nobel 2024 (part)</a:t>
            </a:r>
          </a:p>
          <a:p>
            <a:pPr marL="0" indent="0" algn="l">
              <a:spcAft>
                <a:spcPts val="400"/>
              </a:spcAft>
              <a:buNone/>
            </a:pPr>
            <a:r>
              <a:rPr sz="1300" b="0" i="0">
                <a:solidFill>
                  <a:srgbClr val="262626"/>
                </a:solidFill>
                <a:latin typeface="Arial"/>
              </a:rPr>
              <a:t>Demis Hassabis &amp; John Jumper (DeepMind): AlphaFold, protein structures</a:t>
            </a:r>
          </a:p>
        </p:txBody>
      </p:sp>
      <p:sp>
        <p:nvSpPr>
          <p:cNvPr id="22" name="Rounded Rectangle 21"/>
          <p:cNvSpPr/>
          <p:nvPr/>
        </p:nvSpPr>
        <p:spPr>
          <a:xfrm>
            <a:off x="1810512" y="5349240"/>
            <a:ext cx="6986015"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NARROW (WEAK) AI  </a:t>
            </a:r>
            <a:r>
              <a:rPr sz="1400" b="0" i="0">
                <a:solidFill>
                  <a:srgbClr val="FFFFFF"/>
                </a:solidFill>
                <a:latin typeface="Arial"/>
              </a:rPr>
              <a:t>Today’s success: well-defined tasks with clear data and clear measures. See the homework on strong and weak AI at the end of this lecture.</a:t>
            </a:r>
          </a:p>
        </p:txBody>
      </p:sp>
      <p:sp>
        <p:nvSpPr>
          <p:cNvPr id="23" name="TextBox 22"/>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Krizhevsky, Sutskever and Hinton (2012); Silver et al. (2016); Vaswani et al. (2017); OpenAI (2022); NobelPrize.org (2024a; 2024b).</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38761D"/>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APPLICATION</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11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Name three developments that made today’s AI boom possible, with one example of each.</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Q11 (Application): </a:t>
            </a:r>
            <a:r>
              <a:rPr sz="1400" b="0" i="1">
                <a:solidFill>
                  <a:srgbClr val="595959"/>
                </a:solidFill>
                <a:latin typeface="Arial"/>
              </a:rPr>
              <a:t>Name three developments that made today’s AI boom possible, with one example of each.</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For example: hardware (GPUs, which trained AlexNet in 2012); big data (apps, social networks and the Internet of Things); new architectures and industry investment (the Transformer, 2017, behind ChatGPT, 2022). Cloud computing, such as free GPUs in Colab, is another valid answer.</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Brief history of AI (booming today); Milestones of the boom</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Branches of AI technologies</a:t>
            </a:r>
          </a:p>
        </p:txBody>
      </p:sp>
      <p:pic>
        <p:nvPicPr>
          <p:cNvPr id="12292" name="Picture 4" descr="https://diroots.com/wp-content/uploads/2020/07/AI-Branch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033595"/>
            <a:ext cx="5334000" cy="5214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3230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branches of AI</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45295"/>
            <a:ext cx="3017520" cy="2950089"/>
          </a:xfrm>
          <a:prstGeom prst="rect">
            <a:avLst/>
          </a:prstGeom>
          <a:ln w="9525">
            <a:solidFill>
              <a:srgbClr val="A6B8D6"/>
            </a:solidFill>
          </a:ln>
        </p:spPr>
      </p:pic>
      <p:sp>
        <p:nvSpPr>
          <p:cNvPr id="5" name="Rounded Rectangle 4"/>
          <p:cNvSpPr/>
          <p:nvPr/>
        </p:nvSpPr>
        <p:spPr>
          <a:xfrm>
            <a:off x="5010912" y="1234440"/>
            <a:ext cx="3785615" cy="2971800"/>
          </a:xfrm>
          <a:prstGeom prst="roundRect">
            <a:avLst>
              <a:gd name="adj" fmla="val 246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icons</a:t>
            </a:r>
          </a:p>
          <a:p>
            <a:pPr marL="164592" indent="-146304" algn="l">
              <a:spcAft>
                <a:spcPts val="600"/>
              </a:spcAft>
              <a:buFont typeface="Arial"/>
              <a:buChar char="•"/>
            </a:pPr>
            <a:r>
              <a:rPr sz="1200" b="1" i="0">
                <a:solidFill>
                  <a:srgbClr val="262626"/>
                </a:solidFill>
                <a:latin typeface="Arial"/>
              </a:rPr>
              <a:t>Centre: Artificial Intelligence: </a:t>
            </a:r>
            <a:r>
              <a:rPr sz="1200" b="0" i="0">
                <a:solidFill>
                  <a:srgbClr val="262626"/>
                </a:solidFill>
                <a:latin typeface="Arial"/>
              </a:rPr>
              <a:t>a head filled with circuit lines</a:t>
            </a:r>
          </a:p>
          <a:p>
            <a:pPr marL="164592" indent="-146304" algn="l">
              <a:spcAft>
                <a:spcPts val="600"/>
              </a:spcAft>
              <a:buFont typeface="Arial"/>
              <a:buChar char="•"/>
            </a:pPr>
            <a:r>
              <a:rPr sz="1200" b="1" i="0">
                <a:solidFill>
                  <a:srgbClr val="262626"/>
                </a:solidFill>
                <a:latin typeface="Arial"/>
              </a:rPr>
              <a:t>Machine Learning: </a:t>
            </a:r>
            <a:r>
              <a:rPr sz="1200" b="0" i="0">
                <a:solidFill>
                  <a:srgbClr val="262626"/>
                </a:solidFill>
                <a:latin typeface="Arial"/>
              </a:rPr>
              <a:t>an open book with gears: learning as a mechanism</a:t>
            </a:r>
          </a:p>
          <a:p>
            <a:pPr marL="164592" indent="-146304" algn="l">
              <a:spcAft>
                <a:spcPts val="600"/>
              </a:spcAft>
              <a:buFont typeface="Arial"/>
              <a:buChar char="•"/>
            </a:pPr>
            <a:r>
              <a:rPr sz="1200" b="1" i="0">
                <a:solidFill>
                  <a:srgbClr val="262626"/>
                </a:solidFill>
                <a:latin typeface="Arial"/>
              </a:rPr>
              <a:t>Knowledge Representation: </a:t>
            </a:r>
            <a:r>
              <a:rPr sz="1200" b="0" i="0">
                <a:solidFill>
                  <a:srgbClr val="262626"/>
                </a:solidFill>
                <a:latin typeface="Arial"/>
              </a:rPr>
              <a:t>a box with symbols above it: structured, stored knowledge</a:t>
            </a:r>
          </a:p>
          <a:p>
            <a:pPr marL="164592" indent="-146304" algn="l">
              <a:spcAft>
                <a:spcPts val="600"/>
              </a:spcAft>
              <a:buFont typeface="Arial"/>
              <a:buChar char="•"/>
            </a:pPr>
            <a:r>
              <a:rPr sz="1200" b="1" i="0">
                <a:solidFill>
                  <a:srgbClr val="262626"/>
                </a:solidFill>
                <a:latin typeface="Arial"/>
              </a:rPr>
              <a:t>Natural Language Processing: </a:t>
            </a:r>
            <a:r>
              <a:rPr sz="1200" b="0" i="0">
                <a:solidFill>
                  <a:srgbClr val="262626"/>
                </a:solidFill>
                <a:latin typeface="Arial"/>
              </a:rPr>
              <a:t>a human face and a machine face exchanging an idea</a:t>
            </a:r>
          </a:p>
          <a:p>
            <a:pPr marL="164592" indent="-146304" algn="l">
              <a:spcAft>
                <a:spcPts val="600"/>
              </a:spcAft>
              <a:buFont typeface="Arial"/>
              <a:buChar char="•"/>
            </a:pPr>
            <a:r>
              <a:rPr sz="1200" b="1" i="0">
                <a:solidFill>
                  <a:srgbClr val="262626"/>
                </a:solidFill>
                <a:latin typeface="Arial"/>
              </a:rPr>
              <a:t>Computer Vision: </a:t>
            </a:r>
            <a:r>
              <a:rPr sz="1200" b="0" i="0">
                <a:solidFill>
                  <a:srgbClr val="262626"/>
                </a:solidFill>
                <a:latin typeface="Arial"/>
              </a:rPr>
              <a:t>an eye surrounded by image panels</a:t>
            </a:r>
          </a:p>
          <a:p>
            <a:pPr marL="164592" indent="-146304" algn="l">
              <a:spcAft>
                <a:spcPts val="600"/>
              </a:spcAft>
              <a:buFont typeface="Arial"/>
              <a:buChar char="•"/>
            </a:pPr>
            <a:r>
              <a:rPr sz="1200" b="1" i="0">
                <a:solidFill>
                  <a:srgbClr val="262626"/>
                </a:solidFill>
                <a:latin typeface="Arial"/>
              </a:rPr>
              <a:t>Data Mining: </a:t>
            </a:r>
            <a:r>
              <a:rPr sz="1200" b="0" i="0">
                <a:solidFill>
                  <a:srgbClr val="262626"/>
                </a:solidFill>
                <a:latin typeface="Arial"/>
              </a:rPr>
              <a:t>stored records under a magnifying glass</a:t>
            </a:r>
          </a:p>
        </p:txBody>
      </p:sp>
      <p:sp>
        <p:nvSpPr>
          <p:cNvPr id="6" name="Rounded Rectangle 5"/>
          <p:cNvSpPr/>
          <p:nvPr/>
        </p:nvSpPr>
        <p:spPr>
          <a:xfrm>
            <a:off x="1810512" y="4389120"/>
            <a:ext cx="6986015" cy="1280160"/>
          </a:xfrm>
          <a:prstGeom prst="roundRect">
            <a:avLst>
              <a:gd name="adj" fmla="val 5714"/>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The message</a:t>
            </a:r>
          </a:p>
          <a:p>
            <a:pPr marL="0" indent="0" algn="l">
              <a:spcAft>
                <a:spcPts val="600"/>
              </a:spcAft>
              <a:buNone/>
            </a:pPr>
            <a:r>
              <a:rPr sz="1300" b="0" i="0">
                <a:solidFill>
                  <a:srgbClr val="262626"/>
                </a:solidFill>
                <a:latin typeface="Arial"/>
              </a:rPr>
              <a:t>AI is the umbrella; the five circles around it are major branches. All of them appear later in this module.</a:t>
            </a:r>
          </a:p>
        </p:txBody>
      </p:sp>
      <p:sp>
        <p:nvSpPr>
          <p:cNvPr id="7" name="TextBox 6"/>
          <p:cNvSpPr txBox="1"/>
          <p:nvPr/>
        </p:nvSpPr>
        <p:spPr>
          <a:xfrm>
            <a:off x="1810512" y="5852159"/>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Figure source: diroots.com, “AI Branches” illustration.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Branches work together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cxnSp>
        <p:nvCxnSpPr>
          <p:cNvPr id="4" name="Connector 3"/>
          <p:cNvCxnSpPr/>
          <p:nvPr/>
        </p:nvCxnSpPr>
        <p:spPr>
          <a:xfrm>
            <a:off x="3136391" y="1920240"/>
            <a:ext cx="2167128" cy="1645920"/>
          </a:xfrm>
          <a:prstGeom prst="line">
            <a:avLst/>
          </a:prstGeom>
          <a:ln w="25400">
            <a:solidFill>
              <a:srgbClr val="A6B8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5303519" y="1920240"/>
            <a:ext cx="2167128" cy="1645920"/>
          </a:xfrm>
          <a:prstGeom prst="line">
            <a:avLst/>
          </a:prstGeom>
          <a:ln w="25400">
            <a:solidFill>
              <a:srgbClr val="A6B8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136391" y="3566160"/>
            <a:ext cx="2167128" cy="1691640"/>
          </a:xfrm>
          <a:prstGeom prst="line">
            <a:avLst/>
          </a:prstGeom>
          <a:ln w="25400">
            <a:solidFill>
              <a:srgbClr val="A6B8D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5303519" y="3566160"/>
            <a:ext cx="2167128" cy="1691640"/>
          </a:xfrm>
          <a:prstGeom prst="line">
            <a:avLst/>
          </a:prstGeom>
          <a:ln w="25400">
            <a:solidFill>
              <a:srgbClr val="A6B8D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14799" y="3017520"/>
            <a:ext cx="2377440" cy="1097280"/>
          </a:xfrm>
          <a:prstGeom prst="roundRect">
            <a:avLst>
              <a:gd name="adj" fmla="val 6666"/>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ctr">
              <a:spcAft>
                <a:spcPts val="400"/>
              </a:spcAft>
              <a:buNone/>
            </a:pPr>
            <a:r>
              <a:rPr sz="1700" b="1" i="0">
                <a:solidFill>
                  <a:srgbClr val="FFFFFF"/>
                </a:solidFill>
                <a:latin typeface="Arial"/>
              </a:rPr>
              <a:t>Self-driving car</a:t>
            </a:r>
          </a:p>
        </p:txBody>
      </p:sp>
      <p:sp>
        <p:nvSpPr>
          <p:cNvPr id="9" name="Rounded Rectangle 8"/>
          <p:cNvSpPr/>
          <p:nvPr/>
        </p:nvSpPr>
        <p:spPr>
          <a:xfrm>
            <a:off x="1810512" y="1280160"/>
            <a:ext cx="2651760"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Computer vision</a:t>
            </a:r>
          </a:p>
          <a:p>
            <a:pPr marL="0" indent="0" algn="l">
              <a:spcAft>
                <a:spcPts val="400"/>
              </a:spcAft>
              <a:buNone/>
            </a:pPr>
            <a:r>
              <a:rPr sz="1400" b="0" i="0">
                <a:solidFill>
                  <a:srgbClr val="262626"/>
                </a:solidFill>
                <a:latin typeface="Arial"/>
              </a:rPr>
              <a:t>See lanes, signs, pedestrians</a:t>
            </a:r>
          </a:p>
        </p:txBody>
      </p:sp>
      <p:sp>
        <p:nvSpPr>
          <p:cNvPr id="10" name="Rounded Rectangle 9"/>
          <p:cNvSpPr/>
          <p:nvPr/>
        </p:nvSpPr>
        <p:spPr>
          <a:xfrm>
            <a:off x="6144767" y="1280160"/>
            <a:ext cx="2651760"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Machine learning</a:t>
            </a:r>
          </a:p>
          <a:p>
            <a:pPr marL="0" indent="0" algn="l">
              <a:spcAft>
                <a:spcPts val="400"/>
              </a:spcAft>
              <a:buNone/>
            </a:pPr>
            <a:r>
              <a:rPr sz="1400" b="0" i="0">
                <a:solidFill>
                  <a:srgbClr val="262626"/>
                </a:solidFill>
                <a:latin typeface="Arial"/>
              </a:rPr>
              <a:t>Predict what other road users will do</a:t>
            </a:r>
          </a:p>
        </p:txBody>
      </p:sp>
      <p:sp>
        <p:nvSpPr>
          <p:cNvPr id="11" name="Rounded Rectangle 10"/>
          <p:cNvSpPr/>
          <p:nvPr/>
        </p:nvSpPr>
        <p:spPr>
          <a:xfrm>
            <a:off x="1810512" y="4617720"/>
            <a:ext cx="2651760"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Knowledge representation</a:t>
            </a:r>
          </a:p>
          <a:p>
            <a:pPr marL="0" indent="0" algn="l">
              <a:spcAft>
                <a:spcPts val="400"/>
              </a:spcAft>
              <a:buNone/>
            </a:pPr>
            <a:r>
              <a:rPr sz="1400" b="0" i="0">
                <a:solidFill>
                  <a:srgbClr val="262626"/>
                </a:solidFill>
                <a:latin typeface="Arial"/>
              </a:rPr>
              <a:t>Encode the traffic rules</a:t>
            </a:r>
          </a:p>
        </p:txBody>
      </p:sp>
      <p:sp>
        <p:nvSpPr>
          <p:cNvPr id="12" name="Rounded Rectangle 11"/>
          <p:cNvSpPr/>
          <p:nvPr/>
        </p:nvSpPr>
        <p:spPr>
          <a:xfrm>
            <a:off x="6144767" y="4617720"/>
            <a:ext cx="2651760" cy="1143000"/>
          </a:xfrm>
          <a:prstGeom prst="roundRect">
            <a:avLst>
              <a:gd name="adj" fmla="val 64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Data mining &amp; NLP</a:t>
            </a:r>
          </a:p>
          <a:p>
            <a:pPr marL="0" indent="0" algn="l">
              <a:spcAft>
                <a:spcPts val="400"/>
              </a:spcAft>
              <a:buNone/>
            </a:pPr>
            <a:r>
              <a:rPr sz="1400" b="0" i="0">
                <a:solidFill>
                  <a:srgbClr val="262626"/>
                </a:solidFill>
                <a:latin typeface="Arial"/>
              </a:rPr>
              <a:t>Learn from fleet data; understand voice commands</a:t>
            </a:r>
          </a:p>
        </p:txBody>
      </p:sp>
      <p:sp>
        <p:nvSpPr>
          <p:cNvPr id="13" name="TextBox 12"/>
          <p:cNvSpPr txBox="1"/>
          <p:nvPr/>
        </p:nvSpPr>
        <p:spPr>
          <a:xfrm>
            <a:off x="1810512" y="6035040"/>
            <a:ext cx="6986015" cy="365760"/>
          </a:xfrm>
          <a:prstGeom prst="rect">
            <a:avLst/>
          </a:prstGeom>
          <a:noFill/>
        </p:spPr>
        <p:txBody>
          <a:bodyPr wrap="square" lIns="54864" tIns="54864" rIns="54864" bIns="54864" anchor="t"/>
          <a:lstStyle/>
          <a:p>
            <a:pPr marL="0" indent="0" algn="ctr">
              <a:spcAft>
                <a:spcPts val="400"/>
              </a:spcAft>
              <a:buNone/>
            </a:pPr>
            <a:r>
              <a:rPr sz="1400" b="1" i="0">
                <a:solidFill>
                  <a:srgbClr val="1F3864"/>
                </a:solidFill>
                <a:latin typeface="Arial"/>
              </a:rPr>
              <a:t>Real systems combine branches. This module touches all five.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Branches of AI technologies by application</a:t>
            </a:r>
          </a:p>
        </p:txBody>
      </p:sp>
      <p:sp>
        <p:nvSpPr>
          <p:cNvPr id="3" name="Content Placeholder 2"/>
          <p:cNvSpPr>
            <a:spLocks noGrp="1"/>
          </p:cNvSpPr>
          <p:nvPr>
            <p:ph idx="1"/>
          </p:nvPr>
        </p:nvSpPr>
        <p:spPr/>
        <p:txBody>
          <a:bodyPr/>
          <a:lstStyle/>
          <a:p>
            <a:endParaRPr lang="en-GB"/>
          </a:p>
        </p:txBody>
      </p:sp>
      <p:pic>
        <p:nvPicPr>
          <p:cNvPr id="13314" name="Picture 2" descr="Artificial Intelligence (AI): Branches by Application Mind Map">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
            <a:ext cx="6324600" cy="675582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DC9B244A-07C3-493C-B838-175A7E9C569C}"/>
              </a:ext>
            </a:extLst>
          </p:cNvPr>
          <p:cNvSpPr/>
          <p:nvPr/>
        </p:nvSpPr>
        <p:spPr>
          <a:xfrm>
            <a:off x="1524000" y="228599"/>
            <a:ext cx="2590800" cy="2988253"/>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D0FC06F7-09BC-4253-82A9-186F548B5C8F}"/>
              </a:ext>
            </a:extLst>
          </p:cNvPr>
          <p:cNvSpPr/>
          <p:nvPr/>
        </p:nvSpPr>
        <p:spPr>
          <a:xfrm>
            <a:off x="5410200" y="1676400"/>
            <a:ext cx="2438400" cy="2681395"/>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13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figure: AI by application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jpeg"/>
          <p:cNvPicPr>
            <a:picLocks noChangeAspect="1"/>
          </p:cNvPicPr>
          <p:nvPr/>
        </p:nvPicPr>
        <p:blipFill>
          <a:blip r:embed="rId2"/>
          <a:stretch>
            <a:fillRect/>
          </a:stretch>
        </p:blipFill>
        <p:spPr>
          <a:xfrm>
            <a:off x="1810512" y="1940502"/>
            <a:ext cx="3429000" cy="3662795"/>
          </a:xfrm>
          <a:prstGeom prst="rect">
            <a:avLst/>
          </a:prstGeom>
          <a:ln w="9525">
            <a:solidFill>
              <a:srgbClr val="A6B8D6"/>
            </a:solidFill>
          </a:ln>
        </p:spPr>
      </p:pic>
      <p:sp>
        <p:nvSpPr>
          <p:cNvPr id="5" name="Rounded Rectangle 4"/>
          <p:cNvSpPr/>
          <p:nvPr/>
        </p:nvSpPr>
        <p:spPr>
          <a:xfrm>
            <a:off x="5422392" y="1234440"/>
            <a:ext cx="3374135" cy="1783080"/>
          </a:xfrm>
          <a:prstGeom prst="roundRect">
            <a:avLst>
              <a:gd name="adj" fmla="val 410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How to read the mind map</a:t>
            </a:r>
          </a:p>
          <a:p>
            <a:pPr marL="164592" indent="-146304" algn="l">
              <a:spcAft>
                <a:spcPts val="600"/>
              </a:spcAft>
              <a:buFont typeface="Arial"/>
              <a:buChar char="•"/>
            </a:pPr>
            <a:r>
              <a:rPr sz="1200" b="0" i="0">
                <a:solidFill>
                  <a:srgbClr val="262626"/>
                </a:solidFill>
                <a:latin typeface="Arial"/>
              </a:rPr>
              <a:t>The centre reads “Branches of AI by application”; each coloured line is a branch, with applications at its tips.</a:t>
            </a:r>
          </a:p>
          <a:p>
            <a:pPr marL="164592" indent="-146304" algn="l">
              <a:spcAft>
                <a:spcPts val="600"/>
              </a:spcAft>
              <a:buFont typeface="Arial"/>
              <a:buChar char="•"/>
            </a:pPr>
            <a:r>
              <a:rPr sz="1200" b="0" i="0">
                <a:solidFill>
                  <a:srgbClr val="262626"/>
                </a:solidFill>
                <a:latin typeface="Arial"/>
              </a:rPr>
              <a:t>Red frames on the original slide highlight two clusters covered in this module.</a:t>
            </a:r>
          </a:p>
        </p:txBody>
      </p:sp>
      <p:sp>
        <p:nvSpPr>
          <p:cNvPr id="6" name="Rounded Rectangle 5"/>
          <p:cNvSpPr/>
          <p:nvPr/>
        </p:nvSpPr>
        <p:spPr>
          <a:xfrm>
            <a:off x="5422392" y="3154680"/>
            <a:ext cx="3374135" cy="1463040"/>
          </a:xfrm>
          <a:prstGeom prst="roundRect">
            <a:avLst>
              <a:gd name="adj" fmla="val 5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Left cluster (framed)</a:t>
            </a:r>
          </a:p>
          <a:p>
            <a:pPr marL="0" indent="0" algn="l">
              <a:spcAft>
                <a:spcPts val="400"/>
              </a:spcAft>
              <a:buNone/>
            </a:pPr>
            <a:r>
              <a:rPr sz="1200" b="0" i="0">
                <a:solidFill>
                  <a:srgbClr val="262626"/>
                </a:solidFill>
                <a:latin typeface="Arial"/>
              </a:rPr>
              <a:t>Data and text mining, information extraction, machine learning (deep learning, clustering), natural language processing</a:t>
            </a:r>
          </a:p>
        </p:txBody>
      </p:sp>
      <p:sp>
        <p:nvSpPr>
          <p:cNvPr id="7" name="Rounded Rectangle 6"/>
          <p:cNvSpPr/>
          <p:nvPr/>
        </p:nvSpPr>
        <p:spPr>
          <a:xfrm>
            <a:off x="5422392" y="4754880"/>
            <a:ext cx="3374135" cy="1554480"/>
          </a:xfrm>
          <a:prstGeom prst="roundRect">
            <a:avLst>
              <a:gd name="adj" fmla="val 4705"/>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400" b="1" i="0">
                <a:solidFill>
                  <a:srgbClr val="2F5DA8"/>
                </a:solidFill>
                <a:latin typeface="Arial"/>
              </a:rPr>
              <a:t>Right cluster (framed)</a:t>
            </a:r>
          </a:p>
          <a:p>
            <a:pPr marL="0" indent="0" algn="l">
              <a:spcAft>
                <a:spcPts val="400"/>
              </a:spcAft>
              <a:buNone/>
            </a:pPr>
            <a:r>
              <a:rPr sz="1200" b="0" i="0">
                <a:solidFill>
                  <a:srgbClr val="262626"/>
                </a:solidFill>
                <a:latin typeface="Arial"/>
              </a:rPr>
              <a:t>Computer vision (face and handwriting recognition), expert systems; also game AI, intelligent agents, planning</a:t>
            </a:r>
          </a:p>
        </p:txBody>
      </p:sp>
      <p:sp>
        <p:nvSpPr>
          <p:cNvPr id="8" name="TextBox 7"/>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AI is a family of techniques, each suited to different problems: choosing among them is learning outcome MLO3.</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28B8-0DE3-4F53-A439-6B9CC2B3494F}"/>
              </a:ext>
            </a:extLst>
          </p:cNvPr>
          <p:cNvSpPr>
            <a:spLocks noGrp="1"/>
          </p:cNvSpPr>
          <p:nvPr>
            <p:ph type="title"/>
          </p:nvPr>
        </p:nvSpPr>
        <p:spPr/>
        <p:txBody>
          <a:bodyPr/>
          <a:lstStyle/>
          <a:p>
            <a:r>
              <a:rPr lang="en-GB" dirty="0"/>
              <a:t>Intelligent level</a:t>
            </a:r>
          </a:p>
        </p:txBody>
      </p:sp>
      <p:cxnSp>
        <p:nvCxnSpPr>
          <p:cNvPr id="5" name="Straight Arrow Connector 4">
            <a:extLst>
              <a:ext uri="{FF2B5EF4-FFF2-40B4-BE49-F238E27FC236}">
                <a16:creationId xmlns:a16="http://schemas.microsoft.com/office/drawing/2014/main" id="{7BB8D248-8597-4B00-B5C8-C141050DF4D2}"/>
              </a:ext>
            </a:extLst>
          </p:cNvPr>
          <p:cNvCxnSpPr>
            <a:cxnSpLocks/>
          </p:cNvCxnSpPr>
          <p:nvPr/>
        </p:nvCxnSpPr>
        <p:spPr>
          <a:xfrm>
            <a:off x="685800" y="3200400"/>
            <a:ext cx="72390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C4A4522-A1D7-4671-956A-D06C91DA4FE1}"/>
              </a:ext>
            </a:extLst>
          </p:cNvPr>
          <p:cNvSpPr txBox="1"/>
          <p:nvPr/>
        </p:nvSpPr>
        <p:spPr>
          <a:xfrm>
            <a:off x="152400" y="3259017"/>
            <a:ext cx="2377574" cy="369332"/>
          </a:xfrm>
          <a:prstGeom prst="rect">
            <a:avLst/>
          </a:prstGeom>
          <a:noFill/>
        </p:spPr>
        <p:txBody>
          <a:bodyPr wrap="none" rtlCol="0">
            <a:spAutoFit/>
          </a:bodyPr>
          <a:lstStyle/>
          <a:p>
            <a:r>
              <a:rPr lang="en-GB" dirty="0"/>
              <a:t>Low-level intelligence</a:t>
            </a:r>
          </a:p>
        </p:txBody>
      </p:sp>
      <p:sp>
        <p:nvSpPr>
          <p:cNvPr id="9" name="TextBox 8">
            <a:extLst>
              <a:ext uri="{FF2B5EF4-FFF2-40B4-BE49-F238E27FC236}">
                <a16:creationId xmlns:a16="http://schemas.microsoft.com/office/drawing/2014/main" id="{73BE7D8C-1135-4699-9A93-F5B3F3A78B9D}"/>
              </a:ext>
            </a:extLst>
          </p:cNvPr>
          <p:cNvSpPr txBox="1"/>
          <p:nvPr/>
        </p:nvSpPr>
        <p:spPr>
          <a:xfrm>
            <a:off x="6248400" y="3259017"/>
            <a:ext cx="2428870" cy="369332"/>
          </a:xfrm>
          <a:prstGeom prst="rect">
            <a:avLst/>
          </a:prstGeom>
          <a:noFill/>
        </p:spPr>
        <p:txBody>
          <a:bodyPr wrap="none" rtlCol="0">
            <a:spAutoFit/>
          </a:bodyPr>
          <a:lstStyle/>
          <a:p>
            <a:r>
              <a:rPr lang="en-GB" dirty="0"/>
              <a:t>High-level intelligence</a:t>
            </a:r>
          </a:p>
        </p:txBody>
      </p:sp>
      <p:sp>
        <p:nvSpPr>
          <p:cNvPr id="10" name="TextBox 9">
            <a:extLst>
              <a:ext uri="{FF2B5EF4-FFF2-40B4-BE49-F238E27FC236}">
                <a16:creationId xmlns:a16="http://schemas.microsoft.com/office/drawing/2014/main" id="{95993816-8257-4D33-BEB9-1C09AD67EA28}"/>
              </a:ext>
            </a:extLst>
          </p:cNvPr>
          <p:cNvSpPr txBox="1"/>
          <p:nvPr/>
        </p:nvSpPr>
        <p:spPr>
          <a:xfrm>
            <a:off x="520929" y="2598003"/>
            <a:ext cx="1837234" cy="615553"/>
          </a:xfrm>
          <a:prstGeom prst="rect">
            <a:avLst/>
          </a:prstGeom>
          <a:noFill/>
        </p:spPr>
        <p:txBody>
          <a:bodyPr wrap="none" rtlCol="0">
            <a:spAutoFit/>
          </a:bodyPr>
          <a:lstStyle/>
          <a:p>
            <a:r>
              <a:rPr lang="en-GB" dirty="0">
                <a:solidFill>
                  <a:schemeClr val="accent4"/>
                </a:solidFill>
              </a:rPr>
              <a:t>Data reflection</a:t>
            </a:r>
          </a:p>
          <a:p>
            <a:r>
              <a:rPr lang="en-GB" sz="1600" dirty="0"/>
              <a:t>e.g. Decision Tree</a:t>
            </a:r>
          </a:p>
        </p:txBody>
      </p:sp>
      <p:sp>
        <p:nvSpPr>
          <p:cNvPr id="11" name="TextBox 10">
            <a:extLst>
              <a:ext uri="{FF2B5EF4-FFF2-40B4-BE49-F238E27FC236}">
                <a16:creationId xmlns:a16="http://schemas.microsoft.com/office/drawing/2014/main" id="{C8F24C7E-3B12-4348-A789-DBF755D3DCE8}"/>
              </a:ext>
            </a:extLst>
          </p:cNvPr>
          <p:cNvSpPr txBox="1"/>
          <p:nvPr/>
        </p:nvSpPr>
        <p:spPr>
          <a:xfrm>
            <a:off x="2388888" y="2282180"/>
            <a:ext cx="1904689" cy="861774"/>
          </a:xfrm>
          <a:prstGeom prst="rect">
            <a:avLst/>
          </a:prstGeom>
          <a:noFill/>
        </p:spPr>
        <p:txBody>
          <a:bodyPr wrap="none" rtlCol="0">
            <a:spAutoFit/>
          </a:bodyPr>
          <a:lstStyle/>
          <a:p>
            <a:r>
              <a:rPr lang="en-GB" dirty="0">
                <a:solidFill>
                  <a:srgbClr val="0070C0"/>
                </a:solidFill>
              </a:rPr>
              <a:t>Probability</a:t>
            </a:r>
          </a:p>
          <a:p>
            <a:r>
              <a:rPr lang="en-GB" sz="1600" dirty="0"/>
              <a:t>e.g. Markov Chain</a:t>
            </a:r>
          </a:p>
          <a:p>
            <a:r>
              <a:rPr lang="en-GB" sz="1600" dirty="0"/>
              <a:t>Bayesian networks</a:t>
            </a:r>
          </a:p>
        </p:txBody>
      </p:sp>
      <p:sp>
        <p:nvSpPr>
          <p:cNvPr id="12" name="TextBox 11">
            <a:extLst>
              <a:ext uri="{FF2B5EF4-FFF2-40B4-BE49-F238E27FC236}">
                <a16:creationId xmlns:a16="http://schemas.microsoft.com/office/drawing/2014/main" id="{24A6421E-03DF-40AE-91F2-E8E8594E9E15}"/>
              </a:ext>
            </a:extLst>
          </p:cNvPr>
          <p:cNvSpPr txBox="1"/>
          <p:nvPr/>
        </p:nvSpPr>
        <p:spPr>
          <a:xfrm>
            <a:off x="4336025" y="2066736"/>
            <a:ext cx="2646878" cy="861774"/>
          </a:xfrm>
          <a:prstGeom prst="rect">
            <a:avLst/>
          </a:prstGeom>
          <a:noFill/>
        </p:spPr>
        <p:txBody>
          <a:bodyPr wrap="none" rtlCol="0">
            <a:spAutoFit/>
          </a:bodyPr>
          <a:lstStyle/>
          <a:p>
            <a:r>
              <a:rPr lang="en-GB" dirty="0">
                <a:solidFill>
                  <a:srgbClr val="00B050"/>
                </a:solidFill>
              </a:rPr>
              <a:t>Feature learning</a:t>
            </a:r>
          </a:p>
          <a:p>
            <a:r>
              <a:rPr lang="en-GB" sz="1600" dirty="0"/>
              <a:t>e.g. Deep Neural Networks</a:t>
            </a:r>
          </a:p>
          <a:p>
            <a:r>
              <a:rPr lang="en-GB" sz="1600" dirty="0"/>
              <a:t>Reinforcement learning</a:t>
            </a:r>
          </a:p>
        </p:txBody>
      </p:sp>
      <p:sp>
        <p:nvSpPr>
          <p:cNvPr id="13" name="TextBox 12">
            <a:extLst>
              <a:ext uri="{FF2B5EF4-FFF2-40B4-BE49-F238E27FC236}">
                <a16:creationId xmlns:a16="http://schemas.microsoft.com/office/drawing/2014/main" id="{6D4FFC7E-1075-4B87-96C8-C1CDB94ABDD3}"/>
              </a:ext>
            </a:extLst>
          </p:cNvPr>
          <p:cNvSpPr txBox="1"/>
          <p:nvPr/>
        </p:nvSpPr>
        <p:spPr>
          <a:xfrm>
            <a:off x="6479232" y="1780347"/>
            <a:ext cx="2198038" cy="369332"/>
          </a:xfrm>
          <a:prstGeom prst="rect">
            <a:avLst/>
          </a:prstGeom>
          <a:noFill/>
        </p:spPr>
        <p:txBody>
          <a:bodyPr wrap="none" rtlCol="0">
            <a:spAutoFit/>
          </a:bodyPr>
          <a:lstStyle/>
          <a:p>
            <a:r>
              <a:rPr lang="en-GB" dirty="0">
                <a:solidFill>
                  <a:srgbClr val="FF0000"/>
                </a:solidFill>
              </a:rPr>
              <a:t>Logic and inference</a:t>
            </a:r>
          </a:p>
        </p:txBody>
      </p:sp>
      <p:sp>
        <p:nvSpPr>
          <p:cNvPr id="17" name="TextBox 16">
            <a:extLst>
              <a:ext uri="{FF2B5EF4-FFF2-40B4-BE49-F238E27FC236}">
                <a16:creationId xmlns:a16="http://schemas.microsoft.com/office/drawing/2014/main" id="{95B21583-DBA3-42F6-8E40-7E7C299D87E6}"/>
              </a:ext>
            </a:extLst>
          </p:cNvPr>
          <p:cNvSpPr txBox="1"/>
          <p:nvPr/>
        </p:nvSpPr>
        <p:spPr>
          <a:xfrm>
            <a:off x="256091" y="4099546"/>
            <a:ext cx="1377300" cy="369332"/>
          </a:xfrm>
          <a:prstGeom prst="rect">
            <a:avLst/>
          </a:prstGeom>
          <a:noFill/>
        </p:spPr>
        <p:txBody>
          <a:bodyPr wrap="none" rtlCol="0">
            <a:spAutoFit/>
          </a:bodyPr>
          <a:lstStyle/>
          <a:p>
            <a:r>
              <a:rPr lang="en-GB" dirty="0">
                <a:solidFill>
                  <a:srgbClr val="92D050"/>
                </a:solidFill>
              </a:rPr>
              <a:t>Explainable</a:t>
            </a:r>
          </a:p>
        </p:txBody>
      </p:sp>
      <p:cxnSp>
        <p:nvCxnSpPr>
          <p:cNvPr id="19" name="Straight Arrow Connector 18">
            <a:extLst>
              <a:ext uri="{FF2B5EF4-FFF2-40B4-BE49-F238E27FC236}">
                <a16:creationId xmlns:a16="http://schemas.microsoft.com/office/drawing/2014/main" id="{8E3622D6-B2F1-41EE-9337-6B62130631BD}"/>
              </a:ext>
            </a:extLst>
          </p:cNvPr>
          <p:cNvCxnSpPr>
            <a:stCxn id="17" idx="3"/>
          </p:cNvCxnSpPr>
          <p:nvPr/>
        </p:nvCxnSpPr>
        <p:spPr>
          <a:xfrm>
            <a:off x="1633391" y="4284212"/>
            <a:ext cx="1061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4FD171B-2801-4276-9BA6-9CFBCFD89D50}"/>
              </a:ext>
            </a:extLst>
          </p:cNvPr>
          <p:cNvSpPr txBox="1"/>
          <p:nvPr/>
        </p:nvSpPr>
        <p:spPr>
          <a:xfrm>
            <a:off x="2764829" y="4099546"/>
            <a:ext cx="1415772" cy="369332"/>
          </a:xfrm>
          <a:prstGeom prst="rect">
            <a:avLst/>
          </a:prstGeom>
          <a:noFill/>
        </p:spPr>
        <p:txBody>
          <a:bodyPr wrap="none" rtlCol="0">
            <a:spAutoFit/>
          </a:bodyPr>
          <a:lstStyle/>
          <a:p>
            <a:r>
              <a:rPr lang="en-GB" dirty="0">
                <a:solidFill>
                  <a:srgbClr val="FFC000"/>
                </a:solidFill>
              </a:rPr>
              <a:t>Controllable</a:t>
            </a:r>
          </a:p>
        </p:txBody>
      </p:sp>
      <p:cxnSp>
        <p:nvCxnSpPr>
          <p:cNvPr id="22" name="Straight Arrow Connector 21">
            <a:extLst>
              <a:ext uri="{FF2B5EF4-FFF2-40B4-BE49-F238E27FC236}">
                <a16:creationId xmlns:a16="http://schemas.microsoft.com/office/drawing/2014/main" id="{99B1A6F1-7ACD-4417-B665-5826AC77D02B}"/>
              </a:ext>
            </a:extLst>
          </p:cNvPr>
          <p:cNvCxnSpPr>
            <a:cxnSpLocks/>
            <a:stCxn id="20" idx="3"/>
          </p:cNvCxnSpPr>
          <p:nvPr/>
        </p:nvCxnSpPr>
        <p:spPr>
          <a:xfrm>
            <a:off x="4180601" y="4284212"/>
            <a:ext cx="1077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BCD3027-798B-4A44-9358-28BE83259C63}"/>
              </a:ext>
            </a:extLst>
          </p:cNvPr>
          <p:cNvSpPr txBox="1"/>
          <p:nvPr/>
        </p:nvSpPr>
        <p:spPr>
          <a:xfrm>
            <a:off x="5210908" y="4099546"/>
            <a:ext cx="1146468" cy="369332"/>
          </a:xfrm>
          <a:prstGeom prst="rect">
            <a:avLst/>
          </a:prstGeom>
          <a:noFill/>
        </p:spPr>
        <p:txBody>
          <a:bodyPr wrap="none" rtlCol="0">
            <a:spAutoFit/>
          </a:bodyPr>
          <a:lstStyle/>
          <a:p>
            <a:r>
              <a:rPr lang="en-GB" dirty="0">
                <a:solidFill>
                  <a:srgbClr val="FF0000"/>
                </a:solidFill>
              </a:rPr>
              <a:t>Unknown</a:t>
            </a:r>
          </a:p>
        </p:txBody>
      </p:sp>
      <p:sp>
        <p:nvSpPr>
          <p:cNvPr id="27" name="Rectangle: Rounded Corners 26">
            <a:extLst>
              <a:ext uri="{FF2B5EF4-FFF2-40B4-BE49-F238E27FC236}">
                <a16:creationId xmlns:a16="http://schemas.microsoft.com/office/drawing/2014/main" id="{86A1E4E6-0BE8-4E3F-BCBE-7B8FA1737B18}"/>
              </a:ext>
            </a:extLst>
          </p:cNvPr>
          <p:cNvSpPr/>
          <p:nvPr/>
        </p:nvSpPr>
        <p:spPr>
          <a:xfrm>
            <a:off x="7396076" y="3852573"/>
            <a:ext cx="1671724" cy="83819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497E5077-90AB-423A-98CA-1246252F5869}"/>
              </a:ext>
            </a:extLst>
          </p:cNvPr>
          <p:cNvSpPr/>
          <p:nvPr/>
        </p:nvSpPr>
        <p:spPr>
          <a:xfrm>
            <a:off x="6506124" y="1780347"/>
            <a:ext cx="2561676" cy="45789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row: Right 30">
            <a:extLst>
              <a:ext uri="{FF2B5EF4-FFF2-40B4-BE49-F238E27FC236}">
                <a16:creationId xmlns:a16="http://schemas.microsoft.com/office/drawing/2014/main" id="{223C0BCE-17E3-4EAD-B61A-0484B550B5DC}"/>
              </a:ext>
            </a:extLst>
          </p:cNvPr>
          <p:cNvSpPr/>
          <p:nvPr/>
        </p:nvSpPr>
        <p:spPr>
          <a:xfrm rot="16200000">
            <a:off x="7612281" y="5065914"/>
            <a:ext cx="1111536" cy="4278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demo</a:t>
            </a:r>
          </a:p>
        </p:txBody>
      </p:sp>
      <p:cxnSp>
        <p:nvCxnSpPr>
          <p:cNvPr id="33" name="Straight Arrow Connector 32">
            <a:extLst>
              <a:ext uri="{FF2B5EF4-FFF2-40B4-BE49-F238E27FC236}">
                <a16:creationId xmlns:a16="http://schemas.microsoft.com/office/drawing/2014/main" id="{AD1BF13B-EBE2-4055-AD9C-B3E304C608A7}"/>
              </a:ext>
            </a:extLst>
          </p:cNvPr>
          <p:cNvCxnSpPr>
            <a:cxnSpLocks/>
            <a:stCxn id="23" idx="3"/>
          </p:cNvCxnSpPr>
          <p:nvPr/>
        </p:nvCxnSpPr>
        <p:spPr>
          <a:xfrm>
            <a:off x="6357376" y="4284212"/>
            <a:ext cx="10303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6D89C3F-1F75-4493-A332-79F96370D3BA}"/>
              </a:ext>
            </a:extLst>
          </p:cNvPr>
          <p:cNvSpPr txBox="1"/>
          <p:nvPr/>
        </p:nvSpPr>
        <p:spPr>
          <a:xfrm>
            <a:off x="7317859" y="4087007"/>
            <a:ext cx="1826141" cy="369332"/>
          </a:xfrm>
          <a:prstGeom prst="rect">
            <a:avLst/>
          </a:prstGeom>
          <a:noFill/>
        </p:spPr>
        <p:txBody>
          <a:bodyPr wrap="none" rtlCol="0">
            <a:spAutoFit/>
          </a:bodyPr>
          <a:lstStyle/>
          <a:p>
            <a:r>
              <a:rPr lang="en-GB" dirty="0">
                <a:solidFill>
                  <a:srgbClr val="00B050"/>
                </a:solidFill>
              </a:rPr>
              <a:t>Self-explainable</a:t>
            </a:r>
          </a:p>
        </p:txBody>
      </p:sp>
    </p:spTree>
    <p:extLst>
      <p:ext uri="{BB962C8B-B14F-4D97-AF65-F5344CB8AC3E}">
        <p14:creationId xmlns:p14="http://schemas.microsoft.com/office/powerpoint/2010/main" val="150800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75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75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P spid="27" grpId="0" animBg="1"/>
      <p:bldP spid="28" grpId="0" animBg="1"/>
      <p:bldP spid="31" grpId="0" animBg="1"/>
      <p:bldP spid="3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diagram: levels of intelligence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crop33.png"/>
          <p:cNvPicPr>
            <a:picLocks noChangeAspect="1"/>
          </p:cNvPicPr>
          <p:nvPr/>
        </p:nvPicPr>
        <p:blipFill>
          <a:blip r:embed="rId2"/>
          <a:stretch>
            <a:fillRect/>
          </a:stretch>
        </p:blipFill>
        <p:spPr>
          <a:xfrm>
            <a:off x="2847290" y="1234440"/>
            <a:ext cx="4912458" cy="2331720"/>
          </a:xfrm>
          <a:prstGeom prst="rect">
            <a:avLst/>
          </a:prstGeom>
          <a:ln w="9525">
            <a:solidFill>
              <a:srgbClr val="A6B8D6"/>
            </a:solidFill>
          </a:ln>
        </p:spPr>
      </p:pic>
      <p:sp>
        <p:nvSpPr>
          <p:cNvPr id="5" name="Rounded Rectangle 4"/>
          <p:cNvSpPr/>
          <p:nvPr/>
        </p:nvSpPr>
        <p:spPr>
          <a:xfrm>
            <a:off x="1810512" y="3703320"/>
            <a:ext cx="3410711"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Top arrow: level of intelligence</a:t>
            </a:r>
          </a:p>
          <a:p>
            <a:pPr marL="164592" indent="-146304" algn="l">
              <a:spcAft>
                <a:spcPts val="600"/>
              </a:spcAft>
              <a:buFont typeface="Arial"/>
              <a:buChar char="•"/>
            </a:pPr>
            <a:r>
              <a:rPr sz="1200" b="0" i="0">
                <a:solidFill>
                  <a:srgbClr val="262626"/>
                </a:solidFill>
                <a:latin typeface="Arial"/>
              </a:rPr>
              <a:t>Data reflection, e.g. a decision tree</a:t>
            </a:r>
          </a:p>
          <a:p>
            <a:pPr marL="164592" indent="-146304" algn="l">
              <a:spcAft>
                <a:spcPts val="600"/>
              </a:spcAft>
              <a:buFont typeface="Arial"/>
              <a:buChar char="•"/>
            </a:pPr>
            <a:r>
              <a:rPr sz="1200" b="0" i="0">
                <a:solidFill>
                  <a:srgbClr val="262626"/>
                </a:solidFill>
                <a:latin typeface="Arial"/>
              </a:rPr>
              <a:t>Probability, e.g. Markov chains, Bayesian networks</a:t>
            </a:r>
          </a:p>
          <a:p>
            <a:pPr marL="164592" indent="-146304" algn="l">
              <a:spcAft>
                <a:spcPts val="600"/>
              </a:spcAft>
              <a:buFont typeface="Arial"/>
              <a:buChar char="•"/>
            </a:pPr>
            <a:r>
              <a:rPr sz="1200" b="0" i="0">
                <a:solidFill>
                  <a:srgbClr val="262626"/>
                </a:solidFill>
                <a:latin typeface="Arial"/>
              </a:rPr>
              <a:t>Feature learning, e.g. deep neural networks, reinforcement learning</a:t>
            </a:r>
          </a:p>
          <a:p>
            <a:pPr marL="164592" indent="-146304" algn="l">
              <a:spcAft>
                <a:spcPts val="600"/>
              </a:spcAft>
              <a:buFont typeface="Arial"/>
              <a:buChar char="•"/>
            </a:pPr>
            <a:r>
              <a:rPr sz="1200" b="0" i="0">
                <a:solidFill>
                  <a:srgbClr val="262626"/>
                </a:solidFill>
                <a:latin typeface="Arial"/>
              </a:rPr>
              <a:t>Logic and inference (highest)</a:t>
            </a:r>
          </a:p>
        </p:txBody>
      </p:sp>
      <p:sp>
        <p:nvSpPr>
          <p:cNvPr id="6" name="Rounded Rectangle 5"/>
          <p:cNvSpPr/>
          <p:nvPr/>
        </p:nvSpPr>
        <p:spPr>
          <a:xfrm>
            <a:off x="5385815" y="3703320"/>
            <a:ext cx="3410711"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Bottom arrow: explainability</a:t>
            </a:r>
          </a:p>
          <a:p>
            <a:pPr marL="164592" indent="-146304" algn="l">
              <a:spcAft>
                <a:spcPts val="600"/>
              </a:spcAft>
              <a:buFont typeface="Arial"/>
              <a:buChar char="•"/>
            </a:pPr>
            <a:r>
              <a:rPr sz="1200" b="0" i="0">
                <a:solidFill>
                  <a:srgbClr val="262626"/>
                </a:solidFill>
                <a:latin typeface="Arial"/>
              </a:rPr>
              <a:t>Explainable → Controllable → Unknown (“black box”) → Self-explainable</a:t>
            </a:r>
          </a:p>
          <a:p>
            <a:pPr marL="164592" indent="-146304" algn="l">
              <a:spcAft>
                <a:spcPts val="600"/>
              </a:spcAft>
              <a:buFont typeface="Arial"/>
              <a:buChar char="•"/>
            </a:pPr>
            <a:r>
              <a:rPr sz="1200" b="0" i="0">
                <a:solidFill>
                  <a:srgbClr val="262626"/>
                </a:solidFill>
                <a:latin typeface="Arial"/>
              </a:rPr>
              <a:t>Each label sits below the level above it: decision trees are explainable, probabilistic models controllable, deep learning largely unknown.</a:t>
            </a:r>
          </a:p>
          <a:p>
            <a:pPr marL="164592" indent="-146304" algn="l">
              <a:spcAft>
                <a:spcPts val="600"/>
              </a:spcAft>
              <a:buFont typeface="Arial"/>
              <a:buChar char="•"/>
            </a:pPr>
            <a:r>
              <a:rPr sz="1200" b="0" i="0">
                <a:solidFill>
                  <a:srgbClr val="262626"/>
                </a:solidFill>
                <a:latin typeface="Arial"/>
              </a:rPr>
              <a:t>Red frames mark the highest level on each arrow: logic and inference, and self-explainable systems.</a:t>
            </a:r>
          </a:p>
          <a:p>
            <a:pPr marL="164592" indent="-146304" algn="l">
              <a:spcAft>
                <a:spcPts val="600"/>
              </a:spcAft>
              <a:buFont typeface="Arial"/>
              <a:buChar char="•"/>
            </a:pPr>
            <a:r>
              <a:rPr sz="1200" b="0" i="0">
                <a:solidFill>
                  <a:srgbClr val="262626"/>
                </a:solidFill>
                <a:latin typeface="Arial"/>
              </a:rPr>
              <a:t>The “demo” arrow refers to a chatbot demonstration (next slide).</a:t>
            </a:r>
          </a:p>
        </p:txBody>
      </p:sp>
      <p:sp>
        <p:nvSpPr>
          <p:cNvPr id="7" name="TextBox 6"/>
          <p:cNvSpPr txBox="1"/>
          <p:nvPr/>
        </p:nvSpPr>
        <p:spPr>
          <a:xfrm>
            <a:off x="1810512" y="644652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Diagram from the original lecture slide. Note: higher-level intelligence tends to be harder to explain.</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Demo: can AI explain itself?</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2651760"/>
          </a:xfrm>
          <a:prstGeom prst="roundRect">
            <a:avLst>
              <a:gd name="adj" fmla="val 2758"/>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t"/>
          <a:lstStyle/>
          <a:p>
            <a:pPr marL="0" indent="0" algn="l">
              <a:spcAft>
                <a:spcPts val="600"/>
              </a:spcAft>
              <a:buNone/>
            </a:pPr>
            <a:r>
              <a:rPr sz="1600" b="1" i="0">
                <a:solidFill>
                  <a:srgbClr val="FFFFFF"/>
                </a:solidFill>
                <a:latin typeface="Arial"/>
              </a:rPr>
              <a:t>Try it yourself</a:t>
            </a:r>
          </a:p>
          <a:p>
            <a:pPr marL="0" indent="0" algn="l">
              <a:spcAft>
                <a:spcPts val="500"/>
              </a:spcAft>
              <a:buNone/>
            </a:pPr>
            <a:r>
              <a:rPr sz="1300" b="0" i="0">
                <a:solidFill>
                  <a:srgbClr val="FFFFFF"/>
                </a:solidFill>
                <a:latin typeface="Arial"/>
              </a:rPr>
              <a:t>1. Give a chatbot the customer table from the data mining example</a:t>
            </a:r>
          </a:p>
          <a:p>
            <a:pPr marL="0" indent="0" algn="l">
              <a:spcAft>
                <a:spcPts val="500"/>
              </a:spcAft>
              <a:buNone/>
            </a:pPr>
            <a:r>
              <a:rPr sz="1300" b="0" i="0">
                <a:solidFill>
                  <a:srgbClr val="FFFFFF"/>
                </a:solidFill>
                <a:latin typeface="Arial"/>
              </a:rPr>
              <a:t>2. Ask: “Find a simple rule that predicts Buy widget, and explain your reasoning”</a:t>
            </a:r>
          </a:p>
          <a:p>
            <a:pPr marL="0" indent="0" algn="l">
              <a:spcAft>
                <a:spcPts val="400"/>
              </a:spcAft>
              <a:buNone/>
            </a:pPr>
            <a:r>
              <a:rPr sz="1300" b="0" i="0">
                <a:solidFill>
                  <a:srgbClr val="FFFFFF"/>
                </a:solidFill>
                <a:latin typeface="Arial"/>
              </a:rPr>
              <a:t>3. Compare with the decision tree</a:t>
            </a:r>
          </a:p>
        </p:txBody>
      </p:sp>
      <p:sp>
        <p:nvSpPr>
          <p:cNvPr id="5" name="Rounded Rectangle 4"/>
          <p:cNvSpPr/>
          <p:nvPr/>
        </p:nvSpPr>
        <p:spPr>
          <a:xfrm>
            <a:off x="5385816" y="1234440"/>
            <a:ext cx="3410711" cy="566928"/>
          </a:xfrm>
          <a:prstGeom prst="roundRect">
            <a:avLst>
              <a:gd name="adj" fmla="val 1290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l">
              <a:spcAft>
                <a:spcPts val="400"/>
              </a:spcAft>
              <a:buNone/>
            </a:pPr>
            <a:r>
              <a:rPr sz="1200" b="1" i="0">
                <a:solidFill>
                  <a:srgbClr val="38761D"/>
                </a:solidFill>
                <a:latin typeface="Arial"/>
              </a:rPr>
              <a:t>Decision tree: </a:t>
            </a:r>
            <a:r>
              <a:rPr sz="1200" b="0" i="0">
                <a:solidFill>
                  <a:srgbClr val="262626"/>
                </a:solidFill>
                <a:latin typeface="Arial"/>
              </a:rPr>
              <a:t>Explainable: read it as rules</a:t>
            </a:r>
          </a:p>
        </p:txBody>
      </p:sp>
      <p:sp>
        <p:nvSpPr>
          <p:cNvPr id="6" name="Rounded Rectangle 5"/>
          <p:cNvSpPr/>
          <p:nvPr/>
        </p:nvSpPr>
        <p:spPr>
          <a:xfrm>
            <a:off x="5385816" y="1892808"/>
            <a:ext cx="3410711" cy="566928"/>
          </a:xfrm>
          <a:prstGeom prst="roundRect">
            <a:avLst>
              <a:gd name="adj" fmla="val 1290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l">
              <a:spcAft>
                <a:spcPts val="400"/>
              </a:spcAft>
              <a:buNone/>
            </a:pPr>
            <a:r>
              <a:rPr sz="1200" b="1" i="0">
                <a:solidFill>
                  <a:srgbClr val="2F5DA8"/>
                </a:solidFill>
                <a:latin typeface="Arial"/>
              </a:rPr>
              <a:t>Probabilistic models: </a:t>
            </a:r>
            <a:r>
              <a:rPr sz="1200" b="0" i="0">
                <a:solidFill>
                  <a:srgbClr val="262626"/>
                </a:solidFill>
                <a:latin typeface="Arial"/>
              </a:rPr>
              <a:t>Controllable: inspect and adjust</a:t>
            </a:r>
          </a:p>
        </p:txBody>
      </p:sp>
      <p:sp>
        <p:nvSpPr>
          <p:cNvPr id="7" name="Rounded Rectangle 6"/>
          <p:cNvSpPr/>
          <p:nvPr/>
        </p:nvSpPr>
        <p:spPr>
          <a:xfrm>
            <a:off x="5385816" y="2551176"/>
            <a:ext cx="3410711" cy="566928"/>
          </a:xfrm>
          <a:prstGeom prst="roundRect">
            <a:avLst>
              <a:gd name="adj" fmla="val 1290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l">
              <a:spcAft>
                <a:spcPts val="400"/>
              </a:spcAft>
              <a:buNone/>
            </a:pPr>
            <a:r>
              <a:rPr sz="1200" b="1" i="0">
                <a:solidFill>
                  <a:srgbClr val="C00000"/>
                </a:solidFill>
                <a:latin typeface="Arial"/>
              </a:rPr>
              <a:t>Deep learning: </a:t>
            </a:r>
            <a:r>
              <a:rPr sz="1200" b="0" i="0">
                <a:solidFill>
                  <a:srgbClr val="262626"/>
                </a:solidFill>
                <a:latin typeface="Arial"/>
              </a:rPr>
              <a:t>Black box → Explainable AI (XAI)</a:t>
            </a:r>
          </a:p>
        </p:txBody>
      </p:sp>
      <p:sp>
        <p:nvSpPr>
          <p:cNvPr id="8" name="Rounded Rectangle 7"/>
          <p:cNvSpPr/>
          <p:nvPr/>
        </p:nvSpPr>
        <p:spPr>
          <a:xfrm>
            <a:off x="5385816" y="3209544"/>
            <a:ext cx="3410711" cy="566928"/>
          </a:xfrm>
          <a:prstGeom prst="roundRect">
            <a:avLst>
              <a:gd name="adj" fmla="val 1290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ctr"/>
          <a:lstStyle/>
          <a:p>
            <a:pPr marL="0" indent="0" algn="l">
              <a:spcAft>
                <a:spcPts val="400"/>
              </a:spcAft>
              <a:buNone/>
            </a:pPr>
            <a:r>
              <a:rPr sz="1200" b="1" i="0">
                <a:solidFill>
                  <a:srgbClr val="1F3864"/>
                </a:solidFill>
                <a:latin typeface="Arial"/>
              </a:rPr>
              <a:t>The goal: </a:t>
            </a:r>
            <a:r>
              <a:rPr sz="1200" b="0" i="0">
                <a:solidFill>
                  <a:srgbClr val="262626"/>
                </a:solidFill>
                <a:latin typeface="Arial"/>
              </a:rPr>
              <a:t>Self-explainable</a:t>
            </a:r>
          </a:p>
        </p:txBody>
      </p:sp>
      <p:sp>
        <p:nvSpPr>
          <p:cNvPr id="9" name="Rounded Rectangle 8"/>
          <p:cNvSpPr/>
          <p:nvPr/>
        </p:nvSpPr>
        <p:spPr>
          <a:xfrm>
            <a:off x="1810512" y="4114800"/>
            <a:ext cx="6986015" cy="1051560"/>
          </a:xfrm>
          <a:prstGeom prst="roundRect">
            <a:avLst>
              <a:gd name="adj" fmla="val 6956"/>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CAUTION  </a:t>
            </a:r>
            <a:r>
              <a:rPr sz="1400" b="0" i="0">
                <a:solidFill>
                  <a:srgbClr val="262626"/>
                </a:solidFill>
                <a:latin typeface="Arial"/>
              </a:rPr>
              <a:t>A chatbot’s explanation may not reflect how it actually reached its answer. Treat it as a hypothesis, and verify it.</a:t>
            </a:r>
          </a:p>
        </p:txBody>
      </p:sp>
      <p:sp>
        <p:nvSpPr>
          <p:cNvPr id="10" name="Rounded Rectangle 9"/>
          <p:cNvSpPr/>
          <p:nvPr/>
        </p:nvSpPr>
        <p:spPr>
          <a:xfrm>
            <a:off x="1810512" y="5349240"/>
            <a:ext cx="6986015" cy="914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KEY POINT  </a:t>
            </a:r>
            <a:r>
              <a:rPr sz="1400" b="0" i="0">
                <a:solidFill>
                  <a:srgbClr val="FFFFFF"/>
                </a:solidFill>
                <a:latin typeface="Arial"/>
              </a:rPr>
              <a:t>Higher-level intelligence tends to be harder to explain, and explainability matters in real decisions.</a:t>
            </a:r>
          </a:p>
        </p:txBody>
      </p:sp>
      <p:sp>
        <p:nvSpPr>
          <p:cNvPr id="11" name="TextBox 10"/>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Turpin et al. (2023).</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12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Why is a deep neural network often called a “black box”?</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Q12 (Understanding): </a:t>
            </a:r>
            <a:r>
              <a:rPr sz="1400" b="0" i="1">
                <a:solidFill>
                  <a:srgbClr val="595959"/>
                </a:solidFill>
                <a:latin typeface="Arial"/>
              </a:rPr>
              <a:t>Why is a deep neural network often called a “black box”?</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Its knowledge is spread across millions or billions of learned parameters, so it is hard to say why it produced a particular output. It can be very accurate yet hard to explain, which is why Explainable AI (XAI) exists.</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The diagram: levels of intelligence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38761D"/>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APPLICATION</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13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A bank must explain to customers why a loan was refused. Which kind of model from the diagram would you prefer, and why?</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Q13 (Application): </a:t>
            </a:r>
            <a:r>
              <a:rPr sz="1400" b="0" i="1">
                <a:solidFill>
                  <a:srgbClr val="595959"/>
                </a:solidFill>
                <a:latin typeface="Arial"/>
              </a:rPr>
              <a:t>A bank must explain to customers why a loan was refused. Which kind of model from the diagram would you prefer, and why?</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An explainable model such as a decision tree, because its decision can be read as a set of rules and shown to the customer. This may cost some accuracy compared with deep learning: a trade-off you must justify (MLO3).</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The diagram: levels of intelligence; Demo: can AI explain itself?</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813" y="25400"/>
            <a:ext cx="6705457" cy="595996"/>
          </a:xfrm>
        </p:spPr>
        <p:txBody>
          <a:bodyPr/>
          <a:lstStyle/>
          <a:p>
            <a:r>
              <a:rPr lang="en-GB" dirty="0"/>
              <a:t>Module topics (Teaching Weeks)</a:t>
            </a:r>
          </a:p>
        </p:txBody>
      </p:sp>
      <p:graphicFrame>
        <p:nvGraphicFramePr>
          <p:cNvPr id="11" name="Content Placeholder 3">
            <a:extLst>
              <a:ext uri="{FF2B5EF4-FFF2-40B4-BE49-F238E27FC236}">
                <a16:creationId xmlns:a16="http://schemas.microsoft.com/office/drawing/2014/main" id="{8EC94561-73C9-4F8B-A150-10F1B50C698E}"/>
              </a:ext>
            </a:extLst>
          </p:cNvPr>
          <p:cNvGraphicFramePr>
            <a:graphicFrameLocks/>
          </p:cNvGraphicFramePr>
          <p:nvPr>
            <p:extLst>
              <p:ext uri="{D42A27DB-BD31-4B8C-83A1-F6EECF244321}">
                <p14:modId xmlns:p14="http://schemas.microsoft.com/office/powerpoint/2010/main" val="2117972089"/>
              </p:ext>
            </p:extLst>
          </p:nvPr>
        </p:nvGraphicFramePr>
        <p:xfrm>
          <a:off x="1440069" y="685800"/>
          <a:ext cx="6401118" cy="6064287"/>
        </p:xfrm>
        <a:graphic>
          <a:graphicData uri="http://schemas.openxmlformats.org/drawingml/2006/table">
            <a:tbl>
              <a:tblPr firstRow="1" firstCol="1" bandRow="1">
                <a:tableStyleId>{5C22544A-7EE6-4342-B048-85BDC9FD1C3A}</a:tableStyleId>
              </a:tblPr>
              <a:tblGrid>
                <a:gridCol w="1059180">
                  <a:extLst>
                    <a:ext uri="{9D8B030D-6E8A-4147-A177-3AD203B41FA5}">
                      <a16:colId xmlns:a16="http://schemas.microsoft.com/office/drawing/2014/main" val="20000"/>
                    </a:ext>
                  </a:extLst>
                </a:gridCol>
                <a:gridCol w="2430145">
                  <a:extLst>
                    <a:ext uri="{9D8B030D-6E8A-4147-A177-3AD203B41FA5}">
                      <a16:colId xmlns:a16="http://schemas.microsoft.com/office/drawing/2014/main" val="20001"/>
                    </a:ext>
                  </a:extLst>
                </a:gridCol>
                <a:gridCol w="2911793">
                  <a:extLst>
                    <a:ext uri="{9D8B030D-6E8A-4147-A177-3AD203B41FA5}">
                      <a16:colId xmlns:a16="http://schemas.microsoft.com/office/drawing/2014/main" val="20002"/>
                    </a:ext>
                  </a:extLst>
                </a:gridCol>
              </a:tblGrid>
              <a:tr h="440461">
                <a:tc>
                  <a:txBody>
                    <a:bodyPr/>
                    <a:lstStyle/>
                    <a:p>
                      <a:pPr algn="ctr">
                        <a:lnSpc>
                          <a:spcPct val="107000"/>
                        </a:lnSpc>
                        <a:spcAft>
                          <a:spcPts val="0"/>
                        </a:spcAft>
                      </a:pPr>
                      <a:r>
                        <a:rPr lang="en-GB" sz="1100" dirty="0">
                          <a:effectLst/>
                        </a:rPr>
                        <a:t>Weeks</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Theory</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Practical</a:t>
                      </a: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30586">
                <a:tc>
                  <a:txBody>
                    <a:bodyPr/>
                    <a:lstStyle/>
                    <a:p>
                      <a:pPr algn="ctr">
                        <a:lnSpc>
                          <a:spcPct val="107000"/>
                        </a:lnSpc>
                        <a:spcAft>
                          <a:spcPts val="0"/>
                        </a:spcAft>
                      </a:pPr>
                      <a:r>
                        <a:rPr lang="en-GB" sz="1100">
                          <a:effectLst/>
                        </a:rPr>
                        <a:t>1</a:t>
                      </a:r>
                      <a:endParaRPr lang="en-GB" sz="110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AI history, branches, application scenarios and relations to Data Mining and Machine Learning</a:t>
                      </a:r>
                      <a:endParaRPr lang="en-GB" sz="1100" dirty="0">
                        <a:effectLst/>
                        <a:latin typeface="Calibri"/>
                        <a:ea typeface="Calibri"/>
                        <a:cs typeface="Times New Roman"/>
                      </a:endParaRPr>
                    </a:p>
                  </a:txBody>
                  <a:tcPr marL="68580" marR="68580" marT="0" marB="0"/>
                </a:tc>
                <a:tc>
                  <a:txBody>
                    <a:bodyPr/>
                    <a:lstStyle/>
                    <a:p>
                      <a:pPr algn="ctr"/>
                      <a:r>
                        <a:rPr lang="en-GB" sz="1200" dirty="0">
                          <a:effectLst/>
                        </a:rPr>
                        <a:t>Python basics</a:t>
                      </a:r>
                      <a:endParaRPr lang="en-GB" sz="1200" dirty="0"/>
                    </a:p>
                  </a:txBody>
                  <a:tcPr marL="68580" marR="68580" marT="0" marB="0"/>
                </a:tc>
                <a:extLst>
                  <a:ext uri="{0D108BD9-81ED-4DB2-BD59-A6C34878D82A}">
                    <a16:rowId xmlns:a16="http://schemas.microsoft.com/office/drawing/2014/main" val="10001"/>
                  </a:ext>
                </a:extLst>
              </a:tr>
              <a:tr h="121876">
                <a:tc>
                  <a:txBody>
                    <a:bodyPr/>
                    <a:lstStyle/>
                    <a:p>
                      <a:pPr algn="ctr">
                        <a:lnSpc>
                          <a:spcPct val="107000"/>
                        </a:lnSpc>
                        <a:spcAft>
                          <a:spcPts val="0"/>
                        </a:spcAft>
                      </a:pPr>
                      <a:r>
                        <a:rPr lang="en-GB" sz="1100">
                          <a:effectLst/>
                        </a:rPr>
                        <a:t>2</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Data Pre-processing and EDA</a:t>
                      </a: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Data Pre-processing</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03874">
                <a:tc>
                  <a:txBody>
                    <a:bodyPr/>
                    <a:lstStyle/>
                    <a:p>
                      <a:pPr algn="ctr">
                        <a:lnSpc>
                          <a:spcPct val="107000"/>
                        </a:lnSpc>
                        <a:spcAft>
                          <a:spcPts val="0"/>
                        </a:spcAft>
                      </a:pPr>
                      <a:r>
                        <a:rPr lang="en-GB" sz="1100">
                          <a:effectLst/>
                        </a:rPr>
                        <a:t>3</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Mining Frequent Pattern and Association Rules</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kern="1200" dirty="0">
                          <a:solidFill>
                            <a:schemeClr val="dk1"/>
                          </a:solidFill>
                          <a:effectLst/>
                          <a:latin typeface="+mn-lt"/>
                          <a:ea typeface="+mn-ea"/>
                          <a:cs typeface="+mn-cs"/>
                        </a:rPr>
                        <a:t>Python - EDA</a:t>
                      </a: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65883">
                <a:tc>
                  <a:txBody>
                    <a:bodyPr/>
                    <a:lstStyle/>
                    <a:p>
                      <a:pPr algn="ctr">
                        <a:lnSpc>
                          <a:spcPct val="107000"/>
                        </a:lnSpc>
                        <a:spcAft>
                          <a:spcPts val="0"/>
                        </a:spcAft>
                      </a:pPr>
                      <a:r>
                        <a:rPr lang="en-GB" sz="1100" dirty="0">
                          <a:effectLst/>
                        </a:rPr>
                        <a:t>4</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Classification and Decision Tree</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ARL</a:t>
                      </a: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4"/>
                  </a:ext>
                </a:extLst>
              </a:tr>
              <a:tr h="374546">
                <a:tc>
                  <a:txBody>
                    <a:bodyPr/>
                    <a:lstStyle/>
                    <a:p>
                      <a:pPr algn="ctr">
                        <a:lnSpc>
                          <a:spcPct val="107000"/>
                        </a:lnSpc>
                        <a:spcAft>
                          <a:spcPts val="0"/>
                        </a:spcAft>
                      </a:pPr>
                      <a:r>
                        <a:rPr lang="en-GB" sz="1100" dirty="0">
                          <a:effectLst/>
                        </a:rPr>
                        <a:t>5</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Random Forest and KNN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DT</a:t>
                      </a:r>
                      <a:endParaRPr lang="en-GB" sz="1100" dirty="0">
                        <a:effectLst/>
                        <a:latin typeface="Calibri"/>
                        <a:ea typeface="Calibri"/>
                        <a:cs typeface="Times New Roman"/>
                      </a:endParaRP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5"/>
                  </a:ext>
                </a:extLst>
              </a:tr>
              <a:tr h="399553">
                <a:tc>
                  <a:txBody>
                    <a:bodyPr/>
                    <a:lstStyle/>
                    <a:p>
                      <a:pPr algn="ctr">
                        <a:lnSpc>
                          <a:spcPct val="107000"/>
                        </a:lnSpc>
                        <a:spcAft>
                          <a:spcPts val="0"/>
                        </a:spcAft>
                      </a:pPr>
                      <a:r>
                        <a:rPr lang="en-GB" sz="1100" dirty="0">
                          <a:effectLst/>
                          <a:latin typeface="Calibri"/>
                          <a:ea typeface="Calibri"/>
                          <a:cs typeface="Times New Roman"/>
                        </a:rPr>
                        <a:t>7</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Linear Regression &amp; Logistic Regression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KNN</a:t>
                      </a:r>
                    </a:p>
                  </a:txBody>
                  <a:tcPr marL="68580" marR="68580" marT="0" marB="0"/>
                </a:tc>
                <a:extLst>
                  <a:ext uri="{0D108BD9-81ED-4DB2-BD59-A6C34878D82A}">
                    <a16:rowId xmlns:a16="http://schemas.microsoft.com/office/drawing/2014/main" val="1911118174"/>
                  </a:ext>
                </a:extLst>
              </a:tr>
              <a:tr h="399553">
                <a:tc>
                  <a:txBody>
                    <a:bodyPr/>
                    <a:lstStyle/>
                    <a:p>
                      <a:pPr algn="ctr">
                        <a:lnSpc>
                          <a:spcPct val="107000"/>
                        </a:lnSpc>
                        <a:spcAft>
                          <a:spcPts val="0"/>
                        </a:spcAft>
                      </a:pPr>
                      <a:r>
                        <a:rPr lang="en-GB" sz="1100" dirty="0">
                          <a:effectLst/>
                          <a:latin typeface="Calibri"/>
                          <a:ea typeface="Calibri"/>
                          <a:cs typeface="Times New Roman"/>
                        </a:rPr>
                        <a:t>8</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Cluster Analysis with Unsupervised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LR</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65465">
                <a:tc>
                  <a:txBody>
                    <a:bodyPr/>
                    <a:lstStyle/>
                    <a:p>
                      <a:pPr algn="ctr">
                        <a:lnSpc>
                          <a:spcPct val="107000"/>
                        </a:lnSpc>
                        <a:spcAft>
                          <a:spcPts val="0"/>
                        </a:spcAft>
                      </a:pPr>
                      <a:r>
                        <a:rPr lang="en-GB" sz="1100" dirty="0">
                          <a:effectLst/>
                          <a:latin typeface="Calibri"/>
                          <a:ea typeface="Calibri"/>
                          <a:cs typeface="Times New Roman"/>
                        </a:rPr>
                        <a:t>9</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Artificial Neural Network &amp; Deep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K-Means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7"/>
                  </a:ext>
                </a:extLst>
              </a:tr>
              <a:tr h="393848">
                <a:tc>
                  <a:txBody>
                    <a:bodyPr/>
                    <a:lstStyle/>
                    <a:p>
                      <a:pPr algn="ctr">
                        <a:lnSpc>
                          <a:spcPct val="107000"/>
                        </a:lnSpc>
                        <a:spcAft>
                          <a:spcPts val="0"/>
                        </a:spcAft>
                      </a:pPr>
                      <a:r>
                        <a:rPr lang="en-GB" sz="1100" dirty="0">
                          <a:effectLst/>
                          <a:latin typeface="Calibri"/>
                          <a:ea typeface="Calibri"/>
                          <a:cs typeface="Times New Roman"/>
                        </a:rPr>
                        <a:t>10</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Natural Language Processing (NLP)</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ANN and DL</a:t>
                      </a:r>
                      <a:endParaRPr lang="en-GB" sz="1100" dirty="0">
                        <a:effectLst/>
                        <a:latin typeface="Calibri"/>
                        <a:ea typeface="Calibri"/>
                        <a:cs typeface="Times New Roman"/>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12276">
                <a:tc>
                  <a:txBody>
                    <a:bodyPr/>
                    <a:lstStyle/>
                    <a:p>
                      <a:pPr algn="ctr">
                        <a:lnSpc>
                          <a:spcPct val="107000"/>
                        </a:lnSpc>
                        <a:spcAft>
                          <a:spcPts val="0"/>
                        </a:spcAft>
                      </a:pPr>
                      <a:r>
                        <a:rPr lang="en-GB" sz="1100" dirty="0">
                          <a:effectLst/>
                          <a:latin typeface="Calibri"/>
                          <a:ea typeface="Calibri"/>
                          <a:cs typeface="Times New Roman"/>
                        </a:rPr>
                        <a:t>11</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Reinforcement Learning &amp; Naïve Bayes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NLP</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65883">
                <a:tc>
                  <a:txBody>
                    <a:bodyPr/>
                    <a:lstStyle/>
                    <a:p>
                      <a:pPr algn="ctr">
                        <a:lnSpc>
                          <a:spcPct val="107000"/>
                        </a:lnSpc>
                        <a:spcAft>
                          <a:spcPts val="0"/>
                        </a:spcAft>
                      </a:pPr>
                      <a:r>
                        <a:rPr lang="en-GB" sz="1100" dirty="0">
                          <a:effectLst/>
                        </a:rPr>
                        <a:t>12</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Knowledge presentation and reasoning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RL and NB </a:t>
                      </a:r>
                      <a:r>
                        <a:rPr lang="en-GB" sz="1100" dirty="0">
                          <a:effectLst/>
                          <a:latin typeface="Calibri"/>
                          <a:ea typeface="Calibri"/>
                          <a:cs typeface="Times New Roman"/>
                        </a:rPr>
                        <a:t> </a:t>
                      </a:r>
                    </a:p>
                  </a:txBody>
                  <a:tcPr marL="68580" marR="68580" marT="0" marB="0"/>
                </a:tc>
                <a:extLst>
                  <a:ext uri="{0D108BD9-81ED-4DB2-BD59-A6C34878D82A}">
                    <a16:rowId xmlns:a16="http://schemas.microsoft.com/office/drawing/2014/main" val="10011"/>
                  </a:ext>
                </a:extLst>
              </a:tr>
              <a:tr h="264058">
                <a:tc>
                  <a:txBody>
                    <a:bodyPr/>
                    <a:lstStyle/>
                    <a:p>
                      <a:pPr algn="ctr">
                        <a:lnSpc>
                          <a:spcPct val="107000"/>
                        </a:lnSpc>
                        <a:spcAft>
                          <a:spcPts val="0"/>
                        </a:spcAft>
                      </a:pPr>
                      <a:r>
                        <a:rPr lang="en-GB" sz="1100" dirty="0">
                          <a:effectLst/>
                        </a:rPr>
                        <a:t>13</a:t>
                      </a:r>
                      <a:endParaRPr lang="en-GB" sz="1100" dirty="0">
                        <a:effectLst/>
                        <a:latin typeface="Calibri"/>
                        <a:ea typeface="Calibri"/>
                        <a:cs typeface="Times New Roman"/>
                      </a:endParaRP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latin typeface="Calibri"/>
                          <a:ea typeface="Calibri"/>
                          <a:cs typeface="Times New Roman"/>
                        </a:rPr>
                        <a:t>Review</a:t>
                      </a:r>
                    </a:p>
                  </a:txBody>
                  <a:tcPr marL="68580" marR="68580" marT="0" marB="0"/>
                </a:tc>
                <a:tc hMerge="1">
                  <a:txBody>
                    <a:bodyPr/>
                    <a:lstStyle/>
                    <a:p>
                      <a:endParaRPr lang="en-GB"/>
                    </a:p>
                  </a:txBody>
                  <a:tcPr/>
                </a:tc>
                <a:extLst>
                  <a:ext uri="{0D108BD9-81ED-4DB2-BD59-A6C34878D82A}">
                    <a16:rowId xmlns:a16="http://schemas.microsoft.com/office/drawing/2014/main" val="10012"/>
                  </a:ext>
                </a:extLst>
              </a:tr>
              <a:tr h="365883">
                <a:tc>
                  <a:txBody>
                    <a:bodyPr/>
                    <a:lstStyle/>
                    <a:p>
                      <a:pPr algn="ctr">
                        <a:lnSpc>
                          <a:spcPct val="107000"/>
                        </a:lnSpc>
                        <a:spcAft>
                          <a:spcPts val="0"/>
                        </a:spcAft>
                      </a:pPr>
                      <a:r>
                        <a:rPr lang="en-GB" sz="1100" dirty="0">
                          <a:effectLst/>
                          <a:latin typeface="Calibri"/>
                          <a:ea typeface="Calibri"/>
                          <a:cs typeface="Times New Roman"/>
                        </a:rPr>
                        <a:t>14 -15</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dirty="0">
                          <a:effectLst/>
                          <a:latin typeface="Calibri"/>
                          <a:ea typeface="Calibri"/>
                          <a:cs typeface="Times New Roman"/>
                        </a:rPr>
                        <a:t>Assessment period</a:t>
                      </a:r>
                      <a:endParaRPr lang="en-GB" sz="1200" b="0" i="0" kern="1200" dirty="0">
                        <a:solidFill>
                          <a:srgbClr val="FF0000"/>
                        </a:solidFill>
                        <a:effectLst/>
                        <a:latin typeface="+mn-lt"/>
                        <a:ea typeface="+mn-ea"/>
                        <a:cs typeface="+mn-cs"/>
                      </a:endParaRPr>
                    </a:p>
                  </a:txBody>
                  <a:tcPr marL="68580" marR="68580" marT="0" marB="0"/>
                </a:tc>
                <a:tc hMerge="1">
                  <a:txBody>
                    <a:bodyPr/>
                    <a:lstStyle/>
                    <a:p>
                      <a:endParaRPr lang="en-GB"/>
                    </a:p>
                  </a:txBody>
                  <a:tcPr/>
                </a:tc>
                <a:extLst>
                  <a:ext uri="{0D108BD9-81ED-4DB2-BD59-A6C34878D82A}">
                    <a16:rowId xmlns:a16="http://schemas.microsoft.com/office/drawing/2014/main" val="2931443189"/>
                  </a:ext>
                </a:extLst>
              </a:tr>
              <a:tr h="365883">
                <a:tc>
                  <a:txBody>
                    <a:bodyPr/>
                    <a:lstStyle/>
                    <a:p>
                      <a:pPr algn="ctr">
                        <a:lnSpc>
                          <a:spcPct val="107000"/>
                        </a:lnSpc>
                        <a:spcAft>
                          <a:spcPts val="0"/>
                        </a:spcAft>
                      </a:pPr>
                      <a:r>
                        <a:rPr lang="en-GB" sz="1100" dirty="0">
                          <a:effectLst/>
                          <a:latin typeface="Calibri"/>
                          <a:ea typeface="Calibri"/>
                          <a:cs typeface="Times New Roman"/>
                        </a:rPr>
                        <a:t>16-18</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b="0" i="0" kern="1200" dirty="0">
                          <a:solidFill>
                            <a:srgbClr val="FF0000"/>
                          </a:solidFill>
                          <a:effectLst/>
                          <a:latin typeface="+mn-lt"/>
                          <a:ea typeface="+mn-ea"/>
                          <a:cs typeface="+mn-cs"/>
                        </a:rPr>
                        <a:t>Enrichment period: Offsite Activities (Career support, CV support) and assessment feedback </a:t>
                      </a:r>
                    </a:p>
                  </a:txBody>
                  <a:tcPr marL="68580" marR="68580" marT="0" marB="0"/>
                </a:tc>
                <a:tc hMerge="1">
                  <a:txBody>
                    <a:bodyPr/>
                    <a:lstStyle/>
                    <a:p>
                      <a:endParaRPr lang="en-GB"/>
                    </a:p>
                  </a:txBody>
                  <a:tcPr/>
                </a:tc>
                <a:extLst>
                  <a:ext uri="{0D108BD9-81ED-4DB2-BD59-A6C34878D82A}">
                    <a16:rowId xmlns:a16="http://schemas.microsoft.com/office/drawing/2014/main" val="3003053503"/>
                  </a:ext>
                </a:extLst>
              </a:tr>
            </a:tbl>
          </a:graphicData>
        </a:graphic>
      </p:graphicFrame>
      <p:sp>
        <p:nvSpPr>
          <p:cNvPr id="12" name="Arrow: Right 11">
            <a:extLst>
              <a:ext uri="{FF2B5EF4-FFF2-40B4-BE49-F238E27FC236}">
                <a16:creationId xmlns:a16="http://schemas.microsoft.com/office/drawing/2014/main" id="{E03F6BF8-400B-4D32-A8BF-788DDF8A7B89}"/>
              </a:ext>
            </a:extLst>
          </p:cNvPr>
          <p:cNvSpPr/>
          <p:nvPr/>
        </p:nvSpPr>
        <p:spPr>
          <a:xfrm>
            <a:off x="7806124" y="3722004"/>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C83EAA16-0863-47E3-AD22-CF19CCDCEA5B}"/>
              </a:ext>
            </a:extLst>
          </p:cNvPr>
          <p:cNvSpPr txBox="1"/>
          <p:nvPr/>
        </p:nvSpPr>
        <p:spPr>
          <a:xfrm>
            <a:off x="8108188" y="3659704"/>
            <a:ext cx="1018227" cy="276999"/>
          </a:xfrm>
          <a:prstGeom prst="rect">
            <a:avLst/>
          </a:prstGeom>
          <a:noFill/>
        </p:spPr>
        <p:txBody>
          <a:bodyPr wrap="none" rtlCol="0">
            <a:spAutoFit/>
          </a:bodyPr>
          <a:lstStyle/>
          <a:p>
            <a:r>
              <a:rPr lang="en-GB" sz="1200" dirty="0"/>
              <a:t>A1 Deadline</a:t>
            </a:r>
          </a:p>
        </p:txBody>
      </p:sp>
      <p:sp>
        <p:nvSpPr>
          <p:cNvPr id="14" name="Arrow: Right 13">
            <a:extLst>
              <a:ext uri="{FF2B5EF4-FFF2-40B4-BE49-F238E27FC236}">
                <a16:creationId xmlns:a16="http://schemas.microsoft.com/office/drawing/2014/main" id="{050050DA-BBA9-49A0-B54E-543C86592779}"/>
              </a:ext>
            </a:extLst>
          </p:cNvPr>
          <p:cNvSpPr/>
          <p:nvPr/>
        </p:nvSpPr>
        <p:spPr>
          <a:xfrm>
            <a:off x="7841187" y="6145182"/>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3D7F890-4218-4DC5-BB0E-BFF42A3768DD}"/>
              </a:ext>
            </a:extLst>
          </p:cNvPr>
          <p:cNvSpPr txBox="1"/>
          <p:nvPr/>
        </p:nvSpPr>
        <p:spPr>
          <a:xfrm>
            <a:off x="8069784" y="6082883"/>
            <a:ext cx="1018227" cy="276999"/>
          </a:xfrm>
          <a:prstGeom prst="rect">
            <a:avLst/>
          </a:prstGeom>
          <a:noFill/>
        </p:spPr>
        <p:txBody>
          <a:bodyPr wrap="none" rtlCol="0">
            <a:spAutoFit/>
          </a:bodyPr>
          <a:lstStyle/>
          <a:p>
            <a:r>
              <a:rPr lang="en-GB" sz="1200" dirty="0"/>
              <a:t>A2 Deadline</a:t>
            </a:r>
          </a:p>
        </p:txBody>
      </p:sp>
      <p:sp>
        <p:nvSpPr>
          <p:cNvPr id="16" name="TextBox 15">
            <a:extLst>
              <a:ext uri="{FF2B5EF4-FFF2-40B4-BE49-F238E27FC236}">
                <a16:creationId xmlns:a16="http://schemas.microsoft.com/office/drawing/2014/main" id="{AA3B57A6-92CC-4C3E-900A-7F1F34581C4E}"/>
              </a:ext>
            </a:extLst>
          </p:cNvPr>
          <p:cNvSpPr txBox="1"/>
          <p:nvPr/>
        </p:nvSpPr>
        <p:spPr>
          <a:xfrm>
            <a:off x="7042092" y="6082883"/>
            <a:ext cx="787844" cy="276999"/>
          </a:xfrm>
          <a:prstGeom prst="rect">
            <a:avLst/>
          </a:prstGeom>
          <a:noFill/>
        </p:spPr>
        <p:txBody>
          <a:bodyPr wrap="none" rtlCol="0">
            <a:spAutoFit/>
          </a:bodyPr>
          <a:lstStyle/>
          <a:p>
            <a:r>
              <a:rPr lang="en-GB" sz="1200" dirty="0"/>
              <a:t>Week 14</a:t>
            </a:r>
          </a:p>
        </p:txBody>
      </p:sp>
    </p:spTree>
    <p:extLst>
      <p:ext uri="{BB962C8B-B14F-4D97-AF65-F5344CB8AC3E}">
        <p14:creationId xmlns:p14="http://schemas.microsoft.com/office/powerpoint/2010/main" val="3263931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Why the plan appears again</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6986015" cy="1005840"/>
          </a:xfrm>
          <a:prstGeom prst="roundRect">
            <a:avLst>
              <a:gd name="adj" fmla="val 7272"/>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400" b="0" i="0">
                <a:solidFill>
                  <a:srgbClr val="262626"/>
                </a:solidFill>
                <a:latin typeface="Arial"/>
              </a:rPr>
              <a:t>The weekly plan is shown again so that the topics can be linked to the history and branches of AI covered in this lecture.</a:t>
            </a:r>
          </a:p>
        </p:txBody>
      </p:sp>
      <p:graphicFrame>
        <p:nvGraphicFramePr>
          <p:cNvPr id="5" name="Table 4"/>
          <p:cNvGraphicFramePr>
            <a:graphicFrameLocks noGrp="1"/>
          </p:cNvGraphicFramePr>
          <p:nvPr/>
        </p:nvGraphicFramePr>
        <p:xfrm>
          <a:off x="1810512" y="2423160"/>
          <a:ext cx="6986015" cy="3127248"/>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51175">
                  <a:extLst>
                    <a:ext uri="{9D8B030D-6E8A-4147-A177-3AD203B41FA5}">
                      <a16:colId xmlns:a16="http://schemas.microsoft.com/office/drawing/2014/main" val="20002"/>
                    </a:ext>
                  </a:extLst>
                </a:gridCol>
              </a:tblGrid>
              <a:tr h="621792">
                <a:tc>
                  <a:txBody>
                    <a:bodyPr/>
                    <a:lstStyle/>
                    <a:p>
                      <a:pPr marL="0" indent="0" algn="l">
                        <a:spcAft>
                          <a:spcPts val="400"/>
                        </a:spcAft>
                        <a:buNone/>
                      </a:pPr>
                      <a:r>
                        <a:rPr sz="1300" b="1" i="0" dirty="0">
                          <a:solidFill>
                            <a:srgbClr val="FFFFFF"/>
                          </a:solidFill>
                          <a:latin typeface="Arial"/>
                        </a:rPr>
                        <a:t>Weeks</a:t>
                      </a:r>
                    </a:p>
                  </a:txBody>
                  <a:tcPr>
                    <a:solidFill>
                      <a:srgbClr val="1F3864"/>
                    </a:solidFill>
                  </a:tcPr>
                </a:tc>
                <a:tc>
                  <a:txBody>
                    <a:bodyPr/>
                    <a:lstStyle/>
                    <a:p>
                      <a:pPr marL="0" indent="0" algn="l">
                        <a:spcAft>
                          <a:spcPts val="400"/>
                        </a:spcAft>
                        <a:buNone/>
                      </a:pPr>
                      <a:r>
                        <a:rPr sz="1300" b="1" i="0">
                          <a:solidFill>
                            <a:srgbClr val="FFFFFF"/>
                          </a:solidFill>
                          <a:latin typeface="Arial"/>
                        </a:rPr>
                        <a:t>Topics</a:t>
                      </a:r>
                    </a:p>
                  </a:txBody>
                  <a:tcPr>
                    <a:solidFill>
                      <a:srgbClr val="1F3864"/>
                    </a:solidFill>
                  </a:tcPr>
                </a:tc>
                <a:tc>
                  <a:txBody>
                    <a:bodyPr/>
                    <a:lstStyle/>
                    <a:p>
                      <a:pPr marL="0" indent="0" algn="l">
                        <a:spcAft>
                          <a:spcPts val="400"/>
                        </a:spcAft>
                        <a:buNone/>
                      </a:pPr>
                      <a:r>
                        <a:rPr sz="1300" b="1" i="0">
                          <a:solidFill>
                            <a:srgbClr val="FFFFFF"/>
                          </a:solidFill>
                          <a:latin typeface="Arial"/>
                        </a:rPr>
                        <a:t>Link to this lecture</a:t>
                      </a:r>
                    </a:p>
                  </a:txBody>
                  <a:tcPr>
                    <a:solidFill>
                      <a:srgbClr val="1F3864"/>
                    </a:solidFill>
                  </a:tcPr>
                </a:tc>
                <a:extLst>
                  <a:ext uri="{0D108BD9-81ED-4DB2-BD59-A6C34878D82A}">
                    <a16:rowId xmlns:a16="http://schemas.microsoft.com/office/drawing/2014/main" val="10000"/>
                  </a:ext>
                </a:extLst>
              </a:tr>
              <a:tr h="621792">
                <a:tc>
                  <a:txBody>
                    <a:bodyPr/>
                    <a:lstStyle/>
                    <a:p>
                      <a:pPr marL="0" indent="0" algn="l">
                        <a:spcAft>
                          <a:spcPts val="400"/>
                        </a:spcAft>
                        <a:buNone/>
                      </a:pPr>
                      <a:r>
                        <a:rPr sz="1200" b="1" i="0" dirty="0">
                          <a:solidFill>
                            <a:srgbClr val="262626"/>
                          </a:solidFill>
                          <a:latin typeface="Arial"/>
                        </a:rPr>
                        <a:t>Weeks 2</a:t>
                      </a:r>
                      <a:r>
                        <a:rPr lang="en-GB" sz="1200" b="1" i="0" dirty="0">
                          <a:solidFill>
                            <a:srgbClr val="262626"/>
                          </a:solidFill>
                          <a:latin typeface="Arial"/>
                        </a:rPr>
                        <a:t>-</a:t>
                      </a:r>
                      <a:r>
                        <a:rPr sz="1200" b="1" i="0" dirty="0">
                          <a:solidFill>
                            <a:srgbClr val="262626"/>
                          </a:solidFill>
                          <a:latin typeface="Arial"/>
                        </a:rPr>
                        <a:t>8</a:t>
                      </a:r>
                    </a:p>
                  </a:txBody>
                  <a:tcPr anchor="ctr">
                    <a:solidFill>
                      <a:srgbClr val="E8EEF7"/>
                    </a:solidFill>
                  </a:tcPr>
                </a:tc>
                <a:tc>
                  <a:txBody>
                    <a:bodyPr/>
                    <a:lstStyle/>
                    <a:p>
                      <a:pPr marL="0" indent="0" algn="l">
                        <a:spcAft>
                          <a:spcPts val="400"/>
                        </a:spcAft>
                        <a:buNone/>
                      </a:pPr>
                      <a:r>
                        <a:rPr sz="1200" b="0" i="0">
                          <a:solidFill>
                            <a:srgbClr val="262626"/>
                          </a:solidFill>
                          <a:latin typeface="Arial"/>
                        </a:rPr>
                        <a:t>Data mining and machine learning: data preparation, patterns, classification, regression, clustering</a:t>
                      </a:r>
                    </a:p>
                  </a:txBody>
                  <a:tcPr anchor="ctr">
                    <a:solidFill>
                      <a:srgbClr val="E8EEF7"/>
                    </a:solidFill>
                  </a:tcPr>
                </a:tc>
                <a:tc>
                  <a:txBody>
                    <a:bodyPr/>
                    <a:lstStyle/>
                    <a:p>
                      <a:pPr marL="0" indent="0" algn="l">
                        <a:spcAft>
                          <a:spcPts val="400"/>
                        </a:spcAft>
                        <a:buNone/>
                      </a:pPr>
                      <a:r>
                        <a:rPr sz="1200" b="0" i="0">
                          <a:solidFill>
                            <a:srgbClr val="262626"/>
                          </a:solidFill>
                          <a:latin typeface="Arial"/>
                        </a:rPr>
                        <a:t>The 1990s shift to learning from data</a:t>
                      </a:r>
                    </a:p>
                  </a:txBody>
                  <a:tcPr anchor="ctr">
                    <a:solidFill>
                      <a:srgbClr val="E8EEF7"/>
                    </a:solidFill>
                  </a:tcPr>
                </a:tc>
                <a:extLst>
                  <a:ext uri="{0D108BD9-81ED-4DB2-BD59-A6C34878D82A}">
                    <a16:rowId xmlns:a16="http://schemas.microsoft.com/office/drawing/2014/main" val="10001"/>
                  </a:ext>
                </a:extLst>
              </a:tr>
              <a:tr h="621792">
                <a:tc>
                  <a:txBody>
                    <a:bodyPr/>
                    <a:lstStyle/>
                    <a:p>
                      <a:pPr marL="0" indent="0" algn="l">
                        <a:spcAft>
                          <a:spcPts val="400"/>
                        </a:spcAft>
                        <a:buNone/>
                      </a:pPr>
                      <a:r>
                        <a:rPr sz="1200" b="1" i="0" dirty="0">
                          <a:solidFill>
                            <a:srgbClr val="262626"/>
                          </a:solidFill>
                          <a:latin typeface="Arial"/>
                        </a:rPr>
                        <a:t>Weeks 9</a:t>
                      </a:r>
                      <a:r>
                        <a:rPr lang="en-GB" sz="1200" b="1" i="0" dirty="0">
                          <a:solidFill>
                            <a:srgbClr val="262626"/>
                          </a:solidFill>
                          <a:latin typeface="Arial"/>
                        </a:rPr>
                        <a:t>-</a:t>
                      </a:r>
                      <a:r>
                        <a:rPr sz="1200" b="1" i="0" dirty="0">
                          <a:solidFill>
                            <a:srgbClr val="262626"/>
                          </a:solidFill>
                          <a:latin typeface="Arial"/>
                        </a:rPr>
                        <a:t>10</a:t>
                      </a:r>
                    </a:p>
                  </a:txBody>
                  <a:tcPr anchor="ctr">
                    <a:solidFill>
                      <a:srgbClr val="FFFFFF"/>
                    </a:solidFill>
                  </a:tcPr>
                </a:tc>
                <a:tc>
                  <a:txBody>
                    <a:bodyPr/>
                    <a:lstStyle/>
                    <a:p>
                      <a:pPr marL="0" indent="0" algn="l">
                        <a:spcAft>
                          <a:spcPts val="400"/>
                        </a:spcAft>
                        <a:buNone/>
                      </a:pPr>
                      <a:r>
                        <a:rPr sz="1200" b="0" i="0">
                          <a:solidFill>
                            <a:srgbClr val="262626"/>
                          </a:solidFill>
                          <a:latin typeface="Arial"/>
                        </a:rPr>
                        <a:t>Neural networks, deep learning, NLP</a:t>
                      </a:r>
                    </a:p>
                  </a:txBody>
                  <a:tcPr anchor="ctr">
                    <a:solidFill>
                      <a:srgbClr val="FFFFFF"/>
                    </a:solidFill>
                  </a:tcPr>
                </a:tc>
                <a:tc>
                  <a:txBody>
                    <a:bodyPr/>
                    <a:lstStyle/>
                    <a:p>
                      <a:pPr marL="0" indent="0" algn="l">
                        <a:spcAft>
                          <a:spcPts val="400"/>
                        </a:spcAft>
                        <a:buNone/>
                      </a:pPr>
                      <a:r>
                        <a:rPr sz="1200" b="0" i="0">
                          <a:solidFill>
                            <a:srgbClr val="262626"/>
                          </a:solidFill>
                          <a:latin typeface="Arial"/>
                        </a:rPr>
                        <a:t>The engines of today’s AI boom</a:t>
                      </a:r>
                    </a:p>
                  </a:txBody>
                  <a:tcPr anchor="ctr">
                    <a:solidFill>
                      <a:srgbClr val="FFFFFF"/>
                    </a:solidFill>
                  </a:tcPr>
                </a:tc>
                <a:extLst>
                  <a:ext uri="{0D108BD9-81ED-4DB2-BD59-A6C34878D82A}">
                    <a16:rowId xmlns:a16="http://schemas.microsoft.com/office/drawing/2014/main" val="10002"/>
                  </a:ext>
                </a:extLst>
              </a:tr>
              <a:tr h="621792">
                <a:tc>
                  <a:txBody>
                    <a:bodyPr/>
                    <a:lstStyle/>
                    <a:p>
                      <a:pPr marL="0" indent="0" algn="l">
                        <a:spcAft>
                          <a:spcPts val="400"/>
                        </a:spcAft>
                        <a:buNone/>
                      </a:pPr>
                      <a:r>
                        <a:rPr sz="1200" b="1" i="0">
                          <a:solidFill>
                            <a:srgbClr val="262626"/>
                          </a:solidFill>
                          <a:latin typeface="Arial"/>
                        </a:rPr>
                        <a:t>Week 11</a:t>
                      </a:r>
                    </a:p>
                  </a:txBody>
                  <a:tcPr anchor="ctr">
                    <a:solidFill>
                      <a:srgbClr val="E8EEF7"/>
                    </a:solidFill>
                  </a:tcPr>
                </a:tc>
                <a:tc>
                  <a:txBody>
                    <a:bodyPr/>
                    <a:lstStyle/>
                    <a:p>
                      <a:pPr marL="0" indent="0" algn="l">
                        <a:spcAft>
                          <a:spcPts val="400"/>
                        </a:spcAft>
                        <a:buNone/>
                      </a:pPr>
                      <a:r>
                        <a:rPr sz="1200" b="0" i="0">
                          <a:solidFill>
                            <a:srgbClr val="262626"/>
                          </a:solidFill>
                          <a:latin typeface="Arial"/>
                        </a:rPr>
                        <a:t>Reinforcement learning, Naive Bayes</a:t>
                      </a:r>
                    </a:p>
                  </a:txBody>
                  <a:tcPr anchor="ctr">
                    <a:solidFill>
                      <a:srgbClr val="E8EEF7"/>
                    </a:solidFill>
                  </a:tcPr>
                </a:tc>
                <a:tc>
                  <a:txBody>
                    <a:bodyPr/>
                    <a:lstStyle/>
                    <a:p>
                      <a:pPr marL="0" indent="0" algn="l">
                        <a:spcAft>
                          <a:spcPts val="400"/>
                        </a:spcAft>
                        <a:buNone/>
                      </a:pPr>
                      <a:r>
                        <a:rPr sz="1200" b="0" i="0">
                          <a:solidFill>
                            <a:srgbClr val="262626"/>
                          </a:solidFill>
                          <a:latin typeface="Arial"/>
                        </a:rPr>
                        <a:t>AlphaGo; the probabilistic tradition</a:t>
                      </a:r>
                    </a:p>
                  </a:txBody>
                  <a:tcPr anchor="ctr">
                    <a:solidFill>
                      <a:srgbClr val="E8EEF7"/>
                    </a:solidFill>
                  </a:tcPr>
                </a:tc>
                <a:extLst>
                  <a:ext uri="{0D108BD9-81ED-4DB2-BD59-A6C34878D82A}">
                    <a16:rowId xmlns:a16="http://schemas.microsoft.com/office/drawing/2014/main" val="10003"/>
                  </a:ext>
                </a:extLst>
              </a:tr>
              <a:tr h="621792">
                <a:tc>
                  <a:txBody>
                    <a:bodyPr/>
                    <a:lstStyle/>
                    <a:p>
                      <a:pPr marL="0" indent="0" algn="l">
                        <a:spcAft>
                          <a:spcPts val="400"/>
                        </a:spcAft>
                        <a:buNone/>
                      </a:pPr>
                      <a:r>
                        <a:rPr sz="1200" b="1" i="0">
                          <a:solidFill>
                            <a:srgbClr val="262626"/>
                          </a:solidFill>
                          <a:latin typeface="Arial"/>
                        </a:rPr>
                        <a:t>Week 12</a:t>
                      </a:r>
                    </a:p>
                  </a:txBody>
                  <a:tcPr anchor="ctr">
                    <a:solidFill>
                      <a:srgbClr val="FFFFFF"/>
                    </a:solidFill>
                  </a:tcPr>
                </a:tc>
                <a:tc>
                  <a:txBody>
                    <a:bodyPr/>
                    <a:lstStyle/>
                    <a:p>
                      <a:pPr marL="0" indent="0" algn="l">
                        <a:spcAft>
                          <a:spcPts val="400"/>
                        </a:spcAft>
                        <a:buNone/>
                      </a:pPr>
                      <a:r>
                        <a:rPr sz="1200" b="0" i="0">
                          <a:solidFill>
                            <a:srgbClr val="262626"/>
                          </a:solidFill>
                          <a:latin typeface="Arial"/>
                        </a:rPr>
                        <a:t>Knowledge representation and reasoning</a:t>
                      </a:r>
                    </a:p>
                  </a:txBody>
                  <a:tcPr anchor="ctr">
                    <a:solidFill>
                      <a:srgbClr val="FFFFFF"/>
                    </a:solidFill>
                  </a:tcPr>
                </a:tc>
                <a:tc>
                  <a:txBody>
                    <a:bodyPr/>
                    <a:lstStyle/>
                    <a:p>
                      <a:pPr marL="0" indent="0" algn="l">
                        <a:spcAft>
                          <a:spcPts val="400"/>
                        </a:spcAft>
                        <a:buNone/>
                      </a:pPr>
                      <a:r>
                        <a:rPr sz="1200" b="0" i="0" dirty="0">
                          <a:solidFill>
                            <a:srgbClr val="262626"/>
                          </a:solidFill>
                          <a:latin typeface="Arial"/>
                        </a:rPr>
                        <a:t>Logic and expert systems (1956</a:t>
                      </a:r>
                      <a:r>
                        <a:rPr lang="en-GB" sz="1200" b="0" i="0" dirty="0">
                          <a:solidFill>
                            <a:srgbClr val="262626"/>
                          </a:solidFill>
                          <a:latin typeface="Arial"/>
                        </a:rPr>
                        <a:t>-</a:t>
                      </a:r>
                      <a:r>
                        <a:rPr sz="1200" b="0" i="0" dirty="0">
                          <a:solidFill>
                            <a:srgbClr val="262626"/>
                          </a:solidFill>
                          <a:latin typeface="Arial"/>
                        </a:rPr>
                        <a:t>1987)</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1810512" y="5760720"/>
            <a:ext cx="6986015" cy="640080"/>
          </a:xfrm>
          <a:prstGeom prst="roundRect">
            <a:avLst>
              <a:gd name="adj" fmla="val 11428"/>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lang="en-US" sz="1300" b="1" dirty="0">
                <a:solidFill>
                  <a:srgbClr val="38761D"/>
                </a:solidFill>
                <a:latin typeface="Arial"/>
              </a:rPr>
              <a:t>T</a:t>
            </a:r>
            <a:r>
              <a:rPr sz="1300" b="0" i="0" dirty="0">
                <a:solidFill>
                  <a:srgbClr val="262626"/>
                </a:solidFill>
                <a:latin typeface="Arial"/>
              </a:rPr>
              <a:t>he module moves from lower to higher levels of machine intelligence and touches every branch of AI.</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0" y="4191000"/>
            <a:ext cx="2362200" cy="595996"/>
          </a:xfrm>
        </p:spPr>
        <p:txBody>
          <a:bodyPr/>
          <a:lstStyle/>
          <a:p>
            <a:r>
              <a:rPr lang="en-GB" dirty="0"/>
              <a:t>Turing test</a:t>
            </a:r>
          </a:p>
        </p:txBody>
      </p:sp>
      <p:sp>
        <p:nvSpPr>
          <p:cNvPr id="4" name="AutoShape 2" descr="Bot or Not: Can You Tell What is Human or Machine Written Text? -  ICTworksICTwor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741714"/>
            <a:ext cx="3178875"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28752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Section overview: Turing test</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pic>
        <p:nvPicPr>
          <p:cNvPr id="4" name="Picture 3" descr="image.png"/>
          <p:cNvPicPr>
            <a:picLocks noChangeAspect="1"/>
          </p:cNvPicPr>
          <p:nvPr/>
        </p:nvPicPr>
        <p:blipFill>
          <a:blip r:embed="rId2"/>
          <a:stretch>
            <a:fillRect/>
          </a:stretch>
        </p:blipFill>
        <p:spPr>
          <a:xfrm>
            <a:off x="1810512" y="1294004"/>
            <a:ext cx="2743200" cy="1709670"/>
          </a:xfrm>
          <a:prstGeom prst="rect">
            <a:avLst/>
          </a:prstGeom>
          <a:ln w="9525">
            <a:solidFill>
              <a:srgbClr val="A6B8D6"/>
            </a:solidFill>
          </a:ln>
        </p:spPr>
      </p:pic>
      <p:sp>
        <p:nvSpPr>
          <p:cNvPr id="5" name="Rounded Rectangle 4"/>
          <p:cNvSpPr/>
          <p:nvPr/>
        </p:nvSpPr>
        <p:spPr>
          <a:xfrm>
            <a:off x="4736592" y="1280160"/>
            <a:ext cx="4059935" cy="1737360"/>
          </a:xfrm>
          <a:prstGeom prst="roundRect">
            <a:avLst>
              <a:gd name="adj" fmla="val 421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300" b="0" i="0">
                <a:solidFill>
                  <a:srgbClr val="262626"/>
                </a:solidFill>
                <a:latin typeface="Arial"/>
              </a:rPr>
              <a:t>The icon shows a person and a robot exchanging speech bubbles: the Turing test is a text conversation in which a judge tries to tell the human from the machine.</a:t>
            </a:r>
          </a:p>
        </p:txBody>
      </p:sp>
      <p:sp>
        <p:nvSpPr>
          <p:cNvPr id="6" name="Rounded Rectangle 5"/>
          <p:cNvSpPr/>
          <p:nvPr/>
        </p:nvSpPr>
        <p:spPr>
          <a:xfrm>
            <a:off x="1810512" y="3246120"/>
            <a:ext cx="6986015" cy="2194560"/>
          </a:xfrm>
          <a:prstGeom prst="roundRect">
            <a:avLst>
              <a:gd name="adj" fmla="val 3333"/>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400"/>
              </a:spcAft>
              <a:buNone/>
            </a:pPr>
            <a:r>
              <a:rPr sz="1500" b="1" i="0">
                <a:solidFill>
                  <a:srgbClr val="1F3864"/>
                </a:solidFill>
                <a:latin typeface="Arial"/>
              </a:rPr>
              <a:t>This section covers</a:t>
            </a:r>
          </a:p>
          <a:p>
            <a:pPr marL="164592" indent="-146304" algn="l">
              <a:spcAft>
                <a:spcPts val="600"/>
              </a:spcAft>
              <a:buFont typeface="Arial"/>
              <a:buChar char="•"/>
            </a:pPr>
            <a:r>
              <a:rPr sz="1400" b="0" i="0">
                <a:solidFill>
                  <a:srgbClr val="262626"/>
                </a:solidFill>
                <a:latin typeface="Arial"/>
              </a:rPr>
              <a:t>Turing’s 1950 “imitation game” and his prediction</a:t>
            </a:r>
          </a:p>
          <a:p>
            <a:pPr marL="164592" indent="-146304" algn="l">
              <a:spcAft>
                <a:spcPts val="600"/>
              </a:spcAft>
              <a:buFont typeface="Arial"/>
              <a:buChar char="•"/>
            </a:pPr>
            <a:r>
              <a:rPr sz="1400" b="0" i="0">
                <a:solidFill>
                  <a:srgbClr val="262626"/>
                </a:solidFill>
                <a:latin typeface="Arial"/>
              </a:rPr>
              <a:t>How chatbots have performed, from ELIZA (1966) to large language models (2025)</a:t>
            </a:r>
          </a:p>
          <a:p>
            <a:pPr marL="164592" indent="-146304" algn="l">
              <a:spcAft>
                <a:spcPts val="600"/>
              </a:spcAft>
              <a:buFont typeface="Arial"/>
              <a:buChar char="•"/>
            </a:pPr>
            <a:r>
              <a:rPr sz="1400" b="0" i="0">
                <a:solidFill>
                  <a:srgbClr val="262626"/>
                </a:solidFill>
                <a:latin typeface="Arial"/>
              </a:rPr>
              <a:t>Whether passing the test means a machine can think</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Turing test</a:t>
            </a:r>
          </a:p>
        </p:txBody>
      </p:sp>
      <p:sp>
        <p:nvSpPr>
          <p:cNvPr id="3" name="Content Placeholder 2"/>
          <p:cNvSpPr>
            <a:spLocks noGrp="1"/>
          </p:cNvSpPr>
          <p:nvPr>
            <p:ph idx="1"/>
          </p:nvPr>
        </p:nvSpPr>
        <p:spPr/>
        <p:txBody>
          <a:bodyPr/>
          <a:lstStyle/>
          <a:p>
            <a:r>
              <a:rPr lang="en-GB" sz="2000" dirty="0"/>
              <a:t>In Alan Turing's 1950 paper, </a:t>
            </a:r>
            <a:r>
              <a:rPr lang="en-GB" sz="2000" i="1" dirty="0"/>
              <a:t>Computing Machinery and Intelligence</a:t>
            </a:r>
            <a:r>
              <a:rPr lang="en-GB" sz="2000" dirty="0"/>
              <a:t>, the mathematician posed the question: "Can machines think?" But almost immediately he dismissed that question as too "meaningless" to be worthy of discussion, and swapped it for the much-more specific: "Are there imaginable digital computers which would do well in the imitation game?"</a:t>
            </a:r>
          </a:p>
          <a:p>
            <a:r>
              <a:rPr lang="en-GB" sz="2000" dirty="0"/>
              <a:t>Turing's "imitation game" had three players: a man, a woman and an interrogator, who must work out which one is the woman. Turing asked: what if a machine took the man's place? Today's version: a judge decides which hidden player is the human and which is the machine. </a:t>
            </a:r>
          </a:p>
          <a:p>
            <a:r>
              <a:rPr lang="en-GB" sz="2000" dirty="0">
                <a:hlinkClick r:id="rId2"/>
              </a:rPr>
              <a:t>https://chatbotsmagazine.com/how-close-are-chatbots-to-pass-turing-test-33f27b18305e</a:t>
            </a:r>
            <a:r>
              <a:rPr lang="en-GB" sz="2000" dirty="0"/>
              <a:t> </a:t>
            </a:r>
          </a:p>
          <a:p>
            <a:r>
              <a:rPr lang="en-GB" sz="2000" dirty="0"/>
              <a:t>Demo </a:t>
            </a:r>
            <a:r>
              <a:rPr lang="en-GB" sz="2000" dirty="0">
                <a:hlinkClick r:id="rId3"/>
              </a:rPr>
              <a:t>https://openai.com/blog/chatgpt/</a:t>
            </a:r>
            <a:r>
              <a:rPr lang="en-GB" sz="2000" dirty="0"/>
              <a:t> </a:t>
            </a:r>
          </a:p>
          <a:p>
            <a:r>
              <a:rPr lang="en-GB" sz="2000" dirty="0"/>
              <a:t>Demo </a:t>
            </a:r>
            <a:r>
              <a:rPr lang="en-GB" sz="2000" dirty="0">
                <a:hlinkClick r:id="rId4"/>
              </a:rPr>
              <a:t>https://www.pandorabots.com/mitsuku/</a:t>
            </a:r>
            <a:endParaRPr lang="en-GB" sz="2000" dirty="0"/>
          </a:p>
          <a:p>
            <a:endParaRPr lang="en-GB" sz="2000" dirty="0"/>
          </a:p>
        </p:txBody>
      </p:sp>
    </p:spTree>
    <p:extLst>
      <p:ext uri="{BB962C8B-B14F-4D97-AF65-F5344CB8AC3E}">
        <p14:creationId xmlns:p14="http://schemas.microsoft.com/office/powerpoint/2010/main" val="2219047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links on the slide</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TextBox 3"/>
          <p:cNvSpPr txBox="1"/>
          <p:nvPr/>
        </p:nvSpPr>
        <p:spPr>
          <a:xfrm>
            <a:off x="1810512" y="1234440"/>
            <a:ext cx="6986015" cy="365760"/>
          </a:xfrm>
          <a:prstGeom prst="rect">
            <a:avLst/>
          </a:prstGeom>
          <a:noFill/>
        </p:spPr>
        <p:txBody>
          <a:bodyPr wrap="square" lIns="54864" tIns="54864" rIns="54864" bIns="54864" anchor="t"/>
          <a:lstStyle/>
          <a:p>
            <a:pPr marL="0" indent="0" algn="l">
              <a:spcAft>
                <a:spcPts val="400"/>
              </a:spcAft>
              <a:buNone/>
            </a:pPr>
            <a:r>
              <a:rPr sz="1500" b="1" i="0">
                <a:solidFill>
                  <a:srgbClr val="1F3864"/>
                </a:solidFill>
                <a:latin typeface="Arial"/>
              </a:rPr>
              <a:t>The three links on the previous slide</a:t>
            </a:r>
          </a:p>
        </p:txBody>
      </p:sp>
      <p:sp>
        <p:nvSpPr>
          <p:cNvPr id="5" name="Rounded Rectangle 4"/>
          <p:cNvSpPr/>
          <p:nvPr/>
        </p:nvSpPr>
        <p:spPr>
          <a:xfrm>
            <a:off x="1810512" y="1691640"/>
            <a:ext cx="6986015"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200"/>
              </a:spcAft>
              <a:buNone/>
            </a:pPr>
            <a:r>
              <a:rPr sz="1400" b="1" i="0">
                <a:solidFill>
                  <a:srgbClr val="2F5DA8"/>
                </a:solidFill>
                <a:latin typeface="Arial"/>
              </a:rPr>
              <a:t>chatbotsmagazine.com article</a:t>
            </a:r>
          </a:p>
          <a:p>
            <a:pPr marL="0" indent="0" algn="l">
              <a:spcAft>
                <a:spcPts val="400"/>
              </a:spcAft>
              <a:buNone/>
            </a:pPr>
            <a:r>
              <a:rPr sz="1200" b="0" i="0">
                <a:solidFill>
                  <a:srgbClr val="262626"/>
                </a:solidFill>
                <a:latin typeface="Arial"/>
              </a:rPr>
              <a:t>“How close are chatbots to pass the Turing test?”: background reading on chatbot performance in Turing-style tests.</a:t>
            </a:r>
          </a:p>
        </p:txBody>
      </p:sp>
      <p:sp>
        <p:nvSpPr>
          <p:cNvPr id="6" name="Rounded Rectangle 5"/>
          <p:cNvSpPr/>
          <p:nvPr/>
        </p:nvSpPr>
        <p:spPr>
          <a:xfrm>
            <a:off x="1810512" y="2770632"/>
            <a:ext cx="6986015"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200"/>
              </a:spcAft>
              <a:buNone/>
            </a:pPr>
            <a:r>
              <a:rPr sz="1400" b="1" i="0">
                <a:solidFill>
                  <a:srgbClr val="2F5DA8"/>
                </a:solidFill>
                <a:latin typeface="Arial"/>
              </a:rPr>
              <a:t>openai.com/blog/chatgpt</a:t>
            </a:r>
          </a:p>
          <a:p>
            <a:pPr marL="0" indent="0" algn="l">
              <a:spcAft>
                <a:spcPts val="400"/>
              </a:spcAft>
              <a:buNone/>
            </a:pPr>
            <a:r>
              <a:rPr sz="1200" b="0" i="0">
                <a:solidFill>
                  <a:srgbClr val="262626"/>
                </a:solidFill>
                <a:latin typeface="Arial"/>
              </a:rPr>
              <a:t>OpenAI’s announcement of ChatGPT (November 2022), a large-language-model chatbot used here as a live demonstration.</a:t>
            </a:r>
          </a:p>
        </p:txBody>
      </p:sp>
      <p:sp>
        <p:nvSpPr>
          <p:cNvPr id="7" name="Rounded Rectangle 6"/>
          <p:cNvSpPr/>
          <p:nvPr/>
        </p:nvSpPr>
        <p:spPr>
          <a:xfrm>
            <a:off x="1810512" y="3849624"/>
            <a:ext cx="6986015" cy="960120"/>
          </a:xfrm>
          <a:prstGeom prst="roundRect">
            <a:avLst>
              <a:gd name="adj" fmla="val 7619"/>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200"/>
              </a:spcAft>
              <a:buNone/>
            </a:pPr>
            <a:r>
              <a:rPr sz="1400" b="1" i="0">
                <a:solidFill>
                  <a:srgbClr val="2F5DA8"/>
                </a:solidFill>
                <a:latin typeface="Arial"/>
              </a:rPr>
              <a:t>pandorabots.com/mitsuku</a:t>
            </a:r>
          </a:p>
          <a:p>
            <a:pPr marL="0" indent="0" algn="l">
              <a:spcAft>
                <a:spcPts val="400"/>
              </a:spcAft>
              <a:buNone/>
            </a:pPr>
            <a:r>
              <a:rPr sz="1200" b="0" i="0">
                <a:solidFill>
                  <a:srgbClr val="262626"/>
                </a:solidFill>
                <a:latin typeface="Arial"/>
              </a:rPr>
              <a:t>Mitsuku, a rule-based chatbot that won the Loebner Prize five times; it has since been renamed Kuki.</a:t>
            </a:r>
          </a:p>
        </p:txBody>
      </p:sp>
      <p:sp>
        <p:nvSpPr>
          <p:cNvPr id="8" name="Rounded Rectangle 7"/>
          <p:cNvSpPr/>
          <p:nvPr/>
        </p:nvSpPr>
        <p:spPr>
          <a:xfrm>
            <a:off x="1810512" y="5020055"/>
            <a:ext cx="6986015" cy="1188720"/>
          </a:xfrm>
          <a:prstGeom prst="roundRect">
            <a:avLst>
              <a:gd name="adj" fmla="val 6153"/>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FFFFFF"/>
                </a:solidFill>
                <a:latin typeface="Arial"/>
              </a:rPr>
              <a:t>WHY TWO CHATBOTS?  </a:t>
            </a:r>
            <a:r>
              <a:rPr sz="1300" b="0" i="0">
                <a:solidFill>
                  <a:srgbClr val="FFFFFF"/>
                </a:solidFill>
                <a:latin typeface="Arial"/>
              </a:rPr>
              <a:t>Comparing a rule-based chatbot (Mitsuku/Kuki) with a large language model (ChatGPT) shows how much conversational ability has changed, and why the Turing test is debated again.</a:t>
            </a:r>
          </a:p>
        </p:txBody>
      </p:sp>
      <p:sp>
        <p:nvSpPr>
          <p:cNvPr id="9" name="TextBox 8"/>
          <p:cNvSpPr txBox="1"/>
          <p:nvPr/>
        </p:nvSpPr>
        <p:spPr>
          <a:xfrm>
            <a:off x="1810512" y="6355080"/>
            <a:ext cx="6986015" cy="41148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Web links may change over time; if a demo page is unavailable, any current chatbot can be used for the same comparison.</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The Turing test: then and now</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600" b="1" i="0">
                <a:solidFill>
                  <a:srgbClr val="1F3864"/>
                </a:solidFill>
                <a:latin typeface="Arial"/>
              </a:rPr>
              <a:t>Then: Turing, 1950</a:t>
            </a:r>
          </a:p>
          <a:p>
            <a:pPr marL="164592" indent="-146304" algn="l">
              <a:spcAft>
                <a:spcPts val="600"/>
              </a:spcAft>
              <a:buFont typeface="Arial"/>
              <a:buChar char="•"/>
            </a:pPr>
            <a:r>
              <a:rPr sz="1400" b="0" i="0">
                <a:solidFill>
                  <a:srgbClr val="262626"/>
                </a:solidFill>
                <a:latin typeface="Arial"/>
              </a:rPr>
              <a:t>Original game: an interrogator must tell the man from the woman; then a machine takes the man’s place</a:t>
            </a:r>
          </a:p>
          <a:p>
            <a:pPr marL="164592" indent="-146304" algn="l">
              <a:spcAft>
                <a:spcPts val="400"/>
              </a:spcAft>
              <a:buFont typeface="Arial"/>
              <a:buChar char="•"/>
            </a:pPr>
            <a:r>
              <a:rPr sz="1400" b="0" i="0">
                <a:solidFill>
                  <a:srgbClr val="262626"/>
                </a:solidFill>
                <a:latin typeface="Arial"/>
              </a:rPr>
              <a:t>Prediction: by ~2000, an average interrogator would be right no more than 70% of the time after 5 minutes</a:t>
            </a:r>
          </a:p>
        </p:txBody>
      </p:sp>
      <p:sp>
        <p:nvSpPr>
          <p:cNvPr id="5" name="Rounded Rectangle 4"/>
          <p:cNvSpPr/>
          <p:nvPr/>
        </p:nvSpPr>
        <p:spPr>
          <a:xfrm>
            <a:off x="5385816" y="1234440"/>
            <a:ext cx="3410711" cy="2697480"/>
          </a:xfrm>
          <a:prstGeom prst="roundRect">
            <a:avLst>
              <a:gd name="adj" fmla="val 2711"/>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t"/>
          <a:lstStyle/>
          <a:p>
            <a:pPr marL="0" indent="0" algn="l">
              <a:spcAft>
                <a:spcPts val="600"/>
              </a:spcAft>
              <a:buNone/>
            </a:pPr>
            <a:r>
              <a:rPr sz="1600" b="1" i="0" dirty="0">
                <a:solidFill>
                  <a:srgbClr val="1F3864"/>
                </a:solidFill>
                <a:latin typeface="Arial"/>
              </a:rPr>
              <a:t>Now</a:t>
            </a:r>
          </a:p>
          <a:p>
            <a:pPr marL="164592" indent="-146304" algn="l">
              <a:spcAft>
                <a:spcPts val="400"/>
              </a:spcAft>
              <a:buFont typeface="Arial"/>
              <a:buChar char="•"/>
            </a:pPr>
            <a:r>
              <a:rPr sz="1400" b="1" i="0" dirty="0">
                <a:solidFill>
                  <a:srgbClr val="262626"/>
                </a:solidFill>
                <a:latin typeface="Arial"/>
              </a:rPr>
              <a:t>1966: </a:t>
            </a:r>
            <a:r>
              <a:rPr sz="1400" b="0" i="0" dirty="0">
                <a:solidFill>
                  <a:srgbClr val="262626"/>
                </a:solidFill>
                <a:latin typeface="Arial"/>
              </a:rPr>
              <a:t>ELIZA</a:t>
            </a:r>
          </a:p>
          <a:p>
            <a:pPr marL="164592" indent="-146304" algn="l">
              <a:spcAft>
                <a:spcPts val="400"/>
              </a:spcAft>
              <a:buFont typeface="Arial"/>
              <a:buChar char="•"/>
            </a:pPr>
            <a:r>
              <a:rPr sz="1400" b="1" i="0" dirty="0">
                <a:solidFill>
                  <a:srgbClr val="262626"/>
                </a:solidFill>
                <a:latin typeface="Arial"/>
              </a:rPr>
              <a:t>1991</a:t>
            </a:r>
            <a:r>
              <a:rPr lang="en-GB" sz="1400" b="1" i="0" dirty="0">
                <a:solidFill>
                  <a:srgbClr val="262626"/>
                </a:solidFill>
                <a:latin typeface="Arial"/>
              </a:rPr>
              <a:t>-</a:t>
            </a:r>
            <a:r>
              <a:rPr sz="1400" b="1" i="0" dirty="0">
                <a:solidFill>
                  <a:srgbClr val="262626"/>
                </a:solidFill>
                <a:latin typeface="Arial"/>
              </a:rPr>
              <a:t>2019: </a:t>
            </a:r>
            <a:r>
              <a:rPr sz="1400" b="0" i="0" dirty="0" err="1">
                <a:solidFill>
                  <a:srgbClr val="262626"/>
                </a:solidFill>
                <a:latin typeface="Arial"/>
              </a:rPr>
              <a:t>Loebner</a:t>
            </a:r>
            <a:r>
              <a:rPr sz="1400" b="0" i="0" dirty="0">
                <a:solidFill>
                  <a:srgbClr val="262626"/>
                </a:solidFill>
                <a:latin typeface="Arial"/>
              </a:rPr>
              <a:t> Prize; </a:t>
            </a:r>
            <a:r>
              <a:rPr sz="1400" b="0" i="0" dirty="0" err="1">
                <a:solidFill>
                  <a:srgbClr val="262626"/>
                </a:solidFill>
                <a:latin typeface="Arial"/>
              </a:rPr>
              <a:t>Mitsuku</a:t>
            </a:r>
            <a:r>
              <a:rPr sz="1400" b="0" i="0" dirty="0">
                <a:solidFill>
                  <a:srgbClr val="262626"/>
                </a:solidFill>
                <a:latin typeface="Arial"/>
              </a:rPr>
              <a:t> (Kuki) won 5 times, no convincing pass</a:t>
            </a:r>
          </a:p>
          <a:p>
            <a:pPr marL="164592" indent="-146304" algn="l">
              <a:spcAft>
                <a:spcPts val="400"/>
              </a:spcAft>
              <a:buFont typeface="Arial"/>
              <a:buChar char="•"/>
            </a:pPr>
            <a:r>
              <a:rPr sz="1400" b="1" i="0" dirty="0">
                <a:solidFill>
                  <a:srgbClr val="262626"/>
                </a:solidFill>
                <a:latin typeface="Arial"/>
              </a:rPr>
              <a:t>2025: </a:t>
            </a:r>
            <a:r>
              <a:rPr sz="1400" b="0" i="0" dirty="0">
                <a:solidFill>
                  <a:srgbClr val="262626"/>
                </a:solidFill>
                <a:latin typeface="Arial"/>
              </a:rPr>
              <a:t>Jones &amp; Bergen (UC San Diego): GPT-4.5 judged human </a:t>
            </a:r>
            <a:r>
              <a:rPr sz="1400" b="1" i="0" dirty="0">
                <a:solidFill>
                  <a:srgbClr val="C00000"/>
                </a:solidFill>
                <a:latin typeface="Arial"/>
              </a:rPr>
              <a:t>73%</a:t>
            </a:r>
            <a:r>
              <a:rPr sz="1400" b="0" i="0" dirty="0">
                <a:solidFill>
                  <a:srgbClr val="262626"/>
                </a:solidFill>
                <a:latin typeface="Arial"/>
              </a:rPr>
              <a:t> of the time; ELIZA 23%</a:t>
            </a:r>
          </a:p>
        </p:txBody>
      </p:sp>
      <p:sp>
        <p:nvSpPr>
          <p:cNvPr id="6" name="Rounded Rectangle 5"/>
          <p:cNvSpPr/>
          <p:nvPr/>
        </p:nvSpPr>
        <p:spPr>
          <a:xfrm>
            <a:off x="1810512" y="4114800"/>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TRY IT  </a:t>
            </a:r>
            <a:r>
              <a:rPr sz="1300" b="0" i="0">
                <a:solidFill>
                  <a:srgbClr val="262626"/>
                </a:solidFill>
                <a:latin typeface="Arial"/>
              </a:rPr>
              <a:t>Ask a chatbot a question that might expose a machine (a personal memory, a joke, a trick question) and judge its answer.</a:t>
            </a:r>
          </a:p>
        </p:txBody>
      </p:sp>
      <p:sp>
        <p:nvSpPr>
          <p:cNvPr id="7" name="Rounded Rectangle 6"/>
          <p:cNvSpPr/>
          <p:nvPr/>
        </p:nvSpPr>
        <p:spPr>
          <a:xfrm>
            <a:off x="1810512" y="5166359"/>
            <a:ext cx="6986015" cy="868680"/>
          </a:xfrm>
          <a:prstGeom prst="roundRect">
            <a:avLst>
              <a:gd name="adj" fmla="val 8421"/>
            </a:avLst>
          </a:prstGeom>
          <a:solidFill>
            <a:srgbClr val="FCE9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C55A11"/>
                </a:solidFill>
                <a:latin typeface="Arial"/>
              </a:rPr>
              <a:t>BUT  </a:t>
            </a:r>
            <a:r>
              <a:rPr sz="1400" b="0" i="0">
                <a:solidFill>
                  <a:srgbClr val="262626"/>
                </a:solidFill>
                <a:latin typeface="Arial"/>
              </a:rPr>
              <a:t>Does passing mean thinking? Searle’s “Chinese Room” (1980): symbol manipulation ≠ understanding.</a:t>
            </a:r>
          </a:p>
        </p:txBody>
      </p:sp>
      <p:sp>
        <p:nvSpPr>
          <p:cNvPr id="8" name="TextBox 7"/>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Turing (1950); Weizenbaum (1966); Searle (1980); Jones and Bergen (2025).</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RECALL</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14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What did Turing replace the question “Can machines think?” with, and what did he predict?</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Q14 (Recall): </a:t>
            </a:r>
            <a:r>
              <a:rPr sz="1400" b="0" i="1">
                <a:solidFill>
                  <a:srgbClr val="595959"/>
                </a:solidFill>
                <a:latin typeface="Arial"/>
              </a:rPr>
              <a:t>What did Turing replace the question “Can machines think?” with, and what did he predict?</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The imitation game: can a machine converse so well that an interrogator cannot tell it from a human? He predicted that within about 50 years an average interrogator would be right no more than 70% of the time after five minutes.</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The Turing test: then and now</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QUESTION</a:t>
            </a:r>
          </a:p>
        </p:txBody>
      </p:sp>
      <p:sp>
        <p:nvSpPr>
          <p:cNvPr id="4" name="Rounded Rectangle 3"/>
          <p:cNvSpPr/>
          <p:nvPr/>
        </p:nvSpPr>
        <p:spPr>
          <a:xfrm>
            <a:off x="1810512" y="1280160"/>
            <a:ext cx="2194560" cy="411480"/>
          </a:xfrm>
          <a:prstGeom prst="roundRect">
            <a:avLst>
              <a:gd name="adj" fmla="val 1777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300" b="1" i="0">
                <a:solidFill>
                  <a:srgbClr val="FFFFFF"/>
                </a:solidFill>
                <a:latin typeface="Arial"/>
              </a:rPr>
              <a:t>UNDERSTANDING</a:t>
            </a:r>
          </a:p>
        </p:txBody>
      </p:sp>
      <p:sp>
        <p:nvSpPr>
          <p:cNvPr id="5" name="TextBox 4"/>
          <p:cNvSpPr txBox="1"/>
          <p:nvPr/>
        </p:nvSpPr>
        <p:spPr>
          <a:xfrm>
            <a:off x="4187952" y="1280160"/>
            <a:ext cx="4608575" cy="411480"/>
          </a:xfrm>
          <a:prstGeom prst="rect">
            <a:avLst/>
          </a:prstGeom>
          <a:noFill/>
        </p:spPr>
        <p:txBody>
          <a:bodyPr wrap="square" lIns="54864" tIns="54864" rIns="54864" bIns="54864" anchor="ctr"/>
          <a:lstStyle/>
          <a:p>
            <a:pPr marL="0" indent="0" algn="r">
              <a:spcAft>
                <a:spcPts val="400"/>
              </a:spcAft>
              <a:buNone/>
            </a:pPr>
            <a:r>
              <a:rPr sz="1200" b="0" i="0">
                <a:solidFill>
                  <a:srgbClr val="595959"/>
                </a:solidFill>
                <a:latin typeface="Arial"/>
              </a:rPr>
              <a:t>Question 15 of 15</a:t>
            </a:r>
          </a:p>
        </p:txBody>
      </p:sp>
      <p:sp>
        <p:nvSpPr>
          <p:cNvPr id="6" name="Rounded Rectangle 5"/>
          <p:cNvSpPr/>
          <p:nvPr/>
        </p:nvSpPr>
        <p:spPr>
          <a:xfrm>
            <a:off x="1810512" y="1920240"/>
            <a:ext cx="6986015" cy="2743200"/>
          </a:xfrm>
          <a:prstGeom prst="roundRect">
            <a:avLst>
              <a:gd name="adj" fmla="val 2666"/>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92024" rIns="274320" bIns="192024" rtlCol="0" anchor="ctr"/>
          <a:lstStyle/>
          <a:p>
            <a:pPr marL="0" indent="0" algn="ctr">
              <a:spcAft>
                <a:spcPts val="400"/>
              </a:spcAft>
              <a:buNone/>
            </a:pPr>
            <a:r>
              <a:rPr sz="2400" b="1" i="0">
                <a:solidFill>
                  <a:srgbClr val="1F3864"/>
                </a:solidFill>
                <a:latin typeface="Arial"/>
              </a:rPr>
              <a:t>Does passing the Turing test prove that a machine understands? Use Searle’s argument.</a:t>
            </a:r>
          </a:p>
        </p:txBody>
      </p:sp>
      <p:sp>
        <p:nvSpPr>
          <p:cNvPr id="7" name="Rounded Rectangle 6"/>
          <p:cNvSpPr/>
          <p:nvPr/>
        </p:nvSpPr>
        <p:spPr>
          <a:xfrm>
            <a:off x="1810512" y="4937759"/>
            <a:ext cx="6986015" cy="914400"/>
          </a:xfrm>
          <a:prstGeom prst="roundRect">
            <a:avLst>
              <a:gd name="adj" fmla="val 8000"/>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38761D"/>
                </a:solidFill>
                <a:latin typeface="Arial"/>
              </a:rPr>
              <a:t>BEFORE YOU MOVE ON  </a:t>
            </a:r>
            <a:r>
              <a:rPr sz="1400" b="0" i="0">
                <a:solidFill>
                  <a:srgbClr val="262626"/>
                </a:solidFill>
                <a:latin typeface="Arial"/>
              </a:rPr>
              <a:t>Write or say your answer first. The model answer is on the next slide.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Check your understanding: answer</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ANSWER</a:t>
            </a:r>
          </a:p>
        </p:txBody>
      </p:sp>
      <p:sp>
        <p:nvSpPr>
          <p:cNvPr id="4" name="TextBox 3"/>
          <p:cNvSpPr txBox="1"/>
          <p:nvPr/>
        </p:nvSpPr>
        <p:spPr>
          <a:xfrm>
            <a:off x="1810512" y="1234440"/>
            <a:ext cx="6986015" cy="822960"/>
          </a:xfrm>
          <a:prstGeom prst="rect">
            <a:avLst/>
          </a:prstGeom>
          <a:noFill/>
        </p:spPr>
        <p:txBody>
          <a:bodyPr wrap="square" lIns="54864" tIns="54864" rIns="54864" bIns="54864" anchor="t"/>
          <a:lstStyle/>
          <a:p>
            <a:pPr marL="0" indent="0" algn="l">
              <a:spcAft>
                <a:spcPts val="400"/>
              </a:spcAft>
              <a:buNone/>
            </a:pPr>
            <a:r>
              <a:rPr sz="1400" b="1" i="0">
                <a:solidFill>
                  <a:srgbClr val="595959"/>
                </a:solidFill>
                <a:latin typeface="Arial"/>
              </a:rPr>
              <a:t>Q15 (Understanding): </a:t>
            </a:r>
            <a:r>
              <a:rPr sz="1400" b="0" i="1">
                <a:solidFill>
                  <a:srgbClr val="595959"/>
                </a:solidFill>
                <a:latin typeface="Arial"/>
              </a:rPr>
              <a:t>Does passing the Turing test prove that a machine understands? Use Searle’s argument.</a:t>
            </a:r>
          </a:p>
        </p:txBody>
      </p:sp>
      <p:sp>
        <p:nvSpPr>
          <p:cNvPr id="5" name="Rounded Rectangle 4"/>
          <p:cNvSpPr/>
          <p:nvPr/>
        </p:nvSpPr>
        <p:spPr>
          <a:xfrm>
            <a:off x="1810512" y="2148840"/>
            <a:ext cx="6986015" cy="2834640"/>
          </a:xfrm>
          <a:prstGeom prst="roundRect">
            <a:avLst>
              <a:gd name="adj" fmla="val 258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60020" rIns="228600" bIns="160020" rtlCol="0" anchor="ctr"/>
          <a:lstStyle/>
          <a:p>
            <a:pPr marL="0" indent="0" algn="l">
              <a:spcAft>
                <a:spcPts val="800"/>
              </a:spcAft>
              <a:buNone/>
            </a:pPr>
            <a:r>
              <a:rPr sz="1600" b="1" i="0">
                <a:solidFill>
                  <a:srgbClr val="FFFFFF"/>
                </a:solidFill>
                <a:latin typeface="Arial"/>
              </a:rPr>
              <a:t>Model answer</a:t>
            </a:r>
          </a:p>
          <a:p>
            <a:pPr marL="0" indent="0" algn="l">
              <a:spcAft>
                <a:spcPts val="400"/>
              </a:spcAft>
              <a:buNone/>
            </a:pPr>
            <a:r>
              <a:rPr sz="1700" b="0" i="0">
                <a:solidFill>
                  <a:srgbClr val="FFFFFF"/>
                </a:solidFill>
                <a:latin typeface="Arial"/>
              </a:rPr>
              <a:t>Not necessarily. Searle’s Chinese Room (1980) argues that a system can manipulate symbols perfectly without understanding them: imitating intelligent behaviour is not the same as having a mind. This is the strong vs weak AI debate.</a:t>
            </a:r>
          </a:p>
        </p:txBody>
      </p:sp>
      <p:sp>
        <p:nvSpPr>
          <p:cNvPr id="6" name="Rounded Rectangle 5"/>
          <p:cNvSpPr/>
          <p:nvPr/>
        </p:nvSpPr>
        <p:spPr>
          <a:xfrm>
            <a:off x="1810512" y="5212080"/>
            <a:ext cx="6986015" cy="777240"/>
          </a:xfrm>
          <a:prstGeom prst="roundRect">
            <a:avLst>
              <a:gd name="adj" fmla="val 9411"/>
            </a:avLst>
          </a:prstGeom>
          <a:solidFill>
            <a:srgbClr val="E6F1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300" b="1" i="0">
                <a:solidFill>
                  <a:srgbClr val="38761D"/>
                </a:solidFill>
                <a:latin typeface="Arial"/>
              </a:rPr>
              <a:t>SEE  </a:t>
            </a:r>
            <a:r>
              <a:rPr sz="1300" b="0" i="0">
                <a:solidFill>
                  <a:srgbClr val="262626"/>
                </a:solidFill>
                <a:latin typeface="Arial"/>
              </a:rPr>
              <a:t>Slides: The Turing test: then and now; Strong vs weak AI</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a:xfrm>
            <a:off x="1828800" y="1219200"/>
            <a:ext cx="7105508" cy="4761979"/>
          </a:xfrm>
        </p:spPr>
        <p:txBody>
          <a:bodyPr/>
          <a:lstStyle/>
          <a:p>
            <a:r>
              <a:rPr lang="en-GB" dirty="0"/>
              <a:t>In this lecture, you will take away the following:</a:t>
            </a:r>
          </a:p>
          <a:p>
            <a:pPr marL="1143000" lvl="1" indent="-457200">
              <a:buAutoNum type="arabicPeriod"/>
            </a:pPr>
            <a:r>
              <a:rPr lang="en-GB" sz="2000" dirty="0"/>
              <a:t>Very basic concepts of Data Mining and AI.</a:t>
            </a:r>
          </a:p>
          <a:p>
            <a:pPr marL="1143000" lvl="1" indent="-457200">
              <a:buAutoNum type="arabicPeriod"/>
            </a:pPr>
            <a:r>
              <a:rPr lang="en-GB" sz="2000" dirty="0"/>
              <a:t>The birth of AI and its development history</a:t>
            </a:r>
          </a:p>
          <a:p>
            <a:pPr marL="1143000" lvl="1" indent="-457200">
              <a:buAutoNum type="arabicPeriod"/>
            </a:pPr>
            <a:r>
              <a:rPr lang="en-GB" sz="2000" dirty="0"/>
              <a:t>Different areas of AI </a:t>
            </a:r>
          </a:p>
          <a:p>
            <a:pPr marL="1143000" lvl="1" indent="-457200">
              <a:buAutoNum type="arabicPeriod"/>
            </a:pPr>
            <a:r>
              <a:rPr lang="en-GB" sz="2000" dirty="0"/>
              <a:t>The contents and assessment of the module</a:t>
            </a:r>
          </a:p>
          <a:p>
            <a:endParaRPr lang="en-GB" sz="2000" dirty="0"/>
          </a:p>
          <a:p>
            <a:r>
              <a:rPr lang="en-GB" sz="2000" b="1" dirty="0"/>
              <a:t>Next week </a:t>
            </a:r>
          </a:p>
          <a:p>
            <a:r>
              <a:rPr lang="en-GB" sz="2000" dirty="0"/>
              <a:t>Lecture: Data processing and EDA</a:t>
            </a:r>
          </a:p>
          <a:p>
            <a:r>
              <a:rPr lang="en-GB" sz="2000" dirty="0"/>
              <a:t>Practice: Python for dealing with missing data and EDA diagrams</a:t>
            </a:r>
          </a:p>
        </p:txBody>
      </p:sp>
    </p:spTree>
    <p:extLst>
      <p:ext uri="{BB962C8B-B14F-4D97-AF65-F5344CB8AC3E}">
        <p14:creationId xmlns:p14="http://schemas.microsoft.com/office/powerpoint/2010/main" val="316023040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Practice, home work and further reading</a:t>
            </a:r>
          </a:p>
        </p:txBody>
      </p:sp>
      <p:sp>
        <p:nvSpPr>
          <p:cNvPr id="3" name="Content Placeholder 2"/>
          <p:cNvSpPr>
            <a:spLocks noGrp="1"/>
          </p:cNvSpPr>
          <p:nvPr>
            <p:ph idx="1"/>
          </p:nvPr>
        </p:nvSpPr>
        <p:spPr>
          <a:xfrm>
            <a:off x="1809892" y="1414985"/>
            <a:ext cx="6953108" cy="4761979"/>
          </a:xfrm>
        </p:spPr>
        <p:txBody>
          <a:bodyPr/>
          <a:lstStyle/>
          <a:p>
            <a:pPr marL="457200" indent="-457200">
              <a:buFont typeface="+mj-lt"/>
              <a:buAutoNum type="arabicPeriod"/>
            </a:pPr>
            <a:r>
              <a:rPr lang="en-GB" dirty="0"/>
              <a:t>Complete the first Python practice on Kaggle or </a:t>
            </a:r>
            <a:r>
              <a:rPr lang="en-GB" dirty="0" err="1"/>
              <a:t>Colab</a:t>
            </a:r>
            <a:r>
              <a:rPr lang="en-GB" dirty="0"/>
              <a:t>.</a:t>
            </a:r>
          </a:p>
          <a:p>
            <a:pPr marL="457200" indent="-457200">
              <a:buFont typeface="+mj-lt"/>
              <a:buAutoNum type="arabicPeriod"/>
            </a:pPr>
            <a:endParaRPr lang="en-GB" dirty="0"/>
          </a:p>
          <a:p>
            <a:pPr marL="457200" indent="-457200">
              <a:buFont typeface="+mj-lt"/>
              <a:buAutoNum type="arabicPeriod"/>
            </a:pPr>
            <a:r>
              <a:rPr lang="en-GB" dirty="0"/>
              <a:t>Try to understand the terms of Strong AI and Weak AI by reading these two articles (You need to answer a question in the discussion board):</a:t>
            </a:r>
          </a:p>
          <a:p>
            <a:endParaRPr lang="en-GB" dirty="0"/>
          </a:p>
          <a:p>
            <a:r>
              <a:rPr lang="en-GB" dirty="0">
                <a:hlinkClick r:id="rId2"/>
              </a:rPr>
              <a:t>http://ceur-ws.org/Vol-2287/paper34.pdf</a:t>
            </a:r>
            <a:r>
              <a:rPr lang="en-GB" dirty="0"/>
              <a:t>  </a:t>
            </a:r>
          </a:p>
          <a:p>
            <a:endParaRPr lang="en-GB" dirty="0"/>
          </a:p>
          <a:p>
            <a:r>
              <a:rPr lang="en-GB" dirty="0">
                <a:hlinkClick r:id="rId3"/>
              </a:rPr>
              <a:t>https://e3zine.com/strong-artificial-intelligence/</a:t>
            </a:r>
            <a:endParaRPr lang="en-GB" dirty="0"/>
          </a:p>
          <a:p>
            <a:endParaRPr lang="en-GB" dirty="0"/>
          </a:p>
        </p:txBody>
      </p:sp>
    </p:spTree>
    <p:extLst>
      <p:ext uri="{BB962C8B-B14F-4D97-AF65-F5344CB8AC3E}">
        <p14:creationId xmlns:p14="http://schemas.microsoft.com/office/powerpoint/2010/main" val="13925353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Strong vs weak AI</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EXPLAINED</a:t>
            </a:r>
          </a:p>
        </p:txBody>
      </p:sp>
      <p:sp>
        <p:nvSpPr>
          <p:cNvPr id="4" name="Rounded Rectangle 3"/>
          <p:cNvSpPr/>
          <p:nvPr/>
        </p:nvSpPr>
        <p:spPr>
          <a:xfrm>
            <a:off x="1810512" y="1234440"/>
            <a:ext cx="3410711" cy="1325880"/>
          </a:xfrm>
          <a:prstGeom prst="roundRect">
            <a:avLst>
              <a:gd name="adj" fmla="val 5517"/>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2F5DA8"/>
                </a:solidFill>
                <a:latin typeface="Arial"/>
              </a:rPr>
              <a:t>Weak AI (Searle, 1980)</a:t>
            </a:r>
          </a:p>
          <a:p>
            <a:pPr marL="0" indent="0" algn="l">
              <a:spcAft>
                <a:spcPts val="400"/>
              </a:spcAft>
              <a:buNone/>
            </a:pPr>
            <a:r>
              <a:rPr sz="1300" b="0" i="0">
                <a:solidFill>
                  <a:srgbClr val="262626"/>
                </a:solidFill>
                <a:latin typeface="Arial"/>
              </a:rPr>
              <a:t>Computers as tools to study or simulate the mind.</a:t>
            </a:r>
          </a:p>
        </p:txBody>
      </p:sp>
      <p:sp>
        <p:nvSpPr>
          <p:cNvPr id="5" name="Rounded Rectangle 4"/>
          <p:cNvSpPr/>
          <p:nvPr/>
        </p:nvSpPr>
        <p:spPr>
          <a:xfrm>
            <a:off x="5385816" y="1234440"/>
            <a:ext cx="3410711" cy="1325880"/>
          </a:xfrm>
          <a:prstGeom prst="roundRect">
            <a:avLst>
              <a:gd name="adj" fmla="val 5517"/>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tIns="64007" bIns="64007" rtlCol="0" anchor="t"/>
          <a:lstStyle/>
          <a:p>
            <a:pPr marL="0" indent="0" algn="l">
              <a:spcAft>
                <a:spcPts val="500"/>
              </a:spcAft>
              <a:buNone/>
            </a:pPr>
            <a:r>
              <a:rPr sz="1500" b="1" i="0">
                <a:solidFill>
                  <a:srgbClr val="FFFFFF"/>
                </a:solidFill>
                <a:latin typeface="Arial"/>
              </a:rPr>
              <a:t>Strong AI (Searle, 1980)</a:t>
            </a:r>
          </a:p>
          <a:p>
            <a:pPr marL="0" indent="0" algn="l">
              <a:spcAft>
                <a:spcPts val="400"/>
              </a:spcAft>
              <a:buNone/>
            </a:pPr>
            <a:r>
              <a:rPr sz="1300" b="0" i="0">
                <a:solidFill>
                  <a:srgbClr val="FFFFFF"/>
                </a:solidFill>
                <a:latin typeface="Arial"/>
              </a:rPr>
              <a:t>A suitably programmed computer would actually have a mind.</a:t>
            </a:r>
          </a:p>
        </p:txBody>
      </p:sp>
      <p:sp>
        <p:nvSpPr>
          <p:cNvPr id="6" name="Rounded Rectangle 5"/>
          <p:cNvSpPr/>
          <p:nvPr/>
        </p:nvSpPr>
        <p:spPr>
          <a:xfrm>
            <a:off x="1810512" y="2743200"/>
            <a:ext cx="6986015" cy="1828800"/>
          </a:xfrm>
          <a:prstGeom prst="roundRect">
            <a:avLst>
              <a:gd name="adj" fmla="val 4000"/>
            </a:avLst>
          </a:prstGeom>
          <a:solidFill>
            <a:srgbClr val="FFFFFF"/>
          </a:solidFill>
          <a:ln w="15875">
            <a:solidFill>
              <a:srgbClr val="A6B8D6"/>
            </a:solidFill>
          </a:ln>
          <a:effectLst/>
        </p:spPr>
        <p:style>
          <a:lnRef idx="1">
            <a:schemeClr val="accent1"/>
          </a:lnRef>
          <a:fillRef idx="3">
            <a:schemeClr val="accent1"/>
          </a:fillRef>
          <a:effectRef idx="2">
            <a:schemeClr val="accent1"/>
          </a:effectRef>
          <a:fontRef idx="minor">
            <a:schemeClr val="lt1"/>
          </a:fontRef>
        </p:style>
        <p:txBody>
          <a:bodyPr wrap="square" lIns="137160" tIns="96012" rIns="137160" bIns="96012" rtlCol="0" anchor="t"/>
          <a:lstStyle/>
          <a:p>
            <a:pPr marL="0" indent="0" algn="l">
              <a:spcAft>
                <a:spcPts val="600"/>
              </a:spcAft>
              <a:buNone/>
            </a:pPr>
            <a:r>
              <a:rPr sz="1600" b="1" i="0">
                <a:solidFill>
                  <a:srgbClr val="1F3864"/>
                </a:solidFill>
                <a:latin typeface="Arial"/>
              </a:rPr>
              <a:t>Reading guide</a:t>
            </a:r>
          </a:p>
          <a:p>
            <a:pPr marL="164592" indent="-146304" algn="l">
              <a:spcAft>
                <a:spcPts val="600"/>
              </a:spcAft>
              <a:buFont typeface="Arial"/>
              <a:buChar char="•"/>
            </a:pPr>
            <a:r>
              <a:rPr sz="1300" b="1" i="0">
                <a:solidFill>
                  <a:srgbClr val="262626"/>
                </a:solidFill>
                <a:latin typeface="Arial"/>
              </a:rPr>
              <a:t>Article 1, Flowers, “Strong and Weak AI: Deweyan Considerations”: </a:t>
            </a:r>
            <a:r>
              <a:rPr sz="1300" b="0" i="0">
                <a:solidFill>
                  <a:srgbClr val="262626"/>
                </a:solidFill>
                <a:latin typeface="Arial"/>
              </a:rPr>
              <a:t>philosophical; starts from Searle; consciousness and experience.</a:t>
            </a:r>
          </a:p>
          <a:p>
            <a:pPr marL="164592" indent="-146304" algn="l">
              <a:spcAft>
                <a:spcPts val="400"/>
              </a:spcAft>
              <a:buFont typeface="Arial"/>
              <a:buChar char="•"/>
            </a:pPr>
            <a:r>
              <a:rPr sz="1300" b="1" i="0">
                <a:solidFill>
                  <a:srgbClr val="262626"/>
                </a:solidFill>
                <a:latin typeface="Arial"/>
              </a:rPr>
              <a:t>Article 2, E-3 Magazine: </a:t>
            </a:r>
            <a:r>
              <a:rPr sz="1300" b="0" i="0">
                <a:solidFill>
                  <a:srgbClr val="262626"/>
                </a:solidFill>
                <a:latin typeface="Arial"/>
              </a:rPr>
              <a:t>practical industry view; weak AI = Siri/Alexa following programmed patterns, strong AI = systems that learn and adapt on their own.</a:t>
            </a:r>
          </a:p>
        </p:txBody>
      </p:sp>
      <p:sp>
        <p:nvSpPr>
          <p:cNvPr id="7" name="Rounded Rectangle 6"/>
          <p:cNvSpPr/>
          <p:nvPr/>
        </p:nvSpPr>
        <p:spPr>
          <a:xfrm>
            <a:off x="1810512" y="4754880"/>
            <a:ext cx="6986015" cy="1005840"/>
          </a:xfrm>
          <a:prstGeom prst="roundRect">
            <a:avLst>
              <a:gd name="adj" fmla="val 7272"/>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89611" rIns="128016" bIns="89611" rtlCol="0" anchor="ctr"/>
          <a:lstStyle/>
          <a:p>
            <a:pPr marL="0" indent="0" algn="l">
              <a:spcAft>
                <a:spcPts val="400"/>
              </a:spcAft>
              <a:buNone/>
            </a:pPr>
            <a:r>
              <a:rPr sz="1400" b="1" i="0">
                <a:solidFill>
                  <a:srgbClr val="FFFFFF"/>
                </a:solidFill>
                <a:latin typeface="Arial"/>
              </a:rPr>
              <a:t>TIP  </a:t>
            </a:r>
            <a:r>
              <a:rPr sz="1400" b="0" i="0">
                <a:solidFill>
                  <a:srgbClr val="FFFFFF"/>
                </a:solidFill>
                <a:latin typeface="Arial"/>
              </a:rPr>
              <a:t>The two articles use the terms differently. Notice the difference and take a position. Where would you place ChatGPT, and why?</a:t>
            </a:r>
          </a:p>
        </p:txBody>
      </p:sp>
      <p:sp>
        <p:nvSpPr>
          <p:cNvPr id="8" name="TextBox 7"/>
          <p:cNvSpPr txBox="1"/>
          <p:nvPr/>
        </p:nvSpPr>
        <p:spPr>
          <a:xfrm>
            <a:off x="1810512" y="6446520"/>
            <a:ext cx="6986015" cy="320040"/>
          </a:xfrm>
          <a:prstGeom prst="rect">
            <a:avLst/>
          </a:prstGeom>
          <a:noFill/>
        </p:spPr>
        <p:txBody>
          <a:bodyPr wrap="square" lIns="54864" tIns="54864" rIns="54864" bIns="54864" anchor="t"/>
          <a:lstStyle/>
          <a:p>
            <a:pPr marL="0" indent="0" algn="l">
              <a:spcAft>
                <a:spcPts val="400"/>
              </a:spcAft>
              <a:buNone/>
            </a:pPr>
            <a:r>
              <a:rPr sz="1000" b="0" i="1">
                <a:solidFill>
                  <a:srgbClr val="595959"/>
                </a:solidFill>
                <a:latin typeface="Arial"/>
              </a:rPr>
              <a:t>Sources: Searle (1980); Flowers (2019); E-3 Magazine (n.d.).</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References (1/4)</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REFERENCES</a:t>
            </a:r>
          </a:p>
        </p:txBody>
      </p:sp>
      <p:sp>
        <p:nvSpPr>
          <p:cNvPr id="4" name="TextBox 3"/>
          <p:cNvSpPr txBox="1"/>
          <p:nvPr/>
        </p:nvSpPr>
        <p:spPr>
          <a:xfrm>
            <a:off x="1810512" y="1143000"/>
            <a:ext cx="6986015" cy="5440680"/>
          </a:xfrm>
          <a:prstGeom prst="rect">
            <a:avLst/>
          </a:prstGeom>
          <a:noFill/>
        </p:spPr>
        <p:txBody>
          <a:bodyPr wrap="square" lIns="54864" tIns="54864" rIns="54864" bIns="54864" anchor="t"/>
          <a:lstStyle/>
          <a:p>
            <a:pPr marL="0" indent="0" algn="just">
              <a:spcAft>
                <a:spcPts val="600"/>
              </a:spcAft>
              <a:buNone/>
            </a:pPr>
            <a:r>
              <a:rPr sz="1100" b="0" i="0" dirty="0">
                <a:solidFill>
                  <a:srgbClr val="262626"/>
                </a:solidFill>
                <a:latin typeface="Arial"/>
              </a:rPr>
              <a:t>Brooks, R.A. (1990) ‘Elephants don’t play chess’, Robotics and Autonomous Systems, 6(1</a:t>
            </a:r>
            <a:r>
              <a:rPr lang="en-GB" sz="1100" b="0" i="0" dirty="0">
                <a:solidFill>
                  <a:srgbClr val="262626"/>
                </a:solidFill>
                <a:latin typeface="Arial"/>
              </a:rPr>
              <a:t>-</a:t>
            </a:r>
            <a:r>
              <a:rPr sz="1100" b="0" i="0" dirty="0">
                <a:solidFill>
                  <a:srgbClr val="262626"/>
                </a:solidFill>
                <a:latin typeface="Arial"/>
              </a:rPr>
              <a:t>2), pp. 3</a:t>
            </a:r>
            <a:r>
              <a:rPr lang="en-GB" sz="1100" b="0" i="0" dirty="0">
                <a:solidFill>
                  <a:srgbClr val="262626"/>
                </a:solidFill>
                <a:latin typeface="Arial"/>
              </a:rPr>
              <a:t>-</a:t>
            </a:r>
            <a:r>
              <a:rPr sz="1100" b="0" i="0" dirty="0">
                <a:solidFill>
                  <a:srgbClr val="262626"/>
                </a:solidFill>
                <a:latin typeface="Arial"/>
              </a:rPr>
              <a:t>15.</a:t>
            </a:r>
          </a:p>
          <a:p>
            <a:pPr marL="0" indent="0" algn="just">
              <a:spcAft>
                <a:spcPts val="600"/>
              </a:spcAft>
              <a:buNone/>
            </a:pPr>
            <a:r>
              <a:rPr sz="1100" b="0" i="0" dirty="0">
                <a:solidFill>
                  <a:srgbClr val="262626"/>
                </a:solidFill>
                <a:latin typeface="Arial"/>
              </a:rPr>
              <a:t>Campbell, M., </a:t>
            </a:r>
            <a:r>
              <a:rPr sz="1100" b="0" i="0" dirty="0" err="1">
                <a:solidFill>
                  <a:srgbClr val="262626"/>
                </a:solidFill>
                <a:latin typeface="Arial"/>
              </a:rPr>
              <a:t>Hoane</a:t>
            </a:r>
            <a:r>
              <a:rPr sz="1100" b="0" i="0" dirty="0">
                <a:solidFill>
                  <a:srgbClr val="262626"/>
                </a:solidFill>
                <a:latin typeface="Arial"/>
              </a:rPr>
              <a:t>, A.J. and Hsu, F.-h. (2002) ‘Deep Blue’, Artificial Intelligence, 134(1</a:t>
            </a:r>
            <a:r>
              <a:rPr lang="en-GB" sz="1100" b="0" i="0" dirty="0">
                <a:solidFill>
                  <a:srgbClr val="262626"/>
                </a:solidFill>
                <a:latin typeface="Arial"/>
              </a:rPr>
              <a:t>-</a:t>
            </a:r>
            <a:r>
              <a:rPr sz="1100" b="0" i="0" dirty="0">
                <a:solidFill>
                  <a:srgbClr val="262626"/>
                </a:solidFill>
                <a:latin typeface="Arial"/>
              </a:rPr>
              <a:t>2), pp. 57</a:t>
            </a:r>
            <a:r>
              <a:rPr lang="en-GB" sz="1100" b="0" i="0" dirty="0">
                <a:solidFill>
                  <a:srgbClr val="262626"/>
                </a:solidFill>
                <a:latin typeface="Arial"/>
              </a:rPr>
              <a:t>-</a:t>
            </a:r>
            <a:r>
              <a:rPr sz="1100" b="0" i="0" dirty="0">
                <a:solidFill>
                  <a:srgbClr val="262626"/>
                </a:solidFill>
                <a:latin typeface="Arial"/>
              </a:rPr>
              <a:t>83.</a:t>
            </a:r>
          </a:p>
          <a:p>
            <a:pPr marL="0" indent="0" algn="just">
              <a:spcAft>
                <a:spcPts val="600"/>
              </a:spcAft>
              <a:buNone/>
            </a:pPr>
            <a:r>
              <a:rPr sz="1100" b="0" i="0" dirty="0" err="1">
                <a:solidFill>
                  <a:srgbClr val="262626"/>
                </a:solidFill>
                <a:latin typeface="Arial"/>
              </a:rPr>
              <a:t>Darrach</a:t>
            </a:r>
            <a:r>
              <a:rPr sz="1100" b="0" i="0" dirty="0">
                <a:solidFill>
                  <a:srgbClr val="262626"/>
                </a:solidFill>
                <a:latin typeface="Arial"/>
              </a:rPr>
              <a:t>, B. (1970) ‘Meet Shaky, the first electronic person’, Life, 20 November, pp. 58</a:t>
            </a:r>
            <a:r>
              <a:rPr lang="en-GB" sz="1100" b="0" i="0" dirty="0">
                <a:solidFill>
                  <a:srgbClr val="262626"/>
                </a:solidFill>
                <a:latin typeface="Arial"/>
              </a:rPr>
              <a:t>-</a:t>
            </a:r>
            <a:r>
              <a:rPr sz="1100" b="0" i="0" dirty="0">
                <a:solidFill>
                  <a:srgbClr val="262626"/>
                </a:solidFill>
                <a:latin typeface="Arial"/>
              </a:rPr>
              <a:t>68.</a:t>
            </a:r>
          </a:p>
          <a:p>
            <a:pPr marL="0" indent="0" algn="just">
              <a:spcAft>
                <a:spcPts val="600"/>
              </a:spcAft>
              <a:buNone/>
            </a:pPr>
            <a:r>
              <a:rPr sz="1100" b="0" i="0" dirty="0">
                <a:solidFill>
                  <a:srgbClr val="262626"/>
                </a:solidFill>
                <a:latin typeface="Arial"/>
              </a:rPr>
              <a:t>E-3 Magazine (n.d.) Strong vs. weak artificial intelligence. Available at: https://e3zine.com/strong-artificial-intelligence/</a:t>
            </a:r>
          </a:p>
          <a:p>
            <a:pPr marL="0" indent="0" algn="just">
              <a:spcAft>
                <a:spcPts val="600"/>
              </a:spcAft>
              <a:buNone/>
            </a:pPr>
            <a:r>
              <a:rPr sz="1100" b="0" i="0" dirty="0">
                <a:solidFill>
                  <a:srgbClr val="262626"/>
                </a:solidFill>
                <a:latin typeface="Arial"/>
              </a:rPr>
              <a:t>Fayyad, U., </a:t>
            </a:r>
            <a:r>
              <a:rPr sz="1100" b="0" i="0" dirty="0" err="1">
                <a:solidFill>
                  <a:srgbClr val="262626"/>
                </a:solidFill>
                <a:latin typeface="Arial"/>
              </a:rPr>
              <a:t>Piatetsky</a:t>
            </a:r>
            <a:r>
              <a:rPr sz="1100" b="0" i="0" dirty="0">
                <a:solidFill>
                  <a:srgbClr val="262626"/>
                </a:solidFill>
                <a:latin typeface="Arial"/>
              </a:rPr>
              <a:t>-Shapiro, G. and Smyth, P. (1996) ‘From data mining to knowledge discovery in databases’, AI Magazine, 17(3), pp. 37</a:t>
            </a:r>
            <a:r>
              <a:rPr lang="en-GB" sz="1100" b="0" i="0" dirty="0">
                <a:solidFill>
                  <a:srgbClr val="262626"/>
                </a:solidFill>
                <a:latin typeface="Arial"/>
              </a:rPr>
              <a:t>-</a:t>
            </a:r>
            <a:r>
              <a:rPr sz="1100" b="0" i="0" dirty="0">
                <a:solidFill>
                  <a:srgbClr val="262626"/>
                </a:solidFill>
                <a:latin typeface="Arial"/>
              </a:rPr>
              <a:t>54.</a:t>
            </a:r>
          </a:p>
          <a:p>
            <a:pPr marL="0" indent="0" algn="just">
              <a:spcAft>
                <a:spcPts val="600"/>
              </a:spcAft>
              <a:buNone/>
            </a:pPr>
            <a:r>
              <a:rPr sz="1100" b="0" i="0" dirty="0">
                <a:solidFill>
                  <a:srgbClr val="262626"/>
                </a:solidFill>
                <a:latin typeface="Arial"/>
              </a:rPr>
              <a:t>Flowers, J.C. (2019) ‘Strong and weak AI: Deweyan considerations’, CEUR Workshop Proceedings, 2287. Available at: http://ceur-ws.org/Vol-2287/paper34.pdf</a:t>
            </a:r>
          </a:p>
          <a:p>
            <a:pPr marL="0" indent="0" algn="just">
              <a:spcAft>
                <a:spcPts val="600"/>
              </a:spcAft>
              <a:buNone/>
            </a:pPr>
            <a:r>
              <a:rPr sz="1100" b="0" i="0" dirty="0">
                <a:solidFill>
                  <a:srgbClr val="262626"/>
                </a:solidFill>
                <a:latin typeface="Arial"/>
              </a:rPr>
              <a:t>Han, J. and </a:t>
            </a:r>
            <a:r>
              <a:rPr sz="1100" b="0" i="0" dirty="0" err="1">
                <a:solidFill>
                  <a:srgbClr val="262626"/>
                </a:solidFill>
                <a:latin typeface="Arial"/>
              </a:rPr>
              <a:t>Kamber</a:t>
            </a:r>
            <a:r>
              <a:rPr sz="1100" b="0" i="0" dirty="0">
                <a:solidFill>
                  <a:srgbClr val="262626"/>
                </a:solidFill>
                <a:latin typeface="Arial"/>
              </a:rPr>
              <a:t>, M. (2006) Data Mining: Concepts and Techniques. 2nd </a:t>
            </a:r>
            <a:r>
              <a:rPr sz="1100" b="0" i="0" dirty="0" err="1">
                <a:solidFill>
                  <a:srgbClr val="262626"/>
                </a:solidFill>
                <a:latin typeface="Arial"/>
              </a:rPr>
              <a:t>edn</a:t>
            </a:r>
            <a:r>
              <a:rPr sz="1100" b="0" i="0" dirty="0">
                <a:solidFill>
                  <a:srgbClr val="262626"/>
                </a:solidFill>
                <a:latin typeface="Arial"/>
              </a:rPr>
              <a:t>. San Francisco: Morgan Kaufmann.</a:t>
            </a:r>
          </a:p>
          <a:p>
            <a:pPr marL="0" indent="0" algn="just">
              <a:spcAft>
                <a:spcPts val="600"/>
              </a:spcAft>
              <a:buNone/>
            </a:pPr>
            <a:r>
              <a:rPr sz="1100" b="0" i="0" dirty="0">
                <a:solidFill>
                  <a:srgbClr val="262626"/>
                </a:solidFill>
                <a:latin typeface="Arial"/>
              </a:rPr>
              <a:t>Han, J., </a:t>
            </a:r>
            <a:r>
              <a:rPr sz="1100" b="0" i="0" dirty="0" err="1">
                <a:solidFill>
                  <a:srgbClr val="262626"/>
                </a:solidFill>
                <a:latin typeface="Arial"/>
              </a:rPr>
              <a:t>Kamber</a:t>
            </a:r>
            <a:r>
              <a:rPr sz="1100" b="0" i="0" dirty="0">
                <a:solidFill>
                  <a:srgbClr val="262626"/>
                </a:solidFill>
                <a:latin typeface="Arial"/>
              </a:rPr>
              <a:t>, M. and Pei, J. (2011) Data Mining: Concepts and Techniques. 3rd </a:t>
            </a:r>
            <a:r>
              <a:rPr sz="1100" b="0" i="0" dirty="0" err="1">
                <a:solidFill>
                  <a:srgbClr val="262626"/>
                </a:solidFill>
                <a:latin typeface="Arial"/>
              </a:rPr>
              <a:t>edn</a:t>
            </a:r>
            <a:r>
              <a:rPr sz="1100" b="0" i="0" dirty="0">
                <a:solidFill>
                  <a:srgbClr val="262626"/>
                </a:solidFill>
                <a:latin typeface="Arial"/>
              </a:rPr>
              <a:t>. Waltham, MA: Morgan Kaufmann.</a:t>
            </a:r>
          </a:p>
          <a:p>
            <a:pPr marL="0" indent="0" algn="just">
              <a:spcAft>
                <a:spcPts val="600"/>
              </a:spcAft>
              <a:buNone/>
            </a:pPr>
            <a:r>
              <a:rPr sz="1100" b="0" i="0" dirty="0">
                <a:solidFill>
                  <a:srgbClr val="262626"/>
                </a:solidFill>
                <a:latin typeface="Arial"/>
              </a:rPr>
              <a:t>Investopedia (n.d.) Artificial intelligence (AI). Available at: https://www.investopedia.com</a:t>
            </a:r>
          </a:p>
          <a:p>
            <a:pPr marL="0" indent="0" algn="just">
              <a:spcAft>
                <a:spcPts val="600"/>
              </a:spcAft>
              <a:buNone/>
            </a:pPr>
            <a:r>
              <a:rPr sz="1100" b="0" i="0" dirty="0">
                <a:solidFill>
                  <a:srgbClr val="262626"/>
                </a:solidFill>
                <a:latin typeface="Arial"/>
              </a:rPr>
              <a:t>Jones, C.R. and Bergen, B.K. (2025) ‘Large language models pass the Turing test’, </a:t>
            </a:r>
            <a:r>
              <a:rPr sz="1100" b="0" i="0" dirty="0" err="1">
                <a:solidFill>
                  <a:srgbClr val="262626"/>
                </a:solidFill>
                <a:latin typeface="Arial"/>
              </a:rPr>
              <a:t>arXiv</a:t>
            </a:r>
            <a:r>
              <a:rPr sz="1100" b="0" i="0" dirty="0">
                <a:solidFill>
                  <a:srgbClr val="262626"/>
                </a:solidFill>
                <a:latin typeface="Arial"/>
              </a:rPr>
              <a:t> preprint, arXiv:2503.23674.</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References (2/4)</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REFERENCES</a:t>
            </a:r>
          </a:p>
        </p:txBody>
      </p:sp>
      <p:sp>
        <p:nvSpPr>
          <p:cNvPr id="4" name="TextBox 3"/>
          <p:cNvSpPr txBox="1"/>
          <p:nvPr/>
        </p:nvSpPr>
        <p:spPr>
          <a:xfrm>
            <a:off x="1810512" y="1143000"/>
            <a:ext cx="6986015" cy="5440680"/>
          </a:xfrm>
          <a:prstGeom prst="rect">
            <a:avLst/>
          </a:prstGeom>
          <a:noFill/>
        </p:spPr>
        <p:txBody>
          <a:bodyPr wrap="square" lIns="54864" tIns="54864" rIns="54864" bIns="54864" anchor="t"/>
          <a:lstStyle/>
          <a:p>
            <a:pPr marL="0" indent="0" algn="just">
              <a:spcAft>
                <a:spcPts val="600"/>
              </a:spcAft>
              <a:buNone/>
            </a:pPr>
            <a:r>
              <a:rPr sz="1100" b="0" i="0" dirty="0">
                <a:solidFill>
                  <a:srgbClr val="262626"/>
                </a:solidFill>
                <a:latin typeface="Arial"/>
              </a:rPr>
              <a:t>Karp, R.M. (1972) ‘Reducibility among combinatorial problems’, in Miller, R.E. and Thatcher, J.W. (eds) Complexity of Computer Computations. New York: Plenum, pp. 85</a:t>
            </a:r>
            <a:r>
              <a:rPr lang="en-GB" sz="1100" b="0" i="0" dirty="0">
                <a:solidFill>
                  <a:srgbClr val="262626"/>
                </a:solidFill>
                <a:latin typeface="Arial"/>
              </a:rPr>
              <a:t>-</a:t>
            </a:r>
            <a:r>
              <a:rPr sz="1100" b="0" i="0" dirty="0">
                <a:solidFill>
                  <a:srgbClr val="262626"/>
                </a:solidFill>
                <a:latin typeface="Arial"/>
              </a:rPr>
              <a:t>103.</a:t>
            </a:r>
          </a:p>
          <a:p>
            <a:pPr marL="0" indent="0" algn="just">
              <a:spcAft>
                <a:spcPts val="600"/>
              </a:spcAft>
              <a:buNone/>
            </a:pPr>
            <a:r>
              <a:rPr sz="1100" b="0" i="0" dirty="0" err="1">
                <a:solidFill>
                  <a:srgbClr val="262626"/>
                </a:solidFill>
                <a:latin typeface="Arial"/>
              </a:rPr>
              <a:t>Krizhevsky</a:t>
            </a:r>
            <a:r>
              <a:rPr sz="1100" b="0" i="0" dirty="0">
                <a:solidFill>
                  <a:srgbClr val="262626"/>
                </a:solidFill>
                <a:latin typeface="Arial"/>
              </a:rPr>
              <a:t>, A., </a:t>
            </a:r>
            <a:r>
              <a:rPr sz="1100" b="0" i="0" dirty="0" err="1">
                <a:solidFill>
                  <a:srgbClr val="262626"/>
                </a:solidFill>
                <a:latin typeface="Arial"/>
              </a:rPr>
              <a:t>Sutskever</a:t>
            </a:r>
            <a:r>
              <a:rPr sz="1100" b="0" i="0" dirty="0">
                <a:solidFill>
                  <a:srgbClr val="262626"/>
                </a:solidFill>
                <a:latin typeface="Arial"/>
              </a:rPr>
              <a:t>, I. and Hinton, G.E. (2012) ‘ImageNet classification with deep convolutional neural networks’, Advances in Neural Information Processing Systems, 25, pp. 1097</a:t>
            </a:r>
            <a:r>
              <a:rPr lang="en-GB" sz="1100" b="0" i="0" dirty="0">
                <a:solidFill>
                  <a:srgbClr val="262626"/>
                </a:solidFill>
                <a:latin typeface="Arial"/>
              </a:rPr>
              <a:t>-</a:t>
            </a:r>
            <a:r>
              <a:rPr sz="1100" b="0" i="0" dirty="0">
                <a:solidFill>
                  <a:srgbClr val="262626"/>
                </a:solidFill>
                <a:latin typeface="Arial"/>
              </a:rPr>
              <a:t>1105.</a:t>
            </a:r>
          </a:p>
          <a:p>
            <a:pPr marL="0" indent="0" algn="just">
              <a:spcAft>
                <a:spcPts val="600"/>
              </a:spcAft>
              <a:buNone/>
            </a:pPr>
            <a:r>
              <a:rPr sz="1100" b="0" i="0" dirty="0">
                <a:solidFill>
                  <a:srgbClr val="262626"/>
                </a:solidFill>
                <a:latin typeface="Arial"/>
              </a:rPr>
              <a:t>LeCun, Y. et al. (1989) ‘Backpropagation applied to handwritten zip code recognition’, Neural Computation, 1(4), pp. 541</a:t>
            </a:r>
            <a:r>
              <a:rPr lang="en-GB" sz="1100" b="0" i="0" dirty="0">
                <a:solidFill>
                  <a:srgbClr val="262626"/>
                </a:solidFill>
                <a:latin typeface="Arial"/>
              </a:rPr>
              <a:t>-</a:t>
            </a:r>
            <a:r>
              <a:rPr sz="1100" b="0" i="0" dirty="0">
                <a:solidFill>
                  <a:srgbClr val="262626"/>
                </a:solidFill>
                <a:latin typeface="Arial"/>
              </a:rPr>
              <a:t>551.</a:t>
            </a:r>
          </a:p>
          <a:p>
            <a:pPr marL="0" indent="0" algn="just">
              <a:spcAft>
                <a:spcPts val="600"/>
              </a:spcAft>
              <a:buNone/>
            </a:pPr>
            <a:r>
              <a:rPr sz="1100" b="0" i="0" dirty="0" err="1">
                <a:solidFill>
                  <a:srgbClr val="262626"/>
                </a:solidFill>
                <a:latin typeface="Arial"/>
              </a:rPr>
              <a:t>Lighthill</a:t>
            </a:r>
            <a:r>
              <a:rPr sz="1100" b="0" i="0" dirty="0">
                <a:solidFill>
                  <a:srgbClr val="262626"/>
                </a:solidFill>
                <a:latin typeface="Arial"/>
              </a:rPr>
              <a:t>, J. (1973) ‘Artificial intelligence: a general survey’, in Artificial Intelligence: A Paper Symposium. London: Science Research Council.</a:t>
            </a:r>
          </a:p>
          <a:p>
            <a:pPr marL="0" indent="0" algn="just">
              <a:spcAft>
                <a:spcPts val="600"/>
              </a:spcAft>
              <a:buNone/>
            </a:pPr>
            <a:r>
              <a:rPr sz="1100" b="0" i="0" dirty="0">
                <a:solidFill>
                  <a:srgbClr val="262626"/>
                </a:solidFill>
                <a:latin typeface="Arial"/>
              </a:rPr>
              <a:t>McCarthy, J. and Hayes, P.J. (1969) ‘Some philosophical problems from the standpoint of artificial intelligence’, Machine Intelligence, 4, pp. 463</a:t>
            </a:r>
            <a:r>
              <a:rPr lang="en-GB" sz="1100" b="0" i="0" dirty="0">
                <a:solidFill>
                  <a:srgbClr val="262626"/>
                </a:solidFill>
                <a:latin typeface="Arial"/>
              </a:rPr>
              <a:t>-</a:t>
            </a:r>
            <a:r>
              <a:rPr sz="1100" b="0" i="0" dirty="0">
                <a:solidFill>
                  <a:srgbClr val="262626"/>
                </a:solidFill>
                <a:latin typeface="Arial"/>
              </a:rPr>
              <a:t>502.</a:t>
            </a:r>
          </a:p>
          <a:p>
            <a:pPr marL="0" indent="0" algn="just">
              <a:spcAft>
                <a:spcPts val="600"/>
              </a:spcAft>
              <a:buNone/>
            </a:pPr>
            <a:r>
              <a:rPr sz="1100" b="0" i="0" dirty="0">
                <a:solidFill>
                  <a:srgbClr val="262626"/>
                </a:solidFill>
                <a:latin typeface="Arial"/>
              </a:rPr>
              <a:t>McCarthy, J., Minsky, M.L., Rochester, N. and Shannon, C.E. (1955) A proposal for the Dartmouth summer research project on artificial intelligence. Reprinted in AI Magazine (2006), 27(4), pp. 12</a:t>
            </a:r>
            <a:r>
              <a:rPr lang="en-GB" sz="1100" b="0" i="0" dirty="0">
                <a:solidFill>
                  <a:srgbClr val="262626"/>
                </a:solidFill>
                <a:latin typeface="Arial"/>
              </a:rPr>
              <a:t>-</a:t>
            </a:r>
            <a:r>
              <a:rPr sz="1100" b="0" i="0" dirty="0">
                <a:solidFill>
                  <a:srgbClr val="262626"/>
                </a:solidFill>
                <a:latin typeface="Arial"/>
              </a:rPr>
              <a:t>14.</a:t>
            </a:r>
          </a:p>
          <a:p>
            <a:pPr marL="0" indent="0" algn="just">
              <a:spcAft>
                <a:spcPts val="600"/>
              </a:spcAft>
              <a:buNone/>
            </a:pPr>
            <a:r>
              <a:rPr sz="1100" b="0" i="0" dirty="0">
                <a:solidFill>
                  <a:srgbClr val="262626"/>
                </a:solidFill>
                <a:latin typeface="Arial"/>
              </a:rPr>
              <a:t>McDermott, J. (1982) ‘R1: a rule-based </a:t>
            </a:r>
            <a:r>
              <a:rPr sz="1100" b="0" i="0" dirty="0" err="1">
                <a:solidFill>
                  <a:srgbClr val="262626"/>
                </a:solidFill>
                <a:latin typeface="Arial"/>
              </a:rPr>
              <a:t>configurer</a:t>
            </a:r>
            <a:r>
              <a:rPr sz="1100" b="0" i="0" dirty="0">
                <a:solidFill>
                  <a:srgbClr val="262626"/>
                </a:solidFill>
                <a:latin typeface="Arial"/>
              </a:rPr>
              <a:t> of computer systems’, Artificial Intelligence, 19(1), pp. 39</a:t>
            </a:r>
            <a:r>
              <a:rPr lang="en-GB" sz="1100" b="0" i="0" dirty="0">
                <a:solidFill>
                  <a:srgbClr val="262626"/>
                </a:solidFill>
                <a:latin typeface="Arial"/>
              </a:rPr>
              <a:t>-</a:t>
            </a:r>
            <a:r>
              <a:rPr sz="1100" b="0" i="0" dirty="0">
                <a:solidFill>
                  <a:srgbClr val="262626"/>
                </a:solidFill>
                <a:latin typeface="Arial"/>
              </a:rPr>
              <a:t>88.</a:t>
            </a:r>
          </a:p>
          <a:p>
            <a:pPr marL="0" indent="0" algn="just">
              <a:spcAft>
                <a:spcPts val="600"/>
              </a:spcAft>
              <a:buNone/>
            </a:pPr>
            <a:r>
              <a:rPr sz="1100" b="0" i="0" dirty="0">
                <a:solidFill>
                  <a:srgbClr val="262626"/>
                </a:solidFill>
                <a:latin typeface="Arial"/>
              </a:rPr>
              <a:t>Minsky, M. and </a:t>
            </a:r>
            <a:r>
              <a:rPr sz="1100" b="0" i="0" dirty="0" err="1">
                <a:solidFill>
                  <a:srgbClr val="262626"/>
                </a:solidFill>
                <a:latin typeface="Arial"/>
              </a:rPr>
              <a:t>Papert</a:t>
            </a:r>
            <a:r>
              <a:rPr sz="1100" b="0" i="0" dirty="0">
                <a:solidFill>
                  <a:srgbClr val="262626"/>
                </a:solidFill>
                <a:latin typeface="Arial"/>
              </a:rPr>
              <a:t>, S. (1969) </a:t>
            </a:r>
            <a:r>
              <a:rPr sz="1100" b="0" i="0" dirty="0" err="1">
                <a:solidFill>
                  <a:srgbClr val="262626"/>
                </a:solidFill>
                <a:latin typeface="Arial"/>
              </a:rPr>
              <a:t>Perceptrons</a:t>
            </a:r>
            <a:r>
              <a:rPr sz="1100" b="0" i="0" dirty="0">
                <a:solidFill>
                  <a:srgbClr val="262626"/>
                </a:solidFill>
                <a:latin typeface="Arial"/>
              </a:rPr>
              <a:t>: An Introduction to Computational Geometry. Cambridge, MA: MIT Press.</a:t>
            </a:r>
          </a:p>
          <a:p>
            <a:pPr marL="0" indent="0" algn="just">
              <a:spcAft>
                <a:spcPts val="600"/>
              </a:spcAft>
              <a:buNone/>
            </a:pPr>
            <a:r>
              <a:rPr sz="1100" b="0" i="0" dirty="0">
                <a:solidFill>
                  <a:srgbClr val="262626"/>
                </a:solidFill>
                <a:latin typeface="Arial"/>
              </a:rPr>
              <a:t>Mitchell, T.M. (1997) Machine Learning. New York: McGraw-Hill.</a:t>
            </a:r>
          </a:p>
          <a:p>
            <a:pPr marL="0" indent="0" algn="just">
              <a:spcAft>
                <a:spcPts val="600"/>
              </a:spcAft>
              <a:buNone/>
            </a:pPr>
            <a:r>
              <a:rPr sz="1100" b="0" i="0" dirty="0">
                <a:solidFill>
                  <a:srgbClr val="262626"/>
                </a:solidFill>
                <a:latin typeface="Arial"/>
              </a:rPr>
              <a:t>Newell, A. and Simon, H.A. (1956) ‘The logic theory machine’, IRE Transactions on Information Theory, 2(3), pp. 61</a:t>
            </a:r>
            <a:r>
              <a:rPr lang="en-GB" sz="1100" b="0" i="0" dirty="0">
                <a:solidFill>
                  <a:srgbClr val="262626"/>
                </a:solidFill>
                <a:latin typeface="Arial"/>
              </a:rPr>
              <a:t>-</a:t>
            </a:r>
            <a:r>
              <a:rPr sz="1100" b="0" i="0" dirty="0">
                <a:solidFill>
                  <a:srgbClr val="262626"/>
                </a:solidFill>
                <a:latin typeface="Arial"/>
              </a:rPr>
              <a:t>79.</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References (3/4)</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REFERENCES</a:t>
            </a:r>
          </a:p>
        </p:txBody>
      </p:sp>
      <p:sp>
        <p:nvSpPr>
          <p:cNvPr id="4" name="TextBox 3"/>
          <p:cNvSpPr txBox="1"/>
          <p:nvPr/>
        </p:nvSpPr>
        <p:spPr>
          <a:xfrm>
            <a:off x="1810512" y="1143000"/>
            <a:ext cx="6986015" cy="5440680"/>
          </a:xfrm>
          <a:prstGeom prst="rect">
            <a:avLst/>
          </a:prstGeom>
          <a:noFill/>
        </p:spPr>
        <p:txBody>
          <a:bodyPr wrap="square" lIns="54864" tIns="54864" rIns="54864" bIns="54864" anchor="t"/>
          <a:lstStyle/>
          <a:p>
            <a:pPr marL="0" indent="0" algn="just">
              <a:spcAft>
                <a:spcPts val="600"/>
              </a:spcAft>
              <a:buNone/>
            </a:pPr>
            <a:r>
              <a:rPr sz="1100" b="0" i="0" dirty="0">
                <a:solidFill>
                  <a:srgbClr val="262626"/>
                </a:solidFill>
                <a:latin typeface="Arial"/>
              </a:rPr>
              <a:t>Newell, A., Shaw, J.C. and Simon, H.A. (1959) ‘Report on a general problem-solving program’, Proceedings of the International Conference on Information Processing. Paris: UNESCO, pp. 256</a:t>
            </a:r>
            <a:r>
              <a:rPr lang="en-GB" sz="1100" b="0" i="0" dirty="0">
                <a:solidFill>
                  <a:srgbClr val="262626"/>
                </a:solidFill>
                <a:latin typeface="Arial"/>
              </a:rPr>
              <a:t>-</a:t>
            </a:r>
            <a:r>
              <a:rPr sz="1100" b="0" i="0" dirty="0">
                <a:solidFill>
                  <a:srgbClr val="262626"/>
                </a:solidFill>
                <a:latin typeface="Arial"/>
              </a:rPr>
              <a:t>264.</a:t>
            </a:r>
          </a:p>
          <a:p>
            <a:pPr marL="0" indent="0" algn="just">
              <a:spcAft>
                <a:spcPts val="600"/>
              </a:spcAft>
              <a:buNone/>
            </a:pPr>
            <a:r>
              <a:rPr sz="1100" b="0" i="0" dirty="0">
                <a:solidFill>
                  <a:srgbClr val="262626"/>
                </a:solidFill>
                <a:latin typeface="Arial"/>
              </a:rPr>
              <a:t>NobelPrize.org (2024a) The Nobel Prize in Physics 2024. Available at: https://www.nobelprize.org</a:t>
            </a:r>
          </a:p>
          <a:p>
            <a:pPr marL="0" indent="0" algn="just">
              <a:spcAft>
                <a:spcPts val="600"/>
              </a:spcAft>
              <a:buNone/>
            </a:pPr>
            <a:r>
              <a:rPr sz="1100" b="0" i="0" dirty="0">
                <a:solidFill>
                  <a:srgbClr val="262626"/>
                </a:solidFill>
                <a:latin typeface="Arial"/>
              </a:rPr>
              <a:t>NobelPrize.org (2024b) The Nobel Prize in Chemistry 2024. Available at: https://www.nobelprize.org</a:t>
            </a:r>
          </a:p>
          <a:p>
            <a:pPr marL="0" indent="0" algn="just">
              <a:spcAft>
                <a:spcPts val="600"/>
              </a:spcAft>
              <a:buNone/>
            </a:pPr>
            <a:r>
              <a:rPr sz="1100" b="0" i="0" dirty="0">
                <a:solidFill>
                  <a:srgbClr val="262626"/>
                </a:solidFill>
                <a:latin typeface="Arial"/>
              </a:rPr>
              <a:t>O’Neil, C. and Schutt, R. (2013) Doing Data Science. Sebastopol, CA: O’Reilly Media.</a:t>
            </a:r>
          </a:p>
          <a:p>
            <a:pPr marL="0" indent="0" algn="just">
              <a:spcAft>
                <a:spcPts val="600"/>
              </a:spcAft>
              <a:buNone/>
            </a:pPr>
            <a:r>
              <a:rPr sz="1100" b="0" i="0" dirty="0">
                <a:solidFill>
                  <a:srgbClr val="262626"/>
                </a:solidFill>
                <a:latin typeface="Arial"/>
              </a:rPr>
              <a:t>OpenAI (2022) Introducing ChatGPT. Available at: https://openai.com/blog/chatgpt</a:t>
            </a:r>
          </a:p>
          <a:p>
            <a:pPr marL="0" indent="0" algn="just">
              <a:spcAft>
                <a:spcPts val="600"/>
              </a:spcAft>
              <a:buNone/>
            </a:pPr>
            <a:r>
              <a:rPr sz="1100" b="0" i="0" dirty="0">
                <a:solidFill>
                  <a:srgbClr val="262626"/>
                </a:solidFill>
                <a:latin typeface="Arial"/>
              </a:rPr>
              <a:t>Pearl, J. (1988) Probabilistic Reasoning in Intelligent Systems. San Mateo, CA: Morgan Kaufmann.</a:t>
            </a:r>
          </a:p>
          <a:p>
            <a:pPr marL="0" indent="0" algn="just">
              <a:spcAft>
                <a:spcPts val="600"/>
              </a:spcAft>
              <a:buNone/>
            </a:pPr>
            <a:r>
              <a:rPr sz="1100" b="0" i="0" dirty="0" err="1">
                <a:solidFill>
                  <a:srgbClr val="262626"/>
                </a:solidFill>
                <a:latin typeface="Arial"/>
              </a:rPr>
              <a:t>Quillian</a:t>
            </a:r>
            <a:r>
              <a:rPr sz="1100" b="0" i="0" dirty="0">
                <a:solidFill>
                  <a:srgbClr val="262626"/>
                </a:solidFill>
                <a:latin typeface="Arial"/>
              </a:rPr>
              <a:t>, M.R. (1968) ‘Semantic memory’, in Minsky, M. (ed.) Semantic Information Processing. Cambridge, MA: MIT Press, pp. 227</a:t>
            </a:r>
            <a:r>
              <a:rPr lang="en-GB" sz="1100" b="0" i="0" dirty="0">
                <a:solidFill>
                  <a:srgbClr val="262626"/>
                </a:solidFill>
                <a:latin typeface="Arial"/>
              </a:rPr>
              <a:t>-</a:t>
            </a:r>
            <a:r>
              <a:rPr sz="1100" b="0" i="0" dirty="0">
                <a:solidFill>
                  <a:srgbClr val="262626"/>
                </a:solidFill>
                <a:latin typeface="Arial"/>
              </a:rPr>
              <a:t>270.</a:t>
            </a:r>
          </a:p>
          <a:p>
            <a:pPr marL="0" indent="0" algn="just">
              <a:spcAft>
                <a:spcPts val="600"/>
              </a:spcAft>
              <a:buNone/>
            </a:pPr>
            <a:r>
              <a:rPr sz="1100" b="0" i="0" dirty="0" err="1">
                <a:solidFill>
                  <a:srgbClr val="262626"/>
                </a:solidFill>
                <a:latin typeface="Arial"/>
              </a:rPr>
              <a:t>Rumelhart</a:t>
            </a:r>
            <a:r>
              <a:rPr sz="1100" b="0" i="0" dirty="0">
                <a:solidFill>
                  <a:srgbClr val="262626"/>
                </a:solidFill>
                <a:latin typeface="Arial"/>
              </a:rPr>
              <a:t>, D.E., Hinton, G.E. and Williams, R.J. (1986) ‘Learning representations by back-propagating errors’, Nature, 323, pp. 533</a:t>
            </a:r>
            <a:r>
              <a:rPr lang="en-GB" sz="1100" b="0" i="0" dirty="0">
                <a:solidFill>
                  <a:srgbClr val="262626"/>
                </a:solidFill>
                <a:latin typeface="Arial"/>
              </a:rPr>
              <a:t>-</a:t>
            </a:r>
            <a:r>
              <a:rPr sz="1100" b="0" i="0" dirty="0">
                <a:solidFill>
                  <a:srgbClr val="262626"/>
                </a:solidFill>
                <a:latin typeface="Arial"/>
              </a:rPr>
              <a:t>536.</a:t>
            </a:r>
          </a:p>
          <a:p>
            <a:pPr marL="0" indent="0" algn="just">
              <a:spcAft>
                <a:spcPts val="600"/>
              </a:spcAft>
              <a:buNone/>
            </a:pPr>
            <a:r>
              <a:rPr sz="1100" b="0" i="0" dirty="0">
                <a:solidFill>
                  <a:srgbClr val="262626"/>
                </a:solidFill>
                <a:latin typeface="Arial"/>
              </a:rPr>
              <a:t>Russell, S. and Norvig, P. (2003) Artificial Intelligence: A Modern Approach. 2nd </a:t>
            </a:r>
            <a:r>
              <a:rPr sz="1100" b="0" i="0" dirty="0" err="1">
                <a:solidFill>
                  <a:srgbClr val="262626"/>
                </a:solidFill>
                <a:latin typeface="Arial"/>
              </a:rPr>
              <a:t>edn</a:t>
            </a:r>
            <a:r>
              <a:rPr sz="1100" b="0" i="0" dirty="0">
                <a:solidFill>
                  <a:srgbClr val="262626"/>
                </a:solidFill>
                <a:latin typeface="Arial"/>
              </a:rPr>
              <a:t>. Upper Saddle River, NJ: Prentice Hall.</a:t>
            </a:r>
          </a:p>
          <a:p>
            <a:pPr marL="0" indent="0" algn="just">
              <a:spcAft>
                <a:spcPts val="600"/>
              </a:spcAft>
              <a:buNone/>
            </a:pPr>
            <a:r>
              <a:rPr sz="1100" b="0" i="0" dirty="0">
                <a:solidFill>
                  <a:srgbClr val="262626"/>
                </a:solidFill>
                <a:latin typeface="Arial"/>
              </a:rPr>
              <a:t>Russell, S. and Norvig, P. (2020) Artificial Intelligence: A Modern Approach. 4th </a:t>
            </a:r>
            <a:r>
              <a:rPr sz="1100" b="0" i="0" dirty="0" err="1">
                <a:solidFill>
                  <a:srgbClr val="262626"/>
                </a:solidFill>
                <a:latin typeface="Arial"/>
              </a:rPr>
              <a:t>edn</a:t>
            </a:r>
            <a:r>
              <a:rPr sz="1100" b="0" i="0" dirty="0">
                <a:solidFill>
                  <a:srgbClr val="262626"/>
                </a:solidFill>
                <a:latin typeface="Arial"/>
              </a:rPr>
              <a:t>. Hoboken, NJ: Pearson.</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References (4/4)</a:t>
            </a:r>
          </a:p>
        </p:txBody>
      </p:sp>
      <p:sp>
        <p:nvSpPr>
          <p:cNvPr id="3" name="Rounded Rectangle 2"/>
          <p:cNvSpPr/>
          <p:nvPr/>
        </p:nvSpPr>
        <p:spPr>
          <a:xfrm>
            <a:off x="7635240" y="91440"/>
            <a:ext cx="1161288" cy="274320"/>
          </a:xfrm>
          <a:prstGeom prst="roundRect">
            <a:avLst>
              <a:gd name="adj" fmla="val 26666"/>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2801" rIns="18288" bIns="12801" rtlCol="0" anchor="ctr"/>
          <a:lstStyle/>
          <a:p>
            <a:pPr marL="0" indent="0" algn="ctr">
              <a:spcAft>
                <a:spcPts val="400"/>
              </a:spcAft>
              <a:buNone/>
            </a:pPr>
            <a:r>
              <a:rPr sz="1000" b="1" i="0">
                <a:solidFill>
                  <a:srgbClr val="FFFFFF"/>
                </a:solidFill>
                <a:latin typeface="Arial"/>
              </a:rPr>
              <a:t>REFERENCES</a:t>
            </a:r>
          </a:p>
        </p:txBody>
      </p:sp>
      <p:sp>
        <p:nvSpPr>
          <p:cNvPr id="4" name="TextBox 3"/>
          <p:cNvSpPr txBox="1"/>
          <p:nvPr/>
        </p:nvSpPr>
        <p:spPr>
          <a:xfrm>
            <a:off x="1810512" y="1143000"/>
            <a:ext cx="6986015" cy="5440680"/>
          </a:xfrm>
          <a:prstGeom prst="rect">
            <a:avLst/>
          </a:prstGeom>
          <a:noFill/>
        </p:spPr>
        <p:txBody>
          <a:bodyPr wrap="square" lIns="54864" tIns="54864" rIns="54864" bIns="54864" anchor="t"/>
          <a:lstStyle/>
          <a:p>
            <a:pPr marL="0" indent="0" algn="just">
              <a:spcAft>
                <a:spcPts val="600"/>
              </a:spcAft>
              <a:buNone/>
            </a:pPr>
            <a:r>
              <a:rPr sz="1100" b="0" i="0" dirty="0">
                <a:solidFill>
                  <a:srgbClr val="262626"/>
                </a:solidFill>
                <a:latin typeface="Arial"/>
              </a:rPr>
              <a:t>Samuel, A.L. (1959) ‘Some studies in machine learning using the game of checkers’, IBM Journal of Research and Development, 3(3), pp. 210</a:t>
            </a:r>
            <a:r>
              <a:rPr lang="en-GB" sz="1100" b="0" i="0" dirty="0">
                <a:solidFill>
                  <a:srgbClr val="262626"/>
                </a:solidFill>
                <a:latin typeface="Arial"/>
              </a:rPr>
              <a:t>-</a:t>
            </a:r>
            <a:r>
              <a:rPr sz="1100" b="0" i="0" dirty="0">
                <a:solidFill>
                  <a:srgbClr val="262626"/>
                </a:solidFill>
                <a:latin typeface="Arial"/>
              </a:rPr>
              <a:t>229.</a:t>
            </a:r>
          </a:p>
          <a:p>
            <a:pPr marL="0" indent="0" algn="just">
              <a:spcAft>
                <a:spcPts val="600"/>
              </a:spcAft>
              <a:buNone/>
            </a:pPr>
            <a:r>
              <a:rPr sz="1100" b="0" i="0" dirty="0">
                <a:solidFill>
                  <a:srgbClr val="262626"/>
                </a:solidFill>
                <a:latin typeface="Arial"/>
              </a:rPr>
              <a:t>Searle, J.R. (1980) ‘Minds, brains, and programs’, Behavioral and Brain Sciences, 3(3), pp. 417</a:t>
            </a:r>
            <a:r>
              <a:rPr lang="en-GB" sz="1100" b="0" i="0" dirty="0">
                <a:solidFill>
                  <a:srgbClr val="262626"/>
                </a:solidFill>
                <a:latin typeface="Arial"/>
              </a:rPr>
              <a:t>-</a:t>
            </a:r>
            <a:r>
              <a:rPr sz="1100" b="0" i="0" dirty="0">
                <a:solidFill>
                  <a:srgbClr val="262626"/>
                </a:solidFill>
                <a:latin typeface="Arial"/>
              </a:rPr>
              <a:t>424.</a:t>
            </a:r>
          </a:p>
          <a:p>
            <a:pPr marL="0" indent="0" algn="just">
              <a:spcAft>
                <a:spcPts val="600"/>
              </a:spcAft>
              <a:buNone/>
            </a:pPr>
            <a:r>
              <a:rPr sz="1100" b="0" i="0" dirty="0">
                <a:solidFill>
                  <a:srgbClr val="262626"/>
                </a:solidFill>
                <a:latin typeface="Arial"/>
              </a:rPr>
              <a:t>Shannon, C.E. (1950) ‘Programming a computer for playing chess’, Philosophical Magazine, 41(314), pp. 256</a:t>
            </a:r>
            <a:r>
              <a:rPr lang="en-GB" sz="1100" b="0" i="0" dirty="0">
                <a:solidFill>
                  <a:srgbClr val="262626"/>
                </a:solidFill>
                <a:latin typeface="Arial"/>
              </a:rPr>
              <a:t>-</a:t>
            </a:r>
            <a:r>
              <a:rPr sz="1100" b="0" i="0" dirty="0">
                <a:solidFill>
                  <a:srgbClr val="262626"/>
                </a:solidFill>
                <a:latin typeface="Arial"/>
              </a:rPr>
              <a:t>275.</a:t>
            </a:r>
          </a:p>
          <a:p>
            <a:pPr marL="0" indent="0" algn="just">
              <a:spcAft>
                <a:spcPts val="600"/>
              </a:spcAft>
              <a:buNone/>
            </a:pPr>
            <a:r>
              <a:rPr sz="1100" b="0" i="0" dirty="0">
                <a:solidFill>
                  <a:srgbClr val="262626"/>
                </a:solidFill>
                <a:latin typeface="Arial"/>
              </a:rPr>
              <a:t>Silver, D. et al. (2016) ‘Mastering the game of Go with deep neural networks and tree search’, Nature, 529, pp. 484</a:t>
            </a:r>
            <a:r>
              <a:rPr lang="en-GB" sz="1100" b="0" i="0" dirty="0">
                <a:solidFill>
                  <a:srgbClr val="262626"/>
                </a:solidFill>
                <a:latin typeface="Arial"/>
              </a:rPr>
              <a:t>-</a:t>
            </a:r>
            <a:r>
              <a:rPr sz="1100" b="0" i="0" dirty="0">
                <a:solidFill>
                  <a:srgbClr val="262626"/>
                </a:solidFill>
                <a:latin typeface="Arial"/>
              </a:rPr>
              <a:t>489.</a:t>
            </a:r>
          </a:p>
          <a:p>
            <a:pPr marL="0" indent="0" algn="just">
              <a:spcAft>
                <a:spcPts val="600"/>
              </a:spcAft>
              <a:buNone/>
            </a:pPr>
            <a:r>
              <a:rPr sz="1100" b="0" i="0" dirty="0">
                <a:solidFill>
                  <a:srgbClr val="262626"/>
                </a:solidFill>
                <a:latin typeface="Arial"/>
              </a:rPr>
              <a:t>Simon, H.A. (1965) The Shape of Automation for Men and Management. New York: Harper &amp; Row.</a:t>
            </a:r>
          </a:p>
          <a:p>
            <a:pPr marL="0" indent="0" algn="just">
              <a:spcAft>
                <a:spcPts val="600"/>
              </a:spcAft>
              <a:buNone/>
            </a:pPr>
            <a:r>
              <a:rPr sz="1100" b="0" i="0" dirty="0">
                <a:solidFill>
                  <a:srgbClr val="262626"/>
                </a:solidFill>
                <a:latin typeface="Arial"/>
              </a:rPr>
              <a:t>Turing, A.M. (1950) ‘Computing machinery and intelligence’, Mind, 59(236), pp. 433</a:t>
            </a:r>
            <a:r>
              <a:rPr lang="en-GB" sz="1100" b="0" i="0" dirty="0">
                <a:solidFill>
                  <a:srgbClr val="262626"/>
                </a:solidFill>
                <a:latin typeface="Arial"/>
              </a:rPr>
              <a:t>-</a:t>
            </a:r>
            <a:r>
              <a:rPr sz="1100" b="0" i="0" dirty="0">
                <a:solidFill>
                  <a:srgbClr val="262626"/>
                </a:solidFill>
                <a:latin typeface="Arial"/>
              </a:rPr>
              <a:t>460.</a:t>
            </a:r>
          </a:p>
          <a:p>
            <a:pPr marL="0" indent="0" algn="just">
              <a:spcAft>
                <a:spcPts val="600"/>
              </a:spcAft>
              <a:buNone/>
            </a:pPr>
            <a:r>
              <a:rPr sz="1100" b="0" i="0" dirty="0">
                <a:solidFill>
                  <a:srgbClr val="262626"/>
                </a:solidFill>
                <a:latin typeface="Arial"/>
              </a:rPr>
              <a:t>Turpin, M., Michael, J., Perez, E. and Bowman, S.R. (2023) ‘Language models don’t always say what they think: unfaithful explanations in chain-of-thought prompting’, Advances in Neural Information Processing Systems, 36.</a:t>
            </a:r>
          </a:p>
          <a:p>
            <a:pPr marL="0" indent="0" algn="just">
              <a:spcAft>
                <a:spcPts val="600"/>
              </a:spcAft>
              <a:buNone/>
            </a:pPr>
            <a:r>
              <a:rPr sz="1100" b="0" i="0" dirty="0">
                <a:solidFill>
                  <a:srgbClr val="262626"/>
                </a:solidFill>
                <a:latin typeface="Arial"/>
              </a:rPr>
              <a:t>Vaswani, A. et al. (2017) ‘Attention is all you need’, Advances in Neural Information Processing Systems, 30.</a:t>
            </a:r>
          </a:p>
          <a:p>
            <a:pPr marL="0" indent="0" algn="just">
              <a:spcAft>
                <a:spcPts val="600"/>
              </a:spcAft>
              <a:buNone/>
            </a:pPr>
            <a:r>
              <a:rPr sz="1100" b="0" i="0" dirty="0" err="1">
                <a:solidFill>
                  <a:srgbClr val="262626"/>
                </a:solidFill>
                <a:latin typeface="Arial"/>
              </a:rPr>
              <a:t>Weizenbaum</a:t>
            </a:r>
            <a:r>
              <a:rPr sz="1100" b="0" i="0" dirty="0">
                <a:solidFill>
                  <a:srgbClr val="262626"/>
                </a:solidFill>
                <a:latin typeface="Arial"/>
              </a:rPr>
              <a:t>, J. (1966) ‘ELIZA: a computer program for the study of natural language communication between man and machine’, Communications of the ACM, 9(1), pp. 36</a:t>
            </a:r>
            <a:r>
              <a:rPr lang="en-GB" sz="1100" b="0" i="0" dirty="0">
                <a:solidFill>
                  <a:srgbClr val="262626"/>
                </a:solidFill>
                <a:latin typeface="Arial"/>
              </a:rPr>
              <a:t>-</a:t>
            </a:r>
            <a:r>
              <a:rPr sz="1100" b="0" i="0" dirty="0">
                <a:solidFill>
                  <a:srgbClr val="262626"/>
                </a:solidFill>
                <a:latin typeface="Arial"/>
              </a:rPr>
              <a:t>45.</a:t>
            </a:r>
          </a:p>
          <a:p>
            <a:pPr marL="0" indent="0" algn="just">
              <a:spcAft>
                <a:spcPts val="600"/>
              </a:spcAft>
              <a:buNone/>
            </a:pPr>
            <a:r>
              <a:rPr sz="1100" b="0" i="0" dirty="0">
                <a:solidFill>
                  <a:srgbClr val="262626"/>
                </a:solidFill>
                <a:latin typeface="Arial"/>
              </a:rPr>
              <a:t>Zadeh, L.A. (1965) ‘Fuzzy sets’, Information and Control, 8(3), pp. 338</a:t>
            </a:r>
            <a:r>
              <a:rPr lang="en-GB" sz="1100" b="0" i="0" dirty="0">
                <a:solidFill>
                  <a:srgbClr val="262626"/>
                </a:solidFill>
                <a:latin typeface="Arial"/>
              </a:rPr>
              <a:t>-</a:t>
            </a:r>
            <a:r>
              <a:rPr sz="1100" b="0" i="0" dirty="0">
                <a:solidFill>
                  <a:srgbClr val="262626"/>
                </a:solidFill>
                <a:latin typeface="Arial"/>
              </a:rPr>
              <a:t>353.</a:t>
            </a:r>
          </a:p>
        </p:txBody>
      </p:sp>
    </p:spTree>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0</TotalTime>
  <Words>11638</Words>
  <Application>Microsoft Office PowerPoint</Application>
  <PresentationFormat>On-screen Show (4:3)</PresentationFormat>
  <Paragraphs>1196</Paragraphs>
  <Slides>123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123</vt:i4>
      </vt:variant>
    </vt:vector>
  </HeadingPairs>
  <TitlesOfParts>
    <vt:vector size="128" baseType="lpstr">
      <vt:lpstr>Arial</vt:lpstr>
      <vt:lpstr>Arial</vt:lpstr>
      <vt:lpstr>Calibri</vt:lpstr>
      <vt:lpstr>Segoe UI</vt:lpstr>
      <vt:lpstr>2_Office Theme</vt:lpstr>
      <vt:lpstr>Introduction Frontiers in AI and Data Science   </vt:lpstr>
      <vt:lpstr>About this lecture</vt:lpstr>
      <vt:lpstr>Instructor Contact &amp; Resources </vt:lpstr>
      <vt:lpstr>Resources and tools</vt:lpstr>
      <vt:lpstr>Outlook 1</vt:lpstr>
      <vt:lpstr>Core textbooks </vt:lpstr>
      <vt:lpstr>How to use the textbooks</vt:lpstr>
      <vt:lpstr>Module topics (Teaching Weeks)</vt:lpstr>
      <vt:lpstr>Reading the module table</vt:lpstr>
      <vt:lpstr>How the module is built</vt:lpstr>
      <vt:lpstr>Learning outcomes</vt:lpstr>
      <vt:lpstr>What the outcomes ask of you</vt:lpstr>
      <vt:lpstr>Check your understanding</vt:lpstr>
      <vt:lpstr>Check your understanding: answer</vt:lpstr>
      <vt:lpstr>Check your understanding</vt:lpstr>
      <vt:lpstr>Check your understanding: answer</vt:lpstr>
      <vt:lpstr>Outlook 2</vt:lpstr>
      <vt:lpstr>Data Mining</vt:lpstr>
      <vt:lpstr>Section overview: data mining</vt:lpstr>
      <vt:lpstr>What is Data Mining?</vt:lpstr>
      <vt:lpstr>The images: market baskets</vt:lpstr>
      <vt:lpstr>Unpacking the definition</vt:lpstr>
      <vt:lpstr>Aim of Data Mining</vt:lpstr>
      <vt:lpstr>The figure: rich data, poor information</vt:lpstr>
      <vt:lpstr>What makes a pattern interesting?</vt:lpstr>
      <vt:lpstr>An important step of knowledge discovery</vt:lpstr>
      <vt:lpstr>The figure: the KDD process</vt:lpstr>
      <vt:lpstr>The five steps of KDD</vt:lpstr>
      <vt:lpstr>Check your understanding</vt:lpstr>
      <vt:lpstr>Check your understanding: answer</vt:lpstr>
      <vt:lpstr>Check your understanding</vt:lpstr>
      <vt:lpstr>Check your understanding: answer</vt:lpstr>
      <vt:lpstr>Data Mining example</vt:lpstr>
      <vt:lpstr>The figure: table and tree</vt:lpstr>
      <vt:lpstr>Would you trust this rule?</vt:lpstr>
      <vt:lpstr>Check your understanding</vt:lpstr>
      <vt:lpstr>Check your understanding: answer</vt:lpstr>
      <vt:lpstr>Artificial Intelligence (AI) </vt:lpstr>
      <vt:lpstr>Section overview: AI</vt:lpstr>
      <vt:lpstr>What is AI?</vt:lpstr>
      <vt:lpstr>The figure: eight definitions</vt:lpstr>
      <vt:lpstr>Four approaches to AI</vt:lpstr>
      <vt:lpstr>Check your understanding</vt:lpstr>
      <vt:lpstr>Check your understanding: answer</vt:lpstr>
      <vt:lpstr>Modern or Your Definition </vt:lpstr>
      <vt:lpstr>Comparing the definitions</vt:lpstr>
      <vt:lpstr>The title of the module</vt:lpstr>
      <vt:lpstr>The image: why the confusion?</vt:lpstr>
      <vt:lpstr>Data mining, ML and AI</vt:lpstr>
      <vt:lpstr>Relations between Data Mining, Machine Learning, AI and others </vt:lpstr>
      <vt:lpstr>Reading the diagram</vt:lpstr>
      <vt:lpstr>Check your understanding</vt:lpstr>
      <vt:lpstr>Check your understanding: answer</vt:lpstr>
      <vt:lpstr>A bit of History of AI</vt:lpstr>
      <vt:lpstr>Section overview: history</vt:lpstr>
      <vt:lpstr>A bit of history of AI (start)</vt:lpstr>
      <vt:lpstr>The images: Mind and Turing</vt:lpstr>
      <vt:lpstr>From Aristotle to Turing</vt:lpstr>
      <vt:lpstr>A bit of history of AI (born)</vt:lpstr>
      <vt:lpstr>The images: Dartmouth 1956</vt:lpstr>
      <vt:lpstr>Dartmouth 1956</vt:lpstr>
      <vt:lpstr>Check your understanding</vt:lpstr>
      <vt:lpstr>Check your understanding: answer</vt:lpstr>
      <vt:lpstr>A bit of history of AI (early days)</vt:lpstr>
      <vt:lpstr>The figure: a game tree</vt:lpstr>
      <vt:lpstr>Game playing as search</vt:lpstr>
      <vt:lpstr>A bit of history of AI (victory)</vt:lpstr>
      <vt:lpstr>The image and the link</vt:lpstr>
      <vt:lpstr>From Deep Blue to AlphaGo</vt:lpstr>
      <vt:lpstr>Check your understanding</vt:lpstr>
      <vt:lpstr>Check your understanding: answer</vt:lpstr>
      <vt:lpstr>A bit of history of AI (development)</vt:lpstr>
      <vt:lpstr>The figure: logic notation</vt:lpstr>
      <vt:lpstr>Four early directions</vt:lpstr>
      <vt:lpstr>A bit of history of AI  (golden years)</vt:lpstr>
      <vt:lpstr>The golden years: lessons</vt:lpstr>
      <vt:lpstr>A bit of history of AI  (1ST AI winter)</vt:lpstr>
      <vt:lpstr>Why the first winter came</vt:lpstr>
      <vt:lpstr>A bit of history of AI (Rebranding)</vt:lpstr>
      <vt:lpstr>How expert systems worked</vt:lpstr>
      <vt:lpstr>A bit of history of AI  (2nd AI winter)</vt:lpstr>
      <vt:lpstr>Why expert systems failed</vt:lpstr>
      <vt:lpstr>Check your understanding</vt:lpstr>
      <vt:lpstr>Check your understanding: answer</vt:lpstr>
      <vt:lpstr>A bit of history of AI  (late 80s to 90s new ideas)</vt:lpstr>
      <vt:lpstr>The ideas behind today’s AI</vt:lpstr>
      <vt:lpstr>Winter again</vt:lpstr>
      <vt:lpstr>The image: an AI winter</vt:lpstr>
      <vt:lpstr>Could winter come again?</vt:lpstr>
      <vt:lpstr>Brief history of AI  (booming today)</vt:lpstr>
      <vt:lpstr>Milestones of the boom</vt:lpstr>
      <vt:lpstr>Check your understanding</vt:lpstr>
      <vt:lpstr>Check your understanding: answer</vt:lpstr>
      <vt:lpstr>Branches of AI technologies</vt:lpstr>
      <vt:lpstr>The figure: branches of AI</vt:lpstr>
      <vt:lpstr>Branches work together</vt:lpstr>
      <vt:lpstr>Branches of AI technologies by application</vt:lpstr>
      <vt:lpstr>The figure: AI by application</vt:lpstr>
      <vt:lpstr>Intelligent level</vt:lpstr>
      <vt:lpstr>The diagram: levels of intelligence</vt:lpstr>
      <vt:lpstr>Demo: can AI explain itself?</vt:lpstr>
      <vt:lpstr>Check your understanding</vt:lpstr>
      <vt:lpstr>Check your understanding: answer</vt:lpstr>
      <vt:lpstr>Check your understanding</vt:lpstr>
      <vt:lpstr>Check your understanding: answer</vt:lpstr>
      <vt:lpstr>Module topics (Teaching Weeks)</vt:lpstr>
      <vt:lpstr>Why the plan appears again</vt:lpstr>
      <vt:lpstr>Turing test</vt:lpstr>
      <vt:lpstr>Section overview: Turing test</vt:lpstr>
      <vt:lpstr>Turing test</vt:lpstr>
      <vt:lpstr>The links on the slide</vt:lpstr>
      <vt:lpstr>The Turing test: then and now</vt:lpstr>
      <vt:lpstr>Check your understanding</vt:lpstr>
      <vt:lpstr>Check your understanding: answer</vt:lpstr>
      <vt:lpstr>Check your understanding</vt:lpstr>
      <vt:lpstr>Check your understanding: answer</vt:lpstr>
      <vt:lpstr>Summary</vt:lpstr>
      <vt:lpstr>Practice, home work and further reading</vt:lpstr>
      <vt:lpstr>Strong vs weak AI</vt:lpstr>
      <vt:lpstr>References (1/4)</vt:lpstr>
      <vt:lpstr>References (2/4)</vt:lpstr>
      <vt:lpstr>References (3/4)</vt:lpstr>
      <vt:lpstr>References (4/4)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of Data Mining and AI   Dr Hong Qing Yu (Harry)</dc:title>
  <dc:creator>Xia</dc:creator>
  <cp:lastModifiedBy>ΤΣΑΛΛΗΣ ΧΡΗΣΤΟΣ</cp:lastModifiedBy>
  <cp:revision>79</cp:revision>
  <dcterms:created xsi:type="dcterms:W3CDTF">2006-08-16T00:00:00Z</dcterms:created>
  <dcterms:modified xsi:type="dcterms:W3CDTF">2026-10-09T14:33:44Z</dcterms:modified>
</cp:coreProperties>
</file>
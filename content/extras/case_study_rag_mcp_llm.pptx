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6" r:id="rId6"/>
    <p:sldId id="268" r:id="rId7"/>
    <p:sldId id="261" r:id="rId8"/>
    <p:sldId id="262" r:id="rId9"/>
    <p:sldId id="263" r:id="rId10"/>
    <p:sldId id="264" r:id="rId11"/>
    <p:sldId id="265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78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955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3453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419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842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35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60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757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280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997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9318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743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olsover.gov.uk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ideo 3" descr="Snowflake Ornaments">
            <a:extLst>
              <a:ext uri="{FF2B5EF4-FFF2-40B4-BE49-F238E27FC236}">
                <a16:creationId xmlns:a16="http://schemas.microsoft.com/office/drawing/2014/main" id="{9E03A24B-733B-9690-71DD-CCB39CE102D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-1" b="283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AF66B7C-69F6-439C-A508-14C94AF6B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961948" y="0"/>
            <a:ext cx="7230052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F3B32B-D4D5-D4B6-8E16-0DB2E2A744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784" y="520752"/>
            <a:ext cx="10733841" cy="3427867"/>
          </a:xfrm>
        </p:spPr>
        <p:txBody>
          <a:bodyPr anchor="t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GB" sz="4600" dirty="0">
                <a:solidFill>
                  <a:srgbClr val="FF0000"/>
                </a:solidFill>
              </a:rPr>
              <a:t>A Case Study of RAG+MCP LLM System (Happy new year special session)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BFCB75-9932-F099-BC9A-B9BF7B9ACF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60278" y="4651302"/>
            <a:ext cx="5793376" cy="1491589"/>
          </a:xfrm>
        </p:spPr>
        <p:txBody>
          <a:bodyPr anchor="t">
            <a:normAutofit fontScale="92500"/>
          </a:bodyPr>
          <a:lstStyle/>
          <a:p>
            <a:pPr algn="r"/>
            <a:r>
              <a:rPr lang="en-GB" dirty="0">
                <a:solidFill>
                  <a:schemeClr val="accent4"/>
                </a:solidFill>
              </a:rPr>
              <a:t>Dr Hongqing Yu (Harry)</a:t>
            </a:r>
          </a:p>
          <a:p>
            <a:pPr algn="r"/>
            <a:r>
              <a:rPr lang="en-GB" dirty="0">
                <a:solidFill>
                  <a:schemeClr val="accent4"/>
                </a:solidFill>
              </a:rPr>
              <a:t>Associate Professor in data science</a:t>
            </a:r>
          </a:p>
          <a:p>
            <a:pPr algn="r"/>
            <a:r>
              <a:rPr lang="en-GB" dirty="0">
                <a:solidFill>
                  <a:schemeClr val="accent4"/>
                </a:solidFill>
              </a:rPr>
              <a:t>University of Derby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6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1806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F5A1D-ADAD-76B4-BFDB-1EA0EF0BC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Aim of the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A530B-C141-3356-B083-4EC2BC7B2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Introduce the real application developed for Bolsover District Council</a:t>
            </a:r>
          </a:p>
          <a:p>
            <a:endParaRPr lang="en-GB" dirty="0"/>
          </a:p>
          <a:p>
            <a:r>
              <a:rPr lang="en-GB" dirty="0"/>
              <a:t>To learn RAG system development and MCP concept</a:t>
            </a:r>
          </a:p>
          <a:p>
            <a:endParaRPr lang="en-GB" dirty="0"/>
          </a:p>
          <a:p>
            <a:r>
              <a:rPr lang="en-GB" dirty="0"/>
              <a:t>Further discussions on </a:t>
            </a:r>
            <a:r>
              <a:rPr lang="en-GB" dirty="0" err="1"/>
              <a:t>LoRA</a:t>
            </a:r>
            <a:r>
              <a:rPr lang="en-GB" dirty="0"/>
              <a:t> for Fine-Tuning LLMs (Jiaqi Song </a:t>
            </a:r>
            <a:r>
              <a:rPr lang="en-GB" dirty="0" err="1"/>
              <a:t>Xianwei</a:t>
            </a:r>
            <a:r>
              <a:rPr lang="en-GB" dirty="0"/>
              <a:t> Zou Hanshi Sun Steven Kolawole student class presentation slides in 2024)</a:t>
            </a:r>
          </a:p>
        </p:txBody>
      </p:sp>
    </p:spTree>
    <p:extLst>
      <p:ext uri="{BB962C8B-B14F-4D97-AF65-F5344CB8AC3E}">
        <p14:creationId xmlns:p14="http://schemas.microsoft.com/office/powerpoint/2010/main" val="1185094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32F1E-02AE-6F9F-4C07-FFB4A8420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Bolsover District Council 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7671A-9492-EE9D-8953-29BC140F2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Bad organised information and human centric Q/A phone call services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D442B4-BDD3-3461-2166-F8C4BEA6C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3241169"/>
            <a:ext cx="9115426" cy="361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656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E7A29-FEB2-0A16-B8CC-63D41B885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Can AI Support to searching and answer complex questions to citizens?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D9C82-6C22-2E6C-BDBA-21FAB5B36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Does the council ready? </a:t>
            </a:r>
            <a:r>
              <a:rPr lang="en-GB" dirty="0">
                <a:hlinkClick r:id="rId2"/>
              </a:rPr>
              <a:t>Home</a:t>
            </a:r>
            <a:endParaRPr lang="en-GB" b="1" dirty="0">
              <a:solidFill>
                <a:schemeClr val="accent4"/>
              </a:solidFill>
            </a:endParaRPr>
          </a:p>
          <a:p>
            <a:endParaRPr lang="en-GB" dirty="0"/>
          </a:p>
          <a:p>
            <a:r>
              <a:rPr lang="en-GB" dirty="0"/>
              <a:t>What technology do we need to provide the solution? </a:t>
            </a:r>
            <a:r>
              <a:rPr lang="en-GB" dirty="0">
                <a:solidFill>
                  <a:schemeClr val="accent4"/>
                </a:solidFill>
              </a:rPr>
              <a:t>Trustable, Evidenced, Thinking process</a:t>
            </a:r>
          </a:p>
          <a:p>
            <a:endParaRPr lang="en-GB" dirty="0"/>
          </a:p>
          <a:p>
            <a:r>
              <a:rPr lang="en-GB" dirty="0"/>
              <a:t>Cost?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50C90F-01DC-C5ED-C922-802A58D287BF}"/>
              </a:ext>
            </a:extLst>
          </p:cNvPr>
          <p:cNvSpPr txBox="1"/>
          <p:nvPr/>
        </p:nvSpPr>
        <p:spPr>
          <a:xfrm>
            <a:off x="4791075" y="2733675"/>
            <a:ext cx="11272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>
                <a:solidFill>
                  <a:schemeClr val="accent4"/>
                </a:solidFill>
              </a:rPr>
              <a:t>No</a:t>
            </a:r>
            <a:endParaRPr lang="en-GB" sz="6000" dirty="0"/>
          </a:p>
        </p:txBody>
      </p:sp>
    </p:spTree>
    <p:extLst>
      <p:ext uri="{BB962C8B-B14F-4D97-AF65-F5344CB8AC3E}">
        <p14:creationId xmlns:p14="http://schemas.microsoft.com/office/powerpoint/2010/main" val="139080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5B0F2-785B-5D6F-C95D-2B1CBC242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Unique AI Framework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7157AC-522D-7BC7-0EE7-AEF424D7A280}"/>
              </a:ext>
            </a:extLst>
          </p:cNvPr>
          <p:cNvSpPr/>
          <p:nvPr/>
        </p:nvSpPr>
        <p:spPr>
          <a:xfrm>
            <a:off x="772681" y="2708529"/>
            <a:ext cx="1435608" cy="21762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AI Interface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F488836-2AF7-13E4-1103-3EE413D5AFEB}"/>
              </a:ext>
            </a:extLst>
          </p:cNvPr>
          <p:cNvSpPr/>
          <p:nvPr/>
        </p:nvSpPr>
        <p:spPr>
          <a:xfrm>
            <a:off x="4731994" y="2707834"/>
            <a:ext cx="1435608" cy="11321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Reasoning Logic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2631CE5-857B-E195-E8BD-043A11D58209}"/>
              </a:ext>
            </a:extLst>
          </p:cNvPr>
          <p:cNvSpPr/>
          <p:nvPr/>
        </p:nvSpPr>
        <p:spPr>
          <a:xfrm>
            <a:off x="3165276" y="2707834"/>
            <a:ext cx="1435608" cy="21762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MCP client Agent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D9A192-D634-6267-AFE1-E3881555B3D3}"/>
              </a:ext>
            </a:extLst>
          </p:cNvPr>
          <p:cNvSpPr/>
          <p:nvPr/>
        </p:nvSpPr>
        <p:spPr>
          <a:xfrm>
            <a:off x="361569" y="2187321"/>
            <a:ext cx="2167128" cy="3255264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4237C9-3114-1970-5C6B-EC16F3F933AA}"/>
              </a:ext>
            </a:extLst>
          </p:cNvPr>
          <p:cNvSpPr txBox="1"/>
          <p:nvPr/>
        </p:nvSpPr>
        <p:spPr>
          <a:xfrm>
            <a:off x="442480" y="5136861"/>
            <a:ext cx="2265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Front-end Container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AC6C51-1962-D1B6-4C8C-44998A333F02}"/>
              </a:ext>
            </a:extLst>
          </p:cNvPr>
          <p:cNvSpPr/>
          <p:nvPr/>
        </p:nvSpPr>
        <p:spPr>
          <a:xfrm>
            <a:off x="3072312" y="2193830"/>
            <a:ext cx="3215178" cy="3255264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F53079-0BCE-9C5A-A38B-1FB2DCE37A3C}"/>
              </a:ext>
            </a:extLst>
          </p:cNvPr>
          <p:cNvSpPr txBox="1"/>
          <p:nvPr/>
        </p:nvSpPr>
        <p:spPr>
          <a:xfrm>
            <a:off x="3058522" y="5150020"/>
            <a:ext cx="2556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Middle Layer Container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7B8DCB-C8ED-3E6D-996B-9B2B16EB4FE5}"/>
              </a:ext>
            </a:extLst>
          </p:cNvPr>
          <p:cNvSpPr/>
          <p:nvPr/>
        </p:nvSpPr>
        <p:spPr>
          <a:xfrm>
            <a:off x="6810351" y="2193830"/>
            <a:ext cx="3215178" cy="3255264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CCFE0A-8D8E-11D3-1058-62CF9BBDD455}"/>
              </a:ext>
            </a:extLst>
          </p:cNvPr>
          <p:cNvSpPr txBox="1"/>
          <p:nvPr/>
        </p:nvSpPr>
        <p:spPr>
          <a:xfrm>
            <a:off x="6889969" y="5112752"/>
            <a:ext cx="2098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Backend Container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91B372-A2EB-4018-3E72-4DD8AB2D1386}"/>
              </a:ext>
            </a:extLst>
          </p:cNvPr>
          <p:cNvSpPr/>
          <p:nvPr/>
        </p:nvSpPr>
        <p:spPr>
          <a:xfrm>
            <a:off x="4745157" y="3876326"/>
            <a:ext cx="1435608" cy="10066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Business Logic 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18F4293-E867-BD0D-9DB3-4FC0F6EE0F77}"/>
              </a:ext>
            </a:extLst>
          </p:cNvPr>
          <p:cNvSpPr/>
          <p:nvPr/>
        </p:nvSpPr>
        <p:spPr>
          <a:xfrm>
            <a:off x="6991199" y="2717024"/>
            <a:ext cx="2948329" cy="10809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MCP servers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B08F62C-9BF9-0076-55A1-DEA0E48901BD}"/>
              </a:ext>
            </a:extLst>
          </p:cNvPr>
          <p:cNvSpPr/>
          <p:nvPr/>
        </p:nvSpPr>
        <p:spPr>
          <a:xfrm>
            <a:off x="10566544" y="2441448"/>
            <a:ext cx="1307726" cy="25862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Data Sources 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39F5C19-0137-0FEE-1434-CE20C2DFCDC4}"/>
              </a:ext>
            </a:extLst>
          </p:cNvPr>
          <p:cNvSpPr/>
          <p:nvPr/>
        </p:nvSpPr>
        <p:spPr>
          <a:xfrm>
            <a:off x="8551913" y="3876060"/>
            <a:ext cx="1435608" cy="10809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Data storage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AA5188C-5DB4-C31A-C967-424C479FFA3E}"/>
              </a:ext>
            </a:extLst>
          </p:cNvPr>
          <p:cNvSpPr/>
          <p:nvPr/>
        </p:nvSpPr>
        <p:spPr>
          <a:xfrm>
            <a:off x="6963328" y="3850336"/>
            <a:ext cx="1435608" cy="10809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operations</a:t>
            </a:r>
          </a:p>
        </p:txBody>
      </p:sp>
      <p:sp>
        <p:nvSpPr>
          <p:cNvPr id="21" name="Arrow: Left-Right 20">
            <a:extLst>
              <a:ext uri="{FF2B5EF4-FFF2-40B4-BE49-F238E27FC236}">
                <a16:creationId xmlns:a16="http://schemas.microsoft.com/office/drawing/2014/main" id="{ACCB4DEA-C29C-FCA4-4199-39CDA3858FD6}"/>
              </a:ext>
            </a:extLst>
          </p:cNvPr>
          <p:cNvSpPr/>
          <p:nvPr/>
        </p:nvSpPr>
        <p:spPr>
          <a:xfrm>
            <a:off x="2528697" y="3552825"/>
            <a:ext cx="534979" cy="24518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Arrow: Left-Right 21">
            <a:extLst>
              <a:ext uri="{FF2B5EF4-FFF2-40B4-BE49-F238E27FC236}">
                <a16:creationId xmlns:a16="http://schemas.microsoft.com/office/drawing/2014/main" id="{4E15CC70-44CA-8D25-5F62-468AA7EA94F8}"/>
              </a:ext>
            </a:extLst>
          </p:cNvPr>
          <p:cNvSpPr/>
          <p:nvPr/>
        </p:nvSpPr>
        <p:spPr>
          <a:xfrm>
            <a:off x="6278099" y="3489377"/>
            <a:ext cx="534979" cy="24518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Arrow: Left 23">
            <a:extLst>
              <a:ext uri="{FF2B5EF4-FFF2-40B4-BE49-F238E27FC236}">
                <a16:creationId xmlns:a16="http://schemas.microsoft.com/office/drawing/2014/main" id="{8B68A51D-4EBB-D6BE-E935-3A14345F0D6F}"/>
              </a:ext>
            </a:extLst>
          </p:cNvPr>
          <p:cNvSpPr/>
          <p:nvPr/>
        </p:nvSpPr>
        <p:spPr>
          <a:xfrm>
            <a:off x="10025529" y="3489377"/>
            <a:ext cx="522861" cy="30863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8283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43439-B902-0451-0E29-5DA19E19D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67" y="979274"/>
            <a:ext cx="11155680" cy="1463040"/>
          </a:xfrm>
        </p:spPr>
        <p:txBody>
          <a:bodyPr/>
          <a:lstStyle/>
          <a:p>
            <a:r>
              <a:rPr lang="en-GB" dirty="0"/>
              <a:t>Chatbot system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2997DE3-5630-CFFD-0A22-DC0AC7442BB1}"/>
              </a:ext>
            </a:extLst>
          </p:cNvPr>
          <p:cNvSpPr/>
          <p:nvPr/>
        </p:nvSpPr>
        <p:spPr>
          <a:xfrm>
            <a:off x="772681" y="2269617"/>
            <a:ext cx="1435608" cy="21762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AI Interface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B0D1F4B-1FE0-497E-DBE5-616C07C28BB4}"/>
              </a:ext>
            </a:extLst>
          </p:cNvPr>
          <p:cNvSpPr/>
          <p:nvPr/>
        </p:nvSpPr>
        <p:spPr>
          <a:xfrm>
            <a:off x="3165276" y="2268922"/>
            <a:ext cx="1435608" cy="21762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MCP client Agent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3456F1-359A-1F3E-1EED-233E943EB871}"/>
              </a:ext>
            </a:extLst>
          </p:cNvPr>
          <p:cNvSpPr/>
          <p:nvPr/>
        </p:nvSpPr>
        <p:spPr>
          <a:xfrm>
            <a:off x="361569" y="1748409"/>
            <a:ext cx="2167128" cy="3255264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0C06F3-3393-2988-70A5-EA7F5B267DEE}"/>
              </a:ext>
            </a:extLst>
          </p:cNvPr>
          <p:cNvSpPr txBox="1"/>
          <p:nvPr/>
        </p:nvSpPr>
        <p:spPr>
          <a:xfrm>
            <a:off x="314464" y="4697949"/>
            <a:ext cx="2265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Front-end Container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4C794E-2F22-0BC4-B3CF-A4B7C8C9EB22}"/>
              </a:ext>
            </a:extLst>
          </p:cNvPr>
          <p:cNvSpPr/>
          <p:nvPr/>
        </p:nvSpPr>
        <p:spPr>
          <a:xfrm>
            <a:off x="3072312" y="1754918"/>
            <a:ext cx="3215178" cy="3255264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E5FFCB-5729-29BD-141D-653801D5D56F}"/>
              </a:ext>
            </a:extLst>
          </p:cNvPr>
          <p:cNvSpPr txBox="1"/>
          <p:nvPr/>
        </p:nvSpPr>
        <p:spPr>
          <a:xfrm>
            <a:off x="3058522" y="4711108"/>
            <a:ext cx="2556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Middle Layer Container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3A10BC4-0450-B6B1-F709-2CE30A6A870B}"/>
              </a:ext>
            </a:extLst>
          </p:cNvPr>
          <p:cNvSpPr/>
          <p:nvPr/>
        </p:nvSpPr>
        <p:spPr>
          <a:xfrm>
            <a:off x="6810351" y="1754918"/>
            <a:ext cx="3215178" cy="3255264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D62C3D-64DE-76D5-1AEA-D525D2E593C3}"/>
              </a:ext>
            </a:extLst>
          </p:cNvPr>
          <p:cNvSpPr txBox="1"/>
          <p:nvPr/>
        </p:nvSpPr>
        <p:spPr>
          <a:xfrm>
            <a:off x="6889969" y="4673840"/>
            <a:ext cx="2098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Backend Container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64BCA9C-2F82-931A-0DCA-B6C271B324A0}"/>
              </a:ext>
            </a:extLst>
          </p:cNvPr>
          <p:cNvSpPr/>
          <p:nvPr/>
        </p:nvSpPr>
        <p:spPr>
          <a:xfrm>
            <a:off x="4745157" y="2278112"/>
            <a:ext cx="1435608" cy="21659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Business Logic 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688ACFB-B472-4D1F-C8AF-995605D393BF}"/>
              </a:ext>
            </a:extLst>
          </p:cNvPr>
          <p:cNvSpPr/>
          <p:nvPr/>
        </p:nvSpPr>
        <p:spPr>
          <a:xfrm>
            <a:off x="6952642" y="3313507"/>
            <a:ext cx="2948329" cy="10809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MCP servers (MS)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17F126B-8A18-C170-6DC0-58BD60BFE0F2}"/>
              </a:ext>
            </a:extLst>
          </p:cNvPr>
          <p:cNvSpPr/>
          <p:nvPr/>
        </p:nvSpPr>
        <p:spPr>
          <a:xfrm>
            <a:off x="10566544" y="2002536"/>
            <a:ext cx="1307726" cy="25862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Data Sources 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D889FD7-5B28-A0E0-A639-BA83267D64A9}"/>
              </a:ext>
            </a:extLst>
          </p:cNvPr>
          <p:cNvSpPr/>
          <p:nvPr/>
        </p:nvSpPr>
        <p:spPr>
          <a:xfrm>
            <a:off x="8465363" y="2182586"/>
            <a:ext cx="1435608" cy="10809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Data storage 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34AC3F1-31AF-69B1-5723-15CE83F5900C}"/>
              </a:ext>
            </a:extLst>
          </p:cNvPr>
          <p:cNvSpPr/>
          <p:nvPr/>
        </p:nvSpPr>
        <p:spPr>
          <a:xfrm>
            <a:off x="6977211" y="2182586"/>
            <a:ext cx="1435608" cy="10809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operations</a:t>
            </a:r>
          </a:p>
        </p:txBody>
      </p:sp>
      <p:sp>
        <p:nvSpPr>
          <p:cNvPr id="33" name="Arrow: Left-Right 32">
            <a:extLst>
              <a:ext uri="{FF2B5EF4-FFF2-40B4-BE49-F238E27FC236}">
                <a16:creationId xmlns:a16="http://schemas.microsoft.com/office/drawing/2014/main" id="{7A109C26-69C3-B1AE-3F13-093AD8F899B6}"/>
              </a:ext>
            </a:extLst>
          </p:cNvPr>
          <p:cNvSpPr/>
          <p:nvPr/>
        </p:nvSpPr>
        <p:spPr>
          <a:xfrm>
            <a:off x="2528697" y="3113913"/>
            <a:ext cx="534979" cy="24518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Arrow: Left-Right 33">
            <a:extLst>
              <a:ext uri="{FF2B5EF4-FFF2-40B4-BE49-F238E27FC236}">
                <a16:creationId xmlns:a16="http://schemas.microsoft.com/office/drawing/2014/main" id="{E22545FC-3AF1-2C5C-E919-64AFBB1A117F}"/>
              </a:ext>
            </a:extLst>
          </p:cNvPr>
          <p:cNvSpPr/>
          <p:nvPr/>
        </p:nvSpPr>
        <p:spPr>
          <a:xfrm>
            <a:off x="6278099" y="3050465"/>
            <a:ext cx="534979" cy="24518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Arrow: Left 34">
            <a:extLst>
              <a:ext uri="{FF2B5EF4-FFF2-40B4-BE49-F238E27FC236}">
                <a16:creationId xmlns:a16="http://schemas.microsoft.com/office/drawing/2014/main" id="{A2BD317D-3BB4-D1FF-504F-0B6733C1BBD7}"/>
              </a:ext>
            </a:extLst>
          </p:cNvPr>
          <p:cNvSpPr/>
          <p:nvPr/>
        </p:nvSpPr>
        <p:spPr>
          <a:xfrm>
            <a:off x="9919125" y="3715867"/>
            <a:ext cx="660171" cy="30863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1DA5753-A5F7-53C4-ABFD-81C3F5FE38AE}"/>
              </a:ext>
            </a:extLst>
          </p:cNvPr>
          <p:cNvSpPr/>
          <p:nvPr/>
        </p:nvSpPr>
        <p:spPr>
          <a:xfrm>
            <a:off x="4848768" y="5417236"/>
            <a:ext cx="1429331" cy="8904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MS </a:t>
            </a:r>
          </a:p>
          <a:p>
            <a:pPr algn="ctr"/>
            <a:r>
              <a:rPr lang="en-GB" sz="1400" dirty="0"/>
              <a:t>Environmental Health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653DE2E-742B-5E4E-F022-7AC96BEFA3B5}"/>
              </a:ext>
            </a:extLst>
          </p:cNvPr>
          <p:cNvSpPr/>
          <p:nvPr/>
        </p:nvSpPr>
        <p:spPr>
          <a:xfrm>
            <a:off x="6409800" y="5417236"/>
            <a:ext cx="1050434" cy="8904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MS </a:t>
            </a:r>
          </a:p>
          <a:p>
            <a:pPr algn="ctr"/>
            <a:r>
              <a:rPr lang="en-GB" sz="1400" dirty="0"/>
              <a:t>Recycling 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D18C2B2-B39A-ADCC-0158-638DD5DFA784}"/>
              </a:ext>
            </a:extLst>
          </p:cNvPr>
          <p:cNvSpPr/>
          <p:nvPr/>
        </p:nvSpPr>
        <p:spPr>
          <a:xfrm>
            <a:off x="7591935" y="5417236"/>
            <a:ext cx="1050434" cy="8904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MS </a:t>
            </a:r>
          </a:p>
          <a:p>
            <a:pPr algn="ctr"/>
            <a:r>
              <a:rPr lang="en-GB" sz="1400" dirty="0"/>
              <a:t>Planning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6502159-A360-87B2-74C8-534C5766CA78}"/>
              </a:ext>
            </a:extLst>
          </p:cNvPr>
          <p:cNvSpPr/>
          <p:nvPr/>
        </p:nvSpPr>
        <p:spPr>
          <a:xfrm>
            <a:off x="8780503" y="5417236"/>
            <a:ext cx="1170464" cy="8904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MS </a:t>
            </a:r>
          </a:p>
          <a:p>
            <a:pPr algn="ctr"/>
            <a:r>
              <a:rPr lang="en-GB" sz="1400" dirty="0"/>
              <a:t>Social Care 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92291CC-773A-4512-A5FF-0F4D69E4A8F6}"/>
              </a:ext>
            </a:extLst>
          </p:cNvPr>
          <p:cNvSpPr/>
          <p:nvPr/>
        </p:nvSpPr>
        <p:spPr>
          <a:xfrm>
            <a:off x="10089101" y="5417236"/>
            <a:ext cx="980389" cy="8904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MS </a:t>
            </a:r>
          </a:p>
          <a:p>
            <a:pPr algn="ctr"/>
            <a:r>
              <a:rPr lang="en-GB" sz="1400" dirty="0"/>
              <a:t>Housing 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4E27359-F7CC-153A-7F57-D5CB604E5D6D}"/>
              </a:ext>
            </a:extLst>
          </p:cNvPr>
          <p:cNvSpPr/>
          <p:nvPr/>
        </p:nvSpPr>
        <p:spPr>
          <a:xfrm>
            <a:off x="11207624" y="5417236"/>
            <a:ext cx="865447" cy="8904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MS </a:t>
            </a:r>
          </a:p>
          <a:p>
            <a:pPr algn="ctr"/>
            <a:r>
              <a:rPr lang="en-GB" sz="1400" dirty="0"/>
              <a:t>Leisure 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2DEAEF3-74E5-0623-AA8D-4986859FBC3B}"/>
              </a:ext>
            </a:extLst>
          </p:cNvPr>
          <p:cNvCxnSpPr>
            <a:stCxn id="29" idx="2"/>
            <a:endCxn id="36" idx="0"/>
          </p:cNvCxnSpPr>
          <p:nvPr/>
        </p:nvCxnSpPr>
        <p:spPr>
          <a:xfrm flipH="1">
            <a:off x="5563434" y="4394493"/>
            <a:ext cx="2863373" cy="1022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C1648C7-854D-BF61-CC6D-DF263915C5E1}"/>
              </a:ext>
            </a:extLst>
          </p:cNvPr>
          <p:cNvCxnSpPr>
            <a:stCxn id="29" idx="2"/>
            <a:endCxn id="37" idx="0"/>
          </p:cNvCxnSpPr>
          <p:nvPr/>
        </p:nvCxnSpPr>
        <p:spPr>
          <a:xfrm flipH="1">
            <a:off x="6935017" y="4394493"/>
            <a:ext cx="1491790" cy="1022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9F0BFF2-EDCA-462D-A4F5-01FC6E41D286}"/>
              </a:ext>
            </a:extLst>
          </p:cNvPr>
          <p:cNvCxnSpPr>
            <a:stCxn id="29" idx="2"/>
            <a:endCxn id="38" idx="0"/>
          </p:cNvCxnSpPr>
          <p:nvPr/>
        </p:nvCxnSpPr>
        <p:spPr>
          <a:xfrm flipH="1">
            <a:off x="8117152" y="4394493"/>
            <a:ext cx="309655" cy="1022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4EF2002-3E74-CE6A-E0C5-AD9864C1D309}"/>
              </a:ext>
            </a:extLst>
          </p:cNvPr>
          <p:cNvCxnSpPr>
            <a:cxnSpLocks/>
            <a:stCxn id="29" idx="2"/>
            <a:endCxn id="39" idx="0"/>
          </p:cNvCxnSpPr>
          <p:nvPr/>
        </p:nvCxnSpPr>
        <p:spPr>
          <a:xfrm>
            <a:off x="8426807" y="4394493"/>
            <a:ext cx="938928" cy="1022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9630A6F-7DD9-EF7B-B537-8720B65B4A80}"/>
              </a:ext>
            </a:extLst>
          </p:cNvPr>
          <p:cNvCxnSpPr>
            <a:stCxn id="29" idx="2"/>
            <a:endCxn id="40" idx="0"/>
          </p:cNvCxnSpPr>
          <p:nvPr/>
        </p:nvCxnSpPr>
        <p:spPr>
          <a:xfrm>
            <a:off x="8426807" y="4394493"/>
            <a:ext cx="2152489" cy="1022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B0D9830-5C93-5D98-E3F2-8F5BF8910ED4}"/>
              </a:ext>
            </a:extLst>
          </p:cNvPr>
          <p:cNvCxnSpPr>
            <a:stCxn id="29" idx="2"/>
            <a:endCxn id="41" idx="0"/>
          </p:cNvCxnSpPr>
          <p:nvPr/>
        </p:nvCxnSpPr>
        <p:spPr>
          <a:xfrm>
            <a:off x="8426807" y="4394493"/>
            <a:ext cx="3213541" cy="1022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20FB1E2-5E63-4656-DF07-DB09ECB2FB25}"/>
              </a:ext>
            </a:extLst>
          </p:cNvPr>
          <p:cNvSpPr txBox="1"/>
          <p:nvPr/>
        </p:nvSpPr>
        <p:spPr>
          <a:xfrm>
            <a:off x="516547" y="5395750"/>
            <a:ext cx="39785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1. Connecting to the data</a:t>
            </a:r>
          </a:p>
          <a:p>
            <a:r>
              <a:rPr lang="en-GB" dirty="0"/>
              <a:t>2. Indexing and vectorisation the data</a:t>
            </a:r>
          </a:p>
          <a:p>
            <a:r>
              <a:rPr lang="en-GB" dirty="0"/>
              <a:t>3. Searching related data to the query </a:t>
            </a:r>
          </a:p>
        </p:txBody>
      </p:sp>
    </p:spTree>
    <p:extLst>
      <p:ext uri="{BB962C8B-B14F-4D97-AF65-F5344CB8AC3E}">
        <p14:creationId xmlns:p14="http://schemas.microsoft.com/office/powerpoint/2010/main" val="3504294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5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739FD-A0D3-1B81-CF66-B1434FE72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871F1-E650-D6B1-F5F1-EE678D0A7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85DECC-71B0-DCB5-17E5-749B626B8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36"/>
            <a:ext cx="12192000" cy="6568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642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80ED0-9C31-4A92-3481-4134A10F8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A779A-54AE-7D04-A6A3-4330FD040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390951-BA13-A301-758D-4C9098FFC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862"/>
            <a:ext cx="12192000" cy="615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34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55E81-E0C5-9DBA-DB79-3ECF220C8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C6075-5CBB-CB3D-BC0E-138BE4BE7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A4C7B0-1ED4-1192-F11E-52302DEA3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049"/>
            <a:ext cx="12192000" cy="650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89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A3949-2646-69E7-7FE6-1DBEF6CCF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Backend do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E34E3B-CE48-523F-E53A-3E9E06ED2585}"/>
              </a:ext>
            </a:extLst>
          </p:cNvPr>
          <p:cNvSpPr txBox="1"/>
          <p:nvPr/>
        </p:nvSpPr>
        <p:spPr>
          <a:xfrm>
            <a:off x="588264" y="1851884"/>
            <a:ext cx="10732008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Which bin I should use for putting cardboard? If it is too big what should I do?</a:t>
            </a:r>
            <a:endParaRPr lang="en-GB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8B92DC-730E-28B4-F73F-E2ABB717C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86" y="42390"/>
            <a:ext cx="11479227" cy="677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1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4BD90-4DA4-1321-A9F7-808425C6E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32104"/>
          </a:xfrm>
        </p:spPr>
        <p:txBody>
          <a:bodyPr/>
          <a:lstStyle/>
          <a:p>
            <a:r>
              <a:rPr lang="en-GB" dirty="0"/>
              <a:t>Another example of 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4EA62-73D6-669C-408D-183DA07DA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810512"/>
            <a:ext cx="11155680" cy="4745736"/>
          </a:xfrm>
        </p:spPr>
        <p:txBody>
          <a:bodyPr/>
          <a:lstStyle/>
          <a:p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What should I do if my partner beets me at home?</a:t>
            </a:r>
            <a:endParaRPr lang="en-GB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24B921-B706-C575-94AB-3BCAFA92D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04" y="0"/>
            <a:ext cx="11344984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BAB21C-E71A-59AC-82C1-5553BC664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796" y="4660546"/>
            <a:ext cx="5558249" cy="161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998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059B1-EAEE-5717-2A8F-A9AA85081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 programme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B52E0-B3D9-4C42-2483-9D4FD4ABE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Code package is available on the BB learning resources</a:t>
            </a:r>
          </a:p>
          <a:p>
            <a:endParaRPr lang="en-GB" dirty="0"/>
          </a:p>
          <a:p>
            <a:r>
              <a:rPr lang="en-GB" dirty="0"/>
              <a:t>I go deep with you in the python coding level now</a:t>
            </a:r>
          </a:p>
        </p:txBody>
      </p:sp>
    </p:spTree>
    <p:extLst>
      <p:ext uri="{BB962C8B-B14F-4D97-AF65-F5344CB8AC3E}">
        <p14:creationId xmlns:p14="http://schemas.microsoft.com/office/powerpoint/2010/main" val="4109844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90DBD-39F9-D03D-38D7-79926A01B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LoRA</a:t>
            </a:r>
            <a:r>
              <a:rPr lang="en-GB" dirty="0"/>
              <a:t> for Fine-Tuning LLMs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269FE-F5E1-6B7B-3EBF-F4530C68E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24126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278</Words>
  <Application>Microsoft Office PowerPoint</Application>
  <PresentationFormat>Widescreen</PresentationFormat>
  <Paragraphs>67</Paragraphs>
  <Slides>13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Consolas</vt:lpstr>
      <vt:lpstr>Grandview Display</vt:lpstr>
      <vt:lpstr>DashVTI</vt:lpstr>
      <vt:lpstr>A Case Study of RAG+MCP LLM System (Happy new year special session) </vt:lpstr>
      <vt:lpstr>Aim of the session</vt:lpstr>
      <vt:lpstr>Bolsover District Council Story</vt:lpstr>
      <vt:lpstr>Can AI Support to searching and answer complex questions to citizens?</vt:lpstr>
      <vt:lpstr>Unique AI Framework</vt:lpstr>
      <vt:lpstr>Chatbot system</vt:lpstr>
      <vt:lpstr>PowerPoint Presentation</vt:lpstr>
      <vt:lpstr>PowerPoint Presentation</vt:lpstr>
      <vt:lpstr>PowerPoint Presentation</vt:lpstr>
      <vt:lpstr>Backend do</vt:lpstr>
      <vt:lpstr>Another example of backend</vt:lpstr>
      <vt:lpstr>In programme level</vt:lpstr>
      <vt:lpstr>LoRA for Fine-Tuning LLMs</vt:lpstr>
    </vt:vector>
  </TitlesOfParts>
  <Company>University of Derby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Harry Yu</dc:creator>
  <cp:lastModifiedBy>Harry Yu</cp:lastModifiedBy>
  <cp:revision>1</cp:revision>
  <dcterms:created xsi:type="dcterms:W3CDTF">2025-12-28T10:05:33Z</dcterms:created>
  <dcterms:modified xsi:type="dcterms:W3CDTF">2025-12-28T10:45:15Z</dcterms:modified>
</cp:coreProperties>
</file>
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320" r:id="rId2"/>
    <p:sldId id="312" r:id="rId3"/>
    <p:sldId id="257" r:id="rId4"/>
    <p:sldId id="308" r:id="rId5"/>
    <p:sldId id="258" r:id="rId6"/>
    <p:sldId id="259" r:id="rId7"/>
    <p:sldId id="260" r:id="rId8"/>
    <p:sldId id="261" r:id="rId9"/>
    <p:sldId id="302" r:id="rId10"/>
    <p:sldId id="303" r:id="rId11"/>
    <p:sldId id="262" r:id="rId12"/>
    <p:sldId id="263" r:id="rId13"/>
    <p:sldId id="264" r:id="rId14"/>
    <p:sldId id="306" r:id="rId15"/>
    <p:sldId id="265" r:id="rId16"/>
    <p:sldId id="266" r:id="rId17"/>
    <p:sldId id="267" r:id="rId18"/>
    <p:sldId id="268" r:id="rId19"/>
    <p:sldId id="309" r:id="rId20"/>
    <p:sldId id="310" r:id="rId21"/>
    <p:sldId id="269" r:id="rId22"/>
    <p:sldId id="273" r:id="rId23"/>
    <p:sldId id="275" r:id="rId24"/>
    <p:sldId id="276" r:id="rId25"/>
    <p:sldId id="277" r:id="rId26"/>
    <p:sldId id="278" r:id="rId27"/>
    <p:sldId id="279" r:id="rId28"/>
    <p:sldId id="280" r:id="rId29"/>
    <p:sldId id="281" r:id="rId30"/>
    <p:sldId id="282"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11" r:id="rId48"/>
    <p:sldId id="300" r:id="rId49"/>
    <p:sldId id="301"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isha Makkar" userId="e6fb1a99-03d7-4bd9-bbd3-188f50b7241c" providerId="ADAL" clId="{E615AD07-B733-4E2A-918D-25BC5C8AD62F}"/>
    <pc:docChg chg="modSld">
      <pc:chgData name="Aaisha Makkar" userId="e6fb1a99-03d7-4bd9-bbd3-188f50b7241c" providerId="ADAL" clId="{E615AD07-B733-4E2A-918D-25BC5C8AD62F}" dt="2025-01-30T11:40:27.744" v="18"/>
      <pc:docMkLst>
        <pc:docMk/>
      </pc:docMkLst>
      <pc:sldChg chg="modSp mod">
        <pc:chgData name="Aaisha Makkar" userId="e6fb1a99-03d7-4bd9-bbd3-188f50b7241c" providerId="ADAL" clId="{E615AD07-B733-4E2A-918D-25BC5C8AD62F}" dt="2025-01-30T11:37:51.571" v="15" actId="20577"/>
        <pc:sldMkLst>
          <pc:docMk/>
          <pc:sldMk cId="3790552607" sldId="307"/>
        </pc:sldMkLst>
      </pc:sldChg>
      <pc:sldChg chg="modSp mod">
        <pc:chgData name="Aaisha Makkar" userId="e6fb1a99-03d7-4bd9-bbd3-188f50b7241c" providerId="ADAL" clId="{E615AD07-B733-4E2A-918D-25BC5C8AD62F}" dt="2025-01-30T11:40:27.744" v="18"/>
        <pc:sldMkLst>
          <pc:docMk/>
          <pc:sldMk cId="1606065941" sldId="312"/>
        </pc:sldMkLst>
      </pc:sldChg>
    </pc:docChg>
  </pc:docChgLst>
  <pc:docChgLst>
    <pc:chgData name="Giannis Tsioulis" userId="d59c48a07cb29050" providerId="LiveId" clId="{D1FB67B2-2F40-423F-AEB1-7CE013CAD466}"/>
    <pc:docChg chg="addSld delSld modSld">
      <pc:chgData name="Giannis Tsioulis" userId="d59c48a07cb29050" providerId="LiveId" clId="{D1FB67B2-2F40-423F-AEB1-7CE013CAD466}" dt="2025-10-21T18:42:25.514" v="3" actId="47"/>
      <pc:docMkLst>
        <pc:docMk/>
      </pc:docMkLst>
      <pc:sldChg chg="del">
        <pc:chgData name="Giannis Tsioulis" userId="d59c48a07cb29050" providerId="LiveId" clId="{D1FB67B2-2F40-423F-AEB1-7CE013CAD466}" dt="2025-10-21T18:42:25.514" v="3" actId="47"/>
        <pc:sldMkLst>
          <pc:docMk/>
          <pc:sldMk cId="3176557649" sldId="256"/>
        </pc:sldMkLst>
      </pc:sldChg>
      <pc:sldChg chg="modSp add">
        <pc:chgData name="Giannis Tsioulis" userId="d59c48a07cb29050" providerId="LiveId" clId="{D1FB67B2-2F40-423F-AEB1-7CE013CAD466}" dt="2025-10-21T18:41:44.795" v="2" actId="14100"/>
        <pc:sldMkLst>
          <pc:docMk/>
          <pc:sldMk cId="0" sldId="320"/>
        </pc:sldMkLst>
        <pc:spChg chg="mod">
          <ac:chgData name="Giannis Tsioulis" userId="d59c48a07cb29050" providerId="LiveId" clId="{D1FB67B2-2F40-423F-AEB1-7CE013CAD466}" dt="2025-10-21T18:41:44.795" v="2" actId="14100"/>
          <ac:spMkLst>
            <pc:docMk/>
            <pc:sldMk cId="0" sldId="320"/>
            <ac:spMk id="10242" creationId="{D4BA9D28-E6EE-516D-C586-42AE381DFC2B}"/>
          </ac:spMkLst>
        </pc:spChg>
      </pc:sldChg>
    </pc:docChg>
  </pc:docChgLst>
  <pc:docChgLst>
    <pc:chgData name="Harry Yu" userId="d96b6105-45a7-4b80-b1a6-ecee0368581f" providerId="ADAL" clId="{839BB2D2-6154-4301-A499-B826B3C41335}"/>
    <pc:docChg chg="undo custSel addSld delSld modSld">
      <pc:chgData name="Harry Yu" userId="d96b6105-45a7-4b80-b1a6-ecee0368581f" providerId="ADAL" clId="{839BB2D2-6154-4301-A499-B826B3C41335}" dt="2025-10-05T13:34:03.660" v="20" actId="20577"/>
      <pc:docMkLst>
        <pc:docMk/>
      </pc:docMkLst>
      <pc:sldChg chg="add del">
        <pc:chgData name="Harry Yu" userId="d96b6105-45a7-4b80-b1a6-ecee0368581f" providerId="ADAL" clId="{839BB2D2-6154-4301-A499-B826B3C41335}" dt="2025-10-05T13:33:31.181" v="8"/>
        <pc:sldMkLst>
          <pc:docMk/>
          <pc:sldMk cId="1762119713" sldId="256"/>
        </pc:sldMkLst>
      </pc:sldChg>
      <pc:sldChg chg="modSp add mod">
        <pc:chgData name="Harry Yu" userId="d96b6105-45a7-4b80-b1a6-ecee0368581f" providerId="ADAL" clId="{839BB2D2-6154-4301-A499-B826B3C41335}" dt="2025-10-05T13:34:03.660" v="20" actId="20577"/>
        <pc:sldMkLst>
          <pc:docMk/>
          <pc:sldMk cId="3176557649" sldId="256"/>
        </pc:sldMkLst>
      </pc:sldChg>
      <pc:sldChg chg="add del">
        <pc:chgData name="Harry Yu" userId="d96b6105-45a7-4b80-b1a6-ecee0368581f" providerId="ADAL" clId="{839BB2D2-6154-4301-A499-B826B3C41335}" dt="2025-10-05T13:33:41.826" v="12" actId="47"/>
        <pc:sldMkLst>
          <pc:docMk/>
          <pc:sldMk cId="3790552607" sldId="307"/>
        </pc:sldMkLst>
      </pc:sldChg>
      <pc:sldChg chg="add del">
        <pc:chgData name="Harry Yu" userId="d96b6105-45a7-4b80-b1a6-ecee0368581f" providerId="ADAL" clId="{839BB2D2-6154-4301-A499-B826B3C41335}" dt="2025-10-05T13:33:31.997" v="9"/>
        <pc:sldMkLst>
          <pc:docMk/>
          <pc:sldMk cId="595851093" sldId="312"/>
        </pc:sldMkLst>
      </pc:sldChg>
      <pc:sldChg chg="modSp add del mod">
        <pc:chgData name="Harry Yu" userId="d96b6105-45a7-4b80-b1a6-ecee0368581f" providerId="ADAL" clId="{839BB2D2-6154-4301-A499-B826B3C41335}" dt="2025-10-05T13:33:53.719" v="15" actId="20577"/>
        <pc:sldMkLst>
          <pc:docMk/>
          <pc:sldMk cId="1606065941" sldId="312"/>
        </pc:sldMkLst>
        <pc:spChg chg="mod">
          <ac:chgData name="Harry Yu" userId="d96b6105-45a7-4b80-b1a6-ecee0368581f" providerId="ADAL" clId="{839BB2D2-6154-4301-A499-B826B3C41335}" dt="2025-10-05T13:33:53.719" v="15" actId="20577"/>
          <ac:spMkLst>
            <pc:docMk/>
            <pc:sldMk cId="1606065941" sldId="31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76C0D5-894C-4DEB-8448-D41A90621741}" type="datetimeFigureOut">
              <a:rPr lang="en-GB" smtClean="0"/>
              <a:t>21/10/2025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A2D16-BAB0-44A0-BC5A-E993199BC455}" type="slidenum">
              <a:rPr lang="en-GB" smtClean="0"/>
              <a:t>‹#›</a:t>
            </a:fld>
            <a:endParaRPr lang="en-GB"/>
          </a:p>
        </p:txBody>
      </p:sp>
    </p:spTree>
    <p:extLst>
      <p:ext uri="{BB962C8B-B14F-4D97-AF65-F5344CB8AC3E}">
        <p14:creationId xmlns:p14="http://schemas.microsoft.com/office/powerpoint/2010/main" val="4165929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dirty="0"/>
              <a:t>Generally speaking, it’s a method of systematically going through the data, plotting distributions of all variables (using box plots), plotting time series of data, transforming variables, looking at all pairwise relationships between variables using scatterplot matrices, and generating summary statistics for all of them. </a:t>
            </a:r>
          </a:p>
          <a:p>
            <a:pPr marL="342900" indent="-342900">
              <a:buFont typeface="Arial" panose="020B0604020202020204" pitchFamily="34" charset="0"/>
              <a:buChar char="•"/>
            </a:pPr>
            <a:r>
              <a:rPr lang="en-GB" dirty="0"/>
              <a:t>At the very least that would mean computing their mean, minimum, maximum, the upper and lower quartiles, and identifying outliers.</a:t>
            </a:r>
          </a:p>
          <a:p>
            <a:endParaRPr lang="en-GB" dirty="0"/>
          </a:p>
        </p:txBody>
      </p:sp>
      <p:sp>
        <p:nvSpPr>
          <p:cNvPr id="4" name="Slide Number Placeholder 3"/>
          <p:cNvSpPr>
            <a:spLocks noGrp="1"/>
          </p:cNvSpPr>
          <p:nvPr>
            <p:ph type="sldNum" sz="quarter" idx="10"/>
          </p:nvPr>
        </p:nvSpPr>
        <p:spPr/>
        <p:txBody>
          <a:bodyPr/>
          <a:lstStyle/>
          <a:p>
            <a:fld id="{473A2D16-BAB0-44A0-BC5A-E993199BC455}" type="slidenum">
              <a:rPr lang="en-GB" smtClean="0"/>
              <a:t>5</a:t>
            </a:fld>
            <a:endParaRPr lang="en-GB"/>
          </a:p>
        </p:txBody>
      </p:sp>
    </p:spTree>
    <p:extLst>
      <p:ext uri="{BB962C8B-B14F-4D97-AF65-F5344CB8AC3E}">
        <p14:creationId xmlns:p14="http://schemas.microsoft.com/office/powerpoint/2010/main" val="3850497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You want to understand the data—gain intuition, understand the shape of it, and try to connect your understanding of the process that generated the data to the data itself. </a:t>
            </a:r>
          </a:p>
          <a:p>
            <a:endParaRPr lang="en-GB" dirty="0"/>
          </a:p>
        </p:txBody>
      </p:sp>
      <p:sp>
        <p:nvSpPr>
          <p:cNvPr id="4" name="Slide Number Placeholder 3"/>
          <p:cNvSpPr>
            <a:spLocks noGrp="1"/>
          </p:cNvSpPr>
          <p:nvPr>
            <p:ph type="sldNum" sz="quarter" idx="10"/>
          </p:nvPr>
        </p:nvSpPr>
        <p:spPr/>
        <p:txBody>
          <a:bodyPr/>
          <a:lstStyle/>
          <a:p>
            <a:fld id="{473A2D16-BAB0-44A0-BC5A-E993199BC455}" type="slidenum">
              <a:rPr lang="en-GB" smtClean="0"/>
              <a:t>6</a:t>
            </a:fld>
            <a:endParaRPr lang="en-GB"/>
          </a:p>
        </p:txBody>
      </p:sp>
    </p:spTree>
    <p:extLst>
      <p:ext uri="{BB962C8B-B14F-4D97-AF65-F5344CB8AC3E}">
        <p14:creationId xmlns:p14="http://schemas.microsoft.com/office/powerpoint/2010/main" val="2952892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73A2D16-BAB0-44A0-BC5A-E993199BC455}" type="slidenum">
              <a:rPr lang="en-GB" smtClean="0"/>
              <a:t>15</a:t>
            </a:fld>
            <a:endParaRPr lang="en-GB"/>
          </a:p>
        </p:txBody>
      </p:sp>
    </p:spTree>
    <p:extLst>
      <p:ext uri="{BB962C8B-B14F-4D97-AF65-F5344CB8AC3E}">
        <p14:creationId xmlns:p14="http://schemas.microsoft.com/office/powerpoint/2010/main" val="4046417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Text Placeholder 2"/>
          <p:cNvSpPr>
            <a:spLocks noGrp="1"/>
          </p:cNvSpPr>
          <p:nvPr>
            <p:ph type="body"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7" name="Footer Placeholder 6"/>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8" name="Slide Number Placeholder 7"/>
          <p:cNvSpPr>
            <a:spLocks noGrp="1"/>
          </p:cNvSpPr>
          <p:nvPr>
            <p:ph type="sldNum" sz="quarter" idx="12"/>
          </p:nvPr>
        </p:nvSpPr>
        <p:spPr>
          <a:xfrm>
            <a:off x="6553200" y="6242050"/>
            <a:ext cx="2130425" cy="474663"/>
          </a:xfrm>
          <a:prstGeom prst="rect">
            <a:avLst/>
          </a:prstGeom>
        </p:spPr>
        <p:txBody>
          <a:bodyPr/>
          <a:lstStyle>
            <a:lvl1pPr>
              <a:defRPr/>
            </a:lvl1pPr>
          </a:lstStyle>
          <a:p>
            <a:fld id="{480CE0CF-EFBD-4DAE-9D9D-1EC6247BD211}" type="slidenum">
              <a:rPr lang="en-US" altLang="en-US"/>
              <a:pPr/>
              <a:t>‹#›</a:t>
            </a:fld>
            <a:endParaRPr lang="en-US" altLang="en-US"/>
          </a:p>
        </p:txBody>
      </p:sp>
    </p:spTree>
    <p:extLst>
      <p:ext uri="{BB962C8B-B14F-4D97-AF65-F5344CB8AC3E}">
        <p14:creationId xmlns:p14="http://schemas.microsoft.com/office/powerpoint/2010/main" val="609745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Text Placeholder 2"/>
          <p:cNvSpPr>
            <a:spLocks noGrp="1"/>
          </p:cNvSpPr>
          <p:nvPr>
            <p:ph type="body"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5025" y="1598613"/>
            <a:ext cx="4037013"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2050"/>
            <a:ext cx="2130425" cy="474663"/>
          </a:xfrm>
          <a:prstGeom prst="rect">
            <a:avLst/>
          </a:prstGeom>
        </p:spPr>
        <p:txBody>
          <a:bodyPr/>
          <a:lstStyle>
            <a:lvl1pPr>
              <a:defRPr/>
            </a:lvl1pPr>
          </a:lstStyle>
          <a:p>
            <a:fld id="{BB0FA6E3-F6D4-467D-8226-398E8437A87A}" type="slidenum">
              <a:rPr lang="en-US" altLang="en-US"/>
              <a:pPr/>
              <a:t>‹#›</a:t>
            </a:fld>
            <a:endParaRPr lang="en-US" altLang="en-US"/>
          </a:p>
        </p:txBody>
      </p:sp>
    </p:spTree>
    <p:extLst>
      <p:ext uri="{BB962C8B-B14F-4D97-AF65-F5344CB8AC3E}">
        <p14:creationId xmlns:p14="http://schemas.microsoft.com/office/powerpoint/2010/main" val="754057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5613" y="273050"/>
            <a:ext cx="8226425" cy="1143000"/>
          </a:xfrm>
          <a:prstGeom prst="rect">
            <a:avLst/>
          </a:prstGeom>
        </p:spPr>
        <p:txBody>
          <a:bodyPr/>
          <a:lstStyle/>
          <a:p>
            <a:r>
              <a:rPr lang="en-US"/>
              <a:t>Click to edit Master title style</a:t>
            </a:r>
            <a:endParaRPr lang="en-GB"/>
          </a:p>
        </p:txBody>
      </p:sp>
      <p:sp>
        <p:nvSpPr>
          <p:cNvPr id="3" name="Content Placeholder 2"/>
          <p:cNvSpPr>
            <a:spLocks noGrp="1"/>
          </p:cNvSpPr>
          <p:nvPr>
            <p:ph sz="quarter" idx="1"/>
          </p:nvPr>
        </p:nvSpPr>
        <p:spPr>
          <a:xfrm>
            <a:off x="455613" y="1598613"/>
            <a:ext cx="4037012"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55613" y="3922713"/>
            <a:ext cx="4037012"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8" name="Footer Placeholder 7"/>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9" name="Slide Number Placeholder 8"/>
          <p:cNvSpPr>
            <a:spLocks noGrp="1"/>
          </p:cNvSpPr>
          <p:nvPr>
            <p:ph type="sldNum" sz="quarter" idx="12"/>
          </p:nvPr>
        </p:nvSpPr>
        <p:spPr>
          <a:xfrm>
            <a:off x="6553200" y="6242050"/>
            <a:ext cx="2130425" cy="474663"/>
          </a:xfrm>
          <a:prstGeom prst="rect">
            <a:avLst/>
          </a:prstGeom>
        </p:spPr>
        <p:txBody>
          <a:bodyPr/>
          <a:lstStyle>
            <a:lvl1pPr>
              <a:defRPr/>
            </a:lvl1pPr>
          </a:lstStyle>
          <a:p>
            <a:fld id="{25D92351-2288-4248-B0B1-96C07ADA4CCC}" type="slidenum">
              <a:rPr lang="en-US" altLang="en-US"/>
              <a:pPr/>
              <a:t>‹#›</a:t>
            </a:fld>
            <a:endParaRPr lang="en-US" altLang="en-US"/>
          </a:p>
        </p:txBody>
      </p:sp>
    </p:spTree>
    <p:extLst>
      <p:ext uri="{BB962C8B-B14F-4D97-AF65-F5344CB8AC3E}">
        <p14:creationId xmlns:p14="http://schemas.microsoft.com/office/powerpoint/2010/main" val="287283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7" name="Footer Placeholder 6"/>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8" name="Slide Number Placeholder 7"/>
          <p:cNvSpPr>
            <a:spLocks noGrp="1"/>
          </p:cNvSpPr>
          <p:nvPr>
            <p:ph type="sldNum" sz="quarter" idx="12"/>
          </p:nvPr>
        </p:nvSpPr>
        <p:spPr>
          <a:xfrm>
            <a:off x="6553200" y="6242050"/>
            <a:ext cx="2130425" cy="474663"/>
          </a:xfrm>
          <a:prstGeom prst="rect">
            <a:avLst/>
          </a:prstGeom>
        </p:spPr>
        <p:txBody>
          <a:bodyPr/>
          <a:lstStyle>
            <a:lvl1pPr>
              <a:defRPr/>
            </a:lvl1pPr>
          </a:lstStyle>
          <a:p>
            <a:fld id="{6FD91129-104F-42BB-A0EF-CDC8067E9386}" type="slidenum">
              <a:rPr lang="en-US" altLang="en-US"/>
              <a:pPr/>
              <a:t>‹#›</a:t>
            </a:fld>
            <a:endParaRPr lang="en-US" altLang="en-US"/>
          </a:p>
        </p:txBody>
      </p:sp>
    </p:spTree>
    <p:extLst>
      <p:ext uri="{BB962C8B-B14F-4D97-AF65-F5344CB8AC3E}">
        <p14:creationId xmlns:p14="http://schemas.microsoft.com/office/powerpoint/2010/main" val="1280448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3" name="Footer Placeholder 2"/>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4" name="Slide Number Placeholder 3"/>
          <p:cNvSpPr>
            <a:spLocks noGrp="1"/>
          </p:cNvSpPr>
          <p:nvPr>
            <p:ph type="sldNum" sz="quarter" idx="12"/>
          </p:nvPr>
        </p:nvSpPr>
        <p:spPr>
          <a:xfrm>
            <a:off x="6553200" y="6242050"/>
            <a:ext cx="2130425" cy="474663"/>
          </a:xfrm>
          <a:prstGeom prst="rect">
            <a:avLst/>
          </a:prstGeom>
        </p:spPr>
        <p:txBody>
          <a:bodyPr/>
          <a:lstStyle>
            <a:lvl1pPr>
              <a:defRPr/>
            </a:lvl1pPr>
          </a:lstStyle>
          <a:p>
            <a:fld id="{60796EB5-7F74-458B-B03A-425736ADA6A9}" type="slidenum">
              <a:rPr lang="en-US" altLang="en-US"/>
              <a:pPr/>
              <a:t>‹#›</a:t>
            </a:fld>
            <a:endParaRPr lang="en-US" altLang="en-US"/>
          </a:p>
        </p:txBody>
      </p:sp>
    </p:spTree>
    <p:extLst>
      <p:ext uri="{BB962C8B-B14F-4D97-AF65-F5344CB8AC3E}">
        <p14:creationId xmlns:p14="http://schemas.microsoft.com/office/powerpoint/2010/main" val="3549920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4" name="Footer Placeholder 3"/>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5" name="Slide Number Placeholder 4"/>
          <p:cNvSpPr>
            <a:spLocks noGrp="1"/>
          </p:cNvSpPr>
          <p:nvPr>
            <p:ph type="sldNum" sz="quarter" idx="12"/>
          </p:nvPr>
        </p:nvSpPr>
        <p:spPr>
          <a:xfrm>
            <a:off x="6553200" y="6242050"/>
            <a:ext cx="2130425" cy="474663"/>
          </a:xfrm>
          <a:prstGeom prst="rect">
            <a:avLst/>
          </a:prstGeom>
        </p:spPr>
        <p:txBody>
          <a:bodyPr/>
          <a:lstStyle>
            <a:lvl1pPr>
              <a:defRPr/>
            </a:lvl1pPr>
          </a:lstStyle>
          <a:p>
            <a:fld id="{7BC7EECF-3C88-4BFE-9F54-200386F2AFC1}" type="slidenum">
              <a:rPr lang="en-US" altLang="en-US"/>
              <a:pPr/>
              <a:t>‹#›</a:t>
            </a:fld>
            <a:endParaRPr lang="en-US" altLang="en-US"/>
          </a:p>
        </p:txBody>
      </p:sp>
    </p:spTree>
    <p:extLst>
      <p:ext uri="{BB962C8B-B14F-4D97-AF65-F5344CB8AC3E}">
        <p14:creationId xmlns:p14="http://schemas.microsoft.com/office/powerpoint/2010/main" val="49473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13"/>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hyperlink" Target="meanmedian.html"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0.emf"/><Relationship Id="rId2" Type="http://schemas.openxmlformats.org/officeDocument/2006/relationships/oleObject" Target="../embeddings/oleObject1.bin"/><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image" Target="../media/image19.emf"/><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4.bin"/><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5.bin"/><Relationship Id="rId1" Type="http://schemas.openxmlformats.org/officeDocument/2006/relationships/slideLayout" Target="../slideLayouts/slideLayout4.xml"/><Relationship Id="rId5" Type="http://schemas.openxmlformats.org/officeDocument/2006/relationships/image" Target="../media/image23.emf"/><Relationship Id="rId4" Type="http://schemas.openxmlformats.org/officeDocument/2006/relationships/oleObject" Target="../embeddings/oleObject6.bin"/></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25.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image" Target="../media/image23.emf"/><Relationship Id="rId4" Type="http://schemas.openxmlformats.org/officeDocument/2006/relationships/oleObject" Target="../embeddings/oleObject8.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9.bin"/><Relationship Id="rId1" Type="http://schemas.openxmlformats.org/officeDocument/2006/relationships/slideLayout" Target="../slideLayouts/slideLayout8.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oleObject" Target="../embeddings/oleObject10.bin"/></Relationships>
</file>

<file path=ppt/slides/_rels/slide4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35.emf"/><Relationship Id="rId7" Type="http://schemas.openxmlformats.org/officeDocument/2006/relationships/image" Target="../media/image37.emf"/><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36.emf"/><Relationship Id="rId4" Type="http://schemas.openxmlformats.org/officeDocument/2006/relationships/oleObject" Target="../embeddings/oleObject13.bin"/><Relationship Id="rId9" Type="http://schemas.openxmlformats.org/officeDocument/2006/relationships/image" Target="../media/image38.emf"/></Relationships>
</file>

<file path=ppt/slides/_rels/slide47.xml.rels><?xml version="1.0" encoding="UTF-8" standalone="yes"?>
<Relationships xmlns="http://schemas.openxmlformats.org/package/2006/relationships"><Relationship Id="rId3" Type="http://schemas.openxmlformats.org/officeDocument/2006/relationships/hyperlink" Target="https://seaborn.pydata.org/" TargetMode="External"/><Relationship Id="rId2" Type="http://schemas.openxmlformats.org/officeDocument/2006/relationships/hyperlink" Target="https://matplotlib.org/" TargetMode="Externa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D4BA9D28-E6EE-516D-C586-42AE381DFC2B}"/>
              </a:ext>
            </a:extLst>
          </p:cNvPr>
          <p:cNvSpPr>
            <a:spLocks noGrp="1" noChangeArrowheads="1"/>
          </p:cNvSpPr>
          <p:nvPr>
            <p:ph type="ctrTitle"/>
          </p:nvPr>
        </p:nvSpPr>
        <p:spPr bwMode="auto">
          <a:xfrm>
            <a:off x="4038600" y="3148012"/>
            <a:ext cx="5105400" cy="585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GB" dirty="0"/>
              <a:t>EDA</a:t>
            </a:r>
            <a:br>
              <a:rPr lang="en-GB" altLang="el-GR" dirty="0"/>
            </a:br>
            <a:endParaRPr lang="en-GB" altLang="el-GR" sz="2000" dirty="0"/>
          </a:p>
        </p:txBody>
      </p:sp>
      <p:pic>
        <p:nvPicPr>
          <p:cNvPr id="10243" name="Picture 2" descr="Robot Artificial Intelligence World Connection Gear Vector Illustration  Royalty Free Cliparts, Vectors, And Stock Illustration. Image 108901860.">
            <a:extLst>
              <a:ext uri="{FF2B5EF4-FFF2-40B4-BE49-F238E27FC236}">
                <a16:creationId xmlns:a16="http://schemas.microsoft.com/office/drawing/2014/main" id="{D16C25D6-D373-7FE9-BB78-97C858626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4">
            <a:extLst>
              <a:ext uri="{FF2B5EF4-FFF2-40B4-BE49-F238E27FC236}">
                <a16:creationId xmlns:a16="http://schemas.microsoft.com/office/drawing/2014/main" id="{58F60571-9FE5-0D79-A7EB-99F967C944AA}"/>
              </a:ext>
            </a:extLst>
          </p:cNvPr>
          <p:cNvSpPr>
            <a:spLocks noChangeArrowheads="1"/>
          </p:cNvSpPr>
          <p:nvPr/>
        </p:nvSpPr>
        <p:spPr bwMode="auto">
          <a:xfrm>
            <a:off x="1676400" y="228600"/>
            <a:ext cx="7086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l-GR">
                <a:solidFill>
                  <a:srgbClr val="0070C0"/>
                </a:solidFill>
              </a:rPr>
              <a:t>Module 6CM521: </a:t>
            </a:r>
            <a:r>
              <a:rPr lang="en-US" altLang="el-GR">
                <a:solidFill>
                  <a:srgbClr val="0070C0"/>
                </a:solidFill>
              </a:rPr>
              <a:t>Frontiers in AI and Data Science </a:t>
            </a:r>
            <a:endParaRPr lang="en-GB" altLang="el-GR"/>
          </a:p>
        </p:txBody>
      </p:sp>
      <p:sp>
        <p:nvSpPr>
          <p:cNvPr id="2" name="TextBox 1">
            <a:extLst>
              <a:ext uri="{FF2B5EF4-FFF2-40B4-BE49-F238E27FC236}">
                <a16:creationId xmlns:a16="http://schemas.microsoft.com/office/drawing/2014/main" id="{CC8F8512-CFBD-48C1-7125-4C18716A2B7D}"/>
              </a:ext>
            </a:extLst>
          </p:cNvPr>
          <p:cNvSpPr txBox="1"/>
          <p:nvPr/>
        </p:nvSpPr>
        <p:spPr>
          <a:xfrm>
            <a:off x="6477000" y="6143625"/>
            <a:ext cx="3048000" cy="585788"/>
          </a:xfrm>
          <a:prstGeom prst="rect">
            <a:avLst/>
          </a:prstGeom>
          <a:noFill/>
        </p:spPr>
        <p:txBody>
          <a:bodyPr>
            <a:spAutoFit/>
          </a:bodyPr>
          <a:lstStyle/>
          <a:p>
            <a:pPr>
              <a:defRPr/>
            </a:pPr>
            <a:r>
              <a:rPr lang="en-GB" sz="1600" dirty="0">
                <a:solidFill>
                  <a:schemeClr val="accent5">
                    <a:lumMod val="50000"/>
                  </a:schemeClr>
                </a:solidFill>
              </a:rPr>
              <a:t>Slides acknowledgements:</a:t>
            </a:r>
          </a:p>
          <a:p>
            <a:pPr>
              <a:defRPr/>
            </a:pPr>
            <a:r>
              <a:rPr lang="en-GB" sz="1600" dirty="0">
                <a:solidFill>
                  <a:schemeClr val="accent5">
                    <a:lumMod val="50000"/>
                  </a:schemeClr>
                </a:solidFill>
              </a:rPr>
              <a:t>Dr Hong Qing Yu</a:t>
            </a:r>
            <a:endParaRPr lang="el-GR" sz="1600" dirty="0">
              <a:solidFill>
                <a:schemeClr val="accent5">
                  <a:lumMod val="50000"/>
                </a:schemeClr>
              </a:solidFill>
            </a:endParaRPr>
          </a:p>
        </p:txBody>
      </p:sp>
      <p:sp>
        <p:nvSpPr>
          <p:cNvPr id="3" name="TextBox 2">
            <a:extLst>
              <a:ext uri="{FF2B5EF4-FFF2-40B4-BE49-F238E27FC236}">
                <a16:creationId xmlns:a16="http://schemas.microsoft.com/office/drawing/2014/main" id="{996BE177-A683-0B49-E4A8-A8B5CE4B471C}"/>
              </a:ext>
            </a:extLst>
          </p:cNvPr>
          <p:cNvSpPr txBox="1"/>
          <p:nvPr/>
        </p:nvSpPr>
        <p:spPr>
          <a:xfrm>
            <a:off x="2590800" y="4022725"/>
            <a:ext cx="4495800" cy="400050"/>
          </a:xfrm>
          <a:prstGeom prst="rect">
            <a:avLst/>
          </a:prstGeom>
          <a:noFill/>
        </p:spPr>
        <p:txBody>
          <a:bodyPr>
            <a:spAutoFit/>
          </a:bodyPr>
          <a:lstStyle/>
          <a:p>
            <a:pPr algn="ctr">
              <a:defRPr/>
            </a:pP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 </a:t>
            </a:r>
          </a:p>
        </p:txBody>
      </p:sp>
      <p:sp>
        <p:nvSpPr>
          <p:cNvPr id="3" name="Content Placeholder 2"/>
          <p:cNvSpPr>
            <a:spLocks noGrp="1"/>
          </p:cNvSpPr>
          <p:nvPr>
            <p:ph idx="1"/>
          </p:nvPr>
        </p:nvSpPr>
        <p:spPr/>
        <p:txBody>
          <a:bodyPr/>
          <a:lstStyle/>
          <a:p>
            <a:r>
              <a:rPr lang="en-GB" dirty="0"/>
              <a:t>This lecture notes are organised based on Book </a:t>
            </a:r>
            <a:r>
              <a:rPr lang="en-GB" i="1" dirty="0"/>
              <a:t>Doing Data Science, Chapter 2, EDA section</a:t>
            </a:r>
          </a:p>
          <a:p>
            <a:endParaRPr lang="en-GB" i="1" dirty="0"/>
          </a:p>
        </p:txBody>
      </p:sp>
    </p:spTree>
    <p:extLst>
      <p:ext uri="{BB962C8B-B14F-4D97-AF65-F5344CB8AC3E}">
        <p14:creationId xmlns:p14="http://schemas.microsoft.com/office/powerpoint/2010/main" val="1606065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EDA is an attitude</a:t>
            </a:r>
          </a:p>
        </p:txBody>
      </p:sp>
      <p:sp>
        <p:nvSpPr>
          <p:cNvPr id="3" name="Content Placeholder 2"/>
          <p:cNvSpPr>
            <a:spLocks noGrp="1"/>
          </p:cNvSpPr>
          <p:nvPr>
            <p:ph idx="1"/>
          </p:nvPr>
        </p:nvSpPr>
        <p:spPr>
          <a:xfrm>
            <a:off x="1809892" y="2209800"/>
            <a:ext cx="6705458" cy="3967164"/>
          </a:xfrm>
        </p:spPr>
        <p:txBody>
          <a:bodyPr/>
          <a:lstStyle/>
          <a:p>
            <a:r>
              <a:rPr lang="en-GB" dirty="0"/>
              <a:t>“Exploratory data analysis” is an attitude, a state of flexibility, a willingness to look for those things that we believe are not there, as well as those we believe to be there.</a:t>
            </a:r>
          </a:p>
          <a:p>
            <a:pPr algn="r"/>
            <a:r>
              <a:rPr lang="en-GB" dirty="0"/>
              <a:t>— John Tukey</a:t>
            </a:r>
          </a:p>
        </p:txBody>
      </p:sp>
    </p:spTree>
    <p:extLst>
      <p:ext uri="{BB962C8B-B14F-4D97-AF65-F5344CB8AC3E}">
        <p14:creationId xmlns:p14="http://schemas.microsoft.com/office/powerpoint/2010/main" val="343147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EDA? </a:t>
            </a:r>
          </a:p>
        </p:txBody>
      </p:sp>
      <p:sp>
        <p:nvSpPr>
          <p:cNvPr id="3" name="Content Placeholder 2"/>
          <p:cNvSpPr>
            <a:spLocks noGrp="1"/>
          </p:cNvSpPr>
          <p:nvPr>
            <p:ph idx="1"/>
          </p:nvPr>
        </p:nvSpPr>
        <p:spPr/>
        <p:txBody>
          <a:bodyPr/>
          <a:lstStyle/>
          <a:p>
            <a:r>
              <a:rPr lang="en-GB" dirty="0"/>
              <a:t>Exploratory Data Analysis (EDA) is an approach/philosophy for data analysis that employs a variety of techniques (mostly graphical) to </a:t>
            </a:r>
          </a:p>
          <a:p>
            <a:pPr marL="342900" indent="-342900">
              <a:buFont typeface="Arial" panose="020B0604020202020204" pitchFamily="34" charset="0"/>
              <a:buChar char="•"/>
            </a:pPr>
            <a:r>
              <a:rPr lang="en-GB" dirty="0">
                <a:solidFill>
                  <a:srgbClr val="FF0000"/>
                </a:solidFill>
              </a:rPr>
              <a:t>maximize insight into a data set;</a:t>
            </a:r>
          </a:p>
          <a:p>
            <a:pPr marL="342900" indent="-342900">
              <a:buFont typeface="Arial" panose="020B0604020202020204" pitchFamily="34" charset="0"/>
              <a:buChar char="•"/>
            </a:pPr>
            <a:r>
              <a:rPr lang="en-GB" dirty="0">
                <a:solidFill>
                  <a:srgbClr val="FF0000"/>
                </a:solidFill>
              </a:rPr>
              <a:t>uncover underlying structure;</a:t>
            </a:r>
          </a:p>
          <a:p>
            <a:pPr marL="342900" indent="-342900">
              <a:buFont typeface="Arial" panose="020B0604020202020204" pitchFamily="34" charset="0"/>
              <a:buChar char="•"/>
            </a:pPr>
            <a:r>
              <a:rPr lang="en-GB" dirty="0">
                <a:solidFill>
                  <a:srgbClr val="FF0000"/>
                </a:solidFill>
              </a:rPr>
              <a:t>extract important variables;</a:t>
            </a:r>
          </a:p>
          <a:p>
            <a:pPr marL="342900" indent="-342900">
              <a:buFont typeface="Arial" panose="020B0604020202020204" pitchFamily="34" charset="0"/>
              <a:buChar char="•"/>
            </a:pPr>
            <a:r>
              <a:rPr lang="en-GB" dirty="0">
                <a:solidFill>
                  <a:srgbClr val="FF0000"/>
                </a:solidFill>
              </a:rPr>
              <a:t>detect outliers and anomalies;</a:t>
            </a:r>
          </a:p>
          <a:p>
            <a:pPr marL="342900" indent="-342900">
              <a:buFont typeface="Arial" panose="020B0604020202020204" pitchFamily="34" charset="0"/>
              <a:buChar char="•"/>
            </a:pPr>
            <a:r>
              <a:rPr lang="en-GB" dirty="0">
                <a:solidFill>
                  <a:srgbClr val="FF0000"/>
                </a:solidFill>
              </a:rPr>
              <a:t>test underlying assumptions;</a:t>
            </a:r>
          </a:p>
          <a:p>
            <a:pPr marL="342900" indent="-342900">
              <a:buFont typeface="Arial" panose="020B0604020202020204" pitchFamily="34" charset="0"/>
              <a:buChar char="•"/>
            </a:pPr>
            <a:r>
              <a:rPr lang="en-GB" dirty="0">
                <a:solidFill>
                  <a:srgbClr val="FF0000"/>
                </a:solidFill>
              </a:rPr>
              <a:t>develop parsimonious models; and</a:t>
            </a:r>
          </a:p>
          <a:p>
            <a:pPr marL="342900" indent="-342900">
              <a:buFont typeface="Arial" panose="020B0604020202020204" pitchFamily="34" charset="0"/>
              <a:buChar char="•"/>
            </a:pPr>
            <a:r>
              <a:rPr lang="en-GB" dirty="0">
                <a:solidFill>
                  <a:srgbClr val="FF0000"/>
                </a:solidFill>
              </a:rPr>
              <a:t>determine optimal factor settings.</a:t>
            </a:r>
          </a:p>
          <a:p>
            <a:endParaRPr lang="en-GB" dirty="0"/>
          </a:p>
        </p:txBody>
      </p:sp>
    </p:spTree>
    <p:extLst>
      <p:ext uri="{BB962C8B-B14F-4D97-AF65-F5344CB8AC3E}">
        <p14:creationId xmlns:p14="http://schemas.microsoft.com/office/powerpoint/2010/main" val="2942628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Tools of EDA</a:t>
            </a:r>
          </a:p>
        </p:txBody>
      </p:sp>
      <p:sp>
        <p:nvSpPr>
          <p:cNvPr id="3" name="Content Placeholder 2"/>
          <p:cNvSpPr>
            <a:spLocks noGrp="1"/>
          </p:cNvSpPr>
          <p:nvPr>
            <p:ph idx="1"/>
          </p:nvPr>
        </p:nvSpPr>
        <p:spPr>
          <a:xfrm>
            <a:off x="1809892" y="1414985"/>
            <a:ext cx="7105508" cy="4761979"/>
          </a:xfrm>
        </p:spPr>
        <p:txBody>
          <a:bodyPr/>
          <a:lstStyle/>
          <a:p>
            <a:pPr marL="342900" indent="-342900">
              <a:buFont typeface="Arial" panose="020B0604020202020204" pitchFamily="34" charset="0"/>
              <a:buChar char="•"/>
            </a:pPr>
            <a:r>
              <a:rPr lang="en-GB" dirty="0"/>
              <a:t>The basic tools of EDA are plots, graphs and summary statistics (e.g. data distributions). </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209800"/>
            <a:ext cx="5825836"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738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EDA </a:t>
            </a:r>
            <a:r>
              <a:rPr lang="en-GB" dirty="0" err="1"/>
              <a:t>Mindset</a:t>
            </a:r>
            <a:endParaRPr lang="en-GB" dirty="0"/>
          </a:p>
        </p:txBody>
      </p:sp>
      <p:sp>
        <p:nvSpPr>
          <p:cNvPr id="3" name="Content Placeholder 2"/>
          <p:cNvSpPr>
            <a:spLocks noGrp="1"/>
          </p:cNvSpPr>
          <p:nvPr>
            <p:ph idx="1"/>
          </p:nvPr>
        </p:nvSpPr>
        <p:spPr>
          <a:xfrm>
            <a:off x="1809892" y="1143001"/>
            <a:ext cx="6705458" cy="5033964"/>
          </a:xfrm>
        </p:spPr>
        <p:txBody>
          <a:bodyPr/>
          <a:lstStyle/>
          <a:p>
            <a:r>
              <a:rPr lang="en-GB" dirty="0"/>
              <a:t>But as much as EDA is a set of tools, it’s also a </a:t>
            </a:r>
            <a:r>
              <a:rPr lang="en-GB" dirty="0" err="1"/>
              <a:t>mindset</a:t>
            </a:r>
            <a:r>
              <a:rPr lang="en-GB" dirty="0"/>
              <a:t>. And that </a:t>
            </a:r>
            <a:r>
              <a:rPr lang="en-GB" dirty="0" err="1"/>
              <a:t>mindset</a:t>
            </a:r>
            <a:r>
              <a:rPr lang="en-GB" dirty="0"/>
              <a:t> is about your relationship with the data. </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endParaRPr lang="en-GB" dirty="0"/>
          </a:p>
          <a:p>
            <a:r>
              <a:rPr lang="en-GB" dirty="0"/>
              <a:t>EDA happens between you and the data and isn’t about proving anything to anyone else yet.</a:t>
            </a:r>
          </a:p>
        </p:txBody>
      </p:sp>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2503714"/>
            <a:ext cx="5429606" cy="2601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69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Philosophy of EDA</a:t>
            </a:r>
          </a:p>
        </p:txBody>
      </p:sp>
      <p:sp>
        <p:nvSpPr>
          <p:cNvPr id="3" name="Content Placeholder 2"/>
          <p:cNvSpPr>
            <a:spLocks noGrp="1"/>
          </p:cNvSpPr>
          <p:nvPr>
            <p:ph idx="1"/>
          </p:nvPr>
        </p:nvSpPr>
        <p:spPr/>
        <p:txBody>
          <a:bodyPr/>
          <a:lstStyle/>
          <a:p>
            <a:r>
              <a:rPr lang="en-GB" dirty="0"/>
              <a:t>Long before worrying about how to convince others, you first have to understand what’s happening yourself.</a:t>
            </a:r>
          </a:p>
          <a:p>
            <a:pPr algn="r"/>
            <a:r>
              <a:rPr lang="en-GB" dirty="0"/>
              <a:t>— Andrew </a:t>
            </a:r>
            <a:r>
              <a:rPr lang="en-GB" dirty="0" err="1"/>
              <a:t>Gelman</a:t>
            </a:r>
            <a:endParaRPr lang="en-GB" dirty="0"/>
          </a:p>
          <a:p>
            <a:pPr marL="342900" indent="-342900">
              <a:buFont typeface="Arial" panose="020B0604020202020204" pitchFamily="34" charset="0"/>
              <a:buChar char="•"/>
            </a:pPr>
            <a:r>
              <a:rPr lang="en-GB" dirty="0"/>
              <a:t>Even with very large Google-scale data, they did EDA. </a:t>
            </a:r>
          </a:p>
          <a:p>
            <a:pPr marL="342900" indent="-342900">
              <a:buFont typeface="Arial" panose="020B0604020202020204" pitchFamily="34" charset="0"/>
              <a:buChar char="•"/>
            </a:pPr>
            <a:r>
              <a:rPr lang="en-GB" dirty="0"/>
              <a:t>In the context of data in an Internet/engineering company, EDA is done for some of the same reasons it’s done with smaller datasets, but there are additional reasons to do it with data that has been generated from logs.</a:t>
            </a:r>
          </a:p>
        </p:txBody>
      </p:sp>
    </p:spTree>
    <p:extLst>
      <p:ext uri="{BB962C8B-B14F-4D97-AF65-F5344CB8AC3E}">
        <p14:creationId xmlns:p14="http://schemas.microsoft.com/office/powerpoint/2010/main" val="261475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Philosophy of EDA (Cont.)</a:t>
            </a:r>
          </a:p>
        </p:txBody>
      </p:sp>
      <p:sp>
        <p:nvSpPr>
          <p:cNvPr id="3" name="Content Placeholder 2"/>
          <p:cNvSpPr>
            <a:spLocks noGrp="1"/>
          </p:cNvSpPr>
          <p:nvPr>
            <p:ph idx="1"/>
          </p:nvPr>
        </p:nvSpPr>
        <p:spPr>
          <a:xfrm>
            <a:off x="1752600" y="1143000"/>
            <a:ext cx="6705458" cy="4761979"/>
          </a:xfrm>
        </p:spPr>
        <p:txBody>
          <a:bodyPr/>
          <a:lstStyle/>
          <a:p>
            <a:pPr marL="342900" indent="-342900">
              <a:buFont typeface="Arial" panose="020B0604020202020204" pitchFamily="34" charset="0"/>
              <a:buChar char="•"/>
            </a:pPr>
            <a:r>
              <a:rPr lang="en-GB" sz="2000" dirty="0">
                <a:solidFill>
                  <a:srgbClr val="FF0000"/>
                </a:solidFill>
              </a:rPr>
              <a:t>There are important reasons anyone working with data should do EDA. </a:t>
            </a:r>
            <a:r>
              <a:rPr lang="en-GB" sz="2000" dirty="0"/>
              <a:t>Namely, to gain intuition about the data; to make comparisons between distributions; for sanity checking (making sure the data is on the scale you expect, in the format you thought it should be); to find out where data is missing or if there are outliers; and to summarize the data.</a:t>
            </a:r>
          </a:p>
          <a:p>
            <a:pPr marL="342900" indent="-342900">
              <a:buFont typeface="Arial" panose="020B0604020202020204" pitchFamily="34" charset="0"/>
              <a:buChar char="•"/>
            </a:pPr>
            <a:r>
              <a:rPr lang="en-GB" sz="2000" dirty="0">
                <a:solidFill>
                  <a:srgbClr val="FF0000"/>
                </a:solidFill>
              </a:rPr>
              <a:t>In the context of data generated from logs, EDA also helps with debugging the logging process.</a:t>
            </a:r>
            <a:r>
              <a:rPr lang="en-GB" sz="2000" dirty="0"/>
              <a:t> For example, “patterns” you find in the data could actually be something wrong in the logging process that needs to be fixed. If you never go to the trouble of debugging, you’ll continue to think your patterns are real. The engineers we’ve worked with are always grateful for help in this area.</a:t>
            </a:r>
          </a:p>
          <a:p>
            <a:pPr marL="342900" indent="-342900">
              <a:buFont typeface="Arial" panose="020B0604020202020204" pitchFamily="34" charset="0"/>
              <a:buChar char="•"/>
            </a:pPr>
            <a:r>
              <a:rPr lang="en-GB" sz="2000" dirty="0">
                <a:solidFill>
                  <a:srgbClr val="FF0000"/>
                </a:solidFill>
              </a:rPr>
              <a:t>In the end, EDA helps you make sure the product is performing as intended</a:t>
            </a:r>
            <a:r>
              <a:rPr lang="en-GB" sz="2000" dirty="0"/>
              <a:t>.</a:t>
            </a:r>
          </a:p>
        </p:txBody>
      </p:sp>
    </p:spTree>
    <p:extLst>
      <p:ext uri="{BB962C8B-B14F-4D97-AF65-F5344CB8AC3E}">
        <p14:creationId xmlns:p14="http://schemas.microsoft.com/office/powerpoint/2010/main" val="782949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Who are they?</a:t>
            </a:r>
          </a:p>
        </p:txBody>
      </p:sp>
      <p:sp>
        <p:nvSpPr>
          <p:cNvPr id="3" name="Content Placeholder 2"/>
          <p:cNvSpPr>
            <a:spLocks noGrp="1"/>
          </p:cNvSpPr>
          <p:nvPr>
            <p:ph idx="1"/>
          </p:nvPr>
        </p:nvSpPr>
        <p:spPr/>
        <p:txBody>
          <a:bodyPr/>
          <a:lstStyle/>
          <a:p>
            <a:r>
              <a:rPr lang="en-GB" dirty="0"/>
              <a:t>John Tukey, a mathematician at </a:t>
            </a:r>
            <a:r>
              <a:rPr lang="en-GB" dirty="0">
                <a:solidFill>
                  <a:srgbClr val="FF0000"/>
                </a:solidFill>
              </a:rPr>
              <a:t>Bell Labs</a:t>
            </a:r>
            <a:r>
              <a:rPr lang="en-GB" dirty="0"/>
              <a:t>, developed exploratory data analysis in contrast to confirmatory data analysis, which concerns itself with modelling and hypotheses. </a:t>
            </a:r>
          </a:p>
          <a:p>
            <a:r>
              <a:rPr lang="en-GB" i="1" dirty="0"/>
              <a:t>Exploratory Data Analysis </a:t>
            </a:r>
            <a:r>
              <a:rPr lang="en-GB" dirty="0"/>
              <a:t>by John Tukey (Pearson)</a:t>
            </a:r>
          </a:p>
          <a:p>
            <a:endParaRPr lang="en-GB" dirty="0"/>
          </a:p>
          <a:p>
            <a:r>
              <a:rPr lang="en-GB" i="1" dirty="0"/>
              <a:t>“Exploratory Data Analysis for Complex Models” </a:t>
            </a:r>
            <a:r>
              <a:rPr lang="en-GB" dirty="0"/>
              <a:t>by Andrew </a:t>
            </a:r>
            <a:r>
              <a:rPr lang="en-GB" dirty="0" err="1"/>
              <a:t>Gelman</a:t>
            </a:r>
            <a:r>
              <a:rPr lang="en-GB" dirty="0"/>
              <a:t> (American Statistical Association, </a:t>
            </a:r>
            <a:r>
              <a:rPr lang="en-GB" dirty="0">
                <a:solidFill>
                  <a:srgbClr val="FF0000"/>
                </a:solidFill>
              </a:rPr>
              <a:t>MIT</a:t>
            </a:r>
            <a:r>
              <a:rPr lang="en-GB" dirty="0"/>
              <a:t>)</a:t>
            </a:r>
          </a:p>
        </p:txBody>
      </p:sp>
    </p:spTree>
    <p:extLst>
      <p:ext uri="{BB962C8B-B14F-4D97-AF65-F5344CB8AC3E}">
        <p14:creationId xmlns:p14="http://schemas.microsoft.com/office/powerpoint/2010/main" val="42516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steps to do your EDA</a:t>
            </a:r>
          </a:p>
        </p:txBody>
      </p:sp>
      <p:sp>
        <p:nvSpPr>
          <p:cNvPr id="3" name="Content Placeholder 2"/>
          <p:cNvSpPr>
            <a:spLocks noGrp="1"/>
          </p:cNvSpPr>
          <p:nvPr>
            <p:ph idx="1"/>
          </p:nvPr>
        </p:nvSpPr>
        <p:spPr>
          <a:xfrm>
            <a:off x="1828800" y="1371600"/>
            <a:ext cx="6705458" cy="4267200"/>
          </a:xfrm>
        </p:spPr>
        <p:txBody>
          <a:bodyPr/>
          <a:lstStyle/>
          <a:p>
            <a:pPr marL="457200" indent="-457200">
              <a:buAutoNum type="arabicPeriod"/>
            </a:pPr>
            <a:r>
              <a:rPr lang="en-GB" dirty="0"/>
              <a:t>Import Dataset &amp; Headers</a:t>
            </a:r>
          </a:p>
          <a:p>
            <a:pPr marL="457200" indent="-457200">
              <a:buFont typeface="Arial" panose="020B0604020202020204" pitchFamily="34" charset="0"/>
              <a:buAutoNum type="arabicPeriod"/>
            </a:pPr>
            <a:r>
              <a:rPr lang="en-US" altLang="en-US" dirty="0"/>
              <a:t>Organizing your data (</a:t>
            </a:r>
            <a:r>
              <a:rPr lang="en-GB" dirty="0"/>
              <a:t>Correct Data Formats)</a:t>
            </a:r>
          </a:p>
          <a:p>
            <a:r>
              <a:rPr lang="en-GB" dirty="0"/>
              <a:t>3.1. Identify Missing Data</a:t>
            </a:r>
          </a:p>
          <a:p>
            <a:r>
              <a:rPr lang="en-GB" dirty="0"/>
              <a:t>3.2 Replace Missing Data</a:t>
            </a:r>
          </a:p>
          <a:p>
            <a:r>
              <a:rPr lang="en-GB" dirty="0"/>
              <a:t>3.3 Evaluate Missing Data</a:t>
            </a:r>
          </a:p>
          <a:p>
            <a:r>
              <a:rPr lang="en-GB" dirty="0"/>
              <a:t>3.4 Dealing with Missing Data</a:t>
            </a:r>
          </a:p>
          <a:p>
            <a:r>
              <a:rPr lang="en-GB" dirty="0"/>
              <a:t>4. Indicator variable</a:t>
            </a:r>
          </a:p>
          <a:p>
            <a:r>
              <a:rPr lang="en-GB" dirty="0"/>
              <a:t>5. Data standardization</a:t>
            </a:r>
          </a:p>
          <a:p>
            <a:r>
              <a:rPr lang="en-GB" dirty="0"/>
              <a:t>6. Data Normalization</a:t>
            </a:r>
          </a:p>
        </p:txBody>
      </p:sp>
      <p:sp>
        <p:nvSpPr>
          <p:cNvPr id="4" name="Right Brace 3"/>
          <p:cNvSpPr/>
          <p:nvPr/>
        </p:nvSpPr>
        <p:spPr>
          <a:xfrm>
            <a:off x="6096000" y="2460171"/>
            <a:ext cx="762000" cy="1447800"/>
          </a:xfrm>
          <a:prstGeom prst="rightBrace">
            <a:avLst>
              <a:gd name="adj1" fmla="val 8333"/>
              <a:gd name="adj2" fmla="val 469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TextBox 4"/>
          <p:cNvSpPr txBox="1"/>
          <p:nvPr/>
        </p:nvSpPr>
        <p:spPr>
          <a:xfrm>
            <a:off x="6819900" y="2999405"/>
            <a:ext cx="2262158" cy="369332"/>
          </a:xfrm>
          <a:prstGeom prst="rect">
            <a:avLst/>
          </a:prstGeom>
          <a:noFill/>
        </p:spPr>
        <p:txBody>
          <a:bodyPr wrap="none" rtlCol="0">
            <a:spAutoFit/>
          </a:bodyPr>
          <a:lstStyle/>
          <a:p>
            <a:r>
              <a:rPr lang="en-GB" dirty="0"/>
              <a:t>Data pre-processing</a:t>
            </a:r>
          </a:p>
        </p:txBody>
      </p:sp>
    </p:spTree>
    <p:extLst>
      <p:ext uri="{BB962C8B-B14F-4D97-AF65-F5344CB8AC3E}">
        <p14:creationId xmlns:p14="http://schemas.microsoft.com/office/powerpoint/2010/main" val="164923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t>What is data?</a:t>
            </a:r>
          </a:p>
        </p:txBody>
      </p:sp>
      <p:sp>
        <p:nvSpPr>
          <p:cNvPr id="7171" name="Rectangle 3"/>
          <p:cNvSpPr>
            <a:spLocks noGrp="1" noChangeArrowheads="1"/>
          </p:cNvSpPr>
          <p:nvPr>
            <p:ph type="body" idx="1"/>
          </p:nvPr>
        </p:nvSpPr>
        <p:spPr/>
        <p:txBody>
          <a:bodyPr/>
          <a:lstStyle/>
          <a:p>
            <a:pPr>
              <a:buFont typeface="Wingdings" pitchFamily="2" charset="2"/>
              <a:buNone/>
            </a:pPr>
            <a:r>
              <a:rPr lang="en-US" altLang="en-US"/>
              <a:t>Categorical (Qualitative)</a:t>
            </a:r>
          </a:p>
          <a:p>
            <a:pPr marL="1085850" lvl="2"/>
            <a:r>
              <a:rPr lang="en-US" altLang="en-US"/>
              <a:t>Nominal scales – number is just a symbol that identifies a quality </a:t>
            </a:r>
          </a:p>
          <a:p>
            <a:pPr lvl="3" indent="-400050"/>
            <a:r>
              <a:rPr lang="en-US" altLang="en-US"/>
              <a:t>0=male, 1=female</a:t>
            </a:r>
          </a:p>
          <a:p>
            <a:pPr lvl="3" indent="-400050"/>
            <a:r>
              <a:rPr lang="en-US" altLang="en-US"/>
              <a:t>1=green, 2=blue, 3=red, 4=white</a:t>
            </a:r>
          </a:p>
          <a:p>
            <a:pPr marL="1085850" lvl="2"/>
            <a:r>
              <a:rPr lang="en-US" altLang="en-US"/>
              <a:t>Ordinal – rank order </a:t>
            </a:r>
          </a:p>
          <a:p>
            <a:pPr lvl="3" indent="-400050">
              <a:buFont typeface="Wingdings" pitchFamily="2" charset="2"/>
              <a:buNone/>
            </a:pPr>
            <a:endParaRPr lang="en-US" altLang="en-US"/>
          </a:p>
          <a:p>
            <a:pPr>
              <a:buFont typeface="Wingdings" pitchFamily="2" charset="2"/>
              <a:buNone/>
            </a:pPr>
            <a:r>
              <a:rPr lang="en-US" altLang="en-US"/>
              <a:t>Quantitative (continuous and discrete)</a:t>
            </a:r>
          </a:p>
          <a:p>
            <a:pPr marL="1085850" lvl="2"/>
            <a:r>
              <a:rPr lang="en-US" altLang="en-US"/>
              <a:t>Interval – units are of identical size (i.e. Years)</a:t>
            </a:r>
          </a:p>
          <a:p>
            <a:pPr marL="1085850" lvl="2"/>
            <a:r>
              <a:rPr lang="en-US" altLang="en-US"/>
              <a:t>Ratio – distance from an absolute zero (i.e. Age, reaction time)</a:t>
            </a:r>
          </a:p>
        </p:txBody>
      </p:sp>
    </p:spTree>
    <p:extLst>
      <p:ext uri="{BB962C8B-B14F-4D97-AF65-F5344CB8AC3E}">
        <p14:creationId xmlns:p14="http://schemas.microsoft.com/office/powerpoint/2010/main" val="3993953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1">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t>What is a measurement?</a:t>
            </a:r>
          </a:p>
        </p:txBody>
      </p:sp>
      <p:sp>
        <p:nvSpPr>
          <p:cNvPr id="12291" name="Rectangle 3"/>
          <p:cNvSpPr>
            <a:spLocks noGrp="1" noChangeArrowheads="1"/>
          </p:cNvSpPr>
          <p:nvPr>
            <p:ph type="body" idx="1"/>
          </p:nvPr>
        </p:nvSpPr>
        <p:spPr/>
        <p:txBody>
          <a:bodyPr/>
          <a:lstStyle/>
          <a:p>
            <a:pPr>
              <a:buFont typeface="Wingdings" pitchFamily="2" charset="2"/>
              <a:buNone/>
            </a:pPr>
            <a:r>
              <a:rPr lang="en-US" altLang="en-US" dirty="0"/>
              <a:t>Every measurement has 2 parts:</a:t>
            </a:r>
          </a:p>
          <a:p>
            <a:pPr>
              <a:buFont typeface="Wingdings" pitchFamily="2" charset="2"/>
              <a:buNone/>
            </a:pPr>
            <a:endParaRPr lang="en-US" altLang="en-US" dirty="0"/>
          </a:p>
          <a:p>
            <a:pPr>
              <a:buFont typeface="Wingdings" pitchFamily="2" charset="2"/>
              <a:buNone/>
            </a:pPr>
            <a:r>
              <a:rPr lang="en-US" altLang="en-US" dirty="0">
                <a:solidFill>
                  <a:srgbClr val="002060"/>
                </a:solidFill>
              </a:rPr>
              <a:t>The True Score (the actual state of things in the world)</a:t>
            </a:r>
          </a:p>
          <a:p>
            <a:pPr algn="ctr">
              <a:buFont typeface="Wingdings" pitchFamily="2" charset="2"/>
              <a:buNone/>
            </a:pPr>
            <a:r>
              <a:rPr lang="en-US" altLang="en-US" dirty="0">
                <a:solidFill>
                  <a:srgbClr val="FF0000"/>
                </a:solidFill>
              </a:rPr>
              <a:t>and</a:t>
            </a:r>
          </a:p>
          <a:p>
            <a:pPr>
              <a:buFont typeface="Wingdings" pitchFamily="2" charset="2"/>
              <a:buNone/>
            </a:pPr>
            <a:r>
              <a:rPr lang="en-US" altLang="en-US" dirty="0">
                <a:solidFill>
                  <a:srgbClr val="FF0000"/>
                </a:solidFill>
              </a:rPr>
              <a:t>ERROR! (mistakes, bad measurement, report bias, context effects, etc.)</a:t>
            </a:r>
          </a:p>
          <a:p>
            <a:pPr>
              <a:buFont typeface="Wingdings" pitchFamily="2" charset="2"/>
              <a:buNone/>
            </a:pPr>
            <a:endParaRPr lang="en-US" altLang="en-US" dirty="0"/>
          </a:p>
          <a:p>
            <a:pPr algn="ctr">
              <a:buFont typeface="Wingdings" pitchFamily="2" charset="2"/>
              <a:buNone/>
            </a:pPr>
            <a:r>
              <a:rPr lang="en-US" altLang="en-US" dirty="0"/>
              <a:t>X = T + e</a:t>
            </a:r>
          </a:p>
          <a:p>
            <a:pPr>
              <a:buFont typeface="Wingdings" pitchFamily="2" charset="2"/>
              <a:buNone/>
            </a:pPr>
            <a:endParaRPr lang="en-US" altLang="en-US" dirty="0"/>
          </a:p>
        </p:txBody>
      </p:sp>
    </p:spTree>
    <p:extLst>
      <p:ext uri="{BB962C8B-B14F-4D97-AF65-F5344CB8AC3E}">
        <p14:creationId xmlns:p14="http://schemas.microsoft.com/office/powerpoint/2010/main" val="1532909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828800" y="273050"/>
            <a:ext cx="6853238" cy="1143000"/>
          </a:xfrm>
        </p:spPr>
        <p:txBody>
          <a:bodyPr/>
          <a:lstStyle/>
          <a:p>
            <a:r>
              <a:rPr lang="en-US" altLang="en-US" sz="4000" dirty="0"/>
              <a:t>Organizing your data in a spreadsheet</a:t>
            </a:r>
          </a:p>
        </p:txBody>
      </p:sp>
      <p:sp>
        <p:nvSpPr>
          <p:cNvPr id="10243" name="Rectangle 3"/>
          <p:cNvSpPr>
            <a:spLocks noGrp="1" noChangeArrowheads="1"/>
          </p:cNvSpPr>
          <p:nvPr>
            <p:ph type="body" sz="half" idx="1"/>
          </p:nvPr>
        </p:nvSpPr>
        <p:spPr>
          <a:xfrm>
            <a:off x="1600199" y="1598613"/>
            <a:ext cx="2892425" cy="4497387"/>
          </a:xfrm>
        </p:spPr>
        <p:txBody>
          <a:bodyPr/>
          <a:lstStyle/>
          <a:p>
            <a:pPr>
              <a:buFont typeface="Wingdings" pitchFamily="2" charset="2"/>
              <a:buNone/>
            </a:pPr>
            <a:r>
              <a:rPr lang="en-US" altLang="en-US" sz="2400" dirty="0"/>
              <a:t>Stacked data:</a:t>
            </a:r>
          </a:p>
          <a:p>
            <a:pPr>
              <a:buFont typeface="Wingdings" pitchFamily="2" charset="2"/>
              <a:buNone/>
            </a:pPr>
            <a:r>
              <a:rPr lang="en-US" altLang="en-US" sz="2400" dirty="0"/>
              <a:t>	Multiple cases (rows) for each subject</a:t>
            </a:r>
          </a:p>
          <a:p>
            <a:pPr>
              <a:buFont typeface="Wingdings" pitchFamily="2" charset="2"/>
              <a:buNone/>
            </a:pPr>
            <a:endParaRPr lang="en-US" altLang="en-US" sz="2400" dirty="0"/>
          </a:p>
          <a:p>
            <a:pPr>
              <a:buFont typeface="Wingdings" pitchFamily="2" charset="2"/>
              <a:buNone/>
            </a:pPr>
            <a:endParaRPr lang="en-US" altLang="en-US" sz="2400" dirty="0"/>
          </a:p>
          <a:p>
            <a:pPr>
              <a:buFont typeface="Wingdings" pitchFamily="2" charset="2"/>
              <a:buNone/>
            </a:pPr>
            <a:endParaRPr lang="en-US" altLang="en-US" sz="2400" dirty="0"/>
          </a:p>
          <a:p>
            <a:pPr>
              <a:buFont typeface="Wingdings" pitchFamily="2" charset="2"/>
              <a:buNone/>
            </a:pPr>
            <a:r>
              <a:rPr lang="en-US" altLang="en-US" sz="2400" dirty="0"/>
              <a:t>Unstacked data:</a:t>
            </a:r>
          </a:p>
          <a:p>
            <a:pPr>
              <a:buFont typeface="Wingdings" pitchFamily="2" charset="2"/>
              <a:buNone/>
            </a:pPr>
            <a:r>
              <a:rPr lang="en-US" altLang="en-US" sz="2400" dirty="0"/>
              <a:t>	Only one case (row) per subject </a:t>
            </a:r>
          </a:p>
          <a:p>
            <a:pPr>
              <a:buFont typeface="Wingdings" pitchFamily="2" charset="2"/>
              <a:buNone/>
            </a:pPr>
            <a:r>
              <a:rPr lang="en-US" altLang="en-US" sz="2800" dirty="0"/>
              <a:t>		</a:t>
            </a:r>
          </a:p>
        </p:txBody>
      </p:sp>
      <p:graphicFrame>
        <p:nvGraphicFramePr>
          <p:cNvPr id="10465" name="Group 225"/>
          <p:cNvGraphicFramePr>
            <a:graphicFrameLocks noGrp="1"/>
          </p:cNvGraphicFramePr>
          <p:nvPr>
            <p:ph sz="quarter" idx="2"/>
          </p:nvPr>
        </p:nvGraphicFramePr>
        <p:xfrm>
          <a:off x="5435600" y="1700213"/>
          <a:ext cx="2520950" cy="2926080"/>
        </p:xfrm>
        <a:graphic>
          <a:graphicData uri="http://schemas.openxmlformats.org/drawingml/2006/table">
            <a:tbl>
              <a:tblPr/>
              <a:tblGrid>
                <a:gridCol w="814388">
                  <a:extLst>
                    <a:ext uri="{9D8B030D-6E8A-4147-A177-3AD203B41FA5}">
                      <a16:colId xmlns:a16="http://schemas.microsoft.com/office/drawing/2014/main" val="20000"/>
                    </a:ext>
                  </a:extLst>
                </a:gridCol>
                <a:gridCol w="892175">
                  <a:extLst>
                    <a:ext uri="{9D8B030D-6E8A-4147-A177-3AD203B41FA5}">
                      <a16:colId xmlns:a16="http://schemas.microsoft.com/office/drawing/2014/main" val="20001"/>
                    </a:ext>
                  </a:extLst>
                </a:gridCol>
                <a:gridCol w="814387">
                  <a:extLst>
                    <a:ext uri="{9D8B030D-6E8A-4147-A177-3AD203B41FA5}">
                      <a16:colId xmlns:a16="http://schemas.microsoft.com/office/drawing/2014/main" val="20002"/>
                    </a:ext>
                  </a:extLst>
                </a:gridCol>
              </a:tblGrid>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Subject</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condition</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score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before</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590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during</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after</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5</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before</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during</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after</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590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before</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during</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after</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10462" name="Group 222"/>
          <p:cNvGraphicFramePr>
            <a:graphicFrameLocks noGrp="1"/>
          </p:cNvGraphicFramePr>
          <p:nvPr>
            <p:ph sz="quarter" idx="3"/>
          </p:nvPr>
        </p:nvGraphicFramePr>
        <p:xfrm>
          <a:off x="4859338" y="4652963"/>
          <a:ext cx="3240087" cy="1490664"/>
        </p:xfrm>
        <a:graphic>
          <a:graphicData uri="http://schemas.openxmlformats.org/drawingml/2006/table">
            <a:tbl>
              <a:tblPr/>
              <a:tblGrid>
                <a:gridCol w="809625">
                  <a:extLst>
                    <a:ext uri="{9D8B030D-6E8A-4147-A177-3AD203B41FA5}">
                      <a16:colId xmlns:a16="http://schemas.microsoft.com/office/drawing/2014/main" val="20000"/>
                    </a:ext>
                  </a:extLst>
                </a:gridCol>
                <a:gridCol w="811212">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tblGrid>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Subject</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5</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0870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46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3050"/>
            <a:ext cx="7081838" cy="1143000"/>
          </a:xfrm>
        </p:spPr>
        <p:txBody>
          <a:bodyPr/>
          <a:lstStyle/>
          <a:p>
            <a:r>
              <a:rPr lang="en-GB" sz="3200" b="1" dirty="0"/>
              <a:t>Handling missing data</a:t>
            </a:r>
            <a:br>
              <a:rPr lang="en-GB" b="1" dirty="0"/>
            </a:br>
            <a:endParaRPr lang="en-GB" dirty="0"/>
          </a:p>
        </p:txBody>
      </p:sp>
      <p:sp>
        <p:nvSpPr>
          <p:cNvPr id="3" name="Text Placeholder 2"/>
          <p:cNvSpPr>
            <a:spLocks noGrp="1"/>
          </p:cNvSpPr>
          <p:nvPr>
            <p:ph type="body" sz="half" idx="1"/>
          </p:nvPr>
        </p:nvSpPr>
        <p:spPr>
          <a:xfrm>
            <a:off x="1752600" y="990600"/>
            <a:ext cx="6705600" cy="4497387"/>
          </a:xfrm>
        </p:spPr>
        <p:txBody>
          <a:bodyPr/>
          <a:lstStyle/>
          <a:p>
            <a:r>
              <a:rPr lang="en-GB" sz="2400" b="1" dirty="0"/>
              <a:t>Removing missing data</a:t>
            </a:r>
          </a:p>
          <a:p>
            <a:pPr marL="0" indent="0">
              <a:buNone/>
            </a:pPr>
            <a:r>
              <a:rPr lang="en-GB" sz="2000" dirty="0"/>
              <a:t>Once you know that data is MCAR and a relatively small fraction of observations have missing values, then it may be safe to remove observations</a:t>
            </a:r>
            <a:endParaRPr lang="en-GB" sz="2000" b="1" dirty="0"/>
          </a:p>
          <a:p>
            <a:r>
              <a:rPr lang="en-GB" sz="2400" b="1" dirty="0"/>
              <a:t>Encoding as missing</a:t>
            </a:r>
          </a:p>
          <a:p>
            <a:pPr marL="0" indent="0">
              <a:buNone/>
            </a:pPr>
            <a:r>
              <a:rPr lang="en-GB" sz="2000" dirty="0"/>
              <a:t>In the MCAR or MAR case for categorical attributes y, a useful approach is to encode the fact that a value is missing as a new category and include that in subsequent analysis of attribute y.</a:t>
            </a:r>
          </a:p>
          <a:p>
            <a:r>
              <a:rPr lang="en-GB" sz="2400" b="1" dirty="0"/>
              <a:t>Imputation</a:t>
            </a:r>
          </a:p>
          <a:p>
            <a:pPr lvl="1"/>
            <a:r>
              <a:rPr lang="en-GB" sz="1600" b="1" dirty="0"/>
              <a:t>MCAR (also for MAR, but this is not ideal), </a:t>
            </a:r>
            <a:r>
              <a:rPr lang="en-GB" sz="1600" dirty="0"/>
              <a:t>In this case we can use a simple method for imputation of y. For numeric attributes we replace missing values in y with the mean of non-missing values of y.</a:t>
            </a:r>
            <a:endParaRPr lang="en-GB" sz="1600" b="1" dirty="0"/>
          </a:p>
          <a:p>
            <a:pPr lvl="1"/>
            <a:r>
              <a:rPr lang="en-GB" sz="1600" b="1" dirty="0"/>
              <a:t>Predicting model for MAR, i</a:t>
            </a:r>
            <a:r>
              <a:rPr lang="en-GB" sz="1600" dirty="0"/>
              <a:t>n this case we use a more complex method by replacing missing values for attribute y predicting from other variables x when variables are related (e.g. Linear regression)</a:t>
            </a:r>
            <a:endParaRPr lang="en-GB" sz="2000" b="1" dirty="0"/>
          </a:p>
        </p:txBody>
      </p:sp>
    </p:spTree>
    <p:extLst>
      <p:ext uri="{BB962C8B-B14F-4D97-AF65-F5344CB8AC3E}">
        <p14:creationId xmlns:p14="http://schemas.microsoft.com/office/powerpoint/2010/main" val="2158266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t>Variable Summaries</a:t>
            </a:r>
          </a:p>
        </p:txBody>
      </p:sp>
      <p:sp>
        <p:nvSpPr>
          <p:cNvPr id="15363" name="Rectangle 3"/>
          <p:cNvSpPr>
            <a:spLocks noGrp="1" noChangeArrowheads="1"/>
          </p:cNvSpPr>
          <p:nvPr>
            <p:ph type="body" idx="1"/>
          </p:nvPr>
        </p:nvSpPr>
        <p:spPr>
          <a:xfrm>
            <a:off x="1809892" y="1414985"/>
            <a:ext cx="4133708" cy="4761979"/>
          </a:xfrm>
        </p:spPr>
        <p:txBody>
          <a:bodyPr/>
          <a:lstStyle/>
          <a:p>
            <a:r>
              <a:rPr lang="en-US" altLang="en-US" dirty="0"/>
              <a:t>Indices of central tendency:</a:t>
            </a:r>
          </a:p>
          <a:p>
            <a:pPr lvl="1"/>
            <a:r>
              <a:rPr lang="en-US" altLang="en-US" sz="1800" dirty="0"/>
              <a:t>Mean – the average value</a:t>
            </a:r>
          </a:p>
          <a:p>
            <a:pPr lvl="1"/>
            <a:r>
              <a:rPr lang="en-US" altLang="en-US" sz="1800" dirty="0"/>
              <a:t>Median – the middle value</a:t>
            </a:r>
          </a:p>
          <a:p>
            <a:pPr lvl="1"/>
            <a:r>
              <a:rPr lang="en-US" altLang="en-US" sz="1800" dirty="0"/>
              <a:t>Mode – the most frequent value</a:t>
            </a:r>
          </a:p>
          <a:p>
            <a:pPr marL="457200" lvl="1" indent="0">
              <a:buNone/>
            </a:pPr>
            <a:endParaRPr lang="en-US" altLang="en-US" dirty="0"/>
          </a:p>
          <a:p>
            <a:pPr marL="457200" lvl="1" indent="0">
              <a:buNone/>
            </a:pPr>
            <a:endParaRPr lang="en-US" altLang="en-US" dirty="0"/>
          </a:p>
          <a:p>
            <a:pPr marL="457200" lvl="1" indent="0">
              <a:buNone/>
            </a:pPr>
            <a:endParaRPr lang="en-US" altLang="en-US" dirty="0"/>
          </a:p>
          <a:p>
            <a:r>
              <a:rPr lang="en-US" altLang="en-US" dirty="0"/>
              <a:t>Indices of Variability:</a:t>
            </a:r>
          </a:p>
          <a:p>
            <a:pPr lvl="1"/>
            <a:r>
              <a:rPr lang="en-US" altLang="en-US" sz="1800" dirty="0"/>
              <a:t>Variance – the spread around the mean</a:t>
            </a:r>
          </a:p>
          <a:p>
            <a:pPr lvl="1"/>
            <a:r>
              <a:rPr lang="en-US" altLang="en-US" sz="1800" dirty="0"/>
              <a:t>Standard deviation </a:t>
            </a:r>
          </a:p>
          <a:p>
            <a:pPr lvl="1"/>
            <a:r>
              <a:rPr lang="en-US" altLang="en-US" sz="1800" dirty="0"/>
              <a:t>Standard error of the mean (estimate)</a:t>
            </a:r>
          </a:p>
          <a:p>
            <a:pPr lvl="1">
              <a:buFont typeface="Wingdings" pitchFamily="2" charset="2"/>
              <a:buNone/>
            </a:pPr>
            <a:endParaRPr lang="en-US" altLang="en-US" dirty="0"/>
          </a:p>
        </p:txBody>
      </p:sp>
      <p:pic>
        <p:nvPicPr>
          <p:cNvPr id="9218" name="Picture 2" descr="Central Tendency: Measures, Definition &amp; Examples - CSET/CBEST Class  (Video) | Study.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743074"/>
            <a:ext cx="2343150" cy="1762126"/>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615543"/>
            <a:ext cx="3797706" cy="20900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p:nvCxnSpPr>
        <p:spPr>
          <a:xfrm>
            <a:off x="5334000" y="5715000"/>
            <a:ext cx="3797706"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876800" y="5356945"/>
            <a:ext cx="761747" cy="369332"/>
          </a:xfrm>
          <a:prstGeom prst="rect">
            <a:avLst/>
          </a:prstGeom>
          <a:noFill/>
        </p:spPr>
        <p:txBody>
          <a:bodyPr wrap="none" rtlCol="0">
            <a:spAutoFit/>
          </a:bodyPr>
          <a:lstStyle/>
          <a:p>
            <a:r>
              <a:rPr lang="en-GB" dirty="0"/>
              <a:t>mean</a:t>
            </a:r>
          </a:p>
        </p:txBody>
      </p:sp>
      <p:sp>
        <p:nvSpPr>
          <p:cNvPr id="5" name="TextBox 4"/>
          <p:cNvSpPr txBox="1"/>
          <p:nvPr/>
        </p:nvSpPr>
        <p:spPr>
          <a:xfrm>
            <a:off x="8395607" y="2667000"/>
            <a:ext cx="736099" cy="369332"/>
          </a:xfrm>
          <a:prstGeom prst="rect">
            <a:avLst/>
          </a:prstGeom>
          <a:noFill/>
        </p:spPr>
        <p:txBody>
          <a:bodyPr wrap="none" rtlCol="0">
            <a:spAutoFit/>
          </a:bodyPr>
          <a:lstStyle/>
          <a:p>
            <a:r>
              <a:rPr lang="en-GB" dirty="0"/>
              <a:t>value</a:t>
            </a:r>
          </a:p>
        </p:txBody>
      </p:sp>
      <p:sp>
        <p:nvSpPr>
          <p:cNvPr id="6" name="TextBox 5"/>
          <p:cNvSpPr txBox="1"/>
          <p:nvPr/>
        </p:nvSpPr>
        <p:spPr>
          <a:xfrm>
            <a:off x="5867400" y="1375102"/>
            <a:ext cx="800219" cy="369332"/>
          </a:xfrm>
          <a:prstGeom prst="rect">
            <a:avLst/>
          </a:prstGeom>
          <a:noFill/>
        </p:spPr>
        <p:txBody>
          <a:bodyPr wrap="none" rtlCol="0">
            <a:spAutoFit/>
          </a:bodyPr>
          <a:lstStyle/>
          <a:p>
            <a:r>
              <a:rPr lang="en-GB" dirty="0"/>
              <a:t>Count</a:t>
            </a:r>
          </a:p>
        </p:txBody>
      </p:sp>
    </p:spTree>
    <p:extLst>
      <p:ext uri="{BB962C8B-B14F-4D97-AF65-F5344CB8AC3E}">
        <p14:creationId xmlns:p14="http://schemas.microsoft.com/office/powerpoint/2010/main" val="1420665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6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18" name="Rectangle 186"/>
          <p:cNvSpPr>
            <a:spLocks noGrp="1" noChangeArrowheads="1"/>
          </p:cNvSpPr>
          <p:nvPr>
            <p:ph type="title"/>
          </p:nvPr>
        </p:nvSpPr>
        <p:spPr/>
        <p:txBody>
          <a:bodyPr/>
          <a:lstStyle/>
          <a:p>
            <a:r>
              <a:rPr lang="en-US" altLang="en-US"/>
              <a:t>The Mean</a:t>
            </a:r>
          </a:p>
        </p:txBody>
      </p:sp>
      <p:graphicFrame>
        <p:nvGraphicFramePr>
          <p:cNvPr id="18864" name="Group 432"/>
          <p:cNvGraphicFramePr>
            <a:graphicFrameLocks noGrp="1"/>
          </p:cNvGraphicFramePr>
          <p:nvPr>
            <p:ph sz="half" idx="1"/>
            <p:extLst>
              <p:ext uri="{D42A27DB-BD31-4B8C-83A1-F6EECF244321}">
                <p14:modId xmlns:p14="http://schemas.microsoft.com/office/powerpoint/2010/main" val="331182847"/>
              </p:ext>
            </p:extLst>
          </p:nvPr>
        </p:nvGraphicFramePr>
        <p:xfrm>
          <a:off x="1600200" y="1559878"/>
          <a:ext cx="2963862" cy="3200400"/>
        </p:xfrm>
        <a:graphic>
          <a:graphicData uri="http://schemas.openxmlformats.org/drawingml/2006/table">
            <a:tbl>
              <a:tblPr/>
              <a:tblGrid>
                <a:gridCol w="741362">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741362">
                  <a:extLst>
                    <a:ext uri="{9D8B030D-6E8A-4147-A177-3AD203B41FA5}">
                      <a16:colId xmlns:a16="http://schemas.microsoft.com/office/drawing/2014/main" val="20003"/>
                    </a:ext>
                  </a:extLst>
                </a:gridCol>
              </a:tblGrid>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urier" charset="0"/>
                        </a:rPr>
                        <a:t>Subject</a:t>
                      </a:r>
                      <a:endParaRPr kumimoji="0" lang="en-US" altLang="en-US" sz="1200" b="1"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6</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8865" name="Text Box 433"/>
          <p:cNvSpPr txBox="1">
            <a:spLocks noChangeArrowheads="1"/>
          </p:cNvSpPr>
          <p:nvPr/>
        </p:nvSpPr>
        <p:spPr bwMode="auto">
          <a:xfrm>
            <a:off x="1600200" y="4702629"/>
            <a:ext cx="302418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Sum =   30        50        50</a:t>
            </a:r>
          </a:p>
          <a:p>
            <a:pPr>
              <a:spcBef>
                <a:spcPct val="50000"/>
              </a:spcBef>
            </a:pPr>
            <a:r>
              <a:rPr lang="en-US" altLang="en-US"/>
              <a:t>/n           10       10         10</a:t>
            </a:r>
          </a:p>
          <a:p>
            <a:pPr>
              <a:spcBef>
                <a:spcPct val="50000"/>
              </a:spcBef>
            </a:pPr>
            <a:r>
              <a:rPr lang="en-US" altLang="en-US"/>
              <a:t>Mean =    3         5          5</a:t>
            </a:r>
          </a:p>
        </p:txBody>
      </p:sp>
      <p:sp>
        <p:nvSpPr>
          <p:cNvPr id="18983" name="Text Box 551"/>
          <p:cNvSpPr txBox="1">
            <a:spLocks noChangeArrowheads="1"/>
          </p:cNvSpPr>
          <p:nvPr/>
        </p:nvSpPr>
        <p:spPr bwMode="auto">
          <a:xfrm>
            <a:off x="4716463" y="1557338"/>
            <a:ext cx="3671887" cy="435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Mean = sum of all scores divided by number of scores</a:t>
            </a:r>
          </a:p>
          <a:p>
            <a:pPr>
              <a:spcBef>
                <a:spcPct val="50000"/>
              </a:spcBef>
            </a:pPr>
            <a:endParaRPr lang="en-US" altLang="en-US"/>
          </a:p>
          <a:p>
            <a:pPr>
              <a:spcBef>
                <a:spcPct val="50000"/>
              </a:spcBef>
            </a:pPr>
            <a:r>
              <a:rPr lang="en-US" altLang="en-US"/>
              <a:t>X</a:t>
            </a:r>
            <a:r>
              <a:rPr lang="en-US" altLang="en-US" baseline="-25000"/>
              <a:t>1 </a:t>
            </a:r>
            <a:r>
              <a:rPr lang="en-US" altLang="en-US"/>
              <a:t>+ X</a:t>
            </a:r>
            <a:r>
              <a:rPr lang="en-US" altLang="en-US" baseline="-25000"/>
              <a:t>2</a:t>
            </a:r>
            <a:r>
              <a:rPr lang="en-US" altLang="en-US"/>
              <a:t> + X</a:t>
            </a:r>
            <a:r>
              <a:rPr lang="en-US" altLang="en-US" baseline="-25000"/>
              <a:t>3</a:t>
            </a:r>
            <a:r>
              <a:rPr lang="en-US" altLang="en-US"/>
              <a:t> + …. X</a:t>
            </a:r>
            <a:r>
              <a:rPr lang="en-US" altLang="en-US" baseline="-25000"/>
              <a:t>n</a:t>
            </a:r>
          </a:p>
          <a:p>
            <a:pPr>
              <a:spcBef>
                <a:spcPct val="50000"/>
              </a:spcBef>
            </a:pPr>
            <a:r>
              <a:rPr lang="en-US" altLang="en-US" baseline="-25000"/>
              <a:t>	</a:t>
            </a:r>
            <a:r>
              <a:rPr lang="en-US" altLang="en-US"/>
              <a:t>n</a:t>
            </a:r>
          </a:p>
          <a:p>
            <a:pPr>
              <a:spcBef>
                <a:spcPct val="50000"/>
              </a:spcBef>
            </a:pPr>
            <a:endParaRPr lang="en-US" altLang="en-US"/>
          </a:p>
          <a:p>
            <a:pPr>
              <a:spcBef>
                <a:spcPct val="50000"/>
              </a:spcBef>
            </a:pPr>
            <a:endParaRPr lang="en-US" altLang="en-US"/>
          </a:p>
          <a:p>
            <a:pPr>
              <a:spcBef>
                <a:spcPct val="50000"/>
              </a:spcBef>
            </a:pPr>
            <a:r>
              <a:rPr lang="en-US" altLang="en-US">
                <a:hlinkClick r:id="rId2" action="ppaction://hlinkfile"/>
              </a:rPr>
              <a:t>mean and median applet</a:t>
            </a:r>
            <a:endParaRPr lang="en-US" altLang="en-US"/>
          </a:p>
          <a:p>
            <a:pPr>
              <a:spcBef>
                <a:spcPct val="50000"/>
              </a:spcBef>
            </a:pPr>
            <a:endParaRPr lang="en-US" altLang="en-US"/>
          </a:p>
          <a:p>
            <a:pPr>
              <a:spcBef>
                <a:spcPct val="50000"/>
              </a:spcBef>
            </a:pPr>
            <a:endParaRPr lang="en-US" altLang="en-US"/>
          </a:p>
          <a:p>
            <a:pPr>
              <a:spcBef>
                <a:spcPct val="50000"/>
              </a:spcBef>
            </a:pPr>
            <a:endParaRPr lang="en-US" altLang="en-US"/>
          </a:p>
        </p:txBody>
      </p:sp>
      <p:sp>
        <p:nvSpPr>
          <p:cNvPr id="18984" name="Line 552"/>
          <p:cNvSpPr>
            <a:spLocks noChangeShapeType="1"/>
          </p:cNvSpPr>
          <p:nvPr/>
        </p:nvSpPr>
        <p:spPr bwMode="auto">
          <a:xfrm>
            <a:off x="4787900" y="3068638"/>
            <a:ext cx="2089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2603081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9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98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98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98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8865">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8865">
                                            <p:txEl>
                                              <p:pRg st="1" end="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8865">
                                            <p:txEl>
                                              <p:pRg st="2" end="2"/>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89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sz="2800" dirty="0"/>
              <a:t>The Variance: Sum of the squared deviations divided by number of scores</a:t>
            </a:r>
          </a:p>
        </p:txBody>
      </p:sp>
      <p:graphicFrame>
        <p:nvGraphicFramePr>
          <p:cNvPr id="21507" name="Group 3"/>
          <p:cNvGraphicFramePr>
            <a:graphicFrameLocks noGrp="1"/>
          </p:cNvGraphicFramePr>
          <p:nvPr>
            <p:ph sz="half" idx="1"/>
            <p:extLst>
              <p:ext uri="{D42A27DB-BD31-4B8C-83A1-F6EECF244321}">
                <p14:modId xmlns:p14="http://schemas.microsoft.com/office/powerpoint/2010/main" val="3885523580"/>
              </p:ext>
            </p:extLst>
          </p:nvPr>
        </p:nvGraphicFramePr>
        <p:xfrm>
          <a:off x="455613" y="1485900"/>
          <a:ext cx="2963862" cy="3017520"/>
        </p:xfrm>
        <a:graphic>
          <a:graphicData uri="http://schemas.openxmlformats.org/drawingml/2006/table">
            <a:tbl>
              <a:tblPr/>
              <a:tblGrid>
                <a:gridCol w="741362">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741362">
                  <a:extLst>
                    <a:ext uri="{9D8B030D-6E8A-4147-A177-3AD203B41FA5}">
                      <a16:colId xmlns:a16="http://schemas.microsoft.com/office/drawing/2014/main" val="20003"/>
                    </a:ext>
                  </a:extLst>
                </a:gridCol>
              </a:tblGrid>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urier" charset="0"/>
                        </a:rPr>
                        <a:t>Subject</a:t>
                      </a:r>
                      <a:endParaRPr kumimoji="0" lang="en-US" altLang="en-US" sz="1200" b="1"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3</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1569" name="Text Box 65"/>
          <p:cNvSpPr txBox="1">
            <a:spLocks noChangeArrowheads="1"/>
          </p:cNvSpPr>
          <p:nvPr/>
        </p:nvSpPr>
        <p:spPr bwMode="auto">
          <a:xfrm>
            <a:off x="468313" y="4611687"/>
            <a:ext cx="302418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solidFill>
                  <a:schemeClr val="accent5">
                    <a:lumMod val="75000"/>
                  </a:schemeClr>
                </a:solidFill>
              </a:rPr>
              <a:t>Sum =   30        50        50</a:t>
            </a:r>
          </a:p>
          <a:p>
            <a:pPr>
              <a:spcBef>
                <a:spcPct val="50000"/>
              </a:spcBef>
            </a:pPr>
            <a:r>
              <a:rPr lang="en-US" altLang="en-US" dirty="0">
                <a:solidFill>
                  <a:schemeClr val="accent5">
                    <a:lumMod val="75000"/>
                  </a:schemeClr>
                </a:solidFill>
              </a:rPr>
              <a:t>/n           10       10         10</a:t>
            </a:r>
          </a:p>
          <a:p>
            <a:pPr>
              <a:spcBef>
                <a:spcPct val="50000"/>
              </a:spcBef>
            </a:pPr>
            <a:r>
              <a:rPr lang="en-US" altLang="en-US" dirty="0">
                <a:solidFill>
                  <a:schemeClr val="accent5">
                    <a:lumMod val="75000"/>
                  </a:schemeClr>
                </a:solidFill>
              </a:rPr>
              <a:t>Mean =    3         5          5</a:t>
            </a:r>
          </a:p>
        </p:txBody>
      </p:sp>
      <p:graphicFrame>
        <p:nvGraphicFramePr>
          <p:cNvPr id="21657" name="Group 153"/>
          <p:cNvGraphicFramePr>
            <a:graphicFrameLocks noGrp="1"/>
          </p:cNvGraphicFramePr>
          <p:nvPr>
            <p:ph sz="half" idx="2"/>
            <p:extLst>
              <p:ext uri="{D42A27DB-BD31-4B8C-83A1-F6EECF244321}">
                <p14:modId xmlns:p14="http://schemas.microsoft.com/office/powerpoint/2010/main" val="570456078"/>
              </p:ext>
            </p:extLst>
          </p:nvPr>
        </p:nvGraphicFramePr>
        <p:xfrm>
          <a:off x="3779838" y="1371600"/>
          <a:ext cx="5113337" cy="3200400"/>
        </p:xfrm>
        <a:graphic>
          <a:graphicData uri="http://schemas.openxmlformats.org/drawingml/2006/table">
            <a:tbl>
              <a:tblPr/>
              <a:tblGrid>
                <a:gridCol w="852487">
                  <a:extLst>
                    <a:ext uri="{9D8B030D-6E8A-4147-A177-3AD203B41FA5}">
                      <a16:colId xmlns:a16="http://schemas.microsoft.com/office/drawing/2014/main" val="20000"/>
                    </a:ext>
                  </a:extLst>
                </a:gridCol>
                <a:gridCol w="852488">
                  <a:extLst>
                    <a:ext uri="{9D8B030D-6E8A-4147-A177-3AD203B41FA5}">
                      <a16:colId xmlns:a16="http://schemas.microsoft.com/office/drawing/2014/main" val="20001"/>
                    </a:ext>
                  </a:extLst>
                </a:gridCol>
                <a:gridCol w="852487">
                  <a:extLst>
                    <a:ext uri="{9D8B030D-6E8A-4147-A177-3AD203B41FA5}">
                      <a16:colId xmlns:a16="http://schemas.microsoft.com/office/drawing/2014/main" val="20002"/>
                    </a:ext>
                  </a:extLst>
                </a:gridCol>
                <a:gridCol w="852488">
                  <a:extLst>
                    <a:ext uri="{9D8B030D-6E8A-4147-A177-3AD203B41FA5}">
                      <a16:colId xmlns:a16="http://schemas.microsoft.com/office/drawing/2014/main" val="20003"/>
                    </a:ext>
                  </a:extLst>
                </a:gridCol>
                <a:gridCol w="850900">
                  <a:extLst>
                    <a:ext uri="{9D8B030D-6E8A-4147-A177-3AD203B41FA5}">
                      <a16:colId xmlns:a16="http://schemas.microsoft.com/office/drawing/2014/main" val="20004"/>
                    </a:ext>
                  </a:extLst>
                </a:gridCol>
                <a:gridCol w="852487">
                  <a:extLst>
                    <a:ext uri="{9D8B030D-6E8A-4147-A177-3AD203B41FA5}">
                      <a16:colId xmlns:a16="http://schemas.microsoft.com/office/drawing/2014/main" val="20005"/>
                    </a:ext>
                  </a:extLst>
                </a:gridCol>
              </a:tblGrid>
              <a:tr h="2000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 -mean</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 – mean </a:t>
                      </a:r>
                      <a:r>
                        <a:rPr kumimoji="0" lang="en-US" altLang="en-US" sz="1200" b="1" i="0" u="none" strike="noStrike" cap="none" normalizeH="0" baseline="3000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 - mean</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During – mean</a:t>
                      </a:r>
                      <a:r>
                        <a:rPr kumimoji="0" lang="en-US" altLang="en-US" sz="1200" b="1" i="0" u="none" strike="noStrike" cap="none" normalizeH="0" baseline="30000">
                          <a:ln>
                            <a:noFill/>
                          </a:ln>
                          <a:solidFill>
                            <a:schemeClr val="tx1"/>
                          </a:solidFill>
                          <a:effectLst/>
                          <a:latin typeface="Arial" pitchFamily="34"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After - mean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 – mean </a:t>
                      </a:r>
                      <a:r>
                        <a:rPr kumimoji="0" lang="en-US" altLang="en-US" sz="1200" b="1" i="0" u="none" strike="noStrike" cap="none" normalizeH="0" baseline="3000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987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dirty="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987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dirty="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1656" name="Text Box 152"/>
          <p:cNvSpPr txBox="1">
            <a:spLocks noChangeArrowheads="1"/>
          </p:cNvSpPr>
          <p:nvPr/>
        </p:nvSpPr>
        <p:spPr bwMode="auto">
          <a:xfrm>
            <a:off x="3779838" y="4611687"/>
            <a:ext cx="511333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    0	    </a:t>
            </a:r>
            <a:r>
              <a:rPr lang="en-US" altLang="en-US" b="1">
                <a:solidFill>
                  <a:srgbClr val="FF0066"/>
                </a:solidFill>
              </a:rPr>
              <a:t>0</a:t>
            </a:r>
            <a:r>
              <a:rPr lang="en-US" altLang="en-US"/>
              <a:t>	  0           </a:t>
            </a:r>
            <a:r>
              <a:rPr lang="en-US" altLang="en-US" b="1">
                <a:solidFill>
                  <a:srgbClr val="FF0066"/>
                </a:solidFill>
              </a:rPr>
              <a:t>108</a:t>
            </a:r>
            <a:r>
              <a:rPr lang="en-US" altLang="en-US" b="1"/>
              <a:t> </a:t>
            </a:r>
            <a:r>
              <a:rPr lang="en-US" altLang="en-US"/>
              <a:t>       0           </a:t>
            </a:r>
            <a:r>
              <a:rPr lang="en-US" altLang="en-US" b="1">
                <a:solidFill>
                  <a:srgbClr val="FF0066"/>
                </a:solidFill>
              </a:rPr>
              <a:t>22</a:t>
            </a:r>
          </a:p>
          <a:p>
            <a:pPr>
              <a:spcBef>
                <a:spcPct val="50000"/>
              </a:spcBef>
            </a:pPr>
            <a:r>
              <a:rPr lang="en-US" altLang="en-US" b="1"/>
              <a:t>	   10*                        10                     10</a:t>
            </a:r>
          </a:p>
          <a:p>
            <a:pPr>
              <a:spcBef>
                <a:spcPct val="50000"/>
              </a:spcBef>
            </a:pPr>
            <a:r>
              <a:rPr lang="en-US" altLang="en-US" b="1"/>
              <a:t>VAR =        0                       10.8                     2.2</a:t>
            </a:r>
          </a:p>
        </p:txBody>
      </p:sp>
      <p:sp>
        <p:nvSpPr>
          <p:cNvPr id="21658" name="Rectangle 154"/>
          <p:cNvSpPr>
            <a:spLocks noChangeArrowheads="1"/>
          </p:cNvSpPr>
          <p:nvPr/>
        </p:nvSpPr>
        <p:spPr bwMode="auto">
          <a:xfrm>
            <a:off x="1187450" y="1516062"/>
            <a:ext cx="720725" cy="29527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59" name="Rectangle 155"/>
          <p:cNvSpPr>
            <a:spLocks noChangeArrowheads="1"/>
          </p:cNvSpPr>
          <p:nvPr/>
        </p:nvSpPr>
        <p:spPr bwMode="auto">
          <a:xfrm>
            <a:off x="377983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0" name="Rectangle 156"/>
          <p:cNvSpPr>
            <a:spLocks noChangeArrowheads="1"/>
          </p:cNvSpPr>
          <p:nvPr/>
        </p:nvSpPr>
        <p:spPr bwMode="auto">
          <a:xfrm>
            <a:off x="464343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1" name="Rectangle 157"/>
          <p:cNvSpPr>
            <a:spLocks noChangeArrowheads="1"/>
          </p:cNvSpPr>
          <p:nvPr/>
        </p:nvSpPr>
        <p:spPr bwMode="auto">
          <a:xfrm>
            <a:off x="1908175" y="1516062"/>
            <a:ext cx="720725" cy="29527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2" name="Rectangle 158"/>
          <p:cNvSpPr>
            <a:spLocks noChangeArrowheads="1"/>
          </p:cNvSpPr>
          <p:nvPr/>
        </p:nvSpPr>
        <p:spPr bwMode="auto">
          <a:xfrm>
            <a:off x="5508625"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3" name="Rectangle 159"/>
          <p:cNvSpPr>
            <a:spLocks noChangeArrowheads="1"/>
          </p:cNvSpPr>
          <p:nvPr/>
        </p:nvSpPr>
        <p:spPr bwMode="auto">
          <a:xfrm>
            <a:off x="630078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4" name="Rectangle 160"/>
          <p:cNvSpPr>
            <a:spLocks noChangeArrowheads="1"/>
          </p:cNvSpPr>
          <p:nvPr/>
        </p:nvSpPr>
        <p:spPr bwMode="auto">
          <a:xfrm>
            <a:off x="2700338" y="1516062"/>
            <a:ext cx="720725" cy="29527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5" name="Rectangle 161"/>
          <p:cNvSpPr>
            <a:spLocks noChangeArrowheads="1"/>
          </p:cNvSpPr>
          <p:nvPr/>
        </p:nvSpPr>
        <p:spPr bwMode="auto">
          <a:xfrm>
            <a:off x="716438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6" name="Rectangle 162"/>
          <p:cNvSpPr>
            <a:spLocks noChangeArrowheads="1"/>
          </p:cNvSpPr>
          <p:nvPr/>
        </p:nvSpPr>
        <p:spPr bwMode="auto">
          <a:xfrm>
            <a:off x="802798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7" name="Oval 163"/>
          <p:cNvSpPr>
            <a:spLocks noChangeArrowheads="1"/>
          </p:cNvSpPr>
          <p:nvPr/>
        </p:nvSpPr>
        <p:spPr bwMode="auto">
          <a:xfrm>
            <a:off x="1476375" y="5476875"/>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8" name="Oval 164"/>
          <p:cNvSpPr>
            <a:spLocks noChangeArrowheads="1"/>
          </p:cNvSpPr>
          <p:nvPr/>
        </p:nvSpPr>
        <p:spPr bwMode="auto">
          <a:xfrm>
            <a:off x="2195513" y="5476875"/>
            <a:ext cx="287337"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9" name="Oval 165"/>
          <p:cNvSpPr>
            <a:spLocks noChangeArrowheads="1"/>
          </p:cNvSpPr>
          <p:nvPr/>
        </p:nvSpPr>
        <p:spPr bwMode="auto">
          <a:xfrm>
            <a:off x="2987675" y="5476875"/>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70" name="Text Box 166"/>
          <p:cNvSpPr txBox="1">
            <a:spLocks noChangeArrowheads="1"/>
          </p:cNvSpPr>
          <p:nvPr/>
        </p:nvSpPr>
        <p:spPr bwMode="auto">
          <a:xfrm>
            <a:off x="1620044" y="6053137"/>
            <a:ext cx="73802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t>*actually you divide by n-1 because it is a sample and not a population, but you get the idea…</a:t>
            </a:r>
          </a:p>
        </p:txBody>
      </p:sp>
    </p:spTree>
    <p:extLst>
      <p:ext uri="{BB962C8B-B14F-4D97-AF65-F5344CB8AC3E}">
        <p14:creationId xmlns:p14="http://schemas.microsoft.com/office/powerpoint/2010/main" val="4263166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6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6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66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65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1659"/>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66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1660"/>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1658"/>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21667"/>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6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66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66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21662"/>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66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21663"/>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21661"/>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21668"/>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6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669"/>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665"/>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1665"/>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1666"/>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21666"/>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21664"/>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21669"/>
                                        </p:tgtEl>
                                        <p:attrNameLst>
                                          <p:attrName>style.visibility</p:attrName>
                                        </p:attrNameLst>
                                      </p:cBhvr>
                                      <p:to>
                                        <p:strVal val="hidden"/>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21656">
                                            <p:txEl>
                                              <p:pRg st="0" end="0"/>
                                            </p:txEl>
                                          </p:spTgt>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21656">
                                            <p:txEl>
                                              <p:pRg st="1" end="1"/>
                                            </p:txEl>
                                          </p:spTgt>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1670"/>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216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58" grpId="0" animBg="1"/>
      <p:bldP spid="21658" grpId="1" animBg="1"/>
      <p:bldP spid="21659" grpId="0" animBg="1"/>
      <p:bldP spid="21659" grpId="1" animBg="1"/>
      <p:bldP spid="21660" grpId="0" animBg="1"/>
      <p:bldP spid="21660" grpId="1" animBg="1"/>
      <p:bldP spid="21661" grpId="0" animBg="1"/>
      <p:bldP spid="21661" grpId="1" animBg="1"/>
      <p:bldP spid="21662" grpId="0" animBg="1"/>
      <p:bldP spid="21662" grpId="1" animBg="1"/>
      <p:bldP spid="21663" grpId="0" animBg="1"/>
      <p:bldP spid="21663" grpId="1" animBg="1"/>
      <p:bldP spid="21664" grpId="0" animBg="1"/>
      <p:bldP spid="21664" grpId="1" animBg="1"/>
      <p:bldP spid="21665" grpId="0" animBg="1"/>
      <p:bldP spid="21665" grpId="1" animBg="1"/>
      <p:bldP spid="21666" grpId="0" animBg="1"/>
      <p:bldP spid="21666" grpId="1" animBg="1"/>
      <p:bldP spid="21667" grpId="0" animBg="1"/>
      <p:bldP spid="21667" grpId="1" animBg="1"/>
      <p:bldP spid="21668" grpId="0" animBg="1"/>
      <p:bldP spid="21668" grpId="1" animBg="1"/>
      <p:bldP spid="21669" grpId="0" animBg="1"/>
      <p:bldP spid="21669" grpId="1" animBg="1"/>
      <p:bldP spid="2167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Variance continued</a:t>
            </a:r>
          </a:p>
        </p:txBody>
      </p:sp>
      <p:pic>
        <p:nvPicPr>
          <p:cNvPr id="2253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224" y="1600200"/>
            <a:ext cx="2086928" cy="30353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2038" y="1628774"/>
            <a:ext cx="2808287" cy="38004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612" y="1668462"/>
            <a:ext cx="2592388" cy="3810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40" name="Line 12"/>
          <p:cNvSpPr>
            <a:spLocks noChangeShapeType="1"/>
          </p:cNvSpPr>
          <p:nvPr/>
        </p:nvSpPr>
        <p:spPr bwMode="auto">
          <a:xfrm>
            <a:off x="4114800" y="3429000"/>
            <a:ext cx="0" cy="7921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1" name="Line 13"/>
          <p:cNvSpPr>
            <a:spLocks noChangeShapeType="1"/>
          </p:cNvSpPr>
          <p:nvPr/>
        </p:nvSpPr>
        <p:spPr bwMode="auto">
          <a:xfrm>
            <a:off x="4321175" y="2636838"/>
            <a:ext cx="0" cy="7921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2" name="Line 14"/>
          <p:cNvSpPr>
            <a:spLocks noChangeShapeType="1"/>
          </p:cNvSpPr>
          <p:nvPr/>
        </p:nvSpPr>
        <p:spPr bwMode="auto">
          <a:xfrm flipH="1">
            <a:off x="4508500" y="2924175"/>
            <a:ext cx="9525"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3" name="Line 15"/>
          <p:cNvSpPr>
            <a:spLocks noChangeShapeType="1"/>
          </p:cNvSpPr>
          <p:nvPr/>
        </p:nvSpPr>
        <p:spPr bwMode="auto">
          <a:xfrm>
            <a:off x="4724400" y="3429000"/>
            <a:ext cx="0" cy="7921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4" name="Line 16"/>
          <p:cNvSpPr>
            <a:spLocks noChangeShapeType="1"/>
          </p:cNvSpPr>
          <p:nvPr/>
        </p:nvSpPr>
        <p:spPr bwMode="auto">
          <a:xfrm>
            <a:off x="4921250" y="2636838"/>
            <a:ext cx="0" cy="7921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5" name="Line 17"/>
          <p:cNvSpPr>
            <a:spLocks noChangeShapeType="1"/>
          </p:cNvSpPr>
          <p:nvPr/>
        </p:nvSpPr>
        <p:spPr bwMode="auto">
          <a:xfrm>
            <a:off x="5132387" y="34290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7" name="Line 19"/>
          <p:cNvSpPr>
            <a:spLocks noChangeShapeType="1"/>
          </p:cNvSpPr>
          <p:nvPr/>
        </p:nvSpPr>
        <p:spPr bwMode="auto">
          <a:xfrm>
            <a:off x="5343525" y="23495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8" name="Line 20"/>
          <p:cNvSpPr>
            <a:spLocks noChangeShapeType="1"/>
          </p:cNvSpPr>
          <p:nvPr/>
        </p:nvSpPr>
        <p:spPr bwMode="auto">
          <a:xfrm>
            <a:off x="5516562" y="3448050"/>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9" name="Line 21"/>
          <p:cNvSpPr>
            <a:spLocks noChangeShapeType="1"/>
          </p:cNvSpPr>
          <p:nvPr/>
        </p:nvSpPr>
        <p:spPr bwMode="auto">
          <a:xfrm>
            <a:off x="5732462" y="23495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0" name="Line 22"/>
          <p:cNvSpPr>
            <a:spLocks noChangeShapeType="1"/>
          </p:cNvSpPr>
          <p:nvPr/>
        </p:nvSpPr>
        <p:spPr bwMode="auto">
          <a:xfrm>
            <a:off x="5948362" y="34290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1" name="Line 23"/>
          <p:cNvSpPr>
            <a:spLocks noChangeShapeType="1"/>
          </p:cNvSpPr>
          <p:nvPr/>
        </p:nvSpPr>
        <p:spPr bwMode="auto">
          <a:xfrm>
            <a:off x="7086600" y="2924175"/>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2" name="Line 24"/>
          <p:cNvSpPr>
            <a:spLocks noChangeShapeType="1"/>
          </p:cNvSpPr>
          <p:nvPr/>
        </p:nvSpPr>
        <p:spPr bwMode="auto">
          <a:xfrm>
            <a:off x="7278687" y="3429000"/>
            <a:ext cx="0" cy="2873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3" name="Line 25"/>
          <p:cNvSpPr>
            <a:spLocks noChangeShapeType="1"/>
          </p:cNvSpPr>
          <p:nvPr/>
        </p:nvSpPr>
        <p:spPr bwMode="auto">
          <a:xfrm>
            <a:off x="7446962" y="3429000"/>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4" name="Line 26"/>
          <p:cNvSpPr>
            <a:spLocks noChangeShapeType="1"/>
          </p:cNvSpPr>
          <p:nvPr/>
        </p:nvSpPr>
        <p:spPr bwMode="auto">
          <a:xfrm>
            <a:off x="7662862" y="3213100"/>
            <a:ext cx="0" cy="2159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5" name="Line 27"/>
          <p:cNvSpPr>
            <a:spLocks noChangeShapeType="1"/>
          </p:cNvSpPr>
          <p:nvPr/>
        </p:nvSpPr>
        <p:spPr bwMode="auto">
          <a:xfrm>
            <a:off x="7807325" y="3429000"/>
            <a:ext cx="0" cy="2889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6" name="Line 28"/>
          <p:cNvSpPr>
            <a:spLocks noChangeShapeType="1"/>
          </p:cNvSpPr>
          <p:nvPr/>
        </p:nvSpPr>
        <p:spPr bwMode="auto">
          <a:xfrm>
            <a:off x="8023225" y="3213100"/>
            <a:ext cx="0" cy="2159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7" name="Line 29"/>
          <p:cNvSpPr>
            <a:spLocks noChangeShapeType="1"/>
          </p:cNvSpPr>
          <p:nvPr/>
        </p:nvSpPr>
        <p:spPr bwMode="auto">
          <a:xfrm>
            <a:off x="8205787" y="3429000"/>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8" name="Line 30"/>
          <p:cNvSpPr>
            <a:spLocks noChangeShapeType="1"/>
          </p:cNvSpPr>
          <p:nvPr/>
        </p:nvSpPr>
        <p:spPr bwMode="auto">
          <a:xfrm>
            <a:off x="8383587" y="3141663"/>
            <a:ext cx="0" cy="2873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9" name="Line 31"/>
          <p:cNvSpPr>
            <a:spLocks noChangeShapeType="1"/>
          </p:cNvSpPr>
          <p:nvPr/>
        </p:nvSpPr>
        <p:spPr bwMode="auto">
          <a:xfrm>
            <a:off x="8599487" y="3429000"/>
            <a:ext cx="0" cy="2873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60" name="Line 32"/>
          <p:cNvSpPr>
            <a:spLocks noChangeShapeType="1"/>
          </p:cNvSpPr>
          <p:nvPr/>
        </p:nvSpPr>
        <p:spPr bwMode="auto">
          <a:xfrm>
            <a:off x="8763000" y="2924175"/>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61" name="Text Box 33"/>
          <p:cNvSpPr txBox="1">
            <a:spLocks noChangeArrowheads="1"/>
          </p:cNvSpPr>
          <p:nvPr/>
        </p:nvSpPr>
        <p:spPr bwMode="auto">
          <a:xfrm>
            <a:off x="1447801" y="3276600"/>
            <a:ext cx="7619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400" b="1" dirty="0">
                <a:solidFill>
                  <a:schemeClr val="accent1"/>
                </a:solidFill>
              </a:rPr>
              <a:t>mean</a:t>
            </a:r>
          </a:p>
        </p:txBody>
      </p:sp>
    </p:spTree>
    <p:extLst>
      <p:ext uri="{BB962C8B-B14F-4D97-AF65-F5344CB8AC3E}">
        <p14:creationId xmlns:p14="http://schemas.microsoft.com/office/powerpoint/2010/main" val="1359431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5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5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4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4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4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54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54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54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54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54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54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55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55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55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55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55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55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2556"/>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2557"/>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2558"/>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2559"/>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25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0" grpId="0" animBg="1"/>
      <p:bldP spid="22541" grpId="0" animBg="1"/>
      <p:bldP spid="22542" grpId="0" animBg="1"/>
      <p:bldP spid="22543" grpId="0" animBg="1"/>
      <p:bldP spid="22544" grpId="0" animBg="1"/>
      <p:bldP spid="22545" grpId="0" animBg="1"/>
      <p:bldP spid="22547" grpId="0" animBg="1"/>
      <p:bldP spid="22548" grpId="0" animBg="1"/>
      <p:bldP spid="22549" grpId="0" animBg="1"/>
      <p:bldP spid="22550" grpId="0" animBg="1"/>
      <p:bldP spid="22551" grpId="0" animBg="1"/>
      <p:bldP spid="22552" grpId="0" animBg="1"/>
      <p:bldP spid="22553" grpId="0" animBg="1"/>
      <p:bldP spid="22554" grpId="0" animBg="1"/>
      <p:bldP spid="22555" grpId="0" animBg="1"/>
      <p:bldP spid="22556" grpId="0" animBg="1"/>
      <p:bldP spid="22557" grpId="0" animBg="1"/>
      <p:bldP spid="22558" grpId="0" animBg="1"/>
      <p:bldP spid="22559" grpId="0" animBg="1"/>
      <p:bldP spid="22560" grpId="0" animBg="1"/>
      <p:bldP spid="225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dirty="0"/>
              <a:t>Standard Variance calculation </a:t>
            </a:r>
          </a:p>
        </p:txBody>
      </p:sp>
      <p:sp>
        <p:nvSpPr>
          <p:cNvPr id="37891" name="Rectangle 3"/>
          <p:cNvSpPr>
            <a:spLocks noGrp="1" noChangeArrowheads="1"/>
          </p:cNvSpPr>
          <p:nvPr>
            <p:ph type="body" idx="1"/>
          </p:nvPr>
        </p:nvSpPr>
        <p:spPr/>
        <p:txBody>
          <a:bodyPr/>
          <a:lstStyle/>
          <a:p>
            <a:pPr>
              <a:lnSpc>
                <a:spcPct val="80000"/>
              </a:lnSpc>
              <a:buFont typeface="Wingdings" pitchFamily="2" charset="2"/>
              <a:buNone/>
            </a:pPr>
            <a:r>
              <a:rPr lang="en-US" altLang="en-US" sz="2800" dirty="0"/>
              <a:t>The process of standardizing deviations goes like this:</a:t>
            </a:r>
          </a:p>
          <a:p>
            <a:pPr>
              <a:lnSpc>
                <a:spcPct val="80000"/>
              </a:lnSpc>
              <a:buFont typeface="Wingdings" pitchFamily="2" charset="2"/>
              <a:buNone/>
            </a:pPr>
            <a:r>
              <a:rPr lang="en-US" altLang="en-US" sz="2800" dirty="0"/>
              <a:t>1.Score (in the units that are meaningful)</a:t>
            </a:r>
          </a:p>
          <a:p>
            <a:pPr>
              <a:lnSpc>
                <a:spcPct val="80000"/>
              </a:lnSpc>
              <a:buFont typeface="Wingdings" pitchFamily="2" charset="2"/>
              <a:buNone/>
            </a:pPr>
            <a:r>
              <a:rPr lang="en-US" altLang="en-US" sz="2800" dirty="0"/>
              <a:t>2.Mean </a:t>
            </a:r>
          </a:p>
          <a:p>
            <a:pPr>
              <a:lnSpc>
                <a:spcPct val="80000"/>
              </a:lnSpc>
              <a:buFont typeface="Wingdings" pitchFamily="2" charset="2"/>
              <a:buNone/>
            </a:pPr>
            <a:r>
              <a:rPr lang="en-US" altLang="en-US" sz="2800" dirty="0"/>
              <a:t>3.Each score’s deviation from the mean</a:t>
            </a:r>
          </a:p>
          <a:p>
            <a:pPr>
              <a:lnSpc>
                <a:spcPct val="80000"/>
              </a:lnSpc>
              <a:buFont typeface="Wingdings" pitchFamily="2" charset="2"/>
              <a:buNone/>
            </a:pPr>
            <a:r>
              <a:rPr lang="en-US" altLang="en-US" sz="2800" dirty="0"/>
              <a:t>4.Square that deviation</a:t>
            </a:r>
          </a:p>
          <a:p>
            <a:pPr>
              <a:lnSpc>
                <a:spcPct val="80000"/>
              </a:lnSpc>
              <a:buFont typeface="Wingdings" pitchFamily="2" charset="2"/>
              <a:buNone/>
            </a:pPr>
            <a:r>
              <a:rPr lang="en-US" altLang="en-US" sz="2800" dirty="0"/>
              <a:t>5.Sum all the squared deviations (Sum of Squares)</a:t>
            </a:r>
          </a:p>
          <a:p>
            <a:pPr>
              <a:lnSpc>
                <a:spcPct val="80000"/>
              </a:lnSpc>
              <a:buFont typeface="Wingdings" pitchFamily="2" charset="2"/>
              <a:buNone/>
            </a:pPr>
            <a:r>
              <a:rPr lang="en-US" altLang="en-US" sz="2800" dirty="0"/>
              <a:t>6.Divide by n (if population) or n-1 (if sample)</a:t>
            </a:r>
          </a:p>
          <a:p>
            <a:pPr>
              <a:lnSpc>
                <a:spcPct val="80000"/>
              </a:lnSpc>
              <a:buFont typeface="Wingdings" pitchFamily="2" charset="2"/>
              <a:buNone/>
            </a:pPr>
            <a:r>
              <a:rPr lang="en-US" altLang="en-US" sz="2800" dirty="0"/>
              <a:t>7.Square root – now the value is in the units we started with!!!</a:t>
            </a:r>
          </a:p>
        </p:txBody>
      </p:sp>
    </p:spTree>
    <p:extLst>
      <p:ext uri="{BB962C8B-B14F-4D97-AF65-F5344CB8AC3E}">
        <p14:creationId xmlns:p14="http://schemas.microsoft.com/office/powerpoint/2010/main" val="1980764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89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8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dirty="0"/>
              <a:t>Standardize Variance</a:t>
            </a:r>
          </a:p>
        </p:txBody>
      </p:sp>
      <p:sp>
        <p:nvSpPr>
          <p:cNvPr id="34819" name="Rectangle 3"/>
          <p:cNvSpPr>
            <a:spLocks noGrp="1" noChangeArrowheads="1"/>
          </p:cNvSpPr>
          <p:nvPr>
            <p:ph type="body" idx="1"/>
          </p:nvPr>
        </p:nvSpPr>
        <p:spPr/>
        <p:txBody>
          <a:bodyPr/>
          <a:lstStyle/>
          <a:p>
            <a:pPr>
              <a:buFont typeface="Wingdings" pitchFamily="2" charset="2"/>
              <a:buNone/>
            </a:pPr>
            <a:r>
              <a:rPr lang="en-US" altLang="en-US" dirty="0"/>
              <a:t>Variance, as calculated earlier, is arbitrary.</a:t>
            </a:r>
          </a:p>
          <a:p>
            <a:pPr>
              <a:buFont typeface="Wingdings" pitchFamily="2" charset="2"/>
              <a:buNone/>
            </a:pPr>
            <a:r>
              <a:rPr lang="en-US" altLang="en-US" dirty="0"/>
              <a:t>What does it mean to have a variance of 10.8? Or 2.2? Or 1459.092? Or 0.000001?</a:t>
            </a:r>
          </a:p>
          <a:p>
            <a:pPr>
              <a:buFont typeface="Wingdings" pitchFamily="2" charset="2"/>
              <a:buNone/>
            </a:pPr>
            <a:r>
              <a:rPr lang="en-US" altLang="en-US" dirty="0"/>
              <a:t>Nothing. But if you could “standardize” that value, you could talk about any variance (i.e. deviation) in equivalent terms.</a:t>
            </a:r>
          </a:p>
          <a:p>
            <a:pPr>
              <a:buFont typeface="Wingdings" pitchFamily="2" charset="2"/>
              <a:buNone/>
            </a:pPr>
            <a:r>
              <a:rPr lang="en-US" altLang="en-US" dirty="0"/>
              <a:t>Standard Deviations are simply the square root of the variance</a:t>
            </a:r>
          </a:p>
        </p:txBody>
      </p:sp>
    </p:spTree>
    <p:extLst>
      <p:ext uri="{BB962C8B-B14F-4D97-AF65-F5344CB8AC3E}">
        <p14:creationId xmlns:p14="http://schemas.microsoft.com/office/powerpoint/2010/main" val="2962324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t>Distribution</a:t>
            </a:r>
          </a:p>
        </p:txBody>
      </p:sp>
      <p:sp>
        <p:nvSpPr>
          <p:cNvPr id="31747" name="Rectangle 3"/>
          <p:cNvSpPr>
            <a:spLocks noGrp="1" noChangeArrowheads="1"/>
          </p:cNvSpPr>
          <p:nvPr>
            <p:ph type="body" idx="1"/>
          </p:nvPr>
        </p:nvSpPr>
        <p:spPr/>
        <p:txBody>
          <a:bodyPr/>
          <a:lstStyle/>
          <a:p>
            <a:pPr>
              <a:lnSpc>
                <a:spcPct val="80000"/>
              </a:lnSpc>
            </a:pPr>
            <a:r>
              <a:rPr lang="en-US" altLang="en-US" sz="2800" dirty="0"/>
              <a:t>Means and variances are ways to describe a </a:t>
            </a:r>
            <a:r>
              <a:rPr lang="en-US" altLang="en-US" sz="2800" i="1" dirty="0"/>
              <a:t>distribution </a:t>
            </a:r>
            <a:r>
              <a:rPr lang="en-US" altLang="en-US" sz="2800" dirty="0"/>
              <a:t>of scores/values.</a:t>
            </a:r>
          </a:p>
          <a:p>
            <a:pPr>
              <a:lnSpc>
                <a:spcPct val="80000"/>
              </a:lnSpc>
            </a:pPr>
            <a:r>
              <a:rPr lang="en-US" altLang="en-US" sz="2800" dirty="0"/>
              <a:t>Knowing about your distributions is one of the best ways to understand your data</a:t>
            </a:r>
          </a:p>
          <a:p>
            <a:pPr>
              <a:lnSpc>
                <a:spcPct val="80000"/>
              </a:lnSpc>
            </a:pPr>
            <a:r>
              <a:rPr lang="en-US" altLang="en-US" sz="2800" dirty="0"/>
              <a:t>A NORMAL (aka Gaussian) distribution is the most common assumption of statistics, thus it is often important to check if your data are normally distributed.</a:t>
            </a:r>
          </a:p>
          <a:p>
            <a:pPr>
              <a:lnSpc>
                <a:spcPct val="80000"/>
              </a:lnSpc>
              <a:buFont typeface="Wingdings" pitchFamily="2" charset="2"/>
              <a:buNone/>
            </a:pPr>
            <a:endParaRPr lang="en-US" altLang="en-US" sz="2800" dirty="0"/>
          </a:p>
          <a:p>
            <a:pPr>
              <a:lnSpc>
                <a:spcPct val="80000"/>
              </a:lnSpc>
              <a:buFont typeface="Wingdings" pitchFamily="2" charset="2"/>
              <a:buNone/>
            </a:pPr>
            <a:r>
              <a:rPr lang="en-US" altLang="en-US" sz="2800" dirty="0"/>
              <a:t>We will discuss more Gaussian in ML part.</a:t>
            </a:r>
          </a:p>
        </p:txBody>
      </p:sp>
    </p:spTree>
    <p:extLst>
      <p:ext uri="{BB962C8B-B14F-4D97-AF65-F5344CB8AC3E}">
        <p14:creationId xmlns:p14="http://schemas.microsoft.com/office/powerpoint/2010/main" val="1846980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z="4000"/>
              <a:t>Interpreting standard deviation (SD)</a:t>
            </a:r>
          </a:p>
        </p:txBody>
      </p:sp>
      <p:sp>
        <p:nvSpPr>
          <p:cNvPr id="38915" name="Rectangle 3"/>
          <p:cNvSpPr>
            <a:spLocks noGrp="1" noChangeArrowheads="1"/>
          </p:cNvSpPr>
          <p:nvPr>
            <p:ph type="body" idx="1"/>
          </p:nvPr>
        </p:nvSpPr>
        <p:spPr/>
        <p:txBody>
          <a:bodyPr/>
          <a:lstStyle/>
          <a:p>
            <a:pPr>
              <a:buFont typeface="Wingdings" pitchFamily="2" charset="2"/>
              <a:buNone/>
            </a:pPr>
            <a:r>
              <a:rPr lang="en-US" altLang="en-US" sz="2800"/>
              <a:t>First, the SD will let you know about the distribution of scores around the mean. </a:t>
            </a:r>
          </a:p>
          <a:p>
            <a:pPr>
              <a:buFont typeface="Wingdings" pitchFamily="2" charset="2"/>
              <a:buNone/>
            </a:pPr>
            <a:r>
              <a:rPr lang="en-US" altLang="en-US" sz="2800"/>
              <a:t>High SDs (relative to the mean) indicate the scores are spread out</a:t>
            </a:r>
          </a:p>
          <a:p>
            <a:pPr>
              <a:buFont typeface="Wingdings" pitchFamily="2" charset="2"/>
              <a:buNone/>
            </a:pPr>
            <a:r>
              <a:rPr lang="en-US" altLang="en-US" sz="2800"/>
              <a:t>Low SDs tell you that most scores are very near the mean.</a:t>
            </a:r>
          </a:p>
        </p:txBody>
      </p:sp>
      <p:pic>
        <p:nvPicPr>
          <p:cNvPr id="38916" name="Picture 4" descr="normal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4221163"/>
            <a:ext cx="2790825" cy="2160587"/>
          </a:xfrm>
          <a:prstGeom prst="rect">
            <a:avLst/>
          </a:prstGeom>
          <a:noFill/>
          <a:extLst>
            <a:ext uri="{909E8E84-426E-40DD-AFC4-6F175D3DCCD1}">
              <a14:hiddenFill xmlns:a14="http://schemas.microsoft.com/office/drawing/2010/main">
                <a:solidFill>
                  <a:srgbClr val="FFFFFF"/>
                </a:solidFill>
              </a14:hiddenFill>
            </a:ext>
          </a:extLst>
        </p:spPr>
      </p:pic>
      <p:sp>
        <p:nvSpPr>
          <p:cNvPr id="38917" name="Text Box 5"/>
          <p:cNvSpPr txBox="1">
            <a:spLocks noChangeArrowheads="1"/>
          </p:cNvSpPr>
          <p:nvPr/>
        </p:nvSpPr>
        <p:spPr bwMode="auto">
          <a:xfrm>
            <a:off x="5795963" y="5734050"/>
            <a:ext cx="20875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Low SD</a:t>
            </a:r>
          </a:p>
        </p:txBody>
      </p:sp>
      <p:sp>
        <p:nvSpPr>
          <p:cNvPr id="38918" name="Text Box 6"/>
          <p:cNvSpPr txBox="1">
            <a:spLocks noChangeArrowheads="1"/>
          </p:cNvSpPr>
          <p:nvPr/>
        </p:nvSpPr>
        <p:spPr bwMode="auto">
          <a:xfrm>
            <a:off x="1692275" y="5805488"/>
            <a:ext cx="12969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High SD</a:t>
            </a:r>
          </a:p>
        </p:txBody>
      </p:sp>
      <p:sp>
        <p:nvSpPr>
          <p:cNvPr id="38919" name="Line 7"/>
          <p:cNvSpPr>
            <a:spLocks noChangeShapeType="1"/>
          </p:cNvSpPr>
          <p:nvPr/>
        </p:nvSpPr>
        <p:spPr bwMode="auto">
          <a:xfrm flipH="1">
            <a:off x="5580063" y="6092825"/>
            <a:ext cx="576262" cy="0"/>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920" name="Line 8"/>
          <p:cNvSpPr>
            <a:spLocks noChangeShapeType="1"/>
          </p:cNvSpPr>
          <p:nvPr/>
        </p:nvSpPr>
        <p:spPr bwMode="auto">
          <a:xfrm flipV="1">
            <a:off x="2195513" y="6021388"/>
            <a:ext cx="1296987" cy="144462"/>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103864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2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9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7" grpId="0"/>
      <p:bldP spid="38918" grpId="0"/>
      <p:bldP spid="38919" grpId="0" animBg="1"/>
      <p:bldP spid="389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a:t>Standardized scores (Z)</a:t>
            </a:r>
          </a:p>
        </p:txBody>
      </p:sp>
      <p:sp>
        <p:nvSpPr>
          <p:cNvPr id="33795" name="Rectangle 3"/>
          <p:cNvSpPr>
            <a:spLocks noGrp="1" noChangeArrowheads="1"/>
          </p:cNvSpPr>
          <p:nvPr>
            <p:ph type="body" idx="1"/>
          </p:nvPr>
        </p:nvSpPr>
        <p:spPr/>
        <p:txBody>
          <a:bodyPr/>
          <a:lstStyle/>
          <a:p>
            <a:pPr>
              <a:buFont typeface="Wingdings" pitchFamily="2" charset="2"/>
              <a:buNone/>
            </a:pPr>
            <a:r>
              <a:rPr lang="en-US" altLang="en-US" dirty="0"/>
              <a:t>Then, you can use SDs to create </a:t>
            </a:r>
            <a:r>
              <a:rPr lang="en-US" altLang="en-US" i="1" dirty="0"/>
              <a:t>standardized</a:t>
            </a:r>
            <a:r>
              <a:rPr lang="en-US" altLang="en-US" dirty="0"/>
              <a:t> scores – that is, force the scores onto a normal distribution by putting each score into units of SD.</a:t>
            </a:r>
          </a:p>
          <a:p>
            <a:pPr>
              <a:buFont typeface="Wingdings" pitchFamily="2" charset="2"/>
              <a:buNone/>
            </a:pPr>
            <a:r>
              <a:rPr lang="en-US" altLang="en-US" dirty="0"/>
              <a:t>Subtract the mean from each score and divide by SD   </a:t>
            </a:r>
          </a:p>
          <a:p>
            <a:pPr algn="ctr">
              <a:buFont typeface="Wingdings" pitchFamily="2" charset="2"/>
              <a:buNone/>
            </a:pPr>
            <a:r>
              <a:rPr lang="en-US" altLang="en-US" dirty="0"/>
              <a:t>Z = (X – mean)/SD </a:t>
            </a:r>
          </a:p>
          <a:p>
            <a:pPr algn="ctr">
              <a:buFont typeface="Wingdings" pitchFamily="2" charset="2"/>
              <a:buNone/>
            </a:pPr>
            <a:r>
              <a:rPr lang="en-US" altLang="en-US" b="1" dirty="0"/>
              <a:t>This is truly an amazing thing</a:t>
            </a:r>
          </a:p>
        </p:txBody>
      </p:sp>
    </p:spTree>
    <p:extLst>
      <p:ext uri="{BB962C8B-B14F-4D97-AF65-F5344CB8AC3E}">
        <p14:creationId xmlns:p14="http://schemas.microsoft.com/office/powerpoint/2010/main" val="3170808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a:t>Standardized normal distribution</a:t>
            </a:r>
          </a:p>
        </p:txBody>
      </p:sp>
      <p:sp>
        <p:nvSpPr>
          <p:cNvPr id="40963" name="Rectangle 3"/>
          <p:cNvSpPr>
            <a:spLocks noGrp="1" noChangeArrowheads="1"/>
          </p:cNvSpPr>
          <p:nvPr>
            <p:ph type="body" idx="1"/>
          </p:nvPr>
        </p:nvSpPr>
        <p:spPr/>
        <p:txBody>
          <a:bodyPr/>
          <a:lstStyle/>
          <a:p>
            <a:pPr>
              <a:buFont typeface="Wingdings" pitchFamily="2" charset="2"/>
              <a:buNone/>
            </a:pPr>
            <a:r>
              <a:rPr lang="en-US" altLang="en-US"/>
              <a:t>ALL Z-scores have a mean of 0 and SD of 1. Nice and simple.</a:t>
            </a:r>
          </a:p>
          <a:p>
            <a:pPr>
              <a:buFont typeface="Wingdings" pitchFamily="2" charset="2"/>
              <a:buNone/>
            </a:pPr>
            <a:r>
              <a:rPr lang="en-US" altLang="en-US"/>
              <a:t>From this we can get the proportion of scores anywhere in the distribution.</a:t>
            </a:r>
          </a:p>
        </p:txBody>
      </p:sp>
      <p:pic>
        <p:nvPicPr>
          <p:cNvPr id="40964" name="Picture 4" descr="znorm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5076" y="3045618"/>
            <a:ext cx="3828924" cy="1982788"/>
          </a:xfrm>
          <a:prstGeom prst="rect">
            <a:avLst/>
          </a:prstGeom>
          <a:noFill/>
          <a:extLst>
            <a:ext uri="{909E8E84-426E-40DD-AFC4-6F175D3DCCD1}">
              <a14:hiddenFill xmlns:a14="http://schemas.microsoft.com/office/drawing/2010/main">
                <a:solidFill>
                  <a:srgbClr val="FFFFFF"/>
                </a:solidFill>
              </a14:hiddenFill>
            </a:ext>
          </a:extLst>
        </p:spPr>
      </p:pic>
      <p:pic>
        <p:nvPicPr>
          <p:cNvPr id="40965" name="Picture 5" descr="norm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050" y="3200400"/>
            <a:ext cx="3734026" cy="2548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289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t>The trouble with normal</a:t>
            </a:r>
          </a:p>
        </p:txBody>
      </p:sp>
      <p:sp>
        <p:nvSpPr>
          <p:cNvPr id="41987" name="Rectangle 3"/>
          <p:cNvSpPr>
            <a:spLocks noGrp="1" noChangeArrowheads="1"/>
          </p:cNvSpPr>
          <p:nvPr>
            <p:ph type="body" idx="1"/>
          </p:nvPr>
        </p:nvSpPr>
        <p:spPr/>
        <p:txBody>
          <a:bodyPr/>
          <a:lstStyle/>
          <a:p>
            <a:pPr marL="342900" indent="-342900">
              <a:buFont typeface="Arial" panose="020B0604020202020204" pitchFamily="34" charset="0"/>
              <a:buChar char="•"/>
            </a:pPr>
            <a:r>
              <a:rPr lang="en-US" altLang="en-US" dirty="0"/>
              <a:t>We violate assumptions about statistical tests if the distributions of our variables are not approximately normal.</a:t>
            </a:r>
          </a:p>
          <a:p>
            <a:pPr marL="342900" indent="-342900">
              <a:buFont typeface="Arial" panose="020B0604020202020204" pitchFamily="34" charset="0"/>
              <a:buChar char="•"/>
            </a:pPr>
            <a:endParaRPr lang="en-US" altLang="en-US" dirty="0"/>
          </a:p>
          <a:p>
            <a:pPr marL="342900" indent="-342900">
              <a:buFont typeface="Arial" panose="020B0604020202020204" pitchFamily="34" charset="0"/>
              <a:buChar char="•"/>
            </a:pPr>
            <a:r>
              <a:rPr lang="en-US" altLang="en-US" dirty="0"/>
              <a:t>Thus, we must first examine each variable’s distribution and make adjustments when necessary so that assumptions are met.</a:t>
            </a:r>
          </a:p>
          <a:p>
            <a:pPr marL="342900" indent="-342900">
              <a:buFont typeface="Arial" panose="020B0604020202020204" pitchFamily="34" charset="0"/>
              <a:buChar char="•"/>
            </a:pPr>
            <a:endParaRPr lang="en-US" altLang="en-US" dirty="0"/>
          </a:p>
          <a:p>
            <a:pPr marL="342900" indent="-342900">
              <a:buFont typeface="Arial" panose="020B0604020202020204" pitchFamily="34" charset="0"/>
              <a:buChar char="•"/>
            </a:pPr>
            <a:r>
              <a:rPr lang="en-US" altLang="en-US" dirty="0"/>
              <a:t>More types of distribution need to be considered.</a:t>
            </a:r>
          </a:p>
        </p:txBody>
      </p:sp>
    </p:spTree>
    <p:extLst>
      <p:ext uri="{BB962C8B-B14F-4D97-AF65-F5344CB8AC3E}">
        <p14:creationId xmlns:p14="http://schemas.microsoft.com/office/powerpoint/2010/main" val="3669975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bunch of continuous probability distribution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371599"/>
            <a:ext cx="4876800" cy="522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09800"/>
            <a:ext cx="3729618"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919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dirty="0"/>
              <a:t>Checking data balance</a:t>
            </a:r>
          </a:p>
        </p:txBody>
      </p:sp>
      <p:pic>
        <p:nvPicPr>
          <p:cNvPr id="12290" name="Picture 2" descr="What Is Balanced And Imbalanced Dataset? | by Himanshu Tripathi | Analytics  Vidhya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829" y="1524000"/>
            <a:ext cx="6879771" cy="3256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490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600200" y="273050"/>
            <a:ext cx="7081838" cy="1143000"/>
          </a:xfrm>
        </p:spPr>
        <p:txBody>
          <a:bodyPr/>
          <a:lstStyle/>
          <a:p>
            <a:r>
              <a:rPr lang="en-US" altLang="en-US" dirty="0"/>
              <a:t>Visual display of univariate data</a:t>
            </a:r>
          </a:p>
        </p:txBody>
      </p:sp>
      <p:sp>
        <p:nvSpPr>
          <p:cNvPr id="28675" name="Rectangle 3"/>
          <p:cNvSpPr>
            <a:spLocks noGrp="1" noChangeArrowheads="1"/>
          </p:cNvSpPr>
          <p:nvPr>
            <p:ph type="body" sz="half" idx="1"/>
          </p:nvPr>
        </p:nvSpPr>
        <p:spPr>
          <a:xfrm>
            <a:off x="1600200" y="1600200"/>
            <a:ext cx="4037012" cy="4497387"/>
          </a:xfrm>
        </p:spPr>
        <p:txBody>
          <a:bodyPr/>
          <a:lstStyle/>
          <a:p>
            <a:r>
              <a:rPr lang="en-US" altLang="en-US" sz="2800" dirty="0"/>
              <a:t>Now the example data from before has decimals </a:t>
            </a:r>
          </a:p>
          <a:p>
            <a:pPr>
              <a:buFont typeface="Wingdings" pitchFamily="2" charset="2"/>
              <a:buNone/>
            </a:pPr>
            <a:r>
              <a:rPr lang="en-US" altLang="en-US" sz="2800" dirty="0"/>
              <a:t> (what kind of data is that?)</a:t>
            </a:r>
          </a:p>
          <a:p>
            <a:pPr>
              <a:buFont typeface="Wingdings" pitchFamily="2" charset="2"/>
              <a:buNone/>
            </a:pPr>
            <a:endParaRPr lang="en-US" altLang="en-US" sz="2800" dirty="0"/>
          </a:p>
          <a:p>
            <a:r>
              <a:rPr lang="en-US" altLang="en-US" sz="2800" dirty="0"/>
              <a:t>Precision has increased</a:t>
            </a:r>
          </a:p>
          <a:p>
            <a:pPr>
              <a:buFont typeface="Wingdings" pitchFamily="2" charset="2"/>
              <a:buNone/>
            </a:pPr>
            <a:endParaRPr lang="en-US" altLang="en-US" sz="2800" dirty="0"/>
          </a:p>
        </p:txBody>
      </p:sp>
      <p:graphicFrame>
        <p:nvGraphicFramePr>
          <p:cNvPr id="28741" name="Group 69"/>
          <p:cNvGraphicFramePr>
            <a:graphicFrameLocks noGrp="1"/>
          </p:cNvGraphicFramePr>
          <p:nvPr>
            <p:ph sz="half" idx="2"/>
            <p:extLst>
              <p:ext uri="{D42A27DB-BD31-4B8C-83A1-F6EECF244321}">
                <p14:modId xmlns:p14="http://schemas.microsoft.com/office/powerpoint/2010/main" val="3299397806"/>
              </p:ext>
            </p:extLst>
          </p:nvPr>
        </p:nvGraphicFramePr>
        <p:xfrm>
          <a:off x="5715000" y="1600200"/>
          <a:ext cx="3095625" cy="3036888"/>
        </p:xfrm>
        <a:graphic>
          <a:graphicData uri="http://schemas.openxmlformats.org/drawingml/2006/table">
            <a:tbl>
              <a:tblPr/>
              <a:tblGrid>
                <a:gridCol w="755650">
                  <a:extLst>
                    <a:ext uri="{9D8B030D-6E8A-4147-A177-3AD203B41FA5}">
                      <a16:colId xmlns:a16="http://schemas.microsoft.com/office/drawing/2014/main" val="20000"/>
                    </a:ext>
                  </a:extLst>
                </a:gridCol>
                <a:gridCol w="827088">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755650">
                  <a:extLst>
                    <a:ext uri="{9D8B030D-6E8A-4147-A177-3AD203B41FA5}">
                      <a16:colId xmlns:a16="http://schemas.microsoft.com/office/drawing/2014/main" val="20003"/>
                    </a:ext>
                  </a:extLst>
                </a:gridCol>
              </a:tblGrid>
              <a:tr h="1841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Subject</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8.8</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49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8.6</a:t>
                      </a:r>
                      <a:endParaRPr kumimoji="0" lang="en-US" altLang="en-US" sz="1200" b="0"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6.6</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3.4</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36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7.3</a:t>
                      </a:r>
                      <a:endParaRPr kumimoji="0" lang="en-US" altLang="en-US" sz="1200" b="0"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71028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600200" y="273050"/>
            <a:ext cx="7081838" cy="1143000"/>
          </a:xfrm>
        </p:spPr>
        <p:txBody>
          <a:bodyPr/>
          <a:lstStyle/>
          <a:p>
            <a:r>
              <a:rPr lang="en-US" altLang="en-US" dirty="0"/>
              <a:t>Visual display of univariate data (Cont.)</a:t>
            </a:r>
          </a:p>
        </p:txBody>
      </p:sp>
      <p:sp>
        <p:nvSpPr>
          <p:cNvPr id="30723" name="Rectangle 3"/>
          <p:cNvSpPr>
            <a:spLocks noGrp="1" noChangeArrowheads="1"/>
          </p:cNvSpPr>
          <p:nvPr>
            <p:ph type="body" sz="half" idx="1"/>
          </p:nvPr>
        </p:nvSpPr>
        <p:spPr>
          <a:xfrm>
            <a:off x="1600200" y="1524000"/>
            <a:ext cx="4037012" cy="4497387"/>
          </a:xfrm>
        </p:spPr>
        <p:txBody>
          <a:bodyPr/>
          <a:lstStyle/>
          <a:p>
            <a:r>
              <a:rPr lang="en-US" altLang="en-US" sz="2800" dirty="0"/>
              <a:t>Histograms</a:t>
            </a:r>
          </a:p>
          <a:p>
            <a:r>
              <a:rPr lang="en-US" altLang="en-US" sz="2800" dirty="0"/>
              <a:t>Stem and Leaf plots</a:t>
            </a:r>
          </a:p>
          <a:p>
            <a:r>
              <a:rPr lang="en-US" altLang="en-US" sz="2800" dirty="0"/>
              <a:t>Boxplots</a:t>
            </a:r>
          </a:p>
          <a:p>
            <a:r>
              <a:rPr lang="en-US" altLang="en-US" sz="2800" dirty="0"/>
              <a:t>QQ Plots</a:t>
            </a:r>
          </a:p>
          <a:p>
            <a:endParaRPr lang="en-US" altLang="en-US" sz="2800" dirty="0"/>
          </a:p>
          <a:p>
            <a:pPr>
              <a:buFont typeface="Wingdings" pitchFamily="2" charset="2"/>
              <a:buNone/>
            </a:pPr>
            <a:r>
              <a:rPr lang="en-US" altLang="en-US" sz="2800" dirty="0"/>
              <a:t>…and many </a:t>
            </a:r>
            <a:r>
              <a:rPr lang="en-US" altLang="en-US" sz="2800" dirty="0" err="1"/>
              <a:t>many</a:t>
            </a:r>
            <a:r>
              <a:rPr lang="en-US" altLang="en-US" sz="2800" dirty="0"/>
              <a:t> more</a:t>
            </a:r>
          </a:p>
          <a:p>
            <a:endParaRPr lang="en-US" altLang="en-US" sz="2800" dirty="0"/>
          </a:p>
          <a:p>
            <a:endParaRPr lang="en-US" altLang="en-US" sz="2800" dirty="0"/>
          </a:p>
          <a:p>
            <a:pPr>
              <a:buFont typeface="Wingdings" pitchFamily="2" charset="2"/>
              <a:buNone/>
            </a:pPr>
            <a:endParaRPr lang="en-US" altLang="en-US" sz="2800" dirty="0"/>
          </a:p>
        </p:txBody>
      </p:sp>
      <p:graphicFrame>
        <p:nvGraphicFramePr>
          <p:cNvPr id="30724" name="Group 4"/>
          <p:cNvGraphicFramePr>
            <a:graphicFrameLocks noGrp="1"/>
          </p:cNvGraphicFramePr>
          <p:nvPr>
            <p:ph sz="half" idx="2"/>
            <p:extLst>
              <p:ext uri="{D42A27DB-BD31-4B8C-83A1-F6EECF244321}">
                <p14:modId xmlns:p14="http://schemas.microsoft.com/office/powerpoint/2010/main" val="4062480900"/>
              </p:ext>
            </p:extLst>
          </p:nvPr>
        </p:nvGraphicFramePr>
        <p:xfrm>
          <a:off x="5867400" y="1600200"/>
          <a:ext cx="3095625" cy="3036888"/>
        </p:xfrm>
        <a:graphic>
          <a:graphicData uri="http://schemas.openxmlformats.org/drawingml/2006/table">
            <a:tbl>
              <a:tblPr/>
              <a:tblGrid>
                <a:gridCol w="755650">
                  <a:extLst>
                    <a:ext uri="{9D8B030D-6E8A-4147-A177-3AD203B41FA5}">
                      <a16:colId xmlns:a16="http://schemas.microsoft.com/office/drawing/2014/main" val="20000"/>
                    </a:ext>
                  </a:extLst>
                </a:gridCol>
                <a:gridCol w="827088">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755650">
                  <a:extLst>
                    <a:ext uri="{9D8B030D-6E8A-4147-A177-3AD203B41FA5}">
                      <a16:colId xmlns:a16="http://schemas.microsoft.com/office/drawing/2014/main" val="20003"/>
                    </a:ext>
                  </a:extLst>
                </a:gridCol>
              </a:tblGrid>
              <a:tr h="1841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urier" charset="0"/>
                        </a:rPr>
                        <a:t>Subject</a:t>
                      </a:r>
                      <a:endParaRPr kumimoji="0" lang="en-US" altLang="en-US" sz="1200" b="1"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8.8</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49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8.6</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6.6</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3.4</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36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7.3</a:t>
                      </a:r>
                      <a:endParaRPr kumimoji="0" lang="en-US" altLang="en-US" sz="1200" b="0"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38149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0" y="273050"/>
            <a:ext cx="7158038" cy="1143000"/>
          </a:xfrm>
        </p:spPr>
        <p:txBody>
          <a:bodyPr/>
          <a:lstStyle/>
          <a:p>
            <a:r>
              <a:rPr lang="en-US" altLang="en-US" dirty="0"/>
              <a:t>Histograms</a:t>
            </a:r>
          </a:p>
        </p:txBody>
      </p:sp>
      <p:sp>
        <p:nvSpPr>
          <p:cNvPr id="44035" name="Rectangle 3"/>
          <p:cNvSpPr>
            <a:spLocks noGrp="1" noChangeArrowheads="1"/>
          </p:cNvSpPr>
          <p:nvPr>
            <p:ph type="body" sz="half" idx="1"/>
          </p:nvPr>
        </p:nvSpPr>
        <p:spPr>
          <a:xfrm>
            <a:off x="1560739" y="1066800"/>
            <a:ext cx="7572375" cy="966787"/>
          </a:xfrm>
        </p:spPr>
        <p:txBody>
          <a:bodyPr/>
          <a:lstStyle/>
          <a:p>
            <a:r>
              <a:rPr lang="en-US" altLang="en-US" sz="2800" dirty="0"/>
              <a:t># of bins is very important</a:t>
            </a:r>
          </a:p>
        </p:txBody>
      </p:sp>
      <p:graphicFrame>
        <p:nvGraphicFramePr>
          <p:cNvPr id="44036" name="Object 4"/>
          <p:cNvGraphicFramePr>
            <a:graphicFrameLocks noGrp="1" noChangeAspect="1"/>
          </p:cNvGraphicFramePr>
          <p:nvPr>
            <p:ph sz="quarter" idx="2"/>
            <p:extLst>
              <p:ext uri="{D42A27DB-BD31-4B8C-83A1-F6EECF244321}">
                <p14:modId xmlns:p14="http://schemas.microsoft.com/office/powerpoint/2010/main" val="1237255475"/>
              </p:ext>
            </p:extLst>
          </p:nvPr>
        </p:nvGraphicFramePr>
        <p:xfrm>
          <a:off x="1828800" y="1600200"/>
          <a:ext cx="3276600" cy="2677652"/>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4403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00200"/>
                        <a:ext cx="3276600" cy="2677652"/>
                      </a:xfrm>
                      <a:prstGeom prst="rect">
                        <a:avLst/>
                      </a:prstGeom>
                      <a:noFill/>
                      <a:ln>
                        <a:noFill/>
                      </a:ln>
                      <a:effectLst/>
                    </p:spPr>
                  </p:pic>
                </p:oleObj>
              </mc:Fallback>
            </mc:AlternateContent>
          </a:graphicData>
        </a:graphic>
      </p:graphicFrame>
      <p:graphicFrame>
        <p:nvGraphicFramePr>
          <p:cNvPr id="44038" name="Object 6"/>
          <p:cNvGraphicFramePr>
            <a:graphicFrameLocks noGrp="1" noChangeAspect="1"/>
          </p:cNvGraphicFramePr>
          <p:nvPr>
            <p:ph sz="quarter" idx="3"/>
            <p:extLst>
              <p:ext uri="{D42A27DB-BD31-4B8C-83A1-F6EECF244321}">
                <p14:modId xmlns:p14="http://schemas.microsoft.com/office/powerpoint/2010/main" val="3632416047"/>
              </p:ext>
            </p:extLst>
          </p:nvPr>
        </p:nvGraphicFramePr>
        <p:xfrm>
          <a:off x="3124200" y="4267200"/>
          <a:ext cx="3124200" cy="2551927"/>
        </p:xfrm>
        <a:graphic>
          <a:graphicData uri="http://schemas.openxmlformats.org/presentationml/2006/ole">
            <mc:AlternateContent xmlns:mc="http://schemas.openxmlformats.org/markup-compatibility/2006">
              <mc:Choice xmlns:v="urn:schemas-microsoft-com:vml" Requires="v">
                <p:oleObj name="Picture" r:id="rId4" imgW="4501662" imgH="3678552" progId="StaticEnhancedMetafile">
                  <p:embed/>
                </p:oleObj>
              </mc:Choice>
              <mc:Fallback>
                <p:oleObj name="Picture" r:id="rId4" imgW="4501662" imgH="3678552" progId="StaticEnhancedMetafile">
                  <p:embed/>
                  <p:pic>
                    <p:nvPicPr>
                      <p:cNvPr id="4403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4267200"/>
                        <a:ext cx="3124200" cy="2551927"/>
                      </a:xfrm>
                      <a:prstGeom prst="rect">
                        <a:avLst/>
                      </a:prstGeom>
                      <a:noFill/>
                      <a:ln>
                        <a:noFill/>
                      </a:ln>
                      <a:effectLst/>
                    </p:spPr>
                  </p:pic>
                </p:oleObj>
              </mc:Fallback>
            </mc:AlternateContent>
          </a:graphicData>
        </a:graphic>
      </p:graphicFrame>
      <p:graphicFrame>
        <p:nvGraphicFramePr>
          <p:cNvPr id="44040" name="Object 8"/>
          <p:cNvGraphicFramePr>
            <a:graphicFrameLocks noChangeAspect="1"/>
          </p:cNvGraphicFramePr>
          <p:nvPr>
            <p:extLst>
              <p:ext uri="{D42A27DB-BD31-4B8C-83A1-F6EECF244321}">
                <p14:modId xmlns:p14="http://schemas.microsoft.com/office/powerpoint/2010/main" val="1386550978"/>
              </p:ext>
            </p:extLst>
          </p:nvPr>
        </p:nvGraphicFramePr>
        <p:xfrm>
          <a:off x="5562600" y="1828800"/>
          <a:ext cx="3543919" cy="2895600"/>
        </p:xfrm>
        <a:graphic>
          <a:graphicData uri="http://schemas.openxmlformats.org/presentationml/2006/ole">
            <mc:AlternateContent xmlns:mc="http://schemas.openxmlformats.org/markup-compatibility/2006">
              <mc:Choice xmlns:v="urn:schemas-microsoft-com:vml" Requires="v">
                <p:oleObj name="Picture" r:id="rId6" imgW="4501662" imgH="3678552" progId="StaticEnhancedMetafile">
                  <p:embed/>
                </p:oleObj>
              </mc:Choice>
              <mc:Fallback>
                <p:oleObj name="Picture" r:id="rId6" imgW="4501662" imgH="3678552" progId="StaticEnhancedMetafile">
                  <p:embed/>
                  <p:pic>
                    <p:nvPicPr>
                      <p:cNvPr id="4404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1828800"/>
                        <a:ext cx="3543919" cy="28956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64632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Grp="1" noChangeArrowheads="1"/>
          </p:cNvSpPr>
          <p:nvPr>
            <p:ph type="title"/>
          </p:nvPr>
        </p:nvSpPr>
        <p:spPr/>
        <p:txBody>
          <a:bodyPr/>
          <a:lstStyle/>
          <a:p>
            <a:r>
              <a:rPr lang="en-US" altLang="en-US"/>
              <a:t>Boxplots</a:t>
            </a:r>
          </a:p>
        </p:txBody>
      </p:sp>
      <p:sp>
        <p:nvSpPr>
          <p:cNvPr id="52230" name="Text Box 6"/>
          <p:cNvSpPr txBox="1">
            <a:spLocks noChangeArrowheads="1"/>
          </p:cNvSpPr>
          <p:nvPr/>
        </p:nvSpPr>
        <p:spPr bwMode="auto">
          <a:xfrm>
            <a:off x="1600200" y="1484313"/>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t>Upper and lower bounds of boxes are the 25</a:t>
            </a:r>
            <a:r>
              <a:rPr lang="en-US" altLang="en-US" sz="2400" baseline="30000" dirty="0"/>
              <a:t>th</a:t>
            </a:r>
            <a:r>
              <a:rPr lang="en-US" altLang="en-US" sz="2400" dirty="0"/>
              <a:t> and 75</a:t>
            </a:r>
            <a:r>
              <a:rPr lang="en-US" altLang="en-US" sz="2400" baseline="30000" dirty="0"/>
              <a:t>th</a:t>
            </a:r>
            <a:r>
              <a:rPr lang="en-US" altLang="en-US" sz="2400" dirty="0"/>
              <a:t> percentile (interquartile range)</a:t>
            </a:r>
          </a:p>
          <a:p>
            <a:pPr>
              <a:spcBef>
                <a:spcPct val="50000"/>
              </a:spcBef>
            </a:pPr>
            <a:r>
              <a:rPr lang="en-US" altLang="en-US" sz="2400" dirty="0"/>
              <a:t>Whiskers are min and max value unless there is an outlier</a:t>
            </a:r>
          </a:p>
          <a:p>
            <a:pPr>
              <a:spcBef>
                <a:spcPct val="50000"/>
              </a:spcBef>
            </a:pPr>
            <a:r>
              <a:rPr lang="en-US" altLang="en-US" sz="2400" dirty="0"/>
              <a:t>An outlier is beyond 1.5 times the interquartile range (box length)</a:t>
            </a:r>
          </a:p>
        </p:txBody>
      </p:sp>
      <p:graphicFrame>
        <p:nvGraphicFramePr>
          <p:cNvPr id="52231" name="Object 7"/>
          <p:cNvGraphicFramePr>
            <a:graphicFrameLocks noGrp="1" noChangeAspect="1"/>
          </p:cNvGraphicFramePr>
          <p:nvPr>
            <p:ph sz="half" idx="2"/>
            <p:extLst>
              <p:ext uri="{D42A27DB-BD31-4B8C-83A1-F6EECF244321}">
                <p14:modId xmlns:p14="http://schemas.microsoft.com/office/powerpoint/2010/main" val="598680970"/>
              </p:ext>
            </p:extLst>
          </p:nvPr>
        </p:nvGraphicFramePr>
        <p:xfrm>
          <a:off x="5106987" y="1828800"/>
          <a:ext cx="4037013" cy="3298825"/>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52231"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987" y="1828800"/>
                        <a:ext cx="4037013"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31938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dirty="0"/>
              <a:t>Quantile-Quantile (Q-Q) Plots</a:t>
            </a:r>
          </a:p>
        </p:txBody>
      </p:sp>
      <p:graphicFrame>
        <p:nvGraphicFramePr>
          <p:cNvPr id="84996" name="Object 4"/>
          <p:cNvGraphicFramePr>
            <a:graphicFrameLocks noGrp="1" noChangeAspect="1"/>
          </p:cNvGraphicFramePr>
          <p:nvPr>
            <p:ph sz="half" idx="1"/>
            <p:extLst>
              <p:ext uri="{D42A27DB-BD31-4B8C-83A1-F6EECF244321}">
                <p14:modId xmlns:p14="http://schemas.microsoft.com/office/powerpoint/2010/main" val="2659696510"/>
              </p:ext>
            </p:extLst>
          </p:nvPr>
        </p:nvGraphicFramePr>
        <p:xfrm>
          <a:off x="1602365" y="2286000"/>
          <a:ext cx="3495437" cy="2797175"/>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849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365" y="2286000"/>
                        <a:ext cx="3495437" cy="2797175"/>
                      </a:xfrm>
                      <a:prstGeom prst="rect">
                        <a:avLst/>
                      </a:prstGeom>
                      <a:noFill/>
                      <a:ln>
                        <a:noFill/>
                      </a:ln>
                      <a:effectLst/>
                    </p:spPr>
                  </p:pic>
                </p:oleObj>
              </mc:Fallback>
            </mc:AlternateContent>
          </a:graphicData>
        </a:graphic>
      </p:graphicFrame>
      <p:graphicFrame>
        <p:nvGraphicFramePr>
          <p:cNvPr id="84998" name="Object 6"/>
          <p:cNvGraphicFramePr>
            <a:graphicFrameLocks noGrp="1" noChangeAspect="1"/>
          </p:cNvGraphicFramePr>
          <p:nvPr>
            <p:ph sz="half" idx="2"/>
            <p:extLst>
              <p:ext uri="{D42A27DB-BD31-4B8C-83A1-F6EECF244321}">
                <p14:modId xmlns:p14="http://schemas.microsoft.com/office/powerpoint/2010/main" val="1369796076"/>
              </p:ext>
            </p:extLst>
          </p:nvPr>
        </p:nvGraphicFramePr>
        <p:xfrm>
          <a:off x="5399172" y="2337255"/>
          <a:ext cx="3744828" cy="2996746"/>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849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9172" y="2337255"/>
                        <a:ext cx="3744828" cy="2996746"/>
                      </a:xfrm>
                      <a:prstGeom prst="rect">
                        <a:avLst/>
                      </a:prstGeom>
                      <a:noFill/>
                      <a:ln>
                        <a:noFill/>
                      </a:ln>
                      <a:effectLst/>
                    </p:spPr>
                  </p:pic>
                </p:oleObj>
              </mc:Fallback>
            </mc:AlternateContent>
          </a:graphicData>
        </a:graphic>
      </p:graphicFrame>
      <p:sp>
        <p:nvSpPr>
          <p:cNvPr id="85000" name="Text Box 8"/>
          <p:cNvSpPr txBox="1">
            <a:spLocks noChangeArrowheads="1"/>
          </p:cNvSpPr>
          <p:nvPr/>
        </p:nvSpPr>
        <p:spPr bwMode="auto">
          <a:xfrm>
            <a:off x="1524000" y="5227640"/>
            <a:ext cx="72977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t>Random Normal Distribution              Random Exponential Distribution</a:t>
            </a:r>
          </a:p>
        </p:txBody>
      </p:sp>
      <p:sp>
        <p:nvSpPr>
          <p:cNvPr id="2" name="Rectangle 1"/>
          <p:cNvSpPr/>
          <p:nvPr/>
        </p:nvSpPr>
        <p:spPr>
          <a:xfrm>
            <a:off x="1676400" y="1143000"/>
            <a:ext cx="6705600" cy="923330"/>
          </a:xfrm>
          <a:prstGeom prst="rect">
            <a:avLst/>
          </a:prstGeom>
        </p:spPr>
        <p:txBody>
          <a:bodyPr wrap="square">
            <a:spAutoFit/>
          </a:bodyPr>
          <a:lstStyle/>
          <a:p>
            <a:r>
              <a:rPr lang="en-GB" dirty="0"/>
              <a:t>The quantile-quantile (q-q) plot is a graphical technique for determining if two data features or sets come from populations with a common distribution.</a:t>
            </a:r>
          </a:p>
        </p:txBody>
      </p:sp>
      <p:sp>
        <p:nvSpPr>
          <p:cNvPr id="3" name="Rectangle 2"/>
          <p:cNvSpPr/>
          <p:nvPr/>
        </p:nvSpPr>
        <p:spPr>
          <a:xfrm>
            <a:off x="1698170" y="5678269"/>
            <a:ext cx="7217229" cy="646331"/>
          </a:xfrm>
          <a:prstGeom prst="rect">
            <a:avLst/>
          </a:prstGeom>
        </p:spPr>
        <p:txBody>
          <a:bodyPr wrap="square">
            <a:spAutoFit/>
          </a:bodyPr>
          <a:lstStyle/>
          <a:p>
            <a:r>
              <a:rPr lang="en-GB" dirty="0"/>
              <a:t>Vertical axis: Estimated quantiles from data feature 1</a:t>
            </a:r>
          </a:p>
          <a:p>
            <a:r>
              <a:rPr lang="en-GB" dirty="0"/>
              <a:t>Horizontal axis: Estimated quantiles from data feature 2</a:t>
            </a:r>
          </a:p>
        </p:txBody>
      </p:sp>
    </p:spTree>
    <p:extLst>
      <p:ext uri="{BB962C8B-B14F-4D97-AF65-F5344CB8AC3E}">
        <p14:creationId xmlns:p14="http://schemas.microsoft.com/office/powerpoint/2010/main" val="3057681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sz="quarter"/>
          </p:nvPr>
        </p:nvSpPr>
        <p:spPr>
          <a:xfrm>
            <a:off x="1905000" y="273050"/>
            <a:ext cx="6777038" cy="1143000"/>
          </a:xfrm>
        </p:spPr>
        <p:txBody>
          <a:bodyPr/>
          <a:lstStyle/>
          <a:p>
            <a:r>
              <a:rPr lang="en-US" altLang="en-US" dirty="0"/>
              <a:t>Q-Q Plots</a:t>
            </a:r>
          </a:p>
        </p:txBody>
      </p:sp>
      <p:graphicFrame>
        <p:nvGraphicFramePr>
          <p:cNvPr id="88067" name="Object 3"/>
          <p:cNvGraphicFramePr>
            <a:graphicFrameLocks noGrp="1" noChangeAspect="1"/>
          </p:cNvGraphicFramePr>
          <p:nvPr>
            <p:ph sz="quarter" idx="1"/>
            <p:extLst>
              <p:ext uri="{D42A27DB-BD31-4B8C-83A1-F6EECF244321}">
                <p14:modId xmlns:p14="http://schemas.microsoft.com/office/powerpoint/2010/main" val="1747441965"/>
              </p:ext>
            </p:extLst>
          </p:nvPr>
        </p:nvGraphicFramePr>
        <p:xfrm>
          <a:off x="1905000" y="990600"/>
          <a:ext cx="3429000" cy="2743200"/>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8806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990600"/>
                        <a:ext cx="3429000" cy="2743200"/>
                      </a:xfrm>
                      <a:prstGeom prst="rect">
                        <a:avLst/>
                      </a:prstGeom>
                      <a:noFill/>
                      <a:ln>
                        <a:noFill/>
                      </a:ln>
                      <a:effectLst/>
                    </p:spPr>
                  </p:pic>
                </p:oleObj>
              </mc:Fallback>
            </mc:AlternateContent>
          </a:graphicData>
        </a:graphic>
      </p:graphicFrame>
      <p:graphicFrame>
        <p:nvGraphicFramePr>
          <p:cNvPr id="88068" name="Object 4"/>
          <p:cNvGraphicFramePr>
            <a:graphicFrameLocks noGrp="1" noChangeAspect="1"/>
          </p:cNvGraphicFramePr>
          <p:nvPr>
            <p:ph sz="quarter" idx="2"/>
            <p:extLst>
              <p:ext uri="{D42A27DB-BD31-4B8C-83A1-F6EECF244321}">
                <p14:modId xmlns:p14="http://schemas.microsoft.com/office/powerpoint/2010/main" val="1237724227"/>
              </p:ext>
            </p:extLst>
          </p:nvPr>
        </p:nvGraphicFramePr>
        <p:xfrm>
          <a:off x="5562600" y="1219200"/>
          <a:ext cx="3324225" cy="2659380"/>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8806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1219200"/>
                        <a:ext cx="3324225" cy="2659380"/>
                      </a:xfrm>
                      <a:prstGeom prst="rect">
                        <a:avLst/>
                      </a:prstGeom>
                      <a:noFill/>
                      <a:ln>
                        <a:noFill/>
                      </a:ln>
                      <a:effectLst/>
                    </p:spPr>
                  </p:pic>
                </p:oleObj>
              </mc:Fallback>
            </mc:AlternateContent>
          </a:graphicData>
        </a:graphic>
      </p:graphicFrame>
      <p:pic>
        <p:nvPicPr>
          <p:cNvPr id="88071" name="Picture 7" descr="normal QQ"/>
          <p:cNvPicPr>
            <a:picLocks noGrp="1" noChangeAspect="1" noChangeArrowheads="1"/>
          </p:cNvPicPr>
          <p:nvPr>
            <p:ph sz="quarter" idx="3"/>
          </p:nvPr>
        </p:nvPicPr>
        <p:blipFill>
          <a:blip r:embed="rId6" cstate="print">
            <a:extLst>
              <a:ext uri="{28A0092B-C50C-407E-A947-70E740481C1C}">
                <a14:useLocalDpi xmlns:a14="http://schemas.microsoft.com/office/drawing/2010/main" val="0"/>
              </a:ext>
            </a:extLst>
          </a:blip>
          <a:srcRect/>
          <a:stretch>
            <a:fillRect/>
          </a:stretch>
        </p:blipFill>
        <p:spPr>
          <a:xfrm>
            <a:off x="1295400" y="3581400"/>
            <a:ext cx="4050073" cy="3128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8073" name="Picture 9" descr="exponential QQ"/>
          <p:cNvPicPr>
            <a:picLocks noGrp="1" noChangeAspect="1" noChangeArrowheads="1"/>
          </p:cNvPicPr>
          <p:nvPr>
            <p:ph sz="quarter" idx="4"/>
          </p:nvPr>
        </p:nvPicPr>
        <p:blipFill>
          <a:blip r:embed="rId7" cstate="print">
            <a:extLst>
              <a:ext uri="{28A0092B-C50C-407E-A947-70E740481C1C}">
                <a14:useLocalDpi xmlns:a14="http://schemas.microsoft.com/office/drawing/2010/main" val="0"/>
              </a:ext>
            </a:extLst>
          </a:blip>
          <a:srcRect/>
          <a:stretch>
            <a:fillRect/>
          </a:stretch>
        </p:blipFill>
        <p:spPr>
          <a:xfrm>
            <a:off x="5105234" y="3581400"/>
            <a:ext cx="4049652" cy="3128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24600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dirty="0"/>
              <a:t>So…what do you do with EDA?</a:t>
            </a:r>
          </a:p>
        </p:txBody>
      </p:sp>
      <p:sp>
        <p:nvSpPr>
          <p:cNvPr id="55299" name="Rectangle 3"/>
          <p:cNvSpPr>
            <a:spLocks noGrp="1" noChangeArrowheads="1"/>
          </p:cNvSpPr>
          <p:nvPr>
            <p:ph type="body" idx="1"/>
          </p:nvPr>
        </p:nvSpPr>
        <p:spPr/>
        <p:txBody>
          <a:bodyPr/>
          <a:lstStyle/>
          <a:p>
            <a:pPr>
              <a:buFont typeface="Wingdings" pitchFamily="2" charset="2"/>
              <a:buNone/>
            </a:pPr>
            <a:r>
              <a:rPr lang="en-US" altLang="en-US" dirty="0"/>
              <a:t>If you find a mistake, fix it.</a:t>
            </a:r>
          </a:p>
          <a:p>
            <a:pPr>
              <a:buFont typeface="Wingdings" pitchFamily="2" charset="2"/>
              <a:buNone/>
            </a:pPr>
            <a:endParaRPr lang="en-US" altLang="en-US" dirty="0"/>
          </a:p>
          <a:p>
            <a:pPr>
              <a:buFont typeface="Wingdings" pitchFamily="2" charset="2"/>
              <a:buNone/>
            </a:pPr>
            <a:r>
              <a:rPr lang="en-US" altLang="en-US" dirty="0"/>
              <a:t>If you find an outlier, trim it or delete it.</a:t>
            </a:r>
          </a:p>
          <a:p>
            <a:pPr>
              <a:buFont typeface="Wingdings" pitchFamily="2" charset="2"/>
              <a:buNone/>
            </a:pPr>
            <a:endParaRPr lang="en-US" altLang="en-US" dirty="0"/>
          </a:p>
          <a:p>
            <a:pPr>
              <a:buFont typeface="Wingdings" pitchFamily="2" charset="2"/>
              <a:buNone/>
            </a:pPr>
            <a:r>
              <a:rPr lang="en-US" altLang="en-US" dirty="0"/>
              <a:t>If your distributions are a skew, transform the data.</a:t>
            </a:r>
          </a:p>
        </p:txBody>
      </p:sp>
    </p:spTree>
    <p:extLst>
      <p:ext uri="{BB962C8B-B14F-4D97-AF65-F5344CB8AC3E}">
        <p14:creationId xmlns:p14="http://schemas.microsoft.com/office/powerpoint/2010/main" val="338490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a:t>Dealing with Outliers</a:t>
            </a:r>
          </a:p>
        </p:txBody>
      </p:sp>
      <p:sp>
        <p:nvSpPr>
          <p:cNvPr id="56323" name="Rectangle 3"/>
          <p:cNvSpPr>
            <a:spLocks noGrp="1" noChangeArrowheads="1"/>
          </p:cNvSpPr>
          <p:nvPr>
            <p:ph type="body" idx="1"/>
          </p:nvPr>
        </p:nvSpPr>
        <p:spPr>
          <a:xfrm>
            <a:off x="1600200" y="1371600"/>
            <a:ext cx="7543800" cy="4452415"/>
          </a:xfrm>
        </p:spPr>
        <p:txBody>
          <a:bodyPr/>
          <a:lstStyle/>
          <a:p>
            <a:pPr>
              <a:lnSpc>
                <a:spcPct val="90000"/>
              </a:lnSpc>
              <a:buFont typeface="Wingdings" pitchFamily="2" charset="2"/>
              <a:buNone/>
            </a:pPr>
            <a:r>
              <a:rPr lang="en-US" altLang="en-US" dirty="0"/>
              <a:t>First, try to explain it.</a:t>
            </a:r>
          </a:p>
          <a:p>
            <a:pPr>
              <a:lnSpc>
                <a:spcPct val="90000"/>
              </a:lnSpc>
              <a:buFont typeface="Wingdings" pitchFamily="2" charset="2"/>
              <a:buNone/>
            </a:pPr>
            <a:r>
              <a:rPr lang="en-US" altLang="en-US" dirty="0"/>
              <a:t>In a normal distribution 0.4% are outliers (&gt;2.7 SD) and 1 in a million is an extreme outlier (&gt;4.72 SD). </a:t>
            </a:r>
          </a:p>
          <a:p>
            <a:pPr>
              <a:lnSpc>
                <a:spcPct val="90000"/>
              </a:lnSpc>
              <a:buFont typeface="Wingdings" pitchFamily="2" charset="2"/>
              <a:buNone/>
            </a:pPr>
            <a:endParaRPr lang="en-US" altLang="en-US" dirty="0"/>
          </a:p>
          <a:p>
            <a:pPr>
              <a:lnSpc>
                <a:spcPct val="90000"/>
              </a:lnSpc>
              <a:buFont typeface="Wingdings" pitchFamily="2" charset="2"/>
              <a:buNone/>
            </a:pPr>
            <a:r>
              <a:rPr lang="en-US" altLang="en-US" dirty="0"/>
              <a:t>For analyses you can:</a:t>
            </a:r>
          </a:p>
          <a:p>
            <a:pPr>
              <a:lnSpc>
                <a:spcPct val="90000"/>
              </a:lnSpc>
              <a:buFont typeface="Wingdings" pitchFamily="2" charset="2"/>
              <a:buNone/>
            </a:pPr>
            <a:r>
              <a:rPr lang="en-US" altLang="en-US" dirty="0"/>
              <a:t>Delete the value – crude but effective</a:t>
            </a:r>
          </a:p>
          <a:p>
            <a:pPr>
              <a:lnSpc>
                <a:spcPct val="90000"/>
              </a:lnSpc>
              <a:buFont typeface="Wingdings" pitchFamily="2" charset="2"/>
              <a:buNone/>
            </a:pPr>
            <a:r>
              <a:rPr lang="en-US" altLang="en-US" dirty="0"/>
              <a:t>Change the outlier to value ~3 SD from mean </a:t>
            </a:r>
          </a:p>
          <a:p>
            <a:pPr>
              <a:lnSpc>
                <a:spcPct val="90000"/>
              </a:lnSpc>
              <a:buFont typeface="Wingdings" pitchFamily="2" charset="2"/>
              <a:buNone/>
            </a:pPr>
            <a:r>
              <a:rPr lang="en-US" altLang="en-US" dirty="0"/>
              <a:t>“</a:t>
            </a:r>
            <a:r>
              <a:rPr lang="en-US" altLang="en-US" dirty="0" err="1"/>
              <a:t>Winsorize</a:t>
            </a:r>
            <a:r>
              <a:rPr lang="en-US" altLang="en-US" dirty="0"/>
              <a:t>” it (make = to next highest value)</a:t>
            </a:r>
          </a:p>
          <a:p>
            <a:pPr>
              <a:lnSpc>
                <a:spcPct val="90000"/>
              </a:lnSpc>
              <a:buFont typeface="Wingdings" pitchFamily="2" charset="2"/>
              <a:buNone/>
            </a:pPr>
            <a:r>
              <a:rPr lang="en-US" altLang="en-US" dirty="0"/>
              <a:t>“Trim” the mean – recalculate mean from data within interquartile range</a:t>
            </a:r>
          </a:p>
          <a:p>
            <a:pPr>
              <a:lnSpc>
                <a:spcPct val="90000"/>
              </a:lnSpc>
              <a:buFont typeface="Wingdings" pitchFamily="2" charset="2"/>
              <a:buNone/>
            </a:pPr>
            <a:endParaRPr lang="en-US" altLang="en-US" sz="2800" dirty="0"/>
          </a:p>
          <a:p>
            <a:pPr>
              <a:lnSpc>
                <a:spcPct val="90000"/>
              </a:lnSpc>
              <a:buFont typeface="Wingdings" pitchFamily="2" charset="2"/>
              <a:buNone/>
            </a:pPr>
            <a:endParaRPr lang="en-US" altLang="en-US" sz="2800" dirty="0"/>
          </a:p>
        </p:txBody>
      </p:sp>
    </p:spTree>
    <p:extLst>
      <p:ext uri="{BB962C8B-B14F-4D97-AF65-F5344CB8AC3E}">
        <p14:creationId xmlns:p14="http://schemas.microsoft.com/office/powerpoint/2010/main" val="2190639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dirty="0"/>
              <a:t>Dealing with skewed distributions</a:t>
            </a:r>
          </a:p>
        </p:txBody>
      </p:sp>
      <p:sp>
        <p:nvSpPr>
          <p:cNvPr id="45071" name="Text Box 15"/>
          <p:cNvSpPr txBox="1">
            <a:spLocks noChangeArrowheads="1"/>
          </p:cNvSpPr>
          <p:nvPr/>
        </p:nvSpPr>
        <p:spPr bwMode="auto">
          <a:xfrm>
            <a:off x="1371600" y="1245736"/>
            <a:ext cx="73437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dirty="0">
                <a:effectLst>
                  <a:outerShdw blurRad="38100" dist="38100" dir="2700000" algn="tl">
                    <a:srgbClr val="000000"/>
                  </a:outerShdw>
                </a:effectLst>
              </a:rPr>
              <a:t>(Skewness and kurtosis greater than +/- 2)</a:t>
            </a:r>
          </a:p>
        </p:txBody>
      </p:sp>
      <p:sp>
        <p:nvSpPr>
          <p:cNvPr id="2" name="AutoShape 2" descr="Data Transformation Handou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33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024741"/>
            <a:ext cx="6983470" cy="3766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7793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en-US"/>
              <a:t>Visual Display of Bivariate Data</a:t>
            </a:r>
          </a:p>
        </p:txBody>
      </p:sp>
      <p:sp>
        <p:nvSpPr>
          <p:cNvPr id="58371" name="Rectangle 3"/>
          <p:cNvSpPr>
            <a:spLocks noGrp="1" noChangeArrowheads="1"/>
          </p:cNvSpPr>
          <p:nvPr>
            <p:ph type="body" idx="1"/>
          </p:nvPr>
        </p:nvSpPr>
        <p:spPr/>
        <p:txBody>
          <a:bodyPr/>
          <a:lstStyle/>
          <a:p>
            <a:pPr>
              <a:buFont typeface="Wingdings" pitchFamily="2" charset="2"/>
              <a:buNone/>
            </a:pPr>
            <a:r>
              <a:rPr lang="en-US" altLang="en-US"/>
              <a:t>So, you have examined each variable for mistakes, outliers and distribution and made any necessary alterations. Now what?</a:t>
            </a:r>
          </a:p>
          <a:p>
            <a:pPr>
              <a:buFont typeface="Wingdings" pitchFamily="2" charset="2"/>
              <a:buNone/>
            </a:pPr>
            <a:r>
              <a:rPr lang="en-US" altLang="en-US"/>
              <a:t>Look at the relationship between 2 (or more) variables at a time</a:t>
            </a:r>
          </a:p>
        </p:txBody>
      </p:sp>
      <p:grpSp>
        <p:nvGrpSpPr>
          <p:cNvPr id="58382" name="Group 14"/>
          <p:cNvGrpSpPr>
            <a:grpSpLocks/>
          </p:cNvGrpSpPr>
          <p:nvPr/>
        </p:nvGrpSpPr>
        <p:grpSpPr bwMode="auto">
          <a:xfrm>
            <a:off x="2339975" y="4191000"/>
            <a:ext cx="2305050" cy="947737"/>
            <a:chOff x="1066" y="3158"/>
            <a:chExt cx="1452" cy="597"/>
          </a:xfrm>
        </p:grpSpPr>
        <p:sp>
          <p:nvSpPr>
            <p:cNvPr id="58373" name="Freeform 5"/>
            <p:cNvSpPr>
              <a:spLocks/>
            </p:cNvSpPr>
            <p:nvPr/>
          </p:nvSpPr>
          <p:spPr bwMode="auto">
            <a:xfrm>
              <a:off x="1066" y="3158"/>
              <a:ext cx="1452" cy="597"/>
            </a:xfrm>
            <a:custGeom>
              <a:avLst/>
              <a:gdLst>
                <a:gd name="T0" fmla="*/ 0 w 1452"/>
                <a:gd name="T1" fmla="*/ 551 h 597"/>
                <a:gd name="T2" fmla="*/ 272 w 1452"/>
                <a:gd name="T3" fmla="*/ 506 h 597"/>
                <a:gd name="T4" fmla="*/ 590 w 1452"/>
                <a:gd name="T5" fmla="*/ 7 h 597"/>
                <a:gd name="T6" fmla="*/ 1089 w 1452"/>
                <a:gd name="T7" fmla="*/ 461 h 597"/>
                <a:gd name="T8" fmla="*/ 1452 w 1452"/>
                <a:gd name="T9" fmla="*/ 551 h 597"/>
              </a:gdLst>
              <a:ahLst/>
              <a:cxnLst>
                <a:cxn ang="0">
                  <a:pos x="T0" y="T1"/>
                </a:cxn>
                <a:cxn ang="0">
                  <a:pos x="T2" y="T3"/>
                </a:cxn>
                <a:cxn ang="0">
                  <a:pos x="T4" y="T5"/>
                </a:cxn>
                <a:cxn ang="0">
                  <a:pos x="T6" y="T7"/>
                </a:cxn>
                <a:cxn ang="0">
                  <a:pos x="T8" y="T9"/>
                </a:cxn>
              </a:cxnLst>
              <a:rect l="0" t="0" r="r" b="b"/>
              <a:pathLst>
                <a:path w="1452" h="597">
                  <a:moveTo>
                    <a:pt x="0" y="551"/>
                  </a:moveTo>
                  <a:cubicBezTo>
                    <a:pt x="87" y="574"/>
                    <a:pt x="174" y="597"/>
                    <a:pt x="272" y="506"/>
                  </a:cubicBezTo>
                  <a:cubicBezTo>
                    <a:pt x="370" y="415"/>
                    <a:pt x="454" y="14"/>
                    <a:pt x="590" y="7"/>
                  </a:cubicBezTo>
                  <a:cubicBezTo>
                    <a:pt x="726" y="0"/>
                    <a:pt x="945" y="370"/>
                    <a:pt x="1089" y="461"/>
                  </a:cubicBezTo>
                  <a:cubicBezTo>
                    <a:pt x="1233" y="552"/>
                    <a:pt x="1392" y="536"/>
                    <a:pt x="1452" y="55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58377" name="Group 9"/>
            <p:cNvGrpSpPr>
              <a:grpSpLocks/>
            </p:cNvGrpSpPr>
            <p:nvPr/>
          </p:nvGrpSpPr>
          <p:grpSpPr bwMode="auto">
            <a:xfrm>
              <a:off x="1066" y="3203"/>
              <a:ext cx="1451" cy="545"/>
              <a:chOff x="1066" y="3203"/>
              <a:chExt cx="1451" cy="545"/>
            </a:xfrm>
          </p:grpSpPr>
          <p:sp>
            <p:nvSpPr>
              <p:cNvPr id="58375" name="Line 7"/>
              <p:cNvSpPr>
                <a:spLocks noChangeShapeType="1"/>
              </p:cNvSpPr>
              <p:nvPr/>
            </p:nvSpPr>
            <p:spPr bwMode="auto">
              <a:xfrm>
                <a:off x="1066" y="3203"/>
                <a:ext cx="0" cy="5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76" name="Line 8"/>
              <p:cNvSpPr>
                <a:spLocks noChangeShapeType="1"/>
              </p:cNvSpPr>
              <p:nvPr/>
            </p:nvSpPr>
            <p:spPr bwMode="auto">
              <a:xfrm>
                <a:off x="1066" y="3748"/>
                <a:ext cx="145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grpSp>
        <p:nvGrpSpPr>
          <p:cNvPr id="58381" name="Group 13"/>
          <p:cNvGrpSpPr>
            <a:grpSpLocks/>
          </p:cNvGrpSpPr>
          <p:nvPr/>
        </p:nvGrpSpPr>
        <p:grpSpPr bwMode="auto">
          <a:xfrm>
            <a:off x="5076825" y="4191000"/>
            <a:ext cx="2303463" cy="962025"/>
            <a:chOff x="3107" y="3188"/>
            <a:chExt cx="1451" cy="606"/>
          </a:xfrm>
        </p:grpSpPr>
        <p:sp>
          <p:nvSpPr>
            <p:cNvPr id="58374" name="Freeform 6"/>
            <p:cNvSpPr>
              <a:spLocks/>
            </p:cNvSpPr>
            <p:nvPr/>
          </p:nvSpPr>
          <p:spPr bwMode="auto">
            <a:xfrm>
              <a:off x="3107" y="3188"/>
              <a:ext cx="1361" cy="605"/>
            </a:xfrm>
            <a:custGeom>
              <a:avLst/>
              <a:gdLst>
                <a:gd name="T0" fmla="*/ 0 w 1361"/>
                <a:gd name="T1" fmla="*/ 560 h 605"/>
                <a:gd name="T2" fmla="*/ 136 w 1361"/>
                <a:gd name="T3" fmla="*/ 514 h 605"/>
                <a:gd name="T4" fmla="*/ 272 w 1361"/>
                <a:gd name="T5" fmla="*/ 15 h 605"/>
                <a:gd name="T6" fmla="*/ 453 w 1361"/>
                <a:gd name="T7" fmla="*/ 424 h 605"/>
                <a:gd name="T8" fmla="*/ 1361 w 1361"/>
                <a:gd name="T9" fmla="*/ 560 h 605"/>
              </a:gdLst>
              <a:ahLst/>
              <a:cxnLst>
                <a:cxn ang="0">
                  <a:pos x="T0" y="T1"/>
                </a:cxn>
                <a:cxn ang="0">
                  <a:pos x="T2" y="T3"/>
                </a:cxn>
                <a:cxn ang="0">
                  <a:pos x="T4" y="T5"/>
                </a:cxn>
                <a:cxn ang="0">
                  <a:pos x="T6" y="T7"/>
                </a:cxn>
                <a:cxn ang="0">
                  <a:pos x="T8" y="T9"/>
                </a:cxn>
              </a:cxnLst>
              <a:rect l="0" t="0" r="r" b="b"/>
              <a:pathLst>
                <a:path w="1361" h="605">
                  <a:moveTo>
                    <a:pt x="0" y="560"/>
                  </a:moveTo>
                  <a:cubicBezTo>
                    <a:pt x="45" y="582"/>
                    <a:pt x="91" y="605"/>
                    <a:pt x="136" y="514"/>
                  </a:cubicBezTo>
                  <a:cubicBezTo>
                    <a:pt x="181" y="423"/>
                    <a:pt x="219" y="30"/>
                    <a:pt x="272" y="15"/>
                  </a:cubicBezTo>
                  <a:cubicBezTo>
                    <a:pt x="325" y="0"/>
                    <a:pt x="271" y="333"/>
                    <a:pt x="453" y="424"/>
                  </a:cubicBezTo>
                  <a:cubicBezTo>
                    <a:pt x="635" y="515"/>
                    <a:pt x="1210" y="537"/>
                    <a:pt x="1361" y="56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58378" name="Group 10"/>
            <p:cNvGrpSpPr>
              <a:grpSpLocks/>
            </p:cNvGrpSpPr>
            <p:nvPr/>
          </p:nvGrpSpPr>
          <p:grpSpPr bwMode="auto">
            <a:xfrm>
              <a:off x="3107" y="3249"/>
              <a:ext cx="1451" cy="545"/>
              <a:chOff x="1066" y="3203"/>
              <a:chExt cx="1451" cy="545"/>
            </a:xfrm>
          </p:grpSpPr>
          <p:sp>
            <p:nvSpPr>
              <p:cNvPr id="58379" name="Line 11"/>
              <p:cNvSpPr>
                <a:spLocks noChangeShapeType="1"/>
              </p:cNvSpPr>
              <p:nvPr/>
            </p:nvSpPr>
            <p:spPr bwMode="auto">
              <a:xfrm>
                <a:off x="1066" y="3203"/>
                <a:ext cx="0" cy="5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80" name="Line 12"/>
              <p:cNvSpPr>
                <a:spLocks noChangeShapeType="1"/>
              </p:cNvSpPr>
              <p:nvPr/>
            </p:nvSpPr>
            <p:spPr bwMode="auto">
              <a:xfrm>
                <a:off x="1066" y="3748"/>
                <a:ext cx="145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spTree>
    <p:extLst>
      <p:ext uri="{BB962C8B-B14F-4D97-AF65-F5344CB8AC3E}">
        <p14:creationId xmlns:p14="http://schemas.microsoft.com/office/powerpoint/2010/main" val="868020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676400" y="273050"/>
            <a:ext cx="7005638" cy="1143000"/>
          </a:xfrm>
        </p:spPr>
        <p:txBody>
          <a:bodyPr/>
          <a:lstStyle/>
          <a:p>
            <a:r>
              <a:rPr lang="en-US" altLang="en-US" sz="4000" dirty="0"/>
              <a:t>Visual Displays of Bivariate Data</a:t>
            </a:r>
          </a:p>
        </p:txBody>
      </p:sp>
      <p:graphicFrame>
        <p:nvGraphicFramePr>
          <p:cNvPr id="61482" name="Group 42"/>
          <p:cNvGraphicFramePr>
            <a:graphicFrameLocks noGrp="1"/>
          </p:cNvGraphicFramePr>
          <p:nvPr>
            <p:ph sz="half" idx="2"/>
            <p:extLst>
              <p:ext uri="{D42A27DB-BD31-4B8C-83A1-F6EECF244321}">
                <p14:modId xmlns:p14="http://schemas.microsoft.com/office/powerpoint/2010/main" val="4223728325"/>
              </p:ext>
            </p:extLst>
          </p:nvPr>
        </p:nvGraphicFramePr>
        <p:xfrm>
          <a:off x="1600200" y="1828800"/>
          <a:ext cx="7350125" cy="4141344"/>
        </p:xfrm>
        <a:graphic>
          <a:graphicData uri="http://schemas.openxmlformats.org/drawingml/2006/table">
            <a:tbl>
              <a:tblPr/>
              <a:tblGrid>
                <a:gridCol w="2451100">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gridCol w="2451100">
                  <a:extLst>
                    <a:ext uri="{9D8B030D-6E8A-4147-A177-3AD203B41FA5}">
                      <a16:colId xmlns:a16="http://schemas.microsoft.com/office/drawing/2014/main" val="20002"/>
                    </a:ext>
                  </a:extLst>
                </a:gridCol>
              </a:tblGrid>
              <a:tr h="5762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sng" strike="noStrike" cap="none" normalizeH="0" baseline="0" dirty="0">
                          <a:ln>
                            <a:noFill/>
                          </a:ln>
                          <a:solidFill>
                            <a:schemeClr val="tx1"/>
                          </a:solidFill>
                          <a:effectLst>
                            <a:outerShdw blurRad="38100" dist="38100" dir="2700000" algn="tl">
                              <a:srgbClr val="000000"/>
                            </a:outerShdw>
                          </a:effectLst>
                          <a:latin typeface="Arial" pitchFamily="34" charset="0"/>
                        </a:rPr>
                        <a:t>Variable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sng" strike="noStrike" cap="none" normalizeH="0" baseline="0">
                          <a:ln>
                            <a:noFill/>
                          </a:ln>
                          <a:solidFill>
                            <a:schemeClr val="tx1"/>
                          </a:solidFill>
                          <a:effectLst>
                            <a:outerShdw blurRad="38100" dist="38100" dir="2700000" algn="tl">
                              <a:srgbClr val="000000"/>
                            </a:outerShdw>
                          </a:effectLst>
                          <a:latin typeface="Arial" pitchFamily="34" charset="0"/>
                        </a:rPr>
                        <a:t>Variable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sng" strike="noStrike" cap="none" normalizeH="0" baseline="0">
                          <a:ln>
                            <a:noFill/>
                          </a:ln>
                          <a:solidFill>
                            <a:schemeClr val="tx1"/>
                          </a:solidFill>
                          <a:effectLst>
                            <a:outerShdw blurRad="38100" dist="38100" dir="2700000" algn="tl">
                              <a:srgbClr val="000000"/>
                            </a:outerShdw>
                          </a:effectLst>
                          <a:latin typeface="Arial" pitchFamily="34" charset="0"/>
                        </a:rPr>
                        <a:t>Display Example</a:t>
                      </a:r>
                    </a:p>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endPar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7088">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Categorical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Categorical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Crosstabs</a:t>
                      </a:r>
                    </a:p>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endPar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7088">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Categorical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Box plots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7088">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Continuous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dirty="0">
                          <a:ln>
                            <a:noFill/>
                          </a:ln>
                          <a:solidFill>
                            <a:schemeClr val="tx1"/>
                          </a:solidFill>
                          <a:effectLst>
                            <a:outerShdw blurRad="38100" dist="38100" dir="2700000" algn="tl">
                              <a:srgbClr val="000000"/>
                            </a:outerShdw>
                          </a:effectLst>
                          <a:latin typeface="Arial" pitchFamily="34"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dirty="0">
                          <a:ln>
                            <a:noFill/>
                          </a:ln>
                          <a:solidFill>
                            <a:schemeClr val="tx1"/>
                          </a:solidFill>
                          <a:effectLst>
                            <a:outerShdw blurRad="38100" dist="38100" dir="2700000" algn="tl">
                              <a:srgbClr val="000000"/>
                            </a:outerShdw>
                          </a:effectLst>
                          <a:latin typeface="Arial" pitchFamily="34" charset="0"/>
                        </a:rPr>
                        <a:t>Scatter plots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90748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algn="r"/>
            <a:r>
              <a:rPr lang="en-US" altLang="en-US"/>
              <a:t>                  Bivariate Distribution</a:t>
            </a:r>
          </a:p>
        </p:txBody>
      </p:sp>
      <p:grpSp>
        <p:nvGrpSpPr>
          <p:cNvPr id="99353" name="Group 25"/>
          <p:cNvGrpSpPr>
            <a:grpSpLocks/>
          </p:cNvGrpSpPr>
          <p:nvPr/>
        </p:nvGrpSpPr>
        <p:grpSpPr bwMode="auto">
          <a:xfrm>
            <a:off x="1736725" y="838200"/>
            <a:ext cx="7178675" cy="5761038"/>
            <a:chOff x="748" y="527"/>
            <a:chExt cx="4522" cy="3629"/>
          </a:xfrm>
        </p:grpSpPr>
        <p:grpSp>
          <p:nvGrpSpPr>
            <p:cNvPr id="99352" name="Group 24"/>
            <p:cNvGrpSpPr>
              <a:grpSpLocks/>
            </p:cNvGrpSpPr>
            <p:nvPr/>
          </p:nvGrpSpPr>
          <p:grpSpPr bwMode="auto">
            <a:xfrm>
              <a:off x="2109" y="973"/>
              <a:ext cx="3161" cy="3183"/>
              <a:chOff x="2599" y="799"/>
              <a:chExt cx="3161" cy="3183"/>
            </a:xfrm>
          </p:grpSpPr>
          <p:graphicFrame>
            <p:nvGraphicFramePr>
              <p:cNvPr id="99343" name="Object 15"/>
              <p:cNvGraphicFramePr>
                <a:graphicFrameLocks noChangeAspect="1"/>
              </p:cNvGraphicFramePr>
              <p:nvPr/>
            </p:nvGraphicFramePr>
            <p:xfrm>
              <a:off x="2599" y="799"/>
              <a:ext cx="2543" cy="2078"/>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99343"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9" y="799"/>
                            <a:ext cx="2543" cy="2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45" name="Object 17"/>
              <p:cNvGraphicFramePr>
                <a:graphicFrameLocks noChangeAspect="1"/>
              </p:cNvGraphicFramePr>
              <p:nvPr/>
            </p:nvGraphicFramePr>
            <p:xfrm>
              <a:off x="2744" y="2614"/>
              <a:ext cx="3016" cy="1368"/>
            </p:xfrm>
            <a:graphic>
              <a:graphicData uri="http://schemas.openxmlformats.org/presentationml/2006/ole">
                <mc:AlternateContent xmlns:mc="http://schemas.openxmlformats.org/markup-compatibility/2006">
                  <mc:Choice xmlns:v="urn:schemas-microsoft-com:vml" Requires="v">
                    <p:oleObj name="Picture" r:id="rId4" imgW="4501662" imgH="3678552" progId="StaticEnhancedMetafile">
                      <p:embed/>
                    </p:oleObj>
                  </mc:Choice>
                  <mc:Fallback>
                    <p:oleObj name="Picture" r:id="rId4" imgW="4501662" imgH="3678552" progId="StaticEnhancedMetafile">
                      <p:embed/>
                      <p:pic>
                        <p:nvPicPr>
                          <p:cNvPr id="99345"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4" y="2614"/>
                            <a:ext cx="3016" cy="1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99351" name="Picture 23" descr="exponential distribut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6200000">
              <a:off x="354" y="921"/>
              <a:ext cx="2359" cy="15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99356" name="Group 28"/>
          <p:cNvGrpSpPr>
            <a:grpSpLocks/>
          </p:cNvGrpSpPr>
          <p:nvPr/>
        </p:nvGrpSpPr>
        <p:grpSpPr bwMode="auto">
          <a:xfrm>
            <a:off x="4473575" y="1774825"/>
            <a:ext cx="3384550" cy="2520950"/>
            <a:chOff x="2381" y="1298"/>
            <a:chExt cx="2132" cy="1588"/>
          </a:xfrm>
        </p:grpSpPr>
        <p:sp>
          <p:nvSpPr>
            <p:cNvPr id="99354" name="Line 26"/>
            <p:cNvSpPr>
              <a:spLocks noChangeShapeType="1"/>
            </p:cNvSpPr>
            <p:nvPr/>
          </p:nvSpPr>
          <p:spPr bwMode="auto">
            <a:xfrm flipV="1">
              <a:off x="3379" y="1298"/>
              <a:ext cx="0" cy="158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9355" name="Line 27"/>
            <p:cNvSpPr>
              <a:spLocks noChangeShapeType="1"/>
            </p:cNvSpPr>
            <p:nvPr/>
          </p:nvSpPr>
          <p:spPr bwMode="auto">
            <a:xfrm>
              <a:off x="2381" y="2341"/>
              <a:ext cx="213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9359" name="Group 31"/>
          <p:cNvGrpSpPr>
            <a:grpSpLocks/>
          </p:cNvGrpSpPr>
          <p:nvPr/>
        </p:nvGrpSpPr>
        <p:grpSpPr bwMode="auto">
          <a:xfrm>
            <a:off x="5481637" y="1703388"/>
            <a:ext cx="1152525" cy="2592387"/>
            <a:chOff x="3016" y="1253"/>
            <a:chExt cx="726" cy="1633"/>
          </a:xfrm>
        </p:grpSpPr>
        <p:sp>
          <p:nvSpPr>
            <p:cNvPr id="99357" name="Line 29"/>
            <p:cNvSpPr>
              <a:spLocks noChangeShapeType="1"/>
            </p:cNvSpPr>
            <p:nvPr/>
          </p:nvSpPr>
          <p:spPr bwMode="auto">
            <a:xfrm flipV="1">
              <a:off x="3016" y="1253"/>
              <a:ext cx="0" cy="1633"/>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9358" name="Line 30"/>
            <p:cNvSpPr>
              <a:spLocks noChangeShapeType="1"/>
            </p:cNvSpPr>
            <p:nvPr/>
          </p:nvSpPr>
          <p:spPr bwMode="auto">
            <a:xfrm flipV="1">
              <a:off x="3742" y="1253"/>
              <a:ext cx="0" cy="1633"/>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9362" name="Group 34"/>
          <p:cNvGrpSpPr>
            <a:grpSpLocks/>
          </p:cNvGrpSpPr>
          <p:nvPr/>
        </p:nvGrpSpPr>
        <p:grpSpPr bwMode="auto">
          <a:xfrm>
            <a:off x="4473575" y="3071813"/>
            <a:ext cx="3313112" cy="719137"/>
            <a:chOff x="2381" y="2115"/>
            <a:chExt cx="2087" cy="453"/>
          </a:xfrm>
        </p:grpSpPr>
        <p:sp>
          <p:nvSpPr>
            <p:cNvPr id="99360" name="Line 32"/>
            <p:cNvSpPr>
              <a:spLocks noChangeShapeType="1"/>
            </p:cNvSpPr>
            <p:nvPr/>
          </p:nvSpPr>
          <p:spPr bwMode="auto">
            <a:xfrm>
              <a:off x="2381" y="2115"/>
              <a:ext cx="2087" cy="0"/>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9361" name="Line 33"/>
            <p:cNvSpPr>
              <a:spLocks noChangeShapeType="1"/>
            </p:cNvSpPr>
            <p:nvPr/>
          </p:nvSpPr>
          <p:spPr bwMode="auto">
            <a:xfrm>
              <a:off x="2381" y="2568"/>
              <a:ext cx="2087" cy="0"/>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3432376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93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93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9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524000" y="273050"/>
            <a:ext cx="7158038" cy="1143000"/>
          </a:xfrm>
        </p:spPr>
        <p:txBody>
          <a:bodyPr/>
          <a:lstStyle/>
          <a:p>
            <a:r>
              <a:rPr lang="en-US" altLang="en-US" dirty="0"/>
              <a:t>Intro to Scatter plots</a:t>
            </a:r>
          </a:p>
        </p:txBody>
      </p:sp>
      <p:graphicFrame>
        <p:nvGraphicFramePr>
          <p:cNvPr id="60421" name="Object 5"/>
          <p:cNvGraphicFramePr>
            <a:graphicFrameLocks noGrp="1" noChangeAspect="1"/>
          </p:cNvGraphicFramePr>
          <p:nvPr>
            <p:ph sz="half" idx="2"/>
            <p:extLst>
              <p:ext uri="{D42A27DB-BD31-4B8C-83A1-F6EECF244321}">
                <p14:modId xmlns:p14="http://schemas.microsoft.com/office/powerpoint/2010/main" val="3931348647"/>
              </p:ext>
            </p:extLst>
          </p:nvPr>
        </p:nvGraphicFramePr>
        <p:xfrm>
          <a:off x="2438400" y="2298700"/>
          <a:ext cx="5113338" cy="4178300"/>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6042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298700"/>
                        <a:ext cx="5113338" cy="417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Oval 7"/>
          <p:cNvSpPr>
            <a:spLocks noChangeArrowheads="1"/>
          </p:cNvSpPr>
          <p:nvPr/>
        </p:nvSpPr>
        <p:spPr bwMode="auto">
          <a:xfrm>
            <a:off x="4741862" y="4995862"/>
            <a:ext cx="215900" cy="144463"/>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4" name="Oval 8"/>
          <p:cNvSpPr>
            <a:spLocks noChangeArrowheads="1"/>
          </p:cNvSpPr>
          <p:nvPr/>
        </p:nvSpPr>
        <p:spPr bwMode="auto">
          <a:xfrm>
            <a:off x="3733800" y="4995862"/>
            <a:ext cx="215900" cy="144463"/>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5" name="Oval 9"/>
          <p:cNvSpPr>
            <a:spLocks noChangeArrowheads="1"/>
          </p:cNvSpPr>
          <p:nvPr/>
        </p:nvSpPr>
        <p:spPr bwMode="auto">
          <a:xfrm>
            <a:off x="6686550" y="4419600"/>
            <a:ext cx="215900" cy="144462"/>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6" name="Oval 10"/>
          <p:cNvSpPr>
            <a:spLocks noChangeArrowheads="1"/>
          </p:cNvSpPr>
          <p:nvPr/>
        </p:nvSpPr>
        <p:spPr bwMode="auto">
          <a:xfrm>
            <a:off x="6686550" y="2908300"/>
            <a:ext cx="215900" cy="144462"/>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 name="Rectangle 2"/>
          <p:cNvSpPr/>
          <p:nvPr/>
        </p:nvSpPr>
        <p:spPr>
          <a:xfrm>
            <a:off x="1765300" y="990600"/>
            <a:ext cx="7010400" cy="1200329"/>
          </a:xfrm>
          <a:prstGeom prst="rect">
            <a:avLst/>
          </a:prstGeom>
        </p:spPr>
        <p:txBody>
          <a:bodyPr wrap="square">
            <a:spAutoFit/>
          </a:bodyPr>
          <a:lstStyle/>
          <a:p>
            <a:r>
              <a:rPr lang="en-GB" dirty="0"/>
              <a:t>Scatter plots uses dots to represent values for two different numeric variables. The position of each dot on the horizontal and vertical axis indicates values for an individual data point. </a:t>
            </a:r>
            <a:r>
              <a:rPr lang="en-GB" b="1" dirty="0"/>
              <a:t>Scatter plots</a:t>
            </a:r>
            <a:r>
              <a:rPr lang="en-GB" dirty="0"/>
              <a:t> are used to observe relationships between variables.</a:t>
            </a:r>
          </a:p>
        </p:txBody>
      </p:sp>
    </p:spTree>
    <p:extLst>
      <p:ext uri="{BB962C8B-B14F-4D97-AF65-F5344CB8AC3E}">
        <p14:creationId xmlns:p14="http://schemas.microsoft.com/office/powerpoint/2010/main" val="34875873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4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4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animBg="1"/>
      <p:bldP spid="60424" grpId="0" animBg="1"/>
      <p:bldP spid="60425" grpId="0" animBg="1"/>
      <p:bldP spid="604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80" name="Picture 4" descr="biplot of sample dat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01600"/>
            <a:ext cx="9144000" cy="706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685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546224" y="273050"/>
            <a:ext cx="7597775" cy="1143000"/>
          </a:xfrm>
        </p:spPr>
        <p:txBody>
          <a:bodyPr/>
          <a:lstStyle/>
          <a:p>
            <a:r>
              <a:rPr lang="en-US" altLang="en-US" sz="4000" dirty="0"/>
              <a:t>With </a:t>
            </a:r>
            <a:r>
              <a:rPr lang="en-US" altLang="en-US" sz="4000" dirty="0">
                <a:solidFill>
                  <a:srgbClr val="FF0066"/>
                </a:solidFill>
              </a:rPr>
              <a:t>Outlier</a:t>
            </a:r>
            <a:r>
              <a:rPr lang="en-US" altLang="en-US" sz="4000" dirty="0"/>
              <a:t> and </a:t>
            </a:r>
            <a:r>
              <a:rPr lang="en-US" altLang="en-US" sz="4000" dirty="0">
                <a:solidFill>
                  <a:schemeClr val="hlink"/>
                </a:solidFill>
              </a:rPr>
              <a:t>Out of Range</a:t>
            </a:r>
            <a:r>
              <a:rPr lang="en-US" altLang="en-US" sz="4000" dirty="0"/>
              <a:t> Value</a:t>
            </a:r>
          </a:p>
        </p:txBody>
      </p:sp>
      <p:pic>
        <p:nvPicPr>
          <p:cNvPr id="73733" name="Picture 5" descr="du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1334" y="1052113"/>
            <a:ext cx="7211090" cy="5570847"/>
          </a:xfrm>
          <a:prstGeom prst="rect">
            <a:avLst/>
          </a:prstGeom>
          <a:noFill/>
          <a:extLst>
            <a:ext uri="{909E8E84-426E-40DD-AFC4-6F175D3DCCD1}">
              <a14:hiddenFill xmlns:a14="http://schemas.microsoft.com/office/drawing/2010/main">
                <a:solidFill>
                  <a:srgbClr val="FFFFFF"/>
                </a:solidFill>
              </a14:hiddenFill>
            </a:ext>
          </a:extLst>
        </p:spPr>
      </p:pic>
      <p:sp>
        <p:nvSpPr>
          <p:cNvPr id="73734" name="Oval 6"/>
          <p:cNvSpPr>
            <a:spLocks noChangeArrowheads="1"/>
          </p:cNvSpPr>
          <p:nvPr/>
        </p:nvSpPr>
        <p:spPr bwMode="auto">
          <a:xfrm>
            <a:off x="6380162" y="161131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5" name="Oval 7"/>
          <p:cNvSpPr>
            <a:spLocks noChangeArrowheads="1"/>
          </p:cNvSpPr>
          <p:nvPr/>
        </p:nvSpPr>
        <p:spPr bwMode="auto">
          <a:xfrm>
            <a:off x="4795837" y="542766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6" name="Oval 8"/>
          <p:cNvSpPr>
            <a:spLocks noChangeArrowheads="1"/>
          </p:cNvSpPr>
          <p:nvPr/>
        </p:nvSpPr>
        <p:spPr bwMode="auto">
          <a:xfrm>
            <a:off x="8323262" y="413226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7" name="Oval 9"/>
          <p:cNvSpPr>
            <a:spLocks noChangeArrowheads="1"/>
          </p:cNvSpPr>
          <p:nvPr/>
        </p:nvSpPr>
        <p:spPr bwMode="auto">
          <a:xfrm>
            <a:off x="5443537" y="2979738"/>
            <a:ext cx="287338" cy="287337"/>
          </a:xfrm>
          <a:prstGeom prst="ellipse">
            <a:avLst/>
          </a:prstGeom>
          <a:noFill/>
          <a:ln w="317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8" name="Oval 10"/>
          <p:cNvSpPr>
            <a:spLocks noChangeArrowheads="1"/>
          </p:cNvSpPr>
          <p:nvPr/>
        </p:nvSpPr>
        <p:spPr bwMode="auto">
          <a:xfrm>
            <a:off x="2051050" y="5949950"/>
            <a:ext cx="287338" cy="287338"/>
          </a:xfrm>
          <a:prstGeom prst="ellipse">
            <a:avLst/>
          </a:prstGeom>
          <a:noFill/>
          <a:ln w="317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9" name="Oval 11"/>
          <p:cNvSpPr>
            <a:spLocks noChangeArrowheads="1"/>
          </p:cNvSpPr>
          <p:nvPr/>
        </p:nvSpPr>
        <p:spPr bwMode="auto">
          <a:xfrm>
            <a:off x="1914525" y="3484563"/>
            <a:ext cx="287337" cy="287337"/>
          </a:xfrm>
          <a:prstGeom prst="ellipse">
            <a:avLst/>
          </a:prstGeom>
          <a:noFill/>
          <a:ln w="317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3350840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7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7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7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7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4" grpId="0" animBg="1"/>
      <p:bldP spid="73735" grpId="0" animBg="1"/>
      <p:bldP spid="73736" grpId="0" animBg="1"/>
      <p:bldP spid="73737" grpId="0" animBg="1"/>
      <p:bldP spid="73738" grpId="0" animBg="1"/>
      <p:bldP spid="7373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593624" y="273050"/>
            <a:ext cx="7550376" cy="1143000"/>
          </a:xfrm>
        </p:spPr>
        <p:txBody>
          <a:bodyPr/>
          <a:lstStyle/>
          <a:p>
            <a:r>
              <a:rPr lang="en-US" altLang="en-US" dirty="0"/>
              <a:t>Without Outlier</a:t>
            </a:r>
          </a:p>
        </p:txBody>
      </p:sp>
      <p:pic>
        <p:nvPicPr>
          <p:cNvPr id="80899" name="Picture 3" descr="du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3624" y="752474"/>
            <a:ext cx="7561262" cy="584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491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sz="4000"/>
              <a:t>With Corrected Out of Range Value</a:t>
            </a:r>
          </a:p>
        </p:txBody>
      </p:sp>
      <p:pic>
        <p:nvPicPr>
          <p:cNvPr id="81924" name="Picture 4" descr="duri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593624" y="1092200"/>
            <a:ext cx="7561262" cy="584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75656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a:t>Scales of Graphs</a:t>
            </a:r>
          </a:p>
        </p:txBody>
      </p:sp>
      <p:sp>
        <p:nvSpPr>
          <p:cNvPr id="74755" name="Rectangle 3"/>
          <p:cNvSpPr>
            <a:spLocks noGrp="1" noChangeArrowheads="1"/>
          </p:cNvSpPr>
          <p:nvPr>
            <p:ph type="body" idx="1"/>
          </p:nvPr>
        </p:nvSpPr>
        <p:spPr/>
        <p:txBody>
          <a:bodyPr/>
          <a:lstStyle/>
          <a:p>
            <a:r>
              <a:rPr lang="en-US" altLang="en-US"/>
              <a:t>It is very important to pay attention to the </a:t>
            </a:r>
            <a:r>
              <a:rPr lang="en-US" altLang="en-US" i="1"/>
              <a:t>scale</a:t>
            </a:r>
            <a:r>
              <a:rPr lang="en-US" altLang="en-US"/>
              <a:t> that you are using when you are plotting. </a:t>
            </a:r>
          </a:p>
          <a:p>
            <a:r>
              <a:rPr lang="en-US" altLang="en-US"/>
              <a:t>Compare the following graphs created from identical data</a:t>
            </a:r>
          </a:p>
          <a:p>
            <a:pPr>
              <a:buFont typeface="Wingdings" pitchFamily="2" charset="2"/>
              <a:buNone/>
            </a:pPr>
            <a:endParaRPr lang="en-US" altLang="en-US"/>
          </a:p>
        </p:txBody>
      </p:sp>
    </p:spTree>
    <p:extLst>
      <p:ext uri="{BB962C8B-B14F-4D97-AF65-F5344CB8AC3E}">
        <p14:creationId xmlns:p14="http://schemas.microsoft.com/office/powerpoint/2010/main" val="3541572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5" name="Object 5"/>
          <p:cNvGraphicFramePr>
            <a:graphicFrameLocks noGrp="1" noChangeAspect="1"/>
          </p:cNvGraphicFramePr>
          <p:nvPr>
            <p:ph sz="quarter" idx="1"/>
            <p:extLst>
              <p:ext uri="{D42A27DB-BD31-4B8C-83A1-F6EECF244321}">
                <p14:modId xmlns:p14="http://schemas.microsoft.com/office/powerpoint/2010/main" val="4075306990"/>
              </p:ext>
            </p:extLst>
          </p:nvPr>
        </p:nvGraphicFramePr>
        <p:xfrm>
          <a:off x="5460093" y="430213"/>
          <a:ext cx="3651250" cy="2921000"/>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9216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093" y="430213"/>
                        <a:ext cx="3651250" cy="292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67" name="Object 7"/>
          <p:cNvGraphicFramePr>
            <a:graphicFrameLocks noGrp="1" noChangeAspect="1"/>
          </p:cNvGraphicFramePr>
          <p:nvPr>
            <p:ph sz="quarter" idx="2"/>
            <p:extLst>
              <p:ext uri="{D42A27DB-BD31-4B8C-83A1-F6EECF244321}">
                <p14:modId xmlns:p14="http://schemas.microsoft.com/office/powerpoint/2010/main" val="3544833902"/>
              </p:ext>
            </p:extLst>
          </p:nvPr>
        </p:nvGraphicFramePr>
        <p:xfrm>
          <a:off x="1676400" y="201613"/>
          <a:ext cx="3743325" cy="2995612"/>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9216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201613"/>
                        <a:ext cx="3743325" cy="299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81" name="Object 21"/>
          <p:cNvGraphicFramePr>
            <a:graphicFrameLocks noGrp="1" noChangeAspect="1"/>
          </p:cNvGraphicFramePr>
          <p:nvPr>
            <p:ph sz="quarter" idx="3"/>
            <p:extLst>
              <p:ext uri="{D42A27DB-BD31-4B8C-83A1-F6EECF244321}">
                <p14:modId xmlns:p14="http://schemas.microsoft.com/office/powerpoint/2010/main" val="4266546889"/>
              </p:ext>
            </p:extLst>
          </p:nvPr>
        </p:nvGraphicFramePr>
        <p:xfrm>
          <a:off x="1600200" y="3402013"/>
          <a:ext cx="3744912" cy="2995612"/>
        </p:xfrm>
        <a:graphic>
          <a:graphicData uri="http://schemas.openxmlformats.org/presentationml/2006/ole">
            <mc:AlternateContent xmlns:mc="http://schemas.openxmlformats.org/markup-compatibility/2006">
              <mc:Choice xmlns:v="urn:schemas-microsoft-com:vml" Requires="v">
                <p:oleObj name="Picture" r:id="rId6" imgW="4551680" imgH="3641344" progId="StaticEnhancedMetafile">
                  <p:embed/>
                </p:oleObj>
              </mc:Choice>
              <mc:Fallback>
                <p:oleObj name="Picture" r:id="rId6" imgW="4551680" imgH="3641344" progId="StaticEnhancedMetafile">
                  <p:embed/>
                  <p:pic>
                    <p:nvPicPr>
                      <p:cNvPr id="92181"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402013"/>
                        <a:ext cx="3744912" cy="2995612"/>
                      </a:xfrm>
                      <a:prstGeom prst="rect">
                        <a:avLst/>
                      </a:prstGeom>
                    </p:spPr>
                  </p:pic>
                </p:oleObj>
              </mc:Fallback>
            </mc:AlternateContent>
          </a:graphicData>
        </a:graphic>
      </p:graphicFrame>
      <p:graphicFrame>
        <p:nvGraphicFramePr>
          <p:cNvPr id="92182" name="Object 22"/>
          <p:cNvGraphicFramePr>
            <a:graphicFrameLocks noGrp="1" noChangeAspect="1"/>
          </p:cNvGraphicFramePr>
          <p:nvPr>
            <p:ph sz="quarter" idx="4"/>
            <p:extLst>
              <p:ext uri="{D42A27DB-BD31-4B8C-83A1-F6EECF244321}">
                <p14:modId xmlns:p14="http://schemas.microsoft.com/office/powerpoint/2010/main" val="1922599920"/>
              </p:ext>
            </p:extLst>
          </p:nvPr>
        </p:nvGraphicFramePr>
        <p:xfrm>
          <a:off x="5491163" y="3554413"/>
          <a:ext cx="3652837" cy="2922587"/>
        </p:xfrm>
        <a:graphic>
          <a:graphicData uri="http://schemas.openxmlformats.org/presentationml/2006/ole">
            <mc:AlternateContent xmlns:mc="http://schemas.openxmlformats.org/markup-compatibility/2006">
              <mc:Choice xmlns:v="urn:schemas-microsoft-com:vml" Requires="v">
                <p:oleObj name="Picture" r:id="rId8" imgW="4551680" imgH="3641344" progId="StaticEnhancedMetafile">
                  <p:embed/>
                </p:oleObj>
              </mc:Choice>
              <mc:Fallback>
                <p:oleObj name="Picture" r:id="rId8" imgW="4551680" imgH="3641344" progId="StaticEnhancedMetafile">
                  <p:embed/>
                  <p:pic>
                    <p:nvPicPr>
                      <p:cNvPr id="92182"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91163" y="3554413"/>
                        <a:ext cx="3652837" cy="2922587"/>
                      </a:xfrm>
                      <a:prstGeom prst="rect">
                        <a:avLst/>
                      </a:prstGeom>
                    </p:spPr>
                  </p:pic>
                </p:oleObj>
              </mc:Fallback>
            </mc:AlternateContent>
          </a:graphicData>
        </a:graphic>
      </p:graphicFrame>
    </p:spTree>
    <p:extLst>
      <p:ext uri="{BB962C8B-B14F-4D97-AF65-F5344CB8AC3E}">
        <p14:creationId xmlns:p14="http://schemas.microsoft.com/office/powerpoint/2010/main" val="576659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00200" y="273050"/>
            <a:ext cx="7081838" cy="1143000"/>
          </a:xfrm>
        </p:spPr>
        <p:txBody>
          <a:bodyPr/>
          <a:lstStyle/>
          <a:p>
            <a:r>
              <a:rPr lang="en-GB" dirty="0"/>
              <a:t>Python visualisation tools</a:t>
            </a:r>
          </a:p>
        </p:txBody>
      </p:sp>
      <p:sp>
        <p:nvSpPr>
          <p:cNvPr id="4" name="Content Placeholder 3"/>
          <p:cNvSpPr>
            <a:spLocks noGrp="1"/>
          </p:cNvSpPr>
          <p:nvPr>
            <p:ph sz="quarter" idx="2"/>
          </p:nvPr>
        </p:nvSpPr>
        <p:spPr>
          <a:xfrm>
            <a:off x="1981200" y="1219200"/>
            <a:ext cx="6705600" cy="4648200"/>
          </a:xfrm>
        </p:spPr>
        <p:txBody>
          <a:bodyPr/>
          <a:lstStyle/>
          <a:p>
            <a:r>
              <a:rPr lang="en-GB" dirty="0"/>
              <a:t>Matplotlib (</a:t>
            </a:r>
            <a:r>
              <a:rPr lang="en-GB" dirty="0">
                <a:hlinkClick r:id="rId2"/>
              </a:rPr>
              <a:t>https://matplotlib.org/</a:t>
            </a:r>
            <a:r>
              <a:rPr lang="en-GB" dirty="0"/>
              <a:t>)</a:t>
            </a:r>
          </a:p>
          <a:p>
            <a:r>
              <a:rPr lang="en-GB" dirty="0"/>
              <a:t>Seaborn (</a:t>
            </a:r>
            <a:r>
              <a:rPr lang="en-GB" dirty="0">
                <a:hlinkClick r:id="rId3"/>
              </a:rPr>
              <a:t>https://seaborn.pydata.org/</a:t>
            </a:r>
            <a:r>
              <a:rPr lang="en-GB" dirty="0"/>
              <a:t>)</a:t>
            </a:r>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837" y="2231881"/>
            <a:ext cx="6888163" cy="4321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8412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en-US"/>
              <a:t>Summary</a:t>
            </a:r>
          </a:p>
        </p:txBody>
      </p:sp>
      <p:sp>
        <p:nvSpPr>
          <p:cNvPr id="103427" name="Rectangle 3"/>
          <p:cNvSpPr>
            <a:spLocks noGrp="1" noChangeArrowheads="1"/>
          </p:cNvSpPr>
          <p:nvPr>
            <p:ph type="body" idx="1"/>
          </p:nvPr>
        </p:nvSpPr>
        <p:spPr/>
        <p:txBody>
          <a:bodyPr/>
          <a:lstStyle/>
          <a:p>
            <a:r>
              <a:rPr lang="en-US" altLang="en-US" sz="2200" dirty="0"/>
              <a:t>Examine all your variables thoroughly and carefully before you begin analysis</a:t>
            </a:r>
          </a:p>
          <a:p>
            <a:r>
              <a:rPr lang="en-US" altLang="en-US" sz="2200" dirty="0"/>
              <a:t>Use visual displays whenever possible</a:t>
            </a:r>
          </a:p>
          <a:p>
            <a:r>
              <a:rPr lang="en-US" altLang="en-US" sz="2200" dirty="0"/>
              <a:t>Transform each variable as necessary to deal with mistakes, outliers, and distributions</a:t>
            </a:r>
          </a:p>
          <a:p>
            <a:endParaRPr lang="en-US" altLang="en-US" sz="2200" dirty="0"/>
          </a:p>
          <a:p>
            <a:r>
              <a:rPr lang="en-US" altLang="en-US" sz="2200" dirty="0"/>
              <a:t>Let’s do practices on </a:t>
            </a:r>
            <a:r>
              <a:rPr lang="en-US" altLang="en-US" sz="2200" dirty="0" err="1"/>
              <a:t>Kaggle</a:t>
            </a:r>
            <a:r>
              <a:rPr lang="en-US" altLang="en-US" sz="2200" dirty="0"/>
              <a:t> </a:t>
            </a:r>
          </a:p>
          <a:p>
            <a:endParaRPr lang="en-US" altLang="en-US" sz="2200" dirty="0"/>
          </a:p>
          <a:p>
            <a:r>
              <a:rPr lang="en-US" altLang="en-US" sz="2200" dirty="0">
                <a:solidFill>
                  <a:schemeClr val="accent2"/>
                </a:solidFill>
              </a:rPr>
              <a:t>Homework: read Chapter 2 of Doing Data Science</a:t>
            </a:r>
          </a:p>
          <a:p>
            <a:endParaRPr lang="en-US" altLang="en-US" sz="2200" dirty="0">
              <a:solidFill>
                <a:schemeClr val="accent2"/>
              </a:solidFill>
            </a:endParaRPr>
          </a:p>
          <a:p>
            <a:r>
              <a:rPr lang="en-US" altLang="en-US" dirty="0"/>
              <a:t>Next week:</a:t>
            </a:r>
          </a:p>
          <a:p>
            <a:r>
              <a:rPr lang="en-US" altLang="en-US" sz="2000" dirty="0"/>
              <a:t>Lecture: start mining the data for frequent patterns</a:t>
            </a:r>
          </a:p>
          <a:p>
            <a:r>
              <a:rPr lang="en-US" altLang="en-US" sz="2000" dirty="0"/>
              <a:t>Practices: Association rule mining for frequent patterns</a:t>
            </a:r>
          </a:p>
        </p:txBody>
      </p:sp>
    </p:spTree>
    <p:extLst>
      <p:ext uri="{BB962C8B-B14F-4D97-AF65-F5344CB8AC3E}">
        <p14:creationId xmlns:p14="http://schemas.microsoft.com/office/powerpoint/2010/main" val="16190521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references</a:t>
            </a:r>
          </a:p>
        </p:txBody>
      </p:sp>
      <p:sp>
        <p:nvSpPr>
          <p:cNvPr id="3" name="Content Placeholder 2"/>
          <p:cNvSpPr>
            <a:spLocks noGrp="1"/>
          </p:cNvSpPr>
          <p:nvPr>
            <p:ph idx="1"/>
          </p:nvPr>
        </p:nvSpPr>
        <p:spPr>
          <a:xfrm>
            <a:off x="1600200" y="1143000"/>
            <a:ext cx="7315200" cy="4761979"/>
          </a:xfrm>
        </p:spPr>
        <p:txBody>
          <a:bodyPr/>
          <a:lstStyle/>
          <a:p>
            <a:r>
              <a:rPr lang="en-GB" sz="2000" dirty="0"/>
              <a:t>1. </a:t>
            </a:r>
            <a:r>
              <a:rPr lang="en-GB" sz="2000" i="1" dirty="0"/>
              <a:t>Exploratory Data Analysis </a:t>
            </a:r>
            <a:r>
              <a:rPr lang="en-GB" sz="2000" dirty="0"/>
              <a:t>by John Tukey (Pearson)</a:t>
            </a:r>
          </a:p>
          <a:p>
            <a:r>
              <a:rPr lang="en-GB" sz="2000" dirty="0"/>
              <a:t>2. </a:t>
            </a:r>
            <a:r>
              <a:rPr lang="en-GB" sz="2000" i="1" dirty="0"/>
              <a:t>The Visual Display of Quantitative Information </a:t>
            </a:r>
            <a:r>
              <a:rPr lang="en-GB" sz="2000" dirty="0"/>
              <a:t>by Edward </a:t>
            </a:r>
            <a:r>
              <a:rPr lang="en-GB" sz="2000" dirty="0" err="1"/>
              <a:t>Tufte</a:t>
            </a:r>
            <a:r>
              <a:rPr lang="en-GB" sz="2000" dirty="0"/>
              <a:t> (Graphics Press)</a:t>
            </a:r>
          </a:p>
          <a:p>
            <a:r>
              <a:rPr lang="en-GB" sz="2000" dirty="0"/>
              <a:t>3. </a:t>
            </a:r>
            <a:r>
              <a:rPr lang="en-GB" sz="2000" i="1" dirty="0"/>
              <a:t>The Elements of Graphing Data </a:t>
            </a:r>
            <a:r>
              <a:rPr lang="en-GB" sz="2000" dirty="0"/>
              <a:t>by William S. Cleveland (Hobart Press)</a:t>
            </a:r>
          </a:p>
          <a:p>
            <a:r>
              <a:rPr lang="en-GB" sz="2000" dirty="0"/>
              <a:t>4. </a:t>
            </a:r>
            <a:r>
              <a:rPr lang="en-GB" sz="2000" i="1" dirty="0"/>
              <a:t>Statistical Graphics for Visualizing Multivariate Data </a:t>
            </a:r>
            <a:r>
              <a:rPr lang="en-GB" sz="2000" dirty="0"/>
              <a:t>by William G. Jacoby (Sage)</a:t>
            </a:r>
          </a:p>
          <a:p>
            <a:r>
              <a:rPr lang="en-GB" sz="2000" dirty="0"/>
              <a:t>5. </a:t>
            </a:r>
            <a:r>
              <a:rPr lang="en-GB" sz="2000" i="1" dirty="0"/>
              <a:t>“Exploratory Data Analysis for Complex Models” </a:t>
            </a:r>
            <a:r>
              <a:rPr lang="en-GB" sz="2000" dirty="0"/>
              <a:t>by Andrew </a:t>
            </a:r>
            <a:r>
              <a:rPr lang="en-GB" sz="2000" dirty="0" err="1"/>
              <a:t>Gelman</a:t>
            </a:r>
            <a:r>
              <a:rPr lang="en-GB" sz="2000" dirty="0"/>
              <a:t> (American Statistical Association)</a:t>
            </a:r>
          </a:p>
          <a:p>
            <a:r>
              <a:rPr lang="en-GB" sz="2000" dirty="0"/>
              <a:t>6. The Future of Data Analysis (PDF) by John Tukey. Annals of Mathematical Statistics, Volume 33, Number 1 (1962), 1-67.</a:t>
            </a:r>
          </a:p>
          <a:p>
            <a:r>
              <a:rPr lang="en-GB" sz="2000" dirty="0"/>
              <a:t>7. </a:t>
            </a:r>
            <a:r>
              <a:rPr lang="en-GB" sz="2000" i="1" dirty="0"/>
              <a:t>Data Analysis, Exploratory </a:t>
            </a:r>
            <a:r>
              <a:rPr lang="en-GB" sz="2000" dirty="0"/>
              <a:t>by David </a:t>
            </a:r>
            <a:r>
              <a:rPr lang="en-GB" sz="2000" dirty="0" err="1"/>
              <a:t>Brillinger</a:t>
            </a:r>
            <a:r>
              <a:rPr lang="en-GB" sz="2000" dirty="0"/>
              <a:t> [8-page excerpt from International </a:t>
            </a:r>
            <a:r>
              <a:rPr lang="en-GB" sz="2000" i="1" dirty="0" err="1"/>
              <a:t>Encyclopedia</a:t>
            </a:r>
            <a:r>
              <a:rPr lang="en-GB" sz="2000" i="1" dirty="0"/>
              <a:t> of Political Science </a:t>
            </a:r>
            <a:r>
              <a:rPr lang="en-GB" sz="2000" dirty="0"/>
              <a:t>(Sage)]</a:t>
            </a:r>
          </a:p>
          <a:p>
            <a:r>
              <a:rPr lang="en-GB" sz="2000" dirty="0"/>
              <a:t>8. https://www.hcbravo.org/IntroDataSci/bookdown-notes/eda-handling-missing-data.html</a:t>
            </a:r>
          </a:p>
        </p:txBody>
      </p:sp>
    </p:spTree>
    <p:extLst>
      <p:ext uri="{BB962C8B-B14F-4D97-AF65-F5344CB8AC3E}">
        <p14:creationId xmlns:p14="http://schemas.microsoft.com/office/powerpoint/2010/main" val="1382148721"/>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1443</TotalTime>
  <Words>2582</Words>
  <Application>Microsoft Office PowerPoint</Application>
  <PresentationFormat>Προβολή στην οθόνη (4:3)</PresentationFormat>
  <Paragraphs>555</Paragraphs>
  <Slides>49</Slides>
  <Notes>3</Notes>
  <HiddenSlides>0</HiddenSlides>
  <MMClips>0</MMClips>
  <ScaleCrop>false</ScaleCrop>
  <HeadingPairs>
    <vt:vector size="8" baseType="variant">
      <vt:variant>
        <vt:lpstr>Γραμματοσειρές που χρησιμοποιούνται</vt:lpstr>
      </vt:variant>
      <vt:variant>
        <vt:i4>4</vt:i4>
      </vt:variant>
      <vt:variant>
        <vt:lpstr>Θέμα</vt:lpstr>
      </vt:variant>
      <vt:variant>
        <vt:i4>1</vt:i4>
      </vt:variant>
      <vt:variant>
        <vt:lpstr>Ενσωματωμένοι διακομιστές OLE</vt:lpstr>
      </vt:variant>
      <vt:variant>
        <vt:i4>1</vt:i4>
      </vt:variant>
      <vt:variant>
        <vt:lpstr>Τίτλοι διαφανειών</vt:lpstr>
      </vt:variant>
      <vt:variant>
        <vt:i4>49</vt:i4>
      </vt:variant>
    </vt:vector>
  </HeadingPairs>
  <TitlesOfParts>
    <vt:vector size="55" baseType="lpstr">
      <vt:lpstr>Arial</vt:lpstr>
      <vt:lpstr>Calibri</vt:lpstr>
      <vt:lpstr>Courier</vt:lpstr>
      <vt:lpstr>Wingdings</vt:lpstr>
      <vt:lpstr>2_Office Theme</vt:lpstr>
      <vt:lpstr>Picture</vt:lpstr>
      <vt:lpstr>EDA </vt:lpstr>
      <vt:lpstr>Declaration </vt:lpstr>
      <vt:lpstr>EDA is an attitude</vt:lpstr>
      <vt:lpstr>What is EDA? </vt:lpstr>
      <vt:lpstr>Tools of EDA</vt:lpstr>
      <vt:lpstr>EDA Mindset</vt:lpstr>
      <vt:lpstr>Philosophy of EDA</vt:lpstr>
      <vt:lpstr>Philosophy of EDA (Cont.)</vt:lpstr>
      <vt:lpstr>Who are they?</vt:lpstr>
      <vt:lpstr>6 steps to do your EDA</vt:lpstr>
      <vt:lpstr>What is data?</vt:lpstr>
      <vt:lpstr>What is a measurement?</vt:lpstr>
      <vt:lpstr>Organizing your data in a spreadsheet</vt:lpstr>
      <vt:lpstr>Handling missing data </vt:lpstr>
      <vt:lpstr>Variable Summaries</vt:lpstr>
      <vt:lpstr>The Mean</vt:lpstr>
      <vt:lpstr>The Variance: Sum of the squared deviations divided by number of scores</vt:lpstr>
      <vt:lpstr>Variance continued</vt:lpstr>
      <vt:lpstr>Standard Variance calculation </vt:lpstr>
      <vt:lpstr>Standardize Variance</vt:lpstr>
      <vt:lpstr>Distribution</vt:lpstr>
      <vt:lpstr>Interpreting standard deviation (SD)</vt:lpstr>
      <vt:lpstr>Standardized scores (Z)</vt:lpstr>
      <vt:lpstr>Standardized normal distribution</vt:lpstr>
      <vt:lpstr>The trouble with normal</vt:lpstr>
      <vt:lpstr>A bunch of continuous probability distribution</vt:lpstr>
      <vt:lpstr>Checking data balance</vt:lpstr>
      <vt:lpstr>Visual display of univariate data</vt:lpstr>
      <vt:lpstr>Visual display of univariate data (Cont.)</vt:lpstr>
      <vt:lpstr>Histograms</vt:lpstr>
      <vt:lpstr>Boxplots</vt:lpstr>
      <vt:lpstr>Quantile-Quantile (Q-Q) Plots</vt:lpstr>
      <vt:lpstr>Q-Q Plots</vt:lpstr>
      <vt:lpstr>So…what do you do with EDA?</vt:lpstr>
      <vt:lpstr>Dealing with Outliers</vt:lpstr>
      <vt:lpstr>Dealing with skewed distributions</vt:lpstr>
      <vt:lpstr>Visual Display of Bivariate Data</vt:lpstr>
      <vt:lpstr>Visual Displays of Bivariate Data</vt:lpstr>
      <vt:lpstr>                  Bivariate Distribution</vt:lpstr>
      <vt:lpstr>Intro to Scatter plots</vt:lpstr>
      <vt:lpstr>Παρουσίαση του PowerPoint</vt:lpstr>
      <vt:lpstr>With Outlier and Out of Range Value</vt:lpstr>
      <vt:lpstr>Without Outlier</vt:lpstr>
      <vt:lpstr>With Corrected Out of Range Value</vt:lpstr>
      <vt:lpstr>Scales of Graphs</vt:lpstr>
      <vt:lpstr>Παρουσίαση του PowerPoint</vt:lpstr>
      <vt:lpstr>Python visualisation tools</vt:lpstr>
      <vt:lpstr>Summary</vt:lpstr>
      <vt:lpstr>More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and foundations of AI  Topic: Exploratory Data Analysis (EDA)</dc:title>
  <dc:creator>Maxwell Yu</dc:creator>
  <cp:lastModifiedBy>Giannis Tsioulis</cp:lastModifiedBy>
  <cp:revision>31</cp:revision>
  <dcterms:created xsi:type="dcterms:W3CDTF">2006-08-16T00:00:00Z</dcterms:created>
  <dcterms:modified xsi:type="dcterms:W3CDTF">2025-10-21T18:42:31Z</dcterms:modified>
</cp:coreProperties>
</file>
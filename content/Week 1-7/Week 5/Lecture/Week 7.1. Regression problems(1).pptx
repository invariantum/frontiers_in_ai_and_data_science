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47"/>
  </p:notesMasterIdLst>
  <p:sldIdLst>
    <p:sldId id="256" r:id="rId2"/>
    <p:sldId id="257" r:id="rId3"/>
    <p:sldId id="302"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85" r:id="rId20"/>
    <p:sldId id="286" r:id="rId21"/>
    <p:sldId id="274" r:id="rId22"/>
    <p:sldId id="275" r:id="rId23"/>
    <p:sldId id="276" r:id="rId24"/>
    <p:sldId id="277" r:id="rId25"/>
    <p:sldId id="278" r:id="rId26"/>
    <p:sldId id="279" r:id="rId27"/>
    <p:sldId id="280" r:id="rId28"/>
    <p:sldId id="281" r:id="rId29"/>
    <p:sldId id="282" r:id="rId30"/>
    <p:sldId id="283" r:id="rId31"/>
    <p:sldId id="284" r:id="rId32"/>
    <p:sldId id="287" r:id="rId33"/>
    <p:sldId id="288" r:id="rId34"/>
    <p:sldId id="289" r:id="rId35"/>
    <p:sldId id="291" r:id="rId36"/>
    <p:sldId id="303" r:id="rId37"/>
    <p:sldId id="295" r:id="rId38"/>
    <p:sldId id="296" r:id="rId39"/>
    <p:sldId id="297" r:id="rId40"/>
    <p:sldId id="298" r:id="rId41"/>
    <p:sldId id="299" r:id="rId42"/>
    <p:sldId id="300" r:id="rId43"/>
    <p:sldId id="304" r:id="rId44"/>
    <p:sldId id="305" r:id="rId45"/>
    <p:sldId id="292"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custSel addSld delSld modSld">
      <pc:chgData name="Giannis Tsioulis" userId="d59c48a07cb29050" providerId="LiveId" clId="{D1FB67B2-2F40-423F-AEB1-7CE013CAD466}" dt="2025-11-04T20:22:12.692" v="6" actId="47"/>
      <pc:docMkLst>
        <pc:docMk/>
      </pc:docMkLst>
      <pc:sldChg chg="modSp add mod">
        <pc:chgData name="Giannis Tsioulis" userId="d59c48a07cb29050" providerId="LiveId" clId="{D1FB67B2-2F40-423F-AEB1-7CE013CAD466}" dt="2025-11-04T20:22:02.396" v="5" actId="207"/>
        <pc:sldMkLst>
          <pc:docMk/>
          <pc:sldMk cId="1762119713" sldId="256"/>
        </pc:sldMkLst>
        <pc:spChg chg="mod">
          <ac:chgData name="Giannis Tsioulis" userId="d59c48a07cb29050" providerId="LiveId" clId="{D1FB67B2-2F40-423F-AEB1-7CE013CAD466}" dt="2025-11-04T20:22:02.396" v="5" actId="207"/>
          <ac:spMkLst>
            <pc:docMk/>
            <pc:sldMk cId="1762119713" sldId="256"/>
            <ac:spMk id="2" creationId="{6B246FF1-9020-F3E7-8FC5-A95BBE191469}"/>
          </ac:spMkLst>
        </pc:spChg>
        <pc:spChg chg="mod">
          <ac:chgData name="Giannis Tsioulis" userId="d59c48a07cb29050" providerId="LiveId" clId="{D1FB67B2-2F40-423F-AEB1-7CE013CAD466}" dt="2025-11-04T20:21:28.561" v="3" actId="1076"/>
          <ac:spMkLst>
            <pc:docMk/>
            <pc:sldMk cId="1762119713" sldId="256"/>
            <ac:spMk id="4" creationId="{00000000-0000-0000-0000-000000000000}"/>
          </ac:spMkLst>
        </pc:spChg>
      </pc:sldChg>
      <pc:sldChg chg="modSp mod">
        <pc:chgData name="Giannis Tsioulis" userId="d59c48a07cb29050" providerId="LiveId" clId="{D1FB67B2-2F40-423F-AEB1-7CE013CAD466}" dt="2025-11-04T20:20:59.235" v="1" actId="27636"/>
        <pc:sldMkLst>
          <pc:docMk/>
          <pc:sldMk cId="1820420668" sldId="266"/>
        </pc:sldMkLst>
        <pc:spChg chg="mod">
          <ac:chgData name="Giannis Tsioulis" userId="d59c48a07cb29050" providerId="LiveId" clId="{D1FB67B2-2F40-423F-AEB1-7CE013CAD466}" dt="2025-11-04T20:20:59.235" v="1" actId="27636"/>
          <ac:spMkLst>
            <pc:docMk/>
            <pc:sldMk cId="1820420668" sldId="266"/>
            <ac:spMk id="3" creationId="{00000000-0000-0000-0000-000000000000}"/>
          </ac:spMkLst>
        </pc:spChg>
      </pc:sldChg>
      <pc:sldChg chg="del">
        <pc:chgData name="Giannis Tsioulis" userId="d59c48a07cb29050" providerId="LiveId" clId="{D1FB67B2-2F40-423F-AEB1-7CE013CAD466}" dt="2025-11-04T20:22:12.692" v="6" actId="47"/>
        <pc:sldMkLst>
          <pc:docMk/>
          <pc:sldMk cId="751710771" sldId="29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8"/>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089E-4BDF-8DAE-7DFBDCDC4FE5}"/>
            </c:ext>
          </c:extLst>
        </c:ser>
        <c:dLbls>
          <c:showLegendKey val="0"/>
          <c:showVal val="0"/>
          <c:showCatName val="0"/>
          <c:showSerName val="0"/>
          <c:showPercent val="0"/>
          <c:showBubbleSize val="0"/>
        </c:dLbls>
        <c:axId val="150380928"/>
        <c:axId val="150383616"/>
      </c:scatterChart>
      <c:valAx>
        <c:axId val="150380928"/>
        <c:scaling>
          <c:orientation val="minMax"/>
          <c:max val="3000"/>
        </c:scaling>
        <c:delete val="0"/>
        <c:axPos val="b"/>
        <c:numFmt formatCode="General" sourceLinked="1"/>
        <c:majorTickMark val="out"/>
        <c:minorTickMark val="none"/>
        <c:tickLblPos val="nextTo"/>
        <c:crossAx val="150383616"/>
        <c:crosses val="autoZero"/>
        <c:crossBetween val="midCat"/>
      </c:valAx>
      <c:valAx>
        <c:axId val="150383616"/>
        <c:scaling>
          <c:orientation val="minMax"/>
          <c:max val="500000"/>
        </c:scaling>
        <c:delete val="0"/>
        <c:axPos val="l"/>
        <c:majorGridlines/>
        <c:numFmt formatCode="General" sourceLinked="0"/>
        <c:majorTickMark val="out"/>
        <c:minorTickMark val="none"/>
        <c:tickLblPos val="nextTo"/>
        <c:crossAx val="150380928"/>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B45574-19A8-40AB-85BA-53451DF73ECF}" type="datetimeFigureOut">
              <a:rPr lang="en-GB" smtClean="0"/>
              <a:t>04/11/2025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E21F6E-FFA6-4F20-A02E-4CBF7D5984BB}" type="slidenum">
              <a:rPr lang="en-GB" smtClean="0"/>
              <a:t>‹#›</a:t>
            </a:fld>
            <a:endParaRPr lang="en-GB"/>
          </a:p>
        </p:txBody>
      </p:sp>
    </p:spTree>
    <p:extLst>
      <p:ext uri="{BB962C8B-B14F-4D97-AF65-F5344CB8AC3E}">
        <p14:creationId xmlns:p14="http://schemas.microsoft.com/office/powerpoint/2010/main" val="1689884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EE21F6E-FFA6-4F20-A02E-4CBF7D5984BB}" type="slidenum">
              <a:rPr lang="en-GB" smtClean="0"/>
              <a:t>11</a:t>
            </a:fld>
            <a:endParaRPr lang="en-GB"/>
          </a:p>
        </p:txBody>
      </p:sp>
    </p:spTree>
    <p:extLst>
      <p:ext uri="{BB962C8B-B14F-4D97-AF65-F5344CB8AC3E}">
        <p14:creationId xmlns:p14="http://schemas.microsoft.com/office/powerpoint/2010/main" val="32744546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Click on 3</a:t>
            </a:r>
            <a:r>
              <a:rPr lang="en-GB" sz="1200" kern="1200" baseline="30000" dirty="0">
                <a:solidFill>
                  <a:schemeClr val="tx1"/>
                </a:solidFill>
                <a:effectLst/>
                <a:latin typeface="+mn-lt"/>
                <a:ea typeface="+mn-ea"/>
                <a:cs typeface="+mn-cs"/>
              </a:rPr>
              <a:t>rd</a:t>
            </a:r>
            <a:r>
              <a:rPr lang="en-GB" sz="1200" kern="1200" dirty="0">
                <a:solidFill>
                  <a:schemeClr val="tx1"/>
                </a:solidFill>
                <a:effectLst/>
                <a:latin typeface="+mn-lt"/>
                <a:ea typeface="+mn-ea"/>
                <a:cs typeface="+mn-cs"/>
              </a:rPr>
              <a:t> animation script: Let’s first work it out for the case of if we have only one training example (x, y), so that we can neglect the sum in the definition of J</a:t>
            </a:r>
            <a:endParaRPr lang="en-GB" dirty="0"/>
          </a:p>
        </p:txBody>
      </p:sp>
      <p:sp>
        <p:nvSpPr>
          <p:cNvPr id="4" name="Slide Number Placeholder 3"/>
          <p:cNvSpPr>
            <a:spLocks noGrp="1"/>
          </p:cNvSpPr>
          <p:nvPr>
            <p:ph type="sldNum" sz="quarter" idx="10"/>
          </p:nvPr>
        </p:nvSpPr>
        <p:spPr/>
        <p:txBody>
          <a:bodyPr/>
          <a:lstStyle/>
          <a:p>
            <a:fld id="{0EE21F6E-FFA6-4F20-A02E-4CBF7D5984BB}" type="slidenum">
              <a:rPr lang="en-GB" smtClean="0"/>
              <a:t>17</a:t>
            </a:fld>
            <a:endParaRPr lang="en-GB"/>
          </a:p>
        </p:txBody>
      </p:sp>
    </p:spTree>
    <p:extLst>
      <p:ext uri="{BB962C8B-B14F-4D97-AF65-F5344CB8AC3E}">
        <p14:creationId xmlns:p14="http://schemas.microsoft.com/office/powerpoint/2010/main" val="1387334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We identify problem as classification problem when independent variables are continuous in nature and dependent variable is in categorical form i.e. in classes like positive class and negative class. The real life example of classification example would be, to categorize the mail as spam or not spam, to categorize the </a:t>
            </a:r>
            <a:r>
              <a:rPr lang="en-GB" dirty="0" err="1"/>
              <a:t>tumor</a:t>
            </a:r>
            <a:r>
              <a:rPr lang="en-GB" dirty="0"/>
              <a:t> as malignant or benign and to categorize the transaction as fraudulent or genuine. All these problem’s answers are in categorical form i.e. Yes or No. and that is why they are two class classification problems.</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Suppose we have a data of </a:t>
            </a:r>
            <a:r>
              <a:rPr lang="en-GB" dirty="0" err="1"/>
              <a:t>tumor</a:t>
            </a:r>
            <a:r>
              <a:rPr lang="en-GB" dirty="0"/>
              <a:t> size vs its malignancy. As it is a classification problem, if we plot, we can see, all the values will lie on </a:t>
            </a:r>
            <a:r>
              <a:rPr lang="en-GB" b="1" dirty="0"/>
              <a:t>0</a:t>
            </a:r>
            <a:r>
              <a:rPr lang="en-GB" dirty="0"/>
              <a:t> and </a:t>
            </a:r>
            <a:r>
              <a:rPr lang="en-GB" b="1" dirty="0"/>
              <a:t>1</a:t>
            </a:r>
            <a:r>
              <a:rPr lang="en-GB" dirty="0"/>
              <a:t>. And if we fit best found regression line, by assuming the threshold at 0.5, we can do line pretty reasonable job</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Although, sometime we come across more than 2 classes and still it is a classification problem. These types of problems are known as multi class classification problems.</a:t>
            </a:r>
          </a:p>
          <a:p>
            <a:endParaRPr lang="en-GB" dirty="0"/>
          </a:p>
        </p:txBody>
      </p:sp>
      <p:sp>
        <p:nvSpPr>
          <p:cNvPr id="4" name="Slide Number Placeholder 3"/>
          <p:cNvSpPr>
            <a:spLocks noGrp="1"/>
          </p:cNvSpPr>
          <p:nvPr>
            <p:ph type="sldNum" sz="quarter" idx="10"/>
          </p:nvPr>
        </p:nvSpPr>
        <p:spPr/>
        <p:txBody>
          <a:bodyPr/>
          <a:lstStyle/>
          <a:p>
            <a:fld id="{491D9B5E-31D9-46E7-8C21-794CBB760F51}" type="slidenum">
              <a:rPr lang="en-GB" smtClean="0"/>
              <a:t>38</a:t>
            </a:fld>
            <a:endParaRPr lang="en-GB"/>
          </a:p>
        </p:txBody>
      </p:sp>
    </p:spTree>
    <p:extLst>
      <p:ext uri="{BB962C8B-B14F-4D97-AF65-F5344CB8AC3E}">
        <p14:creationId xmlns:p14="http://schemas.microsoft.com/office/powerpoint/2010/main" val="4033423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91D9B5E-31D9-46E7-8C21-794CBB760F51}" type="slidenum">
              <a:rPr lang="en-GB" smtClean="0"/>
              <a:t>40</a:t>
            </a:fld>
            <a:endParaRPr lang="en-GB"/>
          </a:p>
        </p:txBody>
      </p:sp>
    </p:spTree>
    <p:extLst>
      <p:ext uri="{BB962C8B-B14F-4D97-AF65-F5344CB8AC3E}">
        <p14:creationId xmlns:p14="http://schemas.microsoft.com/office/powerpoint/2010/main" val="752391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So, given the logistic regression model, how do we fit θ for it? Following</a:t>
            </a:r>
          </a:p>
          <a:p>
            <a:r>
              <a:rPr lang="en-GB" sz="1200" b="0" i="0" u="none" strike="noStrike" kern="1200" baseline="0" dirty="0">
                <a:solidFill>
                  <a:schemeClr val="tx1"/>
                </a:solidFill>
                <a:latin typeface="+mn-lt"/>
                <a:ea typeface="+mn-ea"/>
                <a:cs typeface="+mn-cs"/>
              </a:rPr>
              <a:t>how we saw least squares regression could be derived as the maximum like-</a:t>
            </a:r>
          </a:p>
          <a:p>
            <a:r>
              <a:rPr lang="en-GB" sz="1200" b="0" i="0" u="none" strike="noStrike" kern="1200" baseline="0" dirty="0" err="1">
                <a:solidFill>
                  <a:schemeClr val="tx1"/>
                </a:solidFill>
                <a:latin typeface="+mn-lt"/>
                <a:ea typeface="+mn-ea"/>
                <a:cs typeface="+mn-cs"/>
              </a:rPr>
              <a:t>lihood</a:t>
            </a:r>
            <a:r>
              <a:rPr lang="en-GB" sz="1200" b="0" i="0" u="none" strike="noStrike" kern="1200" baseline="0" dirty="0">
                <a:solidFill>
                  <a:schemeClr val="tx1"/>
                </a:solidFill>
                <a:latin typeface="+mn-lt"/>
                <a:ea typeface="+mn-ea"/>
                <a:cs typeface="+mn-cs"/>
              </a:rPr>
              <a:t> estimator under a set of assumptions, let’s endow our classification</a:t>
            </a:r>
          </a:p>
          <a:p>
            <a:r>
              <a:rPr lang="en-GB" sz="1200" b="0" i="0" u="none" strike="noStrike" kern="1200" baseline="0" dirty="0">
                <a:solidFill>
                  <a:schemeClr val="tx1"/>
                </a:solidFill>
                <a:latin typeface="+mn-lt"/>
                <a:ea typeface="+mn-ea"/>
                <a:cs typeface="+mn-cs"/>
              </a:rPr>
              <a:t>model with a set of probabilistic assumptions, and then fit the parameters</a:t>
            </a:r>
          </a:p>
          <a:p>
            <a:r>
              <a:rPr lang="en-GB" sz="1200" b="0" i="0" u="none" strike="noStrike" kern="1200" baseline="0" dirty="0">
                <a:solidFill>
                  <a:schemeClr val="tx1"/>
                </a:solidFill>
                <a:latin typeface="+mn-lt"/>
                <a:ea typeface="+mn-ea"/>
                <a:cs typeface="+mn-cs"/>
              </a:rPr>
              <a:t>via maximum likelihood.</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Assuming that the n training examples were generated independently, we</a:t>
            </a:r>
          </a:p>
          <a:p>
            <a:r>
              <a:rPr lang="en-GB" sz="1200" b="0" i="0" u="none" strike="noStrike" kern="1200" baseline="0" dirty="0">
                <a:solidFill>
                  <a:schemeClr val="tx1"/>
                </a:solidFill>
                <a:latin typeface="+mn-lt"/>
                <a:ea typeface="+mn-ea"/>
                <a:cs typeface="+mn-cs"/>
              </a:rPr>
              <a:t>can then write down the likelihood of the parameters as L(</a:t>
            </a:r>
            <a:r>
              <a:rPr lang="en-GB" sz="1200" b="0" i="0" u="none" strike="noStrike" kern="1200" baseline="0" dirty="0" err="1">
                <a:solidFill>
                  <a:schemeClr val="tx1"/>
                </a:solidFill>
                <a:latin typeface="+mn-lt"/>
                <a:ea typeface="+mn-ea"/>
                <a:cs typeface="+mn-cs"/>
              </a:rPr>
              <a:t>sita</a:t>
            </a:r>
            <a:r>
              <a:rPr lang="en-GB" sz="1200" b="0" i="0" u="none" strike="noStrike" kern="1200" baseline="0" dirty="0">
                <a:solidFill>
                  <a:schemeClr val="tx1"/>
                </a:solidFill>
                <a:latin typeface="+mn-lt"/>
                <a:ea typeface="+mn-ea"/>
                <a:cs typeface="+mn-cs"/>
              </a:rPr>
              <a:t>)</a:t>
            </a:r>
          </a:p>
          <a:p>
            <a:endParaRPr lang="en-GB" sz="1200" b="0" i="0" u="none" strike="noStrike" kern="1200" baseline="0" dirty="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491D9B5E-31D9-46E7-8C21-794CBB760F51}" type="slidenum">
              <a:rPr lang="en-GB" smtClean="0"/>
              <a:t>41</a:t>
            </a:fld>
            <a:endParaRPr lang="en-GB"/>
          </a:p>
        </p:txBody>
      </p:sp>
    </p:spTree>
    <p:extLst>
      <p:ext uri="{BB962C8B-B14F-4D97-AF65-F5344CB8AC3E}">
        <p14:creationId xmlns:p14="http://schemas.microsoft.com/office/powerpoint/2010/main" val="4075878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If we compare this to the LMS update rule, we see that it looks identical; but</a:t>
            </a:r>
          </a:p>
          <a:p>
            <a:r>
              <a:rPr lang="en-GB" sz="1200" b="0" i="0" u="none" strike="noStrike" kern="1200" baseline="0" dirty="0">
                <a:solidFill>
                  <a:schemeClr val="tx1"/>
                </a:solidFill>
                <a:latin typeface="+mn-lt"/>
                <a:ea typeface="+mn-ea"/>
                <a:cs typeface="+mn-cs"/>
              </a:rPr>
              <a:t>this is not the same algorithm, because h(x(</a:t>
            </a:r>
            <a:r>
              <a:rPr lang="en-GB" sz="1200" b="0" i="0" u="none" strike="noStrike" kern="1200" baseline="0" dirty="0" err="1">
                <a:solidFill>
                  <a:schemeClr val="tx1"/>
                </a:solidFill>
                <a:latin typeface="+mn-lt"/>
                <a:ea typeface="+mn-ea"/>
                <a:cs typeface="+mn-cs"/>
              </a:rPr>
              <a:t>i</a:t>
            </a:r>
            <a:r>
              <a:rPr lang="en-GB" sz="1200" b="0" i="0" u="none" strike="noStrike" kern="1200" baseline="0" dirty="0">
                <a:solidFill>
                  <a:schemeClr val="tx1"/>
                </a:solidFill>
                <a:latin typeface="+mn-lt"/>
                <a:ea typeface="+mn-ea"/>
                <a:cs typeface="+mn-cs"/>
              </a:rPr>
              <a:t>)) is now defined as a non-linear</a:t>
            </a:r>
          </a:p>
          <a:p>
            <a:r>
              <a:rPr lang="en-GB" sz="1200" b="0" i="0" u="none" strike="noStrike" kern="1200" baseline="0" dirty="0">
                <a:solidFill>
                  <a:schemeClr val="tx1"/>
                </a:solidFill>
                <a:latin typeface="+mn-lt"/>
                <a:ea typeface="+mn-ea"/>
                <a:cs typeface="+mn-cs"/>
              </a:rPr>
              <a:t>function of </a:t>
            </a:r>
            <a:r>
              <a:rPr lang="en-GB" sz="1200" b="0" i="0" u="none" strike="noStrike" kern="1200" baseline="0" dirty="0" err="1">
                <a:solidFill>
                  <a:schemeClr val="tx1"/>
                </a:solidFill>
                <a:latin typeface="+mn-lt"/>
                <a:ea typeface="+mn-ea"/>
                <a:cs typeface="+mn-cs"/>
              </a:rPr>
              <a:t>θT</a:t>
            </a:r>
            <a:r>
              <a:rPr lang="en-GB" sz="1200" b="0" i="0" u="none" strike="noStrike" kern="1200" baseline="0" dirty="0">
                <a:solidFill>
                  <a:schemeClr val="tx1"/>
                </a:solidFill>
                <a:latin typeface="+mn-lt"/>
                <a:ea typeface="+mn-ea"/>
                <a:cs typeface="+mn-cs"/>
              </a:rPr>
              <a:t> x(</a:t>
            </a:r>
            <a:r>
              <a:rPr lang="en-GB" sz="1200" b="0" i="0" u="none" strike="noStrike" kern="1200" baseline="0" dirty="0" err="1">
                <a:solidFill>
                  <a:schemeClr val="tx1"/>
                </a:solidFill>
                <a:latin typeface="+mn-lt"/>
                <a:ea typeface="+mn-ea"/>
                <a:cs typeface="+mn-cs"/>
              </a:rPr>
              <a:t>i</a:t>
            </a:r>
            <a:r>
              <a:rPr lang="en-GB" sz="1200" b="0" i="0" u="none" strike="noStrike" kern="1200" baseline="0" dirty="0">
                <a:solidFill>
                  <a:schemeClr val="tx1"/>
                </a:solidFill>
                <a:latin typeface="+mn-lt"/>
                <a:ea typeface="+mn-ea"/>
                <a:cs typeface="+mn-cs"/>
              </a:rPr>
              <a:t>). Nonetheless, it’s a little surprising that we end up with</a:t>
            </a:r>
          </a:p>
          <a:p>
            <a:r>
              <a:rPr lang="en-GB" sz="1200" b="0" i="0" u="none" strike="noStrike" kern="1200" baseline="0" dirty="0">
                <a:solidFill>
                  <a:schemeClr val="tx1"/>
                </a:solidFill>
                <a:latin typeface="+mn-lt"/>
                <a:ea typeface="+mn-ea"/>
                <a:cs typeface="+mn-cs"/>
              </a:rPr>
              <a:t>the same update rule for a rather different algorithm and learning problem.</a:t>
            </a:r>
            <a:endParaRPr lang="en-GB" dirty="0"/>
          </a:p>
        </p:txBody>
      </p:sp>
      <p:sp>
        <p:nvSpPr>
          <p:cNvPr id="4" name="Slide Number Placeholder 3"/>
          <p:cNvSpPr>
            <a:spLocks noGrp="1"/>
          </p:cNvSpPr>
          <p:nvPr>
            <p:ph type="sldNum" sz="quarter" idx="10"/>
          </p:nvPr>
        </p:nvSpPr>
        <p:spPr/>
        <p:txBody>
          <a:bodyPr/>
          <a:lstStyle/>
          <a:p>
            <a:fld id="{491D9B5E-31D9-46E7-8C21-794CBB760F51}" type="slidenum">
              <a:rPr lang="en-GB" smtClean="0"/>
              <a:t>42</a:t>
            </a:fld>
            <a:endParaRPr lang="en-GB"/>
          </a:p>
        </p:txBody>
      </p:sp>
    </p:spTree>
    <p:extLst>
      <p:ext uri="{BB962C8B-B14F-4D97-AF65-F5344CB8AC3E}">
        <p14:creationId xmlns:p14="http://schemas.microsoft.com/office/powerpoint/2010/main" val="39973918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4"/>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18288"/>
            <a:ext cx="2895600" cy="329184"/>
          </a:xfrm>
          <a:prstGeom prst="rect">
            <a:avLst/>
          </a:prstGeom>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a:xfrm>
            <a:off x="3429000" y="18288"/>
            <a:ext cx="4114800" cy="329184"/>
          </a:xfrm>
          <a:prstGeom prst="rect">
            <a:avLst/>
          </a:prstGeom>
        </p:spPr>
        <p:txBody>
          <a:bodyPr/>
          <a:lstStyle/>
          <a:p>
            <a:endParaRPr lang="en-US"/>
          </a:p>
        </p:txBody>
      </p:sp>
      <p:sp>
        <p:nvSpPr>
          <p:cNvPr id="4" name="Slide Number Placeholder 3"/>
          <p:cNvSpPr>
            <a:spLocks noGrp="1"/>
          </p:cNvSpPr>
          <p:nvPr>
            <p:ph type="sldNum" sz="quarter" idx="12"/>
          </p:nvPr>
        </p:nvSpPr>
        <p:spPr>
          <a:xfrm>
            <a:off x="7620000" y="18288"/>
            <a:ext cx="1066800" cy="329184"/>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8"/>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ml-class.or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130.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0.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4.xml"/><Relationship Id="rId7" Type="http://schemas.openxmlformats.org/officeDocument/2006/relationships/image" Target="../media/image2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slideLayout" Target="../slideLayouts/slideLayout2.xml"/><Relationship Id="rId4" Type="http://schemas.openxmlformats.org/officeDocument/2006/relationships/tags" Target="../tags/tag5.xml"/><Relationship Id="rId9"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8.xml"/><Relationship Id="rId7" Type="http://schemas.openxmlformats.org/officeDocument/2006/relationships/image" Target="../media/image28.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slideLayout" Target="../slideLayouts/slideLayout2.xml"/><Relationship Id="rId10" Type="http://schemas.openxmlformats.org/officeDocument/2006/relationships/image" Target="../media/image31.png"/><Relationship Id="rId4" Type="http://schemas.openxmlformats.org/officeDocument/2006/relationships/tags" Target="../tags/tag9.xml"/><Relationship Id="rId9"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2.xml"/><Relationship Id="rId7" Type="http://schemas.openxmlformats.org/officeDocument/2006/relationships/image" Target="../media/image34.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33.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13.xml"/><Relationship Id="rId9"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6.xml"/><Relationship Id="rId7" Type="http://schemas.openxmlformats.org/officeDocument/2006/relationships/image" Target="../media/image36.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5.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17.xml"/><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0.xml"/><Relationship Id="rId7" Type="http://schemas.openxmlformats.org/officeDocument/2006/relationships/image" Target="../media/image38.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7.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21.xml"/><Relationship Id="rId9" Type="http://schemas.openxmlformats.org/officeDocument/2006/relationships/image" Target="../media/image30.png"/></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4.xml"/><Relationship Id="rId7" Type="http://schemas.openxmlformats.org/officeDocument/2006/relationships/image" Target="../media/image40.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39.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25.xml"/><Relationship Id="rId9" Type="http://schemas.openxmlformats.org/officeDocument/2006/relationships/image" Target="../media/image30.png"/></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28.xml"/><Relationship Id="rId7" Type="http://schemas.openxmlformats.org/officeDocument/2006/relationships/image" Target="../media/image42.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41.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29.xml"/><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32.xml"/><Relationship Id="rId7" Type="http://schemas.openxmlformats.org/officeDocument/2006/relationships/image" Target="../media/image44.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43.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33.xml"/><Relationship Id="rId9" Type="http://schemas.openxmlformats.org/officeDocument/2006/relationships/image" Target="../media/image30.png"/></Relationships>
</file>

<file path=ppt/slides/_rels/slide2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36.xml"/><Relationship Id="rId7" Type="http://schemas.openxmlformats.org/officeDocument/2006/relationships/image" Target="../media/image4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45.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37.xml"/><Relationship Id="rId9" Type="http://schemas.openxmlformats.org/officeDocument/2006/relationships/image" Target="../media/image30.png"/></Relationships>
</file>

<file path=ppt/slides/_rels/slide2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40.xml"/><Relationship Id="rId7" Type="http://schemas.openxmlformats.org/officeDocument/2006/relationships/image" Target="../media/image48.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47.png"/><Relationship Id="rId11" Type="http://schemas.openxmlformats.org/officeDocument/2006/relationships/image" Target="../media/image32.png"/><Relationship Id="rId5" Type="http://schemas.openxmlformats.org/officeDocument/2006/relationships/slideLayout" Target="../slideLayouts/slideLayout5.xml"/><Relationship Id="rId10" Type="http://schemas.openxmlformats.org/officeDocument/2006/relationships/image" Target="../media/image31.png"/><Relationship Id="rId4" Type="http://schemas.openxmlformats.org/officeDocument/2006/relationships/tags" Target="../tags/tag41.xml"/><Relationship Id="rId9"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image" Target="../media/image52.png"/><Relationship Id="rId3" Type="http://schemas.openxmlformats.org/officeDocument/2006/relationships/tags" Target="../tags/tag44.xml"/><Relationship Id="rId7" Type="http://schemas.openxmlformats.org/officeDocument/2006/relationships/tags" Target="../tags/tag48.xml"/><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tags" Target="../tags/tag43.xml"/><Relationship Id="rId16" Type="http://schemas.openxmlformats.org/officeDocument/2006/relationships/image" Target="../media/image55.pn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image" Target="../media/image50.png"/><Relationship Id="rId5" Type="http://schemas.openxmlformats.org/officeDocument/2006/relationships/tags" Target="../tags/tag46.xml"/><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tags" Target="../tags/tag45.xml"/><Relationship Id="rId9" Type="http://schemas.openxmlformats.org/officeDocument/2006/relationships/slideLayout" Target="../slideLayouts/slideLayout2.xml"/><Relationship Id="rId14" Type="http://schemas.openxmlformats.org/officeDocument/2006/relationships/image" Target="../media/image53.png"/></Relationships>
</file>

<file path=ppt/slides/_rels/slide3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tags" Target="../tags/tag52.xml"/><Relationship Id="rId7" Type="http://schemas.openxmlformats.org/officeDocument/2006/relationships/image" Target="../media/image57.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Layout" Target="../slideLayouts/slideLayout5.xml"/><Relationship Id="rId11" Type="http://schemas.openxmlformats.org/officeDocument/2006/relationships/image" Target="../media/image61.png"/><Relationship Id="rId5" Type="http://schemas.openxmlformats.org/officeDocument/2006/relationships/tags" Target="../tags/tag54.xml"/><Relationship Id="rId10" Type="http://schemas.openxmlformats.org/officeDocument/2006/relationships/image" Target="../media/image60.png"/><Relationship Id="rId4" Type="http://schemas.openxmlformats.org/officeDocument/2006/relationships/tags" Target="../tags/tag53.xml"/><Relationship Id="rId9" Type="http://schemas.openxmlformats.org/officeDocument/2006/relationships/image" Target="../media/image59.png"/></Relationships>
</file>

<file path=ppt/slides/_rels/slide33.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image" Target="../media/image63.png"/><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tags" Target="../tags/tag56.xml"/><Relationship Id="rId16" Type="http://schemas.openxmlformats.org/officeDocument/2006/relationships/image" Target="../media/image66.png"/><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58.png"/><Relationship Id="rId5" Type="http://schemas.openxmlformats.org/officeDocument/2006/relationships/tags" Target="../tags/tag59.xml"/><Relationship Id="rId15" Type="http://schemas.openxmlformats.org/officeDocument/2006/relationships/image" Target="../media/image65.png"/><Relationship Id="rId10" Type="http://schemas.openxmlformats.org/officeDocument/2006/relationships/image" Target="../media/image57.png"/><Relationship Id="rId4" Type="http://schemas.openxmlformats.org/officeDocument/2006/relationships/tags" Target="../tags/tag58.xml"/><Relationship Id="rId9" Type="http://schemas.openxmlformats.org/officeDocument/2006/relationships/slideLayout" Target="../slideLayouts/slideLayout5.xml"/><Relationship Id="rId14" Type="http://schemas.openxmlformats.org/officeDocument/2006/relationships/image" Target="../media/image64.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69.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tags" Target="../tags/tag67.xml"/><Relationship Id="rId7" Type="http://schemas.openxmlformats.org/officeDocument/2006/relationships/slideLayout" Target="../slideLayouts/slideLayout5.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10" Type="http://schemas.openxmlformats.org/officeDocument/2006/relationships/image" Target="../media/image71.png"/><Relationship Id="rId4" Type="http://schemas.openxmlformats.org/officeDocument/2006/relationships/tags" Target="../tags/tag68.xml"/><Relationship Id="rId9"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3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0.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77.png"/><Relationship Id="rId7" Type="http://schemas.openxmlformats.org/officeDocument/2006/relationships/image" Target="../media/image81.png"/><Relationship Id="rId12" Type="http://schemas.openxmlformats.org/officeDocument/2006/relationships/image" Target="../media/image8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s>
</file>

<file path=ppt/slides/_rels/slide41.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75.png"/><Relationship Id="rId7" Type="http://schemas.openxmlformats.org/officeDocument/2006/relationships/image" Target="../media/image9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76.png"/></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590800" y="3276600"/>
            <a:ext cx="8991600" cy="609600"/>
          </a:xfrm>
        </p:spPr>
        <p:txBody>
          <a:bodyPr/>
          <a:lstStyle/>
          <a:p>
            <a:r>
              <a:rPr lang="en-GB" dirty="0">
                <a:solidFill>
                  <a:srgbClr val="FF0000"/>
                </a:solidFill>
              </a:rPr>
              <a:t>Regression Problem</a:t>
            </a:r>
            <a:br>
              <a:rPr lang="en-GB" dirty="0"/>
            </a:br>
            <a:br>
              <a:rPr lang="en-GB" dirty="0"/>
            </a:br>
            <a:endParaRPr lang="en-GB" sz="2000" dirty="0"/>
          </a:p>
        </p:txBody>
      </p:sp>
      <p:pic>
        <p:nvPicPr>
          <p:cNvPr id="1026" name="Picture 2" descr="Robot Artificial Intelligence World Connection Gear Vector Illustration  Royalty Free Cliparts, Vectors, And Stock Illustration. Image 1089018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0" y="228600"/>
            <a:ext cx="7086600" cy="461665"/>
          </a:xfrm>
          <a:prstGeom prst="rect">
            <a:avLst/>
          </a:prstGeom>
        </p:spPr>
        <p:txBody>
          <a:bodyPr wrap="square">
            <a:spAutoFit/>
          </a:bodyPr>
          <a:lstStyle/>
          <a:p>
            <a:r>
              <a:rPr lang="en-GB" sz="2400" dirty="0">
                <a:solidFill>
                  <a:srgbClr val="0070C0"/>
                </a:solidFill>
              </a:rPr>
              <a:t>Module 6CM521: </a:t>
            </a:r>
            <a:r>
              <a:rPr lang="en-US" sz="2400" dirty="0">
                <a:solidFill>
                  <a:srgbClr val="0070C0"/>
                </a:solidFill>
              </a:rPr>
              <a:t>Frontiers in AI and Data Science </a:t>
            </a:r>
            <a:endParaRPr lang="en-GB" sz="2400" dirty="0"/>
          </a:p>
        </p:txBody>
      </p:sp>
      <p:sp>
        <p:nvSpPr>
          <p:cNvPr id="2" name="TextBox 1">
            <a:extLst>
              <a:ext uri="{FF2B5EF4-FFF2-40B4-BE49-F238E27FC236}">
                <a16:creationId xmlns:a16="http://schemas.microsoft.com/office/drawing/2014/main" id="{6B246FF1-9020-F3E7-8FC5-A95BBE191469}"/>
              </a:ext>
            </a:extLst>
          </p:cNvPr>
          <p:cNvSpPr txBox="1"/>
          <p:nvPr/>
        </p:nvSpPr>
        <p:spPr>
          <a:xfrm>
            <a:off x="6477000" y="6144089"/>
            <a:ext cx="3048000" cy="584775"/>
          </a:xfrm>
          <a:prstGeom prst="rect">
            <a:avLst/>
          </a:prstGeom>
          <a:noFill/>
        </p:spPr>
        <p:txBody>
          <a:bodyPr wrap="square" rtlCol="0">
            <a:spAutoFit/>
          </a:bodyPr>
          <a:lstStyle/>
          <a:p>
            <a:r>
              <a:rPr lang="en-GB" sz="1600" dirty="0">
                <a:solidFill>
                  <a:schemeClr val="tx1">
                    <a:lumMod val="85000"/>
                    <a:lumOff val="15000"/>
                  </a:schemeClr>
                </a:solidFill>
              </a:rPr>
              <a:t>Slides acknowledgements:</a:t>
            </a:r>
          </a:p>
          <a:p>
            <a:r>
              <a:rPr lang="en-GB" sz="1600" dirty="0">
                <a:solidFill>
                  <a:schemeClr val="tx1">
                    <a:lumMod val="85000"/>
                    <a:lumOff val="15000"/>
                  </a:schemeClr>
                </a:solidFill>
              </a:rPr>
              <a:t>Dr Aaisha Makkar</a:t>
            </a:r>
            <a:endParaRPr lang="el-GR" sz="1600" dirty="0">
              <a:solidFill>
                <a:schemeClr val="tx1">
                  <a:lumMod val="85000"/>
                  <a:lumOff val="15000"/>
                </a:schemeClr>
              </a:solidFill>
            </a:endParaRPr>
          </a:p>
        </p:txBody>
      </p:sp>
      <p:sp>
        <p:nvSpPr>
          <p:cNvPr id="3" name="TextBox 2">
            <a:extLst>
              <a:ext uri="{FF2B5EF4-FFF2-40B4-BE49-F238E27FC236}">
                <a16:creationId xmlns:a16="http://schemas.microsoft.com/office/drawing/2014/main" id="{F506DA0F-9E79-2E9B-A996-5C8CE0755C04}"/>
              </a:ext>
            </a:extLst>
          </p:cNvPr>
          <p:cNvSpPr txBox="1"/>
          <p:nvPr/>
        </p:nvSpPr>
        <p:spPr>
          <a:xfrm>
            <a:off x="2324100" y="3838544"/>
            <a:ext cx="4495800" cy="400110"/>
          </a:xfrm>
          <a:prstGeom prst="rect">
            <a:avLst/>
          </a:prstGeom>
          <a:noFill/>
        </p:spPr>
        <p:txBody>
          <a:bodyPr wrap="square" rtlCol="0">
            <a:spAutoFit/>
          </a:bodyPr>
          <a:lstStyle/>
          <a:p>
            <a:pPr algn="ct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extLst>
      <p:ext uri="{BB962C8B-B14F-4D97-AF65-F5344CB8AC3E}">
        <p14:creationId xmlns:p14="http://schemas.microsoft.com/office/powerpoint/2010/main" val="176211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Declaration</a:t>
            </a:r>
          </a:p>
        </p:txBody>
      </p:sp>
      <p:sp>
        <p:nvSpPr>
          <p:cNvPr id="3" name="Content Placeholder 2"/>
          <p:cNvSpPr>
            <a:spLocks noGrp="1"/>
          </p:cNvSpPr>
          <p:nvPr>
            <p:ph idx="1"/>
          </p:nvPr>
        </p:nvSpPr>
        <p:spPr/>
        <p:txBody>
          <a:bodyPr/>
          <a:lstStyle/>
          <a:p>
            <a:r>
              <a:rPr lang="en-US" altLang="en-US" dirty="0"/>
              <a:t>T</a:t>
            </a:r>
            <a:r>
              <a:rPr lang="en-US" altLang="en-US" dirty="0">
                <a:latin typeface="Calibri" charset="0"/>
              </a:rPr>
              <a:t>he content of the slides are modified based on: </a:t>
            </a:r>
          </a:p>
          <a:p>
            <a:pPr lvl="1"/>
            <a:r>
              <a:rPr lang="en-US" altLang="en-US" sz="2400" dirty="0">
                <a:latin typeface="Calibri" charset="0"/>
              </a:rPr>
              <a:t>The book “Doing Data Science”</a:t>
            </a:r>
          </a:p>
          <a:p>
            <a:pPr lvl="1"/>
            <a:r>
              <a:rPr lang="en-US" altLang="en-US" sz="2400" dirty="0">
                <a:latin typeface="Calibri" charset="0"/>
              </a:rPr>
              <a:t>The Stanford ML course </a:t>
            </a:r>
            <a:r>
              <a:rPr lang="en-US" altLang="en-US" sz="2400" dirty="0">
                <a:latin typeface="Calibri" charset="0"/>
                <a:hlinkClick r:id="rId2"/>
              </a:rPr>
              <a:t>http://www.ml-class.org/</a:t>
            </a:r>
            <a:endParaRPr lang="en-US" altLang="en-US" sz="2400" dirty="0">
              <a:latin typeface="Calibri" charset="0"/>
            </a:endParaRPr>
          </a:p>
          <a:p>
            <a:pPr lvl="1"/>
            <a:r>
              <a:rPr lang="en-US" altLang="en-US" sz="2400" dirty="0">
                <a:latin typeface="Calibri" charset="0"/>
              </a:rPr>
              <a:t>Some other references</a:t>
            </a:r>
          </a:p>
          <a:p>
            <a:pPr lvl="1"/>
            <a:endParaRPr lang="en-US" altLang="en-US" sz="2400" dirty="0">
              <a:latin typeface="Calibri" charset="0"/>
            </a:endParaRPr>
          </a:p>
          <a:p>
            <a:r>
              <a:rPr lang="en-GB" sz="3200" dirty="0">
                <a:solidFill>
                  <a:srgbClr val="FF0000"/>
                </a:solidFill>
              </a:rPr>
              <a:t>Acknowledgement</a:t>
            </a:r>
          </a:p>
          <a:p>
            <a:endParaRPr lang="en-GB" sz="2800" dirty="0">
              <a:solidFill>
                <a:srgbClr val="FF0000"/>
              </a:solidFill>
            </a:endParaRPr>
          </a:p>
          <a:p>
            <a:r>
              <a:rPr lang="en-GB" sz="2400" b="0" dirty="0"/>
              <a:t>Most of the slides are adapted from the lecture slides of Dr Hong Qing Yu (Harry).</a:t>
            </a:r>
          </a:p>
          <a:p>
            <a:pPr marL="457200" lvl="1" indent="0">
              <a:buNone/>
            </a:pPr>
            <a:endParaRPr lang="en-US" altLang="en-US" sz="2400" dirty="0">
              <a:latin typeface="Calibri" charset="0"/>
            </a:endParaRPr>
          </a:p>
          <a:p>
            <a:pPr marL="457200" lvl="1" indent="0">
              <a:buNone/>
            </a:pPr>
            <a:endParaRPr lang="en-US" altLang="en-US" sz="2400" dirty="0">
              <a:latin typeface="Calibri" charset="0"/>
            </a:endParaRPr>
          </a:p>
          <a:p>
            <a:pPr marL="457200" lvl="1" indent="0">
              <a:buNone/>
            </a:pPr>
            <a:endParaRPr lang="en-US" altLang="en-US" sz="2400" dirty="0">
              <a:latin typeface="Calibri" charset="0"/>
            </a:endParaRPr>
          </a:p>
          <a:p>
            <a:endParaRPr lang="en-GB" dirty="0"/>
          </a:p>
        </p:txBody>
      </p:sp>
    </p:spTree>
    <p:extLst>
      <p:ext uri="{BB962C8B-B14F-4D97-AF65-F5344CB8AC3E}">
        <p14:creationId xmlns:p14="http://schemas.microsoft.com/office/powerpoint/2010/main" val="1899181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Outlook</a:t>
            </a:r>
          </a:p>
        </p:txBody>
      </p:sp>
      <p:sp>
        <p:nvSpPr>
          <p:cNvPr id="3" name="Content Placeholder 2"/>
          <p:cNvSpPr>
            <a:spLocks noGrp="1"/>
          </p:cNvSpPr>
          <p:nvPr>
            <p:ph idx="1"/>
          </p:nvPr>
        </p:nvSpPr>
        <p:spPr/>
        <p:txBody>
          <a:bodyPr/>
          <a:lstStyle/>
          <a:p>
            <a:pPr marL="457200" indent="-457200">
              <a:buAutoNum type="arabicPeriod"/>
            </a:pPr>
            <a:r>
              <a:rPr lang="en-GB" sz="2800" dirty="0">
                <a:solidFill>
                  <a:srgbClr val="FF0000"/>
                </a:solidFill>
              </a:rPr>
              <a:t>Linear regression</a:t>
            </a:r>
          </a:p>
          <a:p>
            <a:pPr marL="1143000" lvl="1" indent="-457200"/>
            <a:r>
              <a:rPr lang="en-GB" sz="2000" dirty="0"/>
              <a:t>Examples</a:t>
            </a:r>
          </a:p>
          <a:p>
            <a:pPr marL="1143000" lvl="1" indent="-457200"/>
            <a:r>
              <a:rPr lang="en-GB" sz="2000" dirty="0"/>
              <a:t>Math notation</a:t>
            </a:r>
          </a:p>
          <a:p>
            <a:pPr marL="1143000" lvl="1" indent="-457200"/>
            <a:r>
              <a:rPr lang="en-GB" sz="2000" dirty="0"/>
              <a:t>Least Mean Square function (LMS)</a:t>
            </a:r>
          </a:p>
          <a:p>
            <a:pPr marL="1143000" lvl="1" indent="-457200"/>
            <a:r>
              <a:rPr lang="en-GB" sz="2000" dirty="0"/>
              <a:t>Gradient Descent function</a:t>
            </a:r>
          </a:p>
          <a:p>
            <a:pPr marL="457200" indent="-457200">
              <a:buAutoNum type="arabicPeriod"/>
            </a:pPr>
            <a:r>
              <a:rPr lang="en-GB" sz="2800" dirty="0"/>
              <a:t>Logistic regression </a:t>
            </a:r>
          </a:p>
        </p:txBody>
      </p:sp>
    </p:spTree>
    <p:extLst>
      <p:ext uri="{BB962C8B-B14F-4D97-AF65-F5344CB8AC3E}">
        <p14:creationId xmlns:p14="http://schemas.microsoft.com/office/powerpoint/2010/main" val="2226169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linear regression</a:t>
            </a:r>
          </a:p>
        </p:txBody>
      </p:sp>
      <p:sp>
        <p:nvSpPr>
          <p:cNvPr id="3" name="Content Placeholder 2"/>
          <p:cNvSpPr>
            <a:spLocks noGrp="1"/>
          </p:cNvSpPr>
          <p:nvPr>
            <p:ph idx="1"/>
          </p:nvPr>
        </p:nvSpPr>
        <p:spPr/>
        <p:txBody>
          <a:bodyPr/>
          <a:lstStyle/>
          <a:p>
            <a:r>
              <a:rPr lang="en-GB" dirty="0"/>
              <a:t>Linear regression is a commonly used statistic based predictive model to exam the relationship between scalar response with one or more independent variables.</a:t>
            </a:r>
          </a:p>
          <a:p>
            <a:endParaRPr lang="en-GB" dirty="0"/>
          </a:p>
          <a:p>
            <a:r>
              <a:rPr lang="en-GB" dirty="0"/>
              <a:t>Linear regression one type of regression analysis. Others include polynomial regression, binary regression and logistic regression and many more.</a:t>
            </a:r>
          </a:p>
          <a:p>
            <a:endParaRPr lang="en-GB" dirty="0"/>
          </a:p>
          <a:p>
            <a:r>
              <a:rPr lang="en-GB" dirty="0"/>
              <a:t>However, the linear regression model is the most basic, easy to understand and implement.    </a:t>
            </a:r>
          </a:p>
        </p:txBody>
      </p:sp>
    </p:spTree>
    <p:extLst>
      <p:ext uri="{BB962C8B-B14F-4D97-AF65-F5344CB8AC3E}">
        <p14:creationId xmlns:p14="http://schemas.microsoft.com/office/powerpoint/2010/main" val="250852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example </a:t>
            </a:r>
          </a:p>
        </p:txBody>
      </p:sp>
      <p:sp>
        <p:nvSpPr>
          <p:cNvPr id="3" name="Content Placeholder 2"/>
          <p:cNvSpPr>
            <a:spLocks noGrp="1"/>
          </p:cNvSpPr>
          <p:nvPr>
            <p:ph idx="1"/>
          </p:nvPr>
        </p:nvSpPr>
        <p:spPr>
          <a:xfrm>
            <a:off x="1809892" y="1414984"/>
            <a:ext cx="7181708" cy="4761979"/>
          </a:xfrm>
        </p:spPr>
        <p:txBody>
          <a:bodyPr/>
          <a:lstStyle/>
          <a:p>
            <a:r>
              <a:rPr lang="en-GB" b="1" dirty="0"/>
              <a:t>Example 1. Overly simplistic example to start</a:t>
            </a:r>
            <a:endParaRPr lang="en-GB" dirty="0"/>
          </a:p>
          <a:p>
            <a:r>
              <a:rPr lang="en-GB" dirty="0">
                <a:solidFill>
                  <a:srgbClr val="00B0F0"/>
                </a:solidFill>
              </a:rPr>
              <a:t>Suppose you run a social networking site that charges a monthly subscription fee of $25, and that this is your only source of revenue. Each month you collect data and count your number of users and total revenue. You’ve done this daily over the course of two years, recording it all in a spreadsheet. You could express this data as a series of points.</a:t>
            </a:r>
          </a:p>
          <a:p>
            <a:endParaRPr lang="en-GB" dirty="0"/>
          </a:p>
          <a:p>
            <a:r>
              <a:rPr lang="en-GB" dirty="0"/>
              <a:t>Here are the first four data:</a:t>
            </a:r>
          </a:p>
          <a:p>
            <a:pPr marL="0" indent="0">
              <a:buNone/>
            </a:pPr>
            <a:r>
              <a:rPr lang="en-GB" dirty="0">
                <a:solidFill>
                  <a:srgbClr val="FF0000"/>
                </a:solidFill>
              </a:rPr>
              <a:t>S={(x , y)= (1,25),(10,250),(100,2500),(200,5000)}</a:t>
            </a:r>
          </a:p>
        </p:txBody>
      </p:sp>
    </p:spTree>
    <p:extLst>
      <p:ext uri="{BB962C8B-B14F-4D97-AF65-F5344CB8AC3E}">
        <p14:creationId xmlns:p14="http://schemas.microsoft.com/office/powerpoint/2010/main" val="3192951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 the data in your head</a:t>
            </a:r>
          </a:p>
        </p:txBody>
      </p:sp>
      <p:sp>
        <p:nvSpPr>
          <p:cNvPr id="3" name="Content Placeholder 2"/>
          <p:cNvSpPr>
            <a:spLocks noGrp="1"/>
          </p:cNvSpPr>
          <p:nvPr>
            <p:ph idx="1"/>
          </p:nvPr>
        </p:nvSpPr>
        <p:spPr>
          <a:xfrm>
            <a:off x="1809892" y="1414984"/>
            <a:ext cx="7257908" cy="4761979"/>
          </a:xfrm>
        </p:spPr>
        <p:txBody>
          <a:bodyPr/>
          <a:lstStyle/>
          <a:p>
            <a:r>
              <a:rPr lang="en-GB" dirty="0">
                <a:solidFill>
                  <a:srgbClr val="FF0000"/>
                </a:solidFill>
              </a:rPr>
              <a:t>S={(x , y)= (1,25),(10,250),(100,2500),(200,5000)}</a:t>
            </a:r>
          </a:p>
          <a:p>
            <a:endParaRPr lang="en-GB" dirty="0"/>
          </a:p>
          <a:p>
            <a:r>
              <a:rPr lang="en-GB" dirty="0"/>
              <a:t>Some ideas?</a:t>
            </a:r>
          </a:p>
          <a:p>
            <a:endParaRPr lang="en-GB" dirty="0"/>
          </a:p>
          <a:p>
            <a:pPr lvl="1"/>
            <a:r>
              <a:rPr lang="en-GB" sz="2400" dirty="0"/>
              <a:t>There’s a linear pattern.</a:t>
            </a:r>
          </a:p>
          <a:p>
            <a:pPr lvl="1"/>
            <a:r>
              <a:rPr lang="en-GB" sz="2400" dirty="0"/>
              <a:t>The coefficient relating </a:t>
            </a:r>
            <a:r>
              <a:rPr lang="en-GB" sz="2400" i="1" dirty="0"/>
              <a:t>x </a:t>
            </a:r>
            <a:r>
              <a:rPr lang="en-GB" sz="2400" dirty="0"/>
              <a:t>and </a:t>
            </a:r>
            <a:r>
              <a:rPr lang="en-GB" sz="2400" i="1" dirty="0"/>
              <a:t>y </a:t>
            </a:r>
            <a:r>
              <a:rPr lang="en-GB" sz="2400" dirty="0"/>
              <a:t>is 25.</a:t>
            </a:r>
          </a:p>
          <a:p>
            <a:pPr lvl="1"/>
            <a:r>
              <a:rPr lang="en-GB" sz="2400" dirty="0"/>
              <a:t>It seems deterministic.</a:t>
            </a:r>
          </a:p>
        </p:txBody>
      </p:sp>
    </p:spTree>
    <p:extLst>
      <p:ext uri="{BB962C8B-B14F-4D97-AF65-F5344CB8AC3E}">
        <p14:creationId xmlns:p14="http://schemas.microsoft.com/office/powerpoint/2010/main" val="7354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Let’s plot the data</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880154"/>
            <a:ext cx="5562600" cy="5292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676400" y="6248400"/>
            <a:ext cx="6865982" cy="369332"/>
          </a:xfrm>
          <a:prstGeom prst="rect">
            <a:avLst/>
          </a:prstGeom>
          <a:noFill/>
        </p:spPr>
        <p:txBody>
          <a:bodyPr wrap="none" rtlCol="0">
            <a:spAutoFit/>
          </a:bodyPr>
          <a:lstStyle/>
          <a:p>
            <a:r>
              <a:rPr lang="en-GB" dirty="0"/>
              <a:t>The figure adapt from book of “Doing Data Science” Chapter 3 </a:t>
            </a:r>
          </a:p>
        </p:txBody>
      </p:sp>
    </p:spTree>
    <p:extLst>
      <p:ext uri="{BB962C8B-B14F-4D97-AF65-F5344CB8AC3E}">
        <p14:creationId xmlns:p14="http://schemas.microsoft.com/office/powerpoint/2010/main" val="2442916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realistic example</a:t>
            </a:r>
          </a:p>
        </p:txBody>
      </p:sp>
      <p:sp>
        <p:nvSpPr>
          <p:cNvPr id="3" name="Content Placeholder 2"/>
          <p:cNvSpPr>
            <a:spLocks noGrp="1"/>
          </p:cNvSpPr>
          <p:nvPr>
            <p:ph idx="1"/>
          </p:nvPr>
        </p:nvSpPr>
        <p:spPr>
          <a:xfrm>
            <a:off x="1779270" y="1084432"/>
            <a:ext cx="6705458" cy="4761979"/>
          </a:xfrm>
        </p:spPr>
        <p:txBody>
          <a:bodyPr/>
          <a:lstStyle/>
          <a:p>
            <a:r>
              <a:rPr lang="en-GB" dirty="0"/>
              <a:t>Example 2: housing prices</a:t>
            </a:r>
          </a:p>
        </p:txBody>
      </p:sp>
      <p:graphicFrame>
        <p:nvGraphicFramePr>
          <p:cNvPr id="4" name="Chart 3"/>
          <p:cNvGraphicFramePr>
            <a:graphicFrameLocks/>
          </p:cNvGraphicFramePr>
          <p:nvPr>
            <p:extLst>
              <p:ext uri="{D42A27DB-BD31-4B8C-83A1-F6EECF244321}">
                <p14:modId xmlns:p14="http://schemas.microsoft.com/office/powerpoint/2010/main" val="3951885192"/>
              </p:ext>
            </p:extLst>
          </p:nvPr>
        </p:nvGraphicFramePr>
        <p:xfrm>
          <a:off x="3749040" y="1752600"/>
          <a:ext cx="5318760"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2116183" y="1752600"/>
            <a:ext cx="1704313" cy="646331"/>
          </a:xfrm>
          <a:prstGeom prst="rect">
            <a:avLst/>
          </a:prstGeom>
          <a:noFill/>
        </p:spPr>
        <p:txBody>
          <a:bodyPr wrap="none" rtlCol="0">
            <a:spAutoFit/>
          </a:bodyPr>
          <a:lstStyle/>
          <a:p>
            <a:r>
              <a:rPr lang="en-GB" dirty="0"/>
              <a:t>Y=House price</a:t>
            </a:r>
          </a:p>
          <a:p>
            <a:r>
              <a:rPr lang="en-GB" dirty="0"/>
              <a:t>($1000)</a:t>
            </a:r>
          </a:p>
        </p:txBody>
      </p:sp>
      <p:sp>
        <p:nvSpPr>
          <p:cNvPr id="6" name="TextBox 5"/>
          <p:cNvSpPr txBox="1"/>
          <p:nvPr/>
        </p:nvSpPr>
        <p:spPr>
          <a:xfrm>
            <a:off x="4206240" y="5345668"/>
            <a:ext cx="2589170" cy="369332"/>
          </a:xfrm>
          <a:prstGeom prst="rect">
            <a:avLst/>
          </a:prstGeom>
          <a:noFill/>
        </p:spPr>
        <p:txBody>
          <a:bodyPr wrap="none" rtlCol="0">
            <a:spAutoFit/>
          </a:bodyPr>
          <a:lstStyle/>
          <a:p>
            <a:r>
              <a:rPr lang="en-GB" dirty="0"/>
              <a:t>X=House size (feet sq.)</a:t>
            </a:r>
          </a:p>
        </p:txBody>
      </p:sp>
      <p:sp>
        <p:nvSpPr>
          <p:cNvPr id="10" name="TextBox 9"/>
          <p:cNvSpPr txBox="1">
            <a:spLocks noChangeArrowheads="1"/>
          </p:cNvSpPr>
          <p:nvPr/>
        </p:nvSpPr>
        <p:spPr bwMode="auto">
          <a:xfrm>
            <a:off x="1600200" y="2666999"/>
            <a:ext cx="2220296"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600" u="sng" dirty="0"/>
              <a:t>Supervised Learning</a:t>
            </a:r>
          </a:p>
          <a:p>
            <a:pPr eaLnBrk="1" hangingPunct="1"/>
            <a:endParaRPr lang="en-US" altLang="en-US" sz="1600" dirty="0"/>
          </a:p>
          <a:p>
            <a:pPr eaLnBrk="1" hangingPunct="1"/>
            <a:r>
              <a:rPr lang="en-US" altLang="en-US" sz="1600" dirty="0"/>
              <a:t>Given the “right answer” for each example in the data. (given a size of a house, get a price prediction)</a:t>
            </a:r>
          </a:p>
        </p:txBody>
      </p:sp>
      <p:sp>
        <p:nvSpPr>
          <p:cNvPr id="11" name="TextBox 10"/>
          <p:cNvSpPr txBox="1">
            <a:spLocks noChangeArrowheads="1"/>
          </p:cNvSpPr>
          <p:nvPr/>
        </p:nvSpPr>
        <p:spPr bwMode="auto">
          <a:xfrm>
            <a:off x="1611086" y="5747657"/>
            <a:ext cx="3200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600" u="sng" dirty="0"/>
              <a:t>Regression Problem</a:t>
            </a:r>
          </a:p>
          <a:p>
            <a:pPr eaLnBrk="1" hangingPunct="1"/>
            <a:endParaRPr lang="en-US" altLang="en-US" sz="1600" dirty="0"/>
          </a:p>
          <a:p>
            <a:pPr eaLnBrk="1" hangingPunct="1"/>
            <a:r>
              <a:rPr lang="en-US" altLang="en-US" sz="1600" dirty="0"/>
              <a:t>Predict real-valued output</a:t>
            </a:r>
          </a:p>
        </p:txBody>
      </p:sp>
    </p:spTree>
    <p:extLst>
      <p:ext uri="{BB962C8B-B14F-4D97-AF65-F5344CB8AC3E}">
        <p14:creationId xmlns:p14="http://schemas.microsoft.com/office/powerpoint/2010/main" val="1075806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Mathematic notations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GB" dirty="0"/>
                  <a:t>Before continuing, some notations need to be introduced</a:t>
                </a:r>
              </a:p>
              <a:p>
                <a:pPr marL="0" indent="0">
                  <a:buNone/>
                </a:pPr>
                <a:r>
                  <a:rPr lang="en-GB" dirty="0"/>
                  <a:t>Hypothesis </a:t>
                </a:r>
                <a14:m>
                  <m:oMath xmlns:m="http://schemas.openxmlformats.org/officeDocument/2006/math">
                    <m:r>
                      <a:rPr lang="en-GB" sz="3600" b="0" i="1" smtClean="0">
                        <a:latin typeface="Cambria Math"/>
                      </a:rPr>
                      <m:t>h</m:t>
                    </m:r>
                    <m:r>
                      <a:rPr lang="en-GB" sz="3600" b="0" i="1" baseline="-25000" smtClean="0">
                        <a:latin typeface="Cambria Math"/>
                      </a:rPr>
                      <m:t>Ɵ</m:t>
                    </m:r>
                    <m:r>
                      <a:rPr lang="en-GB" sz="3600" b="0" i="1" smtClean="0">
                        <a:latin typeface="Cambria Math"/>
                      </a:rPr>
                      <m:t>(</m:t>
                    </m:r>
                    <m:r>
                      <a:rPr lang="en-GB" sz="3600" b="0" i="1" smtClean="0">
                        <a:latin typeface="Cambria Math"/>
                      </a:rPr>
                      <m:t>𝑥</m:t>
                    </m:r>
                    <m:r>
                      <a:rPr lang="en-GB" sz="3600" b="0" i="1" smtClean="0">
                        <a:latin typeface="Cambria Math"/>
                      </a:rPr>
                      <m:t>)</m:t>
                    </m:r>
                  </m:oMath>
                </a14:m>
                <a:r>
                  <a:rPr lang="en-GB" dirty="0"/>
                  <a:t>, where Ɵ is the parameters which can be tuned to find the best solution for the hypothesis. The </a:t>
                </a:r>
                <a14:m>
                  <m:oMath xmlns:m="http://schemas.openxmlformats.org/officeDocument/2006/math">
                    <m:r>
                      <a:rPr lang="en-GB" i="1">
                        <a:latin typeface="Cambria Math"/>
                      </a:rPr>
                      <m:t>𝑥</m:t>
                    </m:r>
                  </m:oMath>
                </a14:m>
                <a:r>
                  <a:rPr lang="en-GB" dirty="0"/>
                  <a:t> is the input variable (features) of the hypothesis. </a:t>
                </a:r>
              </a:p>
              <a:p>
                <a:pPr marL="0" indent="0">
                  <a:buNone/>
                </a:pPr>
                <a:endParaRPr lang="en-GB" dirty="0"/>
              </a:p>
              <a:p>
                <a:pPr marL="0" indent="0">
                  <a:buNone/>
                </a:pPr>
                <a:endParaRPr lang="en-GB" dirty="0"/>
              </a:p>
              <a:p>
                <a:pPr marL="0" indent="0">
                  <a:buNone/>
                </a:pPr>
                <a:endParaRPr lang="en-GB" dirty="0"/>
              </a:p>
              <a:p>
                <a:pPr marL="0" indent="0">
                  <a:buNone/>
                </a:pPr>
                <a:r>
                  <a:rPr lang="en-GB" dirty="0"/>
                  <a:t>Linear Hypothesis: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455" t="-1665" r="-1455"/>
                </a:stretch>
              </a:blipFill>
            </p:spPr>
            <p:txBody>
              <a:bodyPr/>
              <a:lstStyle/>
              <a:p>
                <a:r>
                  <a:rPr lang="en-GB">
                    <a:noFill/>
                  </a:rPr>
                  <a:t> </a:t>
                </a:r>
              </a:p>
            </p:txBody>
          </p:sp>
        </mc:Fallback>
      </mc:AlternateContent>
      <p:sp>
        <p:nvSpPr>
          <p:cNvPr id="4" name="Rounded Rectangle 3"/>
          <p:cNvSpPr/>
          <p:nvPr/>
        </p:nvSpPr>
        <p:spPr>
          <a:xfrm>
            <a:off x="4600575" y="3927475"/>
            <a:ext cx="762000" cy="781050"/>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i="1" dirty="0">
                <a:solidFill>
                  <a:schemeClr val="tx1"/>
                </a:solidFill>
              </a:rPr>
              <a:t>h</a:t>
            </a:r>
          </a:p>
        </p:txBody>
      </p:sp>
      <mc:AlternateContent xmlns:mc="http://schemas.openxmlformats.org/markup-compatibility/2006" xmlns:a14="http://schemas.microsoft.com/office/drawing/2010/main">
        <mc:Choice Requires="a14">
          <p:sp>
            <p:nvSpPr>
              <p:cNvPr id="5" name="TextBox 4"/>
              <p:cNvSpPr txBox="1">
                <a:spLocks noChangeArrowheads="1"/>
              </p:cNvSpPr>
              <p:nvPr/>
            </p:nvSpPr>
            <p:spPr bwMode="auto">
              <a:xfrm>
                <a:off x="2667000" y="3886200"/>
                <a:ext cx="1143000" cy="12003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r>
                  <a:rPr lang="en-US" altLang="en-US" dirty="0"/>
                  <a:t>Size of house</a:t>
                </a:r>
              </a:p>
              <a:p>
                <a:pPr algn="ctr" eaLnBrk="1" hangingPunct="1"/>
                <a:r>
                  <a:rPr lang="en-US" altLang="en-US" dirty="0"/>
                  <a:t>(</a:t>
                </a:r>
                <a14:m>
                  <m:oMath xmlns:m="http://schemas.openxmlformats.org/officeDocument/2006/math">
                    <m:r>
                      <a:rPr lang="en-GB" i="1">
                        <a:latin typeface="Cambria Math"/>
                      </a:rPr>
                      <m:t>𝑥</m:t>
                    </m:r>
                  </m:oMath>
                </a14:m>
                <a:r>
                  <a:rPr lang="en-US" altLang="en-US" dirty="0"/>
                  <a:t>)</a:t>
                </a:r>
              </a:p>
            </p:txBody>
          </p:sp>
        </mc:Choice>
        <mc:Fallback xmlns="">
          <p:sp>
            <p:nvSpPr>
              <p:cNvPr id="5" name="TextBox 4"/>
              <p:cNvSpPr txBox="1">
                <a:spLocks noRot="1" noChangeAspect="1" noMove="1" noResize="1" noEditPoints="1" noAdjustHandles="1" noChangeArrowheads="1" noChangeShapeType="1" noTextEdit="1"/>
              </p:cNvSpPr>
              <p:nvPr/>
            </p:nvSpPr>
            <p:spPr bwMode="auto">
              <a:xfrm>
                <a:off x="2667000" y="3886200"/>
                <a:ext cx="1143000" cy="1200329"/>
              </a:xfrm>
              <a:prstGeom prst="rect">
                <a:avLst/>
              </a:prstGeom>
              <a:blipFill rotWithShape="1">
                <a:blip r:embed="rId4"/>
                <a:stretch>
                  <a:fillRect l="-7487" t="-3571" r="-14439" b="-112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noFill/>
                  </a:rPr>
                  <a:t> </a:t>
                </a:r>
              </a:p>
            </p:txBody>
          </p:sp>
        </mc:Fallback>
      </mc:AlternateContent>
      <p:sp>
        <p:nvSpPr>
          <p:cNvPr id="6" name="TextBox 5"/>
          <p:cNvSpPr txBox="1">
            <a:spLocks noChangeArrowheads="1"/>
          </p:cNvSpPr>
          <p:nvPr/>
        </p:nvSpPr>
        <p:spPr bwMode="auto">
          <a:xfrm>
            <a:off x="6019800" y="3886200"/>
            <a:ext cx="1447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r>
              <a:rPr lang="en-US" altLang="en-US" dirty="0"/>
              <a:t>Estimate price</a:t>
            </a:r>
          </a:p>
        </p:txBody>
      </p:sp>
      <p:cxnSp>
        <p:nvCxnSpPr>
          <p:cNvPr id="7" name="Straight Arrow Connector 6"/>
          <p:cNvCxnSpPr>
            <a:endCxn id="4" idx="1"/>
          </p:cNvCxnSpPr>
          <p:nvPr/>
        </p:nvCxnSpPr>
        <p:spPr>
          <a:xfrm>
            <a:off x="3810000" y="4318000"/>
            <a:ext cx="790575"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4" idx="3"/>
          </p:cNvCxnSpPr>
          <p:nvPr/>
        </p:nvCxnSpPr>
        <p:spPr>
          <a:xfrm>
            <a:off x="5362575" y="4318000"/>
            <a:ext cx="733425"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pic>
        <p:nvPicPr>
          <p:cNvPr id="9" name="Picture 10"/>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4800600" y="5638801"/>
            <a:ext cx="2743200" cy="44150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664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Mathematic notations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00200" y="1524000"/>
                <a:ext cx="7145082" cy="4876800"/>
              </a:xfrm>
            </p:spPr>
            <p:txBody>
              <a:bodyPr/>
              <a:lstStyle/>
              <a:p>
                <a:r>
                  <a:rPr lang="en-GB" dirty="0"/>
                  <a:t>Some other notations also use simplified version</a:t>
                </a:r>
              </a:p>
              <a:p>
                <a:endParaRPr lang="en-GB" dirty="0"/>
              </a:p>
              <a:p>
                <a:pPr marL="0" indent="0">
                  <a:buNone/>
                </a:pPr>
                <a14:m>
                  <m:oMathPara xmlns:m="http://schemas.openxmlformats.org/officeDocument/2006/math">
                    <m:oMathParaPr>
                      <m:jc m:val="center"/>
                    </m:oMathParaPr>
                    <m:oMath xmlns:m="http://schemas.openxmlformats.org/officeDocument/2006/math">
                      <m:r>
                        <a:rPr lang="en-GB" b="0" i="1" smtClean="0">
                          <a:latin typeface="Cambria Math"/>
                        </a:rPr>
                        <m:t>𝑦</m:t>
                      </m:r>
                      <m:r>
                        <a:rPr lang="en-GB" b="0" i="1" smtClean="0">
                          <a:latin typeface="Cambria Math"/>
                        </a:rPr>
                        <m:t>=</m:t>
                      </m:r>
                      <m:r>
                        <m:rPr>
                          <m:sty m:val="p"/>
                        </m:rPr>
                        <a:rPr lang="el-GR" b="0" i="1" smtClean="0">
                          <a:latin typeface="Cambria Math"/>
                        </a:rPr>
                        <m:t>β</m:t>
                      </m:r>
                      <m:r>
                        <a:rPr lang="en-GB" b="0" i="1" baseline="-25000" smtClean="0">
                          <a:latin typeface="Cambria Math"/>
                        </a:rPr>
                        <m:t>0</m:t>
                      </m:r>
                      <m:r>
                        <a:rPr lang="en-GB" b="0" i="1" smtClean="0">
                          <a:latin typeface="Cambria Math"/>
                        </a:rPr>
                        <m:t>+</m:t>
                      </m:r>
                      <m:r>
                        <m:rPr>
                          <m:sty m:val="p"/>
                        </m:rPr>
                        <a:rPr lang="el-GR" b="0" i="1" smtClean="0">
                          <a:latin typeface="Cambria Math"/>
                        </a:rPr>
                        <m:t>β</m:t>
                      </m:r>
                      <m:r>
                        <a:rPr lang="en-GB" b="0" i="1" baseline="-25000" smtClean="0">
                          <a:latin typeface="Cambria Math"/>
                        </a:rPr>
                        <m:t>1</m:t>
                      </m:r>
                      <m:r>
                        <m:rPr>
                          <m:sty m:val="p"/>
                        </m:rPr>
                        <a:rPr lang="el-GR" b="0" i="1" smtClean="0">
                          <a:latin typeface="Cambria Math"/>
                        </a:rPr>
                        <m:t>χ</m:t>
                      </m:r>
                    </m:oMath>
                  </m:oMathPara>
                </a14:m>
                <a:endParaRPr lang="en-GB" dirty="0"/>
              </a:p>
              <a:p>
                <a:pPr marL="0" indent="0">
                  <a:buNone/>
                </a:pPr>
                <a:r>
                  <a:rPr lang="en-GB" dirty="0"/>
                  <a:t>Each step of the prediction output use </a:t>
                </a:r>
                <a:r>
                  <a:rPr lang="cy-GB" b="1" dirty="0"/>
                  <a:t>ŷ </a:t>
                </a:r>
                <a:r>
                  <a:rPr lang="cy-GB" dirty="0"/>
                  <a:t>instead of </a:t>
                </a:r>
                <a14:m>
                  <m:oMath xmlns:m="http://schemas.openxmlformats.org/officeDocument/2006/math">
                    <m:r>
                      <a:rPr lang="en-GB" b="1" i="1">
                        <a:latin typeface="Cambria Math"/>
                      </a:rPr>
                      <m:t>𝒉</m:t>
                    </m:r>
                    <m:r>
                      <a:rPr lang="en-GB" b="1" i="1" baseline="-25000">
                        <a:latin typeface="Cambria Math"/>
                      </a:rPr>
                      <m:t>Ɵ</m:t>
                    </m:r>
                    <m:r>
                      <a:rPr lang="en-GB" b="1" i="1">
                        <a:latin typeface="Cambria Math"/>
                      </a:rPr>
                      <m:t>(</m:t>
                    </m:r>
                    <m:r>
                      <a:rPr lang="en-GB" b="1" i="1">
                        <a:latin typeface="Cambria Math"/>
                      </a:rPr>
                      <m:t>𝒙</m:t>
                    </m:r>
                    <m:r>
                      <a:rPr lang="en-GB" b="1" i="1">
                        <a:latin typeface="Cambria Math"/>
                      </a:rPr>
                      <m:t>)</m:t>
                    </m:r>
                  </m:oMath>
                </a14:m>
                <a:r>
                  <a:rPr lang="en-GB" b="1"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00200" y="1524000"/>
                <a:ext cx="7145082" cy="4876800"/>
              </a:xfrm>
              <a:blipFill rotWithShape="1">
                <a:blip r:embed="rId2"/>
                <a:stretch>
                  <a:fillRect l="-1365" t="-1625"/>
                </a:stretch>
              </a:blipFill>
            </p:spPr>
            <p:txBody>
              <a:bodyPr/>
              <a:lstStyle/>
              <a:p>
                <a:r>
                  <a:rPr lang="en-GB">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019037507"/>
              </p:ext>
            </p:extLst>
          </p:nvPr>
        </p:nvGraphicFramePr>
        <p:xfrm>
          <a:off x="1600200" y="3955196"/>
          <a:ext cx="4267200" cy="2209801"/>
        </p:xfrm>
        <a:graphic>
          <a:graphicData uri="http://schemas.openxmlformats.org/drawingml/2006/table">
            <a:tbl>
              <a:tblPr/>
              <a:tblGrid>
                <a:gridCol w="1912620">
                  <a:extLst>
                    <a:ext uri="{9D8B030D-6E8A-4147-A177-3AD203B41FA5}">
                      <a16:colId xmlns:a16="http://schemas.microsoft.com/office/drawing/2014/main" val="20000"/>
                    </a:ext>
                  </a:extLst>
                </a:gridCol>
                <a:gridCol w="2354580">
                  <a:extLst>
                    <a:ext uri="{9D8B030D-6E8A-4147-A177-3AD203B41FA5}">
                      <a16:colId xmlns:a16="http://schemas.microsoft.com/office/drawing/2014/main" val="20001"/>
                    </a:ext>
                  </a:extLst>
                </a:gridCol>
              </a:tblGrid>
              <a:tr h="542907">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charset="0"/>
                          <a:ea typeface="ＭＳ Ｐゴシック" charset="-128"/>
                        </a:rPr>
                        <a:t>Size in feet</a:t>
                      </a:r>
                      <a:r>
                        <a:rPr kumimoji="0" lang="en-US" altLang="en-US" sz="1200" b="1" i="0" u="none" strike="noStrike" cap="none" normalizeH="0" baseline="30000" dirty="0">
                          <a:ln>
                            <a:noFill/>
                          </a:ln>
                          <a:solidFill>
                            <a:schemeClr val="tx1"/>
                          </a:solidFill>
                          <a:effectLst/>
                          <a:latin typeface="Calibri" charset="0"/>
                          <a:ea typeface="ＭＳ Ｐゴシック" charset="-128"/>
                        </a:rPr>
                        <a:t>2</a:t>
                      </a:r>
                      <a:r>
                        <a:rPr kumimoji="0" lang="en-US" altLang="en-US" sz="1200" b="1" i="0" u="none" strike="noStrike" cap="none" normalizeH="0" baseline="0" dirty="0">
                          <a:ln>
                            <a:noFill/>
                          </a:ln>
                          <a:solidFill>
                            <a:schemeClr val="tx1"/>
                          </a:solidFill>
                          <a:effectLst/>
                          <a:latin typeface="Calibri" charset="0"/>
                          <a:ea typeface="ＭＳ Ｐゴシック" charset="-128"/>
                        </a:rPr>
                        <a:t> (</a:t>
                      </a:r>
                      <a:r>
                        <a:rPr kumimoji="0" lang="en-US" altLang="en-US" sz="1200" b="0" i="0" u="none" strike="noStrike" cap="none" normalizeH="0" baseline="0" dirty="0">
                          <a:ln>
                            <a:noFill/>
                          </a:ln>
                          <a:solidFill>
                            <a:schemeClr val="tx1"/>
                          </a:solidFill>
                          <a:effectLst/>
                          <a:latin typeface="Calibri" charset="0"/>
                          <a:ea typeface="ＭＳ Ｐゴシック" charset="-128"/>
                        </a:rPr>
                        <a:t>x</a:t>
                      </a:r>
                      <a:r>
                        <a:rPr kumimoji="0" lang="en-US" altLang="en-US" sz="1200" b="1" i="0" u="none" strike="noStrike" cap="none" normalizeH="0" baseline="0" dirty="0">
                          <a:ln>
                            <a:noFill/>
                          </a:ln>
                          <a:solidFill>
                            <a:schemeClr val="tx1"/>
                          </a:solidFill>
                          <a:effectLst/>
                          <a:latin typeface="Calibri" charset="0"/>
                          <a:ea typeface="ＭＳ Ｐゴシック" charset="-128"/>
                        </a:rPr>
                        <a:t>)</a:t>
                      </a:r>
                      <a:endParaRPr kumimoji="0" lang="en-US" altLang="en-US" sz="1200" b="1" i="0" u="none" strike="noStrike" cap="none" normalizeH="0" baseline="0" dirty="0">
                        <a:ln>
                          <a:noFill/>
                        </a:ln>
                        <a:solidFill>
                          <a:srgbClr val="000000"/>
                        </a:solidFill>
                        <a:effectLst/>
                        <a:latin typeface="Calibri" charset="0"/>
                        <a:ea typeface="ＭＳ Ｐゴシック" charset="-128"/>
                      </a:endParaRP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charset="0"/>
                          <a:ea typeface="ＭＳ Ｐゴシック" charset="-128"/>
                        </a:rPr>
                        <a:t>Price ($) in 1000's (</a:t>
                      </a:r>
                      <a:r>
                        <a:rPr kumimoji="0" lang="en-US" altLang="en-US" sz="1200" b="0" i="0" u="none" strike="noStrike" cap="none" normalizeH="0" baseline="0" dirty="0">
                          <a:ln>
                            <a:noFill/>
                          </a:ln>
                          <a:solidFill>
                            <a:schemeClr val="tx1"/>
                          </a:solidFill>
                          <a:effectLst/>
                          <a:latin typeface="Calibri" charset="0"/>
                          <a:ea typeface="ＭＳ Ｐゴシック" charset="-128"/>
                        </a:rPr>
                        <a:t>y</a:t>
                      </a:r>
                      <a:r>
                        <a:rPr kumimoji="0" lang="en-US" altLang="en-US" sz="1200" b="1" i="0" u="none" strike="noStrike" cap="none" normalizeH="0" baseline="0" dirty="0">
                          <a:ln>
                            <a:noFill/>
                          </a:ln>
                          <a:solidFill>
                            <a:schemeClr val="tx1"/>
                          </a:solidFill>
                          <a:effectLst/>
                          <a:latin typeface="Calibri" charset="0"/>
                          <a:ea typeface="ＭＳ Ｐゴシック" charset="-128"/>
                        </a:rPr>
                        <a:t>)</a:t>
                      </a:r>
                      <a:endParaRPr kumimoji="0" lang="en-US" altLang="en-US" sz="1200" b="1" i="0" u="none" strike="noStrike" cap="none" normalizeH="0" baseline="0" dirty="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2104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460</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1416</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232</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1534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315</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852</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178</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56883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TextBox 4"/>
          <p:cNvSpPr txBox="1"/>
          <p:nvPr/>
        </p:nvSpPr>
        <p:spPr>
          <a:xfrm>
            <a:off x="6019800" y="4186535"/>
            <a:ext cx="3124200" cy="646331"/>
          </a:xfrm>
          <a:prstGeom prst="rect">
            <a:avLst/>
          </a:prstGeom>
          <a:noFill/>
        </p:spPr>
        <p:txBody>
          <a:bodyPr wrap="square" rtlCol="0">
            <a:spAutoFit/>
          </a:bodyPr>
          <a:lstStyle/>
          <a:p>
            <a:r>
              <a:rPr lang="en-GB" dirty="0"/>
              <a:t>We use “</a:t>
            </a:r>
            <a:r>
              <a:rPr lang="en-GB" b="1" dirty="0"/>
              <a:t>m”</a:t>
            </a:r>
            <a:r>
              <a:rPr lang="en-GB" dirty="0"/>
              <a:t> to denote the number of training examples</a:t>
            </a:r>
          </a:p>
        </p:txBody>
      </p:sp>
      <p:cxnSp>
        <p:nvCxnSpPr>
          <p:cNvPr id="7" name="Straight Arrow Connector 6"/>
          <p:cNvCxnSpPr>
            <a:stCxn id="8" idx="2"/>
            <a:endCxn id="9" idx="0"/>
          </p:cNvCxnSpPr>
          <p:nvPr/>
        </p:nvCxnSpPr>
        <p:spPr>
          <a:xfrm>
            <a:off x="1932342" y="4832866"/>
            <a:ext cx="6333" cy="1147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775889" y="4463534"/>
            <a:ext cx="312906" cy="369332"/>
          </a:xfrm>
          <a:prstGeom prst="rect">
            <a:avLst/>
          </a:prstGeom>
          <a:noFill/>
        </p:spPr>
        <p:txBody>
          <a:bodyPr wrap="none" rtlCol="0">
            <a:spAutoFit/>
          </a:bodyPr>
          <a:lstStyle/>
          <a:p>
            <a:r>
              <a:rPr lang="en-GB" dirty="0"/>
              <a:t>1</a:t>
            </a:r>
          </a:p>
        </p:txBody>
      </p:sp>
      <p:sp>
        <p:nvSpPr>
          <p:cNvPr id="9" name="TextBox 8"/>
          <p:cNvSpPr txBox="1"/>
          <p:nvPr/>
        </p:nvSpPr>
        <p:spPr>
          <a:xfrm>
            <a:off x="1743750" y="5980331"/>
            <a:ext cx="389850" cy="369332"/>
          </a:xfrm>
          <a:prstGeom prst="rect">
            <a:avLst/>
          </a:prstGeom>
          <a:noFill/>
        </p:spPr>
        <p:txBody>
          <a:bodyPr wrap="none" rtlCol="0">
            <a:spAutoFit/>
          </a:bodyPr>
          <a:lstStyle/>
          <a:p>
            <a:r>
              <a:rPr lang="en-GB" b="1" dirty="0"/>
              <a:t>m</a:t>
            </a:r>
          </a:p>
        </p:txBody>
      </p:sp>
    </p:spTree>
    <p:extLst>
      <p:ext uri="{BB962C8B-B14F-4D97-AF65-F5344CB8AC3E}">
        <p14:creationId xmlns:p14="http://schemas.microsoft.com/office/powerpoint/2010/main" val="381336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Mathematic notations</a:t>
            </a:r>
          </a:p>
        </p:txBody>
      </p:sp>
      <p:sp>
        <p:nvSpPr>
          <p:cNvPr id="3" name="Content Placeholder 2"/>
          <p:cNvSpPr>
            <a:spLocks noGrp="1"/>
          </p:cNvSpPr>
          <p:nvPr>
            <p:ph idx="1"/>
          </p:nvPr>
        </p:nvSpPr>
        <p:spPr/>
        <p:txBody>
          <a:bodyPr/>
          <a:lstStyle/>
          <a:p>
            <a:r>
              <a:rPr lang="en-GB" dirty="0"/>
              <a:t>If we have more than one variables, then the hypothesis becomes to:  </a:t>
            </a:r>
          </a:p>
        </p:txBody>
      </p:sp>
      <p:graphicFrame>
        <p:nvGraphicFramePr>
          <p:cNvPr id="4" name="Table 3"/>
          <p:cNvGraphicFramePr>
            <a:graphicFrameLocks noGrp="1"/>
          </p:cNvGraphicFramePr>
          <p:nvPr>
            <p:extLst>
              <p:ext uri="{D42A27DB-BD31-4B8C-83A1-F6EECF244321}">
                <p14:modId xmlns:p14="http://schemas.microsoft.com/office/powerpoint/2010/main" val="1938262996"/>
              </p:ext>
            </p:extLst>
          </p:nvPr>
        </p:nvGraphicFramePr>
        <p:xfrm>
          <a:off x="142093" y="2705133"/>
          <a:ext cx="4267201" cy="2209801"/>
        </p:xfrm>
        <a:graphic>
          <a:graphicData uri="http://schemas.openxmlformats.org/drawingml/2006/table">
            <a:tbl>
              <a:tblPr/>
              <a:tblGrid>
                <a:gridCol w="1320675">
                  <a:extLst>
                    <a:ext uri="{9D8B030D-6E8A-4147-A177-3AD203B41FA5}">
                      <a16:colId xmlns:a16="http://schemas.microsoft.com/office/drawing/2014/main" val="20000"/>
                    </a:ext>
                  </a:extLst>
                </a:gridCol>
                <a:gridCol w="1320675">
                  <a:extLst>
                    <a:ext uri="{9D8B030D-6E8A-4147-A177-3AD203B41FA5}">
                      <a16:colId xmlns:a16="http://schemas.microsoft.com/office/drawing/2014/main" val="20001"/>
                    </a:ext>
                  </a:extLst>
                </a:gridCol>
                <a:gridCol w="1625851">
                  <a:extLst>
                    <a:ext uri="{9D8B030D-6E8A-4147-A177-3AD203B41FA5}">
                      <a16:colId xmlns:a16="http://schemas.microsoft.com/office/drawing/2014/main" val="20002"/>
                    </a:ext>
                  </a:extLst>
                </a:gridCol>
              </a:tblGrid>
              <a:tr h="542907">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Size in feet</a:t>
                      </a:r>
                      <a:r>
                        <a:rPr kumimoji="0" lang="en-US" altLang="en-US" sz="1400" b="1" i="0" u="none" strike="noStrike" cap="none" normalizeH="0" baseline="30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 (</a:t>
                      </a:r>
                      <a:r>
                        <a:rPr kumimoji="0" lang="en-US" altLang="en-US" sz="1400" b="0" i="0" u="none" strike="noStrike" cap="none" normalizeH="0" baseline="0" dirty="0">
                          <a:ln>
                            <a:noFill/>
                          </a:ln>
                          <a:solidFill>
                            <a:srgbClr val="FF0000"/>
                          </a:solidFill>
                          <a:effectLst/>
                          <a:latin typeface="Calibri" charset="0"/>
                          <a:ea typeface="ＭＳ Ｐゴシック" charset="-128"/>
                        </a:rPr>
                        <a:t>x</a:t>
                      </a:r>
                      <a:r>
                        <a:rPr kumimoji="0" lang="en-US" altLang="en-US" sz="1400" b="0" i="0" u="none" strike="noStrike" cap="none" normalizeH="0" baseline="-25000" dirty="0">
                          <a:ln>
                            <a:noFill/>
                          </a:ln>
                          <a:solidFill>
                            <a:srgbClr val="FF0000"/>
                          </a:solidFill>
                          <a:effectLst/>
                          <a:latin typeface="Calibri" charset="0"/>
                          <a:ea typeface="ＭＳ Ｐゴシック" charset="-128"/>
                        </a:rPr>
                        <a:t>1</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 Rooms (x</a:t>
                      </a:r>
                      <a:r>
                        <a:rPr kumimoji="0" lang="en-US" altLang="en-US" sz="1400" b="1" i="0" u="none" strike="noStrike" cap="none" normalizeH="0" baseline="-25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Calibri" charset="0"/>
                          <a:ea typeface="ＭＳ Ｐゴシック" charset="-128"/>
                        </a:rPr>
                        <a:t>Price ($) in 1000's (</a:t>
                      </a:r>
                      <a:r>
                        <a:rPr kumimoji="0" lang="en-US" altLang="en-US" sz="1400" b="0" i="0" u="none" strike="noStrike" cap="none" normalizeH="0" baseline="0">
                          <a:ln>
                            <a:noFill/>
                          </a:ln>
                          <a:solidFill>
                            <a:schemeClr val="tx1"/>
                          </a:solidFill>
                          <a:effectLst/>
                          <a:latin typeface="Calibri" charset="0"/>
                          <a:ea typeface="ＭＳ Ｐゴシック" charset="-128"/>
                        </a:rPr>
                        <a:t>y</a:t>
                      </a:r>
                      <a:r>
                        <a:rPr kumimoji="0" lang="en-US" altLang="en-US" sz="1400" b="1" i="0" u="none" strike="noStrike" cap="none" normalizeH="0" baseline="0">
                          <a:ln>
                            <a:noFill/>
                          </a:ln>
                          <a:solidFill>
                            <a:schemeClr val="tx1"/>
                          </a:solidFill>
                          <a:effectLst/>
                          <a:latin typeface="Calibri" charset="0"/>
                          <a:ea typeface="ＭＳ Ｐゴシック" charset="-128"/>
                        </a:rPr>
                        <a:t>)</a:t>
                      </a:r>
                      <a:endParaRPr kumimoji="0" lang="en-US" altLang="en-US" sz="1400" b="1" i="0" u="none" strike="noStrike" cap="none" normalizeH="0" baseline="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2104</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6</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460</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1416</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4</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232</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Calibri" charset="0"/>
                          <a:ea typeface="ＭＳ Ｐゴシック" charset="-128"/>
                        </a:rPr>
                        <a:t>1534</a:t>
                      </a:r>
                      <a:endParaRPr kumimoji="0" lang="en-US" altLang="en-US" sz="14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5</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315</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74514">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Calibri" charset="0"/>
                          <a:ea typeface="ＭＳ Ｐゴシック" charset="-128"/>
                        </a:rPr>
                        <a:t>852</a:t>
                      </a:r>
                      <a:endParaRPr kumimoji="0" lang="en-US" altLang="en-US" sz="14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3</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178</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56883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6" name="Rectangle 5"/>
              <p:cNvSpPr/>
              <p:nvPr/>
            </p:nvSpPr>
            <p:spPr>
              <a:xfrm>
                <a:off x="4800600" y="2587346"/>
                <a:ext cx="4351191" cy="406586"/>
              </a:xfrm>
              <a:prstGeom prst="rect">
                <a:avLst/>
              </a:prstGeom>
            </p:spPr>
            <p:txBody>
              <a:bodyPr wrap="none">
                <a:spAutoFit/>
              </a:bodyPr>
              <a:lstStyle/>
              <a:p>
                <a14:m>
                  <m:oMath xmlns:m="http://schemas.openxmlformats.org/officeDocument/2006/math">
                    <m:r>
                      <a:rPr lang="en-GB" b="1" i="1" smtClean="0">
                        <a:latin typeface="Cambria Math"/>
                      </a:rPr>
                      <m:t>𝒉</m:t>
                    </m:r>
                    <m:r>
                      <a:rPr lang="en-GB" b="1" i="1" baseline="-25000">
                        <a:latin typeface="Cambria Math"/>
                      </a:rPr>
                      <m:t>Ɵ</m:t>
                    </m:r>
                    <m:r>
                      <a:rPr lang="en-GB" b="1" i="1">
                        <a:latin typeface="Cambria Math"/>
                      </a:rPr>
                      <m:t>(</m:t>
                    </m:r>
                    <m:r>
                      <a:rPr lang="en-GB" b="1" i="1">
                        <a:latin typeface="Cambria Math"/>
                      </a:rPr>
                      <m:t>𝒙</m:t>
                    </m:r>
                    <m:r>
                      <a:rPr lang="en-GB" b="1" i="1">
                        <a:latin typeface="Cambria Math"/>
                      </a:rPr>
                      <m:t>)</m:t>
                    </m:r>
                  </m:oMath>
                </a14:m>
                <a:r>
                  <a:rPr lang="en-GB" b="1" dirty="0"/>
                  <a:t> </a:t>
                </a:r>
                <a:r>
                  <a:rPr lang="en-GB" dirty="0"/>
                  <a:t>= </a:t>
                </a:r>
                <a14:m>
                  <m:oMath xmlns:m="http://schemas.openxmlformats.org/officeDocument/2006/math">
                    <m:r>
                      <a:rPr lang="en-GB" i="1">
                        <a:latin typeface="Cambria Math"/>
                      </a:rPr>
                      <m:t>Ɵ</m:t>
                    </m:r>
                    <m:r>
                      <a:rPr lang="en-GB" b="0" i="1" baseline="-25000" smtClean="0">
                        <a:latin typeface="Cambria Math"/>
                      </a:rPr>
                      <m:t>0</m:t>
                    </m:r>
                  </m:oMath>
                </a14:m>
                <a:r>
                  <a:rPr lang="en-GB" dirty="0"/>
                  <a:t> + </a:t>
                </a:r>
                <a14:m>
                  <m:oMath xmlns:m="http://schemas.openxmlformats.org/officeDocument/2006/math">
                    <m:r>
                      <a:rPr lang="en-GB" i="1">
                        <a:latin typeface="Cambria Math"/>
                      </a:rPr>
                      <m:t>Ɵ</m:t>
                    </m:r>
                    <m:r>
                      <a:rPr lang="en-GB" b="0" i="1" baseline="-25000" smtClean="0">
                        <a:latin typeface="Cambria Math"/>
                      </a:rPr>
                      <m:t>1</m:t>
                    </m:r>
                  </m:oMath>
                </a14:m>
                <a:r>
                  <a:rPr lang="en-GB" dirty="0"/>
                  <a:t>x</a:t>
                </a:r>
                <a14:m>
                  <m:oMath xmlns:m="http://schemas.openxmlformats.org/officeDocument/2006/math">
                    <m:r>
                      <a:rPr lang="en-GB" i="1" baseline="-25000">
                        <a:latin typeface="Cambria Math"/>
                      </a:rPr>
                      <m:t>1</m:t>
                    </m:r>
                  </m:oMath>
                </a14:m>
                <a:r>
                  <a:rPr lang="en-GB" dirty="0"/>
                  <a:t> + </a:t>
                </a:r>
                <a14:m>
                  <m:oMath xmlns:m="http://schemas.openxmlformats.org/officeDocument/2006/math">
                    <m:r>
                      <a:rPr lang="en-GB" i="1">
                        <a:latin typeface="Cambria Math"/>
                      </a:rPr>
                      <m:t>Ɵ</m:t>
                    </m:r>
                    <m:r>
                      <a:rPr lang="en-GB" b="0" i="1" baseline="-25000" smtClean="0">
                        <a:latin typeface="Cambria Math"/>
                      </a:rPr>
                      <m:t>2</m:t>
                    </m:r>
                  </m:oMath>
                </a14:m>
                <a:r>
                  <a:rPr lang="en-GB" dirty="0"/>
                  <a:t>x</a:t>
                </a:r>
                <a14:m>
                  <m:oMath xmlns:m="http://schemas.openxmlformats.org/officeDocument/2006/math">
                    <m:r>
                      <a:rPr lang="en-GB" b="0" i="1" baseline="-25000" dirty="0" smtClean="0">
                        <a:latin typeface="Cambria Math"/>
                      </a:rPr>
                      <m:t>2</m:t>
                    </m:r>
                  </m:oMath>
                </a14:m>
                <a:r>
                  <a:rPr lang="en-GB" dirty="0"/>
                  <a:t> + …= </a:t>
                </a:r>
                <a14:m>
                  <m:oMath xmlns:m="http://schemas.openxmlformats.org/officeDocument/2006/math">
                    <m:nary>
                      <m:naryPr>
                        <m:chr m:val="∑"/>
                        <m:ctrlPr>
                          <a:rPr lang="pt-BR" i="1" smtClean="0">
                            <a:latin typeface="Cambria Math" panose="02040503050406030204" pitchFamily="18" charset="0"/>
                          </a:rPr>
                        </m:ctrlPr>
                      </m:naryPr>
                      <m:sub>
                        <m:r>
                          <m:rPr>
                            <m:brk m:alnAt="23"/>
                          </m:rPr>
                          <a:rPr lang="en-GB" b="0" i="1" smtClean="0">
                            <a:latin typeface="Cambria Math"/>
                          </a:rPr>
                          <m:t>𝑗</m:t>
                        </m:r>
                        <m:r>
                          <a:rPr lang="pt-BR" i="1" smtClean="0">
                            <a:latin typeface="Cambria Math"/>
                          </a:rPr>
                          <m:t>=0</m:t>
                        </m:r>
                      </m:sub>
                      <m:sup>
                        <m:r>
                          <a:rPr lang="en-GB" b="0" i="1" smtClean="0">
                            <a:latin typeface="Cambria Math"/>
                          </a:rPr>
                          <m:t>𝑛</m:t>
                        </m:r>
                      </m:sup>
                      <m:e>
                        <m:sSup>
                          <m:sSupPr>
                            <m:ctrlPr>
                              <a:rPr lang="pt-BR" i="1" smtClean="0">
                                <a:latin typeface="Cambria Math" panose="02040503050406030204" pitchFamily="18" charset="0"/>
                              </a:rPr>
                            </m:ctrlPr>
                          </m:sSupPr>
                          <m:e>
                            <m:r>
                              <a:rPr lang="en-GB" i="1">
                                <a:latin typeface="Cambria Math"/>
                              </a:rPr>
                              <m:t>Ɵ</m:t>
                            </m:r>
                            <m:r>
                              <a:rPr lang="en-GB" b="0" i="1" baseline="-25000" smtClean="0">
                                <a:latin typeface="Cambria Math"/>
                              </a:rPr>
                              <m:t>𝑗</m:t>
                            </m:r>
                            <m:r>
                              <a:rPr lang="pt-BR" i="1" smtClean="0">
                                <a:latin typeface="Cambria Math"/>
                              </a:rPr>
                              <m:t>𝑥</m:t>
                            </m:r>
                            <m:r>
                              <a:rPr lang="en-GB" b="0" i="1" baseline="-25000" smtClean="0">
                                <a:latin typeface="Cambria Math"/>
                              </a:rPr>
                              <m:t>𝑗</m:t>
                            </m:r>
                          </m:e>
                          <m:sup>
                            <m:r>
                              <a:rPr lang="en-GB" b="0" i="1" smtClean="0">
                                <a:latin typeface="Cambria Math"/>
                              </a:rPr>
                              <m:t>1</m:t>
                            </m:r>
                          </m:sup>
                        </m:sSup>
                      </m:e>
                    </m:nary>
                  </m:oMath>
                </a14:m>
                <a:endParaRPr lang="en-GB" dirty="0"/>
              </a:p>
            </p:txBody>
          </p:sp>
        </mc:Choice>
        <mc:Fallback xmlns="">
          <p:sp>
            <p:nvSpPr>
              <p:cNvPr id="6" name="Rectangle 5"/>
              <p:cNvSpPr>
                <a:spLocks noRot="1" noChangeAspect="1" noMove="1" noResize="1" noEditPoints="1" noAdjustHandles="1" noChangeArrowheads="1" noChangeShapeType="1" noTextEdit="1"/>
              </p:cNvSpPr>
              <p:nvPr/>
            </p:nvSpPr>
            <p:spPr>
              <a:xfrm>
                <a:off x="4800600" y="2587346"/>
                <a:ext cx="4351191" cy="406586"/>
              </a:xfrm>
              <a:prstGeom prst="rect">
                <a:avLst/>
              </a:prstGeom>
              <a:blipFill rotWithShape="1">
                <a:blip r:embed="rId3"/>
                <a:stretch>
                  <a:fillRect t="-107463" b="-159701"/>
                </a:stretch>
              </a:blipFill>
            </p:spPr>
            <p:txBody>
              <a:bodyPr/>
              <a:lstStyle/>
              <a:p>
                <a:r>
                  <a:rPr lang="en-GB">
                    <a:noFill/>
                  </a:rPr>
                  <a:t> </a:t>
                </a:r>
              </a:p>
            </p:txBody>
          </p:sp>
        </mc:Fallback>
      </mc:AlternateContent>
      <p:cxnSp>
        <p:nvCxnSpPr>
          <p:cNvPr id="7" name="Straight Arrow Connector 6"/>
          <p:cNvCxnSpPr>
            <a:stCxn id="8" idx="2"/>
          </p:cNvCxnSpPr>
          <p:nvPr/>
        </p:nvCxnSpPr>
        <p:spPr>
          <a:xfrm>
            <a:off x="264792" y="3684065"/>
            <a:ext cx="6333" cy="8445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8339" y="3314733"/>
            <a:ext cx="312906" cy="369332"/>
          </a:xfrm>
          <a:prstGeom prst="rect">
            <a:avLst/>
          </a:prstGeom>
          <a:noFill/>
        </p:spPr>
        <p:txBody>
          <a:bodyPr wrap="none" rtlCol="0">
            <a:spAutoFit/>
          </a:bodyPr>
          <a:lstStyle/>
          <a:p>
            <a:r>
              <a:rPr lang="en-GB" dirty="0"/>
              <a:t>1</a:t>
            </a:r>
          </a:p>
        </p:txBody>
      </p:sp>
      <p:sp>
        <p:nvSpPr>
          <p:cNvPr id="9" name="TextBox 8"/>
          <p:cNvSpPr txBox="1"/>
          <p:nvPr/>
        </p:nvSpPr>
        <p:spPr>
          <a:xfrm>
            <a:off x="108339" y="4560952"/>
            <a:ext cx="389850" cy="369332"/>
          </a:xfrm>
          <a:prstGeom prst="rect">
            <a:avLst/>
          </a:prstGeom>
          <a:noFill/>
        </p:spPr>
        <p:txBody>
          <a:bodyPr wrap="none" rtlCol="0">
            <a:spAutoFit/>
          </a:bodyPr>
          <a:lstStyle/>
          <a:p>
            <a:r>
              <a:rPr lang="en-GB" b="1" dirty="0"/>
              <a:t>m</a:t>
            </a:r>
          </a:p>
        </p:txBody>
      </p:sp>
      <mc:AlternateContent xmlns:mc="http://schemas.openxmlformats.org/markup-compatibility/2006" xmlns:a14="http://schemas.microsoft.com/office/drawing/2010/main">
        <mc:Choice Requires="a14">
          <p:sp>
            <p:nvSpPr>
              <p:cNvPr id="10" name="Rectangle 9"/>
              <p:cNvSpPr/>
              <p:nvPr/>
            </p:nvSpPr>
            <p:spPr>
              <a:xfrm>
                <a:off x="5353204" y="1933812"/>
                <a:ext cx="2286203" cy="369332"/>
              </a:xfrm>
              <a:prstGeom prst="rect">
                <a:avLst/>
              </a:prstGeom>
            </p:spPr>
            <p:txBody>
              <a:bodyPr wrap="none">
                <a:spAutoFit/>
              </a:bodyPr>
              <a:lstStyle/>
              <a:p>
                <a:r>
                  <a:rPr lang="cy-GB" b="1" dirty="0"/>
                  <a:t>ŷ </a:t>
                </a:r>
                <a14:m>
                  <m:oMath xmlns:m="http://schemas.openxmlformats.org/officeDocument/2006/math">
                    <m:r>
                      <a:rPr lang="en-GB" i="1">
                        <a:latin typeface="Cambria Math"/>
                      </a:rPr>
                      <m:t>=</m:t>
                    </m:r>
                    <m:r>
                      <m:rPr>
                        <m:sty m:val="p"/>
                      </m:rPr>
                      <a:rPr lang="el-GR" i="1">
                        <a:latin typeface="Cambria Math"/>
                      </a:rPr>
                      <m:t>β</m:t>
                    </m:r>
                    <m:r>
                      <a:rPr lang="en-GB" i="1" baseline="-25000">
                        <a:latin typeface="Cambria Math"/>
                      </a:rPr>
                      <m:t>0</m:t>
                    </m:r>
                    <m:r>
                      <a:rPr lang="en-GB" i="1">
                        <a:latin typeface="Cambria Math"/>
                      </a:rPr>
                      <m:t>+</m:t>
                    </m:r>
                    <m:r>
                      <m:rPr>
                        <m:sty m:val="p"/>
                      </m:rPr>
                      <a:rPr lang="el-GR" i="1">
                        <a:latin typeface="Cambria Math"/>
                      </a:rPr>
                      <m:t>β</m:t>
                    </m:r>
                    <m:r>
                      <a:rPr lang="en-GB" i="1" baseline="-25000">
                        <a:latin typeface="Cambria Math"/>
                      </a:rPr>
                      <m:t>1</m:t>
                    </m:r>
                    <m:r>
                      <m:rPr>
                        <m:sty m:val="p"/>
                      </m:rPr>
                      <a:rPr lang="el-GR" i="1">
                        <a:latin typeface="Cambria Math"/>
                      </a:rPr>
                      <m:t>χ</m:t>
                    </m:r>
                    <m:r>
                      <a:rPr lang="en-GB" b="0" i="1" baseline="-25000" smtClean="0">
                        <a:latin typeface="Cambria Math"/>
                      </a:rPr>
                      <m:t>1</m:t>
                    </m:r>
                    <m:r>
                      <a:rPr lang="en-GB" b="0" i="1" smtClean="0">
                        <a:latin typeface="Cambria Math"/>
                      </a:rPr>
                      <m:t>+</m:t>
                    </m:r>
                    <m:r>
                      <m:rPr>
                        <m:sty m:val="p"/>
                      </m:rPr>
                      <a:rPr lang="el-GR" i="1">
                        <a:latin typeface="Cambria Math"/>
                      </a:rPr>
                      <m:t>β</m:t>
                    </m:r>
                    <m:r>
                      <a:rPr lang="en-GB" b="0" i="1" baseline="-25000" smtClean="0">
                        <a:latin typeface="Cambria Math"/>
                      </a:rPr>
                      <m:t>2</m:t>
                    </m:r>
                    <m:r>
                      <m:rPr>
                        <m:sty m:val="p"/>
                      </m:rPr>
                      <a:rPr lang="el-GR" i="1">
                        <a:latin typeface="Cambria Math"/>
                      </a:rPr>
                      <m:t>χ</m:t>
                    </m:r>
                    <m:r>
                      <a:rPr lang="en-GB" b="0" i="1" baseline="-25000" smtClean="0">
                        <a:latin typeface="Cambria Math"/>
                      </a:rPr>
                      <m:t>2</m:t>
                    </m:r>
                  </m:oMath>
                </a14:m>
                <a:endParaRPr lang="en-GB" baseline="-25000" dirty="0"/>
              </a:p>
            </p:txBody>
          </p:sp>
        </mc:Choice>
        <mc:Fallback xmlns="">
          <p:sp>
            <p:nvSpPr>
              <p:cNvPr id="10" name="Rectangle 9"/>
              <p:cNvSpPr>
                <a:spLocks noRot="1" noChangeAspect="1" noMove="1" noResize="1" noEditPoints="1" noAdjustHandles="1" noChangeArrowheads="1" noChangeShapeType="1" noTextEdit="1"/>
              </p:cNvSpPr>
              <p:nvPr/>
            </p:nvSpPr>
            <p:spPr>
              <a:xfrm>
                <a:off x="5353204" y="1933812"/>
                <a:ext cx="2286203" cy="369332"/>
              </a:xfrm>
              <a:prstGeom prst="rect">
                <a:avLst/>
              </a:prstGeom>
              <a:blipFill rotWithShape="1">
                <a:blip r:embed="rId4"/>
                <a:stretch>
                  <a:fillRect l="-2133" t="-8197" b="-24590"/>
                </a:stretch>
              </a:blipFill>
            </p:spPr>
            <p:txBody>
              <a:bodyPr/>
              <a:lstStyle/>
              <a:p>
                <a:r>
                  <a:rPr lang="en-GB">
                    <a:noFill/>
                  </a:rPr>
                  <a:t> </a:t>
                </a:r>
              </a:p>
            </p:txBody>
          </p:sp>
        </mc:Fallback>
      </mc:AlternateContent>
      <p:sp>
        <p:nvSpPr>
          <p:cNvPr id="12" name="Right Brace 11"/>
          <p:cNvSpPr/>
          <p:nvPr/>
        </p:nvSpPr>
        <p:spPr>
          <a:xfrm rot="16200000">
            <a:off x="1367863" y="1784899"/>
            <a:ext cx="215460" cy="1752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solidFill>
                <a:srgbClr val="FF0000"/>
              </a:solidFill>
            </a:endParaRPr>
          </a:p>
        </p:txBody>
      </p:sp>
      <p:sp>
        <p:nvSpPr>
          <p:cNvPr id="13" name="TextBox 12"/>
          <p:cNvSpPr txBox="1"/>
          <p:nvPr/>
        </p:nvSpPr>
        <p:spPr>
          <a:xfrm>
            <a:off x="421245" y="2292258"/>
            <a:ext cx="2879314" cy="369332"/>
          </a:xfrm>
          <a:prstGeom prst="rect">
            <a:avLst/>
          </a:prstGeom>
          <a:noFill/>
        </p:spPr>
        <p:txBody>
          <a:bodyPr wrap="none" rtlCol="0">
            <a:spAutoFit/>
          </a:bodyPr>
          <a:lstStyle/>
          <a:p>
            <a:r>
              <a:rPr lang="en-GB" sz="1400" dirty="0"/>
              <a:t>Using </a:t>
            </a:r>
            <a:r>
              <a:rPr lang="en-GB" b="1" dirty="0">
                <a:solidFill>
                  <a:srgbClr val="FF0000"/>
                </a:solidFill>
              </a:rPr>
              <a:t>n</a:t>
            </a:r>
            <a:r>
              <a:rPr lang="en-GB" sz="1400" dirty="0"/>
              <a:t> to denote the # variables </a:t>
            </a:r>
          </a:p>
        </p:txBody>
      </p:sp>
      <mc:AlternateContent xmlns:mc="http://schemas.openxmlformats.org/markup-compatibility/2006" xmlns:a14="http://schemas.microsoft.com/office/drawing/2010/main">
        <mc:Choice Requires="a14">
          <p:sp>
            <p:nvSpPr>
              <p:cNvPr id="14" name="Rectangle 13"/>
              <p:cNvSpPr/>
              <p:nvPr/>
            </p:nvSpPr>
            <p:spPr>
              <a:xfrm>
                <a:off x="4645109" y="3589564"/>
                <a:ext cx="4530856" cy="401648"/>
              </a:xfrm>
              <a:prstGeom prst="rect">
                <a:avLst/>
              </a:prstGeom>
            </p:spPr>
            <p:txBody>
              <a:bodyPr wrap="none">
                <a:spAutoFit/>
              </a:bodyPr>
              <a:lstStyle/>
              <a:p>
                <a14:m>
                  <m:oMath xmlns:m="http://schemas.openxmlformats.org/officeDocument/2006/math">
                    <m:r>
                      <a:rPr lang="en-GB" b="1" i="1" smtClean="0">
                        <a:latin typeface="Cambria Math"/>
                      </a:rPr>
                      <m:t>𝒉</m:t>
                    </m:r>
                    <m:r>
                      <a:rPr lang="en-GB" b="1" i="1" baseline="-25000">
                        <a:latin typeface="Cambria Math"/>
                      </a:rPr>
                      <m:t>Ɵ</m:t>
                    </m:r>
                    <m:r>
                      <a:rPr lang="en-GB" b="1" i="1">
                        <a:latin typeface="Cambria Math"/>
                      </a:rPr>
                      <m:t>(</m:t>
                    </m:r>
                    <m:r>
                      <a:rPr lang="en-GB" b="1" i="1">
                        <a:latin typeface="Cambria Math"/>
                      </a:rPr>
                      <m:t>𝒙</m:t>
                    </m:r>
                    <m:r>
                      <a:rPr lang="en-GB" b="1" i="1">
                        <a:latin typeface="Cambria Math"/>
                      </a:rPr>
                      <m:t>)</m:t>
                    </m:r>
                  </m:oMath>
                </a14:m>
                <a:r>
                  <a:rPr lang="en-GB" b="1" dirty="0"/>
                  <a:t> </a:t>
                </a:r>
                <a:r>
                  <a:rPr lang="en-GB" dirty="0"/>
                  <a:t>= </a:t>
                </a:r>
                <a14:m>
                  <m:oMath xmlns:m="http://schemas.openxmlformats.org/officeDocument/2006/math">
                    <m:r>
                      <a:rPr lang="en-GB" i="1">
                        <a:latin typeface="Cambria Math"/>
                      </a:rPr>
                      <m:t>Ɵ</m:t>
                    </m:r>
                    <m:r>
                      <a:rPr lang="en-GB" i="1" baseline="-25000">
                        <a:latin typeface="Cambria Math"/>
                      </a:rPr>
                      <m:t>0</m:t>
                    </m:r>
                  </m:oMath>
                </a14:m>
                <a:r>
                  <a:rPr lang="en-GB" dirty="0"/>
                  <a:t> + </a:t>
                </a:r>
                <a14:m>
                  <m:oMath xmlns:m="http://schemas.openxmlformats.org/officeDocument/2006/math">
                    <m:r>
                      <a:rPr lang="en-GB" i="1">
                        <a:latin typeface="Cambria Math"/>
                      </a:rPr>
                      <m:t>Ɵ</m:t>
                    </m:r>
                    <m:r>
                      <a:rPr lang="en-GB" i="1" baseline="-25000">
                        <a:latin typeface="Cambria Math"/>
                      </a:rPr>
                      <m:t>1</m:t>
                    </m:r>
                  </m:oMath>
                </a14:m>
                <a:r>
                  <a:rPr lang="en-GB" dirty="0"/>
                  <a:t>x</a:t>
                </a:r>
                <a14:m>
                  <m:oMath xmlns:m="http://schemas.openxmlformats.org/officeDocument/2006/math">
                    <m:r>
                      <a:rPr lang="en-GB" i="1" baseline="-25000">
                        <a:latin typeface="Cambria Math"/>
                      </a:rPr>
                      <m:t>1</m:t>
                    </m:r>
                    <m:r>
                      <a:rPr lang="en-GB" b="0" i="1" baseline="30000" smtClean="0">
                        <a:latin typeface="Cambria Math"/>
                      </a:rPr>
                      <m:t>𝑖</m:t>
                    </m:r>
                  </m:oMath>
                </a14:m>
                <a:r>
                  <a:rPr lang="en-GB" dirty="0"/>
                  <a:t> + </a:t>
                </a:r>
                <a14:m>
                  <m:oMath xmlns:m="http://schemas.openxmlformats.org/officeDocument/2006/math">
                    <m:r>
                      <a:rPr lang="en-GB" i="1">
                        <a:latin typeface="Cambria Math"/>
                      </a:rPr>
                      <m:t>Ɵ</m:t>
                    </m:r>
                    <m:r>
                      <a:rPr lang="en-GB" i="1" baseline="-25000">
                        <a:latin typeface="Cambria Math"/>
                      </a:rPr>
                      <m:t>2</m:t>
                    </m:r>
                  </m:oMath>
                </a14:m>
                <a:r>
                  <a:rPr lang="en-GB" dirty="0"/>
                  <a:t>x</a:t>
                </a:r>
                <a14:m>
                  <m:oMath xmlns:m="http://schemas.openxmlformats.org/officeDocument/2006/math">
                    <m:r>
                      <a:rPr lang="en-GB" i="1" baseline="-25000" dirty="0">
                        <a:latin typeface="Cambria Math"/>
                      </a:rPr>
                      <m:t>2</m:t>
                    </m:r>
                    <m:r>
                      <a:rPr lang="en-GB" b="0" i="1" baseline="30000" dirty="0" smtClean="0">
                        <a:latin typeface="Cambria Math"/>
                      </a:rPr>
                      <m:t>𝑖</m:t>
                    </m:r>
                  </m:oMath>
                </a14:m>
                <a:r>
                  <a:rPr lang="en-GB" dirty="0"/>
                  <a:t> + …= </a:t>
                </a:r>
                <a14:m>
                  <m:oMath xmlns:m="http://schemas.openxmlformats.org/officeDocument/2006/math">
                    <m:nary>
                      <m:naryPr>
                        <m:chr m:val="∑"/>
                        <m:ctrlPr>
                          <a:rPr lang="pt-BR" i="1">
                            <a:latin typeface="Cambria Math" panose="02040503050406030204" pitchFamily="18" charset="0"/>
                          </a:rPr>
                        </m:ctrlPr>
                      </m:naryPr>
                      <m:sub>
                        <m:r>
                          <m:rPr>
                            <m:brk m:alnAt="23"/>
                          </m:rPr>
                          <a:rPr lang="en-GB" i="1">
                            <a:latin typeface="Cambria Math"/>
                          </a:rPr>
                          <m:t>𝑗</m:t>
                        </m:r>
                        <m:r>
                          <a:rPr lang="pt-BR" i="1">
                            <a:latin typeface="Cambria Math"/>
                          </a:rPr>
                          <m:t>=0</m:t>
                        </m:r>
                      </m:sub>
                      <m:sup>
                        <m:r>
                          <a:rPr lang="en-GB" i="1">
                            <a:latin typeface="Cambria Math"/>
                          </a:rPr>
                          <m:t>𝑛</m:t>
                        </m:r>
                      </m:sup>
                      <m:e>
                        <m:sSup>
                          <m:sSupPr>
                            <m:ctrlPr>
                              <a:rPr lang="pt-BR" i="1">
                                <a:latin typeface="Cambria Math" panose="02040503050406030204" pitchFamily="18" charset="0"/>
                              </a:rPr>
                            </m:ctrlPr>
                          </m:sSupPr>
                          <m:e>
                            <m:r>
                              <a:rPr lang="en-GB" i="1">
                                <a:latin typeface="Cambria Math"/>
                              </a:rPr>
                              <m:t>Ɵ</m:t>
                            </m:r>
                            <m:r>
                              <a:rPr lang="en-GB" i="1" baseline="-25000">
                                <a:latin typeface="Cambria Math"/>
                              </a:rPr>
                              <m:t>𝑗</m:t>
                            </m:r>
                            <m:r>
                              <a:rPr lang="pt-BR" i="1">
                                <a:latin typeface="Cambria Math"/>
                              </a:rPr>
                              <m:t>𝑥</m:t>
                            </m:r>
                            <m:r>
                              <a:rPr lang="en-GB" i="1" baseline="-25000">
                                <a:latin typeface="Cambria Math"/>
                              </a:rPr>
                              <m:t>𝑗</m:t>
                            </m:r>
                          </m:e>
                          <m:sup>
                            <m:r>
                              <a:rPr lang="en-GB" b="0" i="1" baseline="-25000" smtClean="0">
                                <a:latin typeface="Cambria Math"/>
                              </a:rPr>
                              <m:t>𝑖</m:t>
                            </m:r>
                          </m:sup>
                        </m:sSup>
                      </m:e>
                    </m:nary>
                  </m:oMath>
                </a14:m>
                <a:endParaRPr lang="en-GB" dirty="0"/>
              </a:p>
            </p:txBody>
          </p:sp>
        </mc:Choice>
        <mc:Fallback xmlns="">
          <p:sp>
            <p:nvSpPr>
              <p:cNvPr id="14" name="Rectangle 13"/>
              <p:cNvSpPr>
                <a:spLocks noRot="1" noChangeAspect="1" noMove="1" noResize="1" noEditPoints="1" noAdjustHandles="1" noChangeArrowheads="1" noChangeShapeType="1" noTextEdit="1"/>
              </p:cNvSpPr>
              <p:nvPr/>
            </p:nvSpPr>
            <p:spPr>
              <a:xfrm>
                <a:off x="4645109" y="3589564"/>
                <a:ext cx="4530856" cy="401648"/>
              </a:xfrm>
              <a:prstGeom prst="rect">
                <a:avLst/>
              </a:prstGeom>
              <a:blipFill rotWithShape="1">
                <a:blip r:embed="rId5"/>
                <a:stretch>
                  <a:fillRect t="-109091" b="-163636"/>
                </a:stretch>
              </a:blipFill>
            </p:spPr>
            <p:txBody>
              <a:bodyPr/>
              <a:lstStyle/>
              <a:p>
                <a:r>
                  <a:rPr lang="en-GB">
                    <a:noFill/>
                  </a:rPr>
                  <a:t> </a:t>
                </a:r>
              </a:p>
            </p:txBody>
          </p:sp>
        </mc:Fallback>
      </mc:AlternateContent>
      <p:sp>
        <p:nvSpPr>
          <p:cNvPr id="15" name="TextBox 14"/>
          <p:cNvSpPr txBox="1"/>
          <p:nvPr/>
        </p:nvSpPr>
        <p:spPr>
          <a:xfrm>
            <a:off x="6405095" y="4033386"/>
            <a:ext cx="461665" cy="323165"/>
          </a:xfrm>
          <a:prstGeom prst="rect">
            <a:avLst/>
          </a:prstGeom>
          <a:noFill/>
        </p:spPr>
        <p:txBody>
          <a:bodyPr vert="eaVert" wrap="none" rtlCol="0">
            <a:spAutoFit/>
          </a:bodyPr>
          <a:lstStyle/>
          <a:p>
            <a:r>
              <a:rPr lang="en-GB" dirty="0"/>
              <a:t>…</a:t>
            </a:r>
          </a:p>
        </p:txBody>
      </p:sp>
      <mc:AlternateContent xmlns:mc="http://schemas.openxmlformats.org/markup-compatibility/2006" xmlns:a14="http://schemas.microsoft.com/office/drawing/2010/main">
        <mc:Choice Requires="a14">
          <p:sp>
            <p:nvSpPr>
              <p:cNvPr id="16" name="Rectangle 15"/>
              <p:cNvSpPr/>
              <p:nvPr/>
            </p:nvSpPr>
            <p:spPr>
              <a:xfrm>
                <a:off x="4517571" y="4528636"/>
                <a:ext cx="4625369" cy="401648"/>
              </a:xfrm>
              <a:prstGeom prst="rect">
                <a:avLst/>
              </a:prstGeom>
            </p:spPr>
            <p:txBody>
              <a:bodyPr wrap="none">
                <a:spAutoFit/>
              </a:bodyPr>
              <a:lstStyle/>
              <a:p>
                <a14:m>
                  <m:oMath xmlns:m="http://schemas.openxmlformats.org/officeDocument/2006/math">
                    <m:r>
                      <a:rPr lang="en-GB" b="1" i="1" smtClean="0">
                        <a:latin typeface="Cambria Math"/>
                      </a:rPr>
                      <m:t>𝒉</m:t>
                    </m:r>
                    <m:r>
                      <a:rPr lang="en-GB" b="1" i="1" baseline="-25000">
                        <a:latin typeface="Cambria Math"/>
                      </a:rPr>
                      <m:t>Ɵ</m:t>
                    </m:r>
                    <m:r>
                      <a:rPr lang="en-GB" b="1" i="1">
                        <a:latin typeface="Cambria Math"/>
                      </a:rPr>
                      <m:t>(</m:t>
                    </m:r>
                    <m:r>
                      <a:rPr lang="en-GB" b="1" i="1">
                        <a:latin typeface="Cambria Math"/>
                      </a:rPr>
                      <m:t>𝒙</m:t>
                    </m:r>
                    <m:r>
                      <a:rPr lang="en-GB" b="1" i="1">
                        <a:latin typeface="Cambria Math"/>
                      </a:rPr>
                      <m:t>)</m:t>
                    </m:r>
                  </m:oMath>
                </a14:m>
                <a:r>
                  <a:rPr lang="en-GB" b="1" dirty="0"/>
                  <a:t> </a:t>
                </a:r>
                <a:r>
                  <a:rPr lang="en-GB" dirty="0"/>
                  <a:t>= </a:t>
                </a:r>
                <a14:m>
                  <m:oMath xmlns:m="http://schemas.openxmlformats.org/officeDocument/2006/math">
                    <m:r>
                      <a:rPr lang="en-GB" i="1">
                        <a:latin typeface="Cambria Math"/>
                      </a:rPr>
                      <m:t>Ɵ</m:t>
                    </m:r>
                    <m:r>
                      <a:rPr lang="en-GB" i="1" baseline="-25000">
                        <a:latin typeface="Cambria Math"/>
                      </a:rPr>
                      <m:t>0</m:t>
                    </m:r>
                  </m:oMath>
                </a14:m>
                <a:r>
                  <a:rPr lang="en-GB" dirty="0"/>
                  <a:t> + </a:t>
                </a:r>
                <a14:m>
                  <m:oMath xmlns:m="http://schemas.openxmlformats.org/officeDocument/2006/math">
                    <m:r>
                      <a:rPr lang="en-GB" i="1">
                        <a:latin typeface="Cambria Math"/>
                      </a:rPr>
                      <m:t>Ɵ</m:t>
                    </m:r>
                    <m:r>
                      <a:rPr lang="en-GB" i="1" baseline="-25000">
                        <a:latin typeface="Cambria Math"/>
                      </a:rPr>
                      <m:t>1</m:t>
                    </m:r>
                  </m:oMath>
                </a14:m>
                <a:r>
                  <a:rPr lang="en-GB" dirty="0"/>
                  <a:t>x</a:t>
                </a:r>
                <a14:m>
                  <m:oMath xmlns:m="http://schemas.openxmlformats.org/officeDocument/2006/math">
                    <m:r>
                      <a:rPr lang="en-GB" i="1" baseline="-25000">
                        <a:latin typeface="Cambria Math"/>
                      </a:rPr>
                      <m:t>1</m:t>
                    </m:r>
                    <m:r>
                      <a:rPr lang="en-GB" b="0" i="1" baseline="30000" smtClean="0">
                        <a:latin typeface="Cambria Math"/>
                      </a:rPr>
                      <m:t>𝑚</m:t>
                    </m:r>
                  </m:oMath>
                </a14:m>
                <a:r>
                  <a:rPr lang="en-GB" dirty="0"/>
                  <a:t> + </a:t>
                </a:r>
                <a14:m>
                  <m:oMath xmlns:m="http://schemas.openxmlformats.org/officeDocument/2006/math">
                    <m:r>
                      <a:rPr lang="en-GB" i="1">
                        <a:latin typeface="Cambria Math"/>
                      </a:rPr>
                      <m:t>Ɵ</m:t>
                    </m:r>
                    <m:r>
                      <a:rPr lang="en-GB" i="1" baseline="-25000">
                        <a:latin typeface="Cambria Math"/>
                      </a:rPr>
                      <m:t>2</m:t>
                    </m:r>
                  </m:oMath>
                </a14:m>
                <a:r>
                  <a:rPr lang="en-GB" dirty="0"/>
                  <a:t>x</a:t>
                </a:r>
                <a14:m>
                  <m:oMath xmlns:m="http://schemas.openxmlformats.org/officeDocument/2006/math">
                    <m:r>
                      <a:rPr lang="en-GB" i="1" baseline="-25000" dirty="0">
                        <a:latin typeface="Cambria Math"/>
                      </a:rPr>
                      <m:t>2</m:t>
                    </m:r>
                    <m:r>
                      <a:rPr lang="en-GB" b="0" i="1" baseline="30000" dirty="0" smtClean="0">
                        <a:latin typeface="Cambria Math"/>
                      </a:rPr>
                      <m:t>𝑚</m:t>
                    </m:r>
                  </m:oMath>
                </a14:m>
                <a:r>
                  <a:rPr lang="en-GB" dirty="0"/>
                  <a:t> + …= </a:t>
                </a:r>
                <a14:m>
                  <m:oMath xmlns:m="http://schemas.openxmlformats.org/officeDocument/2006/math">
                    <m:nary>
                      <m:naryPr>
                        <m:chr m:val="∑"/>
                        <m:ctrlPr>
                          <a:rPr lang="pt-BR" i="1">
                            <a:latin typeface="Cambria Math" panose="02040503050406030204" pitchFamily="18" charset="0"/>
                          </a:rPr>
                        </m:ctrlPr>
                      </m:naryPr>
                      <m:sub>
                        <m:r>
                          <m:rPr>
                            <m:brk m:alnAt="23"/>
                          </m:rPr>
                          <a:rPr lang="en-GB" i="1">
                            <a:latin typeface="Cambria Math"/>
                          </a:rPr>
                          <m:t>𝑗</m:t>
                        </m:r>
                        <m:r>
                          <a:rPr lang="pt-BR" i="1">
                            <a:latin typeface="Cambria Math"/>
                          </a:rPr>
                          <m:t>=0</m:t>
                        </m:r>
                      </m:sub>
                      <m:sup>
                        <m:r>
                          <a:rPr lang="en-GB" i="1">
                            <a:latin typeface="Cambria Math"/>
                          </a:rPr>
                          <m:t>𝑛</m:t>
                        </m:r>
                      </m:sup>
                      <m:e>
                        <m:sSup>
                          <m:sSupPr>
                            <m:ctrlPr>
                              <a:rPr lang="pt-BR" i="1">
                                <a:latin typeface="Cambria Math" panose="02040503050406030204" pitchFamily="18" charset="0"/>
                              </a:rPr>
                            </m:ctrlPr>
                          </m:sSupPr>
                          <m:e>
                            <m:r>
                              <a:rPr lang="en-GB" i="1">
                                <a:latin typeface="Cambria Math"/>
                              </a:rPr>
                              <m:t>Ɵ</m:t>
                            </m:r>
                            <m:r>
                              <a:rPr lang="en-GB" i="1" baseline="-25000">
                                <a:latin typeface="Cambria Math"/>
                              </a:rPr>
                              <m:t>𝑗</m:t>
                            </m:r>
                            <m:r>
                              <a:rPr lang="pt-BR" i="1">
                                <a:latin typeface="Cambria Math"/>
                              </a:rPr>
                              <m:t>𝑥</m:t>
                            </m:r>
                            <m:r>
                              <a:rPr lang="en-GB" i="1" baseline="-25000">
                                <a:latin typeface="Cambria Math"/>
                              </a:rPr>
                              <m:t>𝑗</m:t>
                            </m:r>
                          </m:e>
                          <m:sup>
                            <m:r>
                              <a:rPr lang="en-GB" b="0" i="1" baseline="-25000" smtClean="0">
                                <a:latin typeface="Cambria Math"/>
                              </a:rPr>
                              <m:t>𝑚</m:t>
                            </m:r>
                          </m:sup>
                        </m:sSup>
                      </m:e>
                    </m:nary>
                  </m:oMath>
                </a14:m>
                <a:endParaRPr lang="en-GB" dirty="0"/>
              </a:p>
            </p:txBody>
          </p:sp>
        </mc:Choice>
        <mc:Fallback xmlns="">
          <p:sp>
            <p:nvSpPr>
              <p:cNvPr id="16" name="Rectangle 15"/>
              <p:cNvSpPr>
                <a:spLocks noRot="1" noChangeAspect="1" noMove="1" noResize="1" noEditPoints="1" noAdjustHandles="1" noChangeArrowheads="1" noChangeShapeType="1" noTextEdit="1"/>
              </p:cNvSpPr>
              <p:nvPr/>
            </p:nvSpPr>
            <p:spPr>
              <a:xfrm>
                <a:off x="4517571" y="4528636"/>
                <a:ext cx="4625369" cy="401648"/>
              </a:xfrm>
              <a:prstGeom prst="rect">
                <a:avLst/>
              </a:prstGeom>
              <a:blipFill rotWithShape="1">
                <a:blip r:embed="rId6"/>
                <a:stretch>
                  <a:fillRect t="-109091" b="-163636"/>
                </a:stretch>
              </a:blipFill>
            </p:spPr>
            <p:txBody>
              <a:bodyPr/>
              <a:lstStyle/>
              <a:p>
                <a:r>
                  <a:rPr lang="en-GB">
                    <a:noFill/>
                  </a:rPr>
                  <a:t> </a:t>
                </a:r>
              </a:p>
            </p:txBody>
          </p:sp>
        </mc:Fallback>
      </mc:AlternateContent>
      <p:sp>
        <p:nvSpPr>
          <p:cNvPr id="17" name="TextBox 16"/>
          <p:cNvSpPr txBox="1"/>
          <p:nvPr/>
        </p:nvSpPr>
        <p:spPr>
          <a:xfrm>
            <a:off x="6396335" y="3099839"/>
            <a:ext cx="461665" cy="323165"/>
          </a:xfrm>
          <a:prstGeom prst="rect">
            <a:avLst/>
          </a:prstGeom>
          <a:noFill/>
        </p:spPr>
        <p:txBody>
          <a:bodyPr vert="eaVert" wrap="none" rtlCol="0">
            <a:spAutoFit/>
          </a:bodyPr>
          <a:lstStyle/>
          <a:p>
            <a:r>
              <a:rPr lang="en-GB" dirty="0"/>
              <a:t>…</a:t>
            </a:r>
          </a:p>
        </p:txBody>
      </p:sp>
      <p:sp>
        <p:nvSpPr>
          <p:cNvPr id="18" name="TextBox 17"/>
          <p:cNvSpPr txBox="1"/>
          <p:nvPr/>
        </p:nvSpPr>
        <p:spPr>
          <a:xfrm>
            <a:off x="6324346" y="5117068"/>
            <a:ext cx="1011815" cy="369332"/>
          </a:xfrm>
          <a:prstGeom prst="rect">
            <a:avLst/>
          </a:prstGeom>
          <a:noFill/>
        </p:spPr>
        <p:txBody>
          <a:bodyPr wrap="none" rtlCol="0">
            <a:spAutoFit/>
          </a:bodyPr>
          <a:lstStyle/>
          <a:p>
            <a:r>
              <a:rPr lang="en-GB" dirty="0" err="1">
                <a:solidFill>
                  <a:srgbClr val="FF0000"/>
                </a:solidFill>
              </a:rPr>
              <a:t>i</a:t>
            </a:r>
            <a:r>
              <a:rPr lang="en-GB" dirty="0">
                <a:solidFill>
                  <a:srgbClr val="FF0000"/>
                </a:solidFill>
              </a:rPr>
              <a:t> = [1,m]</a:t>
            </a:r>
          </a:p>
        </p:txBody>
      </p:sp>
      <p:sp>
        <p:nvSpPr>
          <p:cNvPr id="19" name="Rounded Rectangle 18"/>
          <p:cNvSpPr/>
          <p:nvPr/>
        </p:nvSpPr>
        <p:spPr>
          <a:xfrm>
            <a:off x="4419600" y="2391012"/>
            <a:ext cx="4648200" cy="272605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305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4" grpId="0"/>
      <p:bldP spid="15" grpId="0"/>
      <p:bldP spid="16" grpId="0"/>
      <p:bldP spid="17" grpId="0"/>
      <p:bldP spid="18" grpId="0"/>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GB" dirty="0"/>
              <a:t>Mathematic notations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en-GB" dirty="0"/>
                  <a:t>Now we can transfer the </a:t>
                </a:r>
                <a:r>
                  <a:rPr lang="en-GB" dirty="0" err="1"/>
                  <a:t>m#’s</a:t>
                </a:r>
                <a:r>
                  <a:rPr lang="en-GB" dirty="0"/>
                  <a:t> of linear hypothesis functions into linear algebra:</a:t>
                </a:r>
              </a:p>
              <a:p>
                <a:endParaRPr lang="en-GB" dirty="0"/>
              </a:p>
              <a:p>
                <a:pPr marL="0" indent="0">
                  <a:buNone/>
                </a:pPr>
                <a14:m>
                  <m:oMath xmlns:m="http://schemas.openxmlformats.org/officeDocument/2006/math">
                    <m:d>
                      <m:dPr>
                        <m:begChr m:val="{"/>
                        <m:endChr m:val="}"/>
                        <m:ctrlPr>
                          <a:rPr lang="pt-BR" i="1" smtClean="0">
                            <a:latin typeface="Cambria Math" panose="02040503050406030204" pitchFamily="18" charset="0"/>
                          </a:rPr>
                        </m:ctrlPr>
                      </m:dPr>
                      <m:e>
                        <m:eqArr>
                          <m:eqArrPr>
                            <m:ctrlPr>
                              <a:rPr lang="en-GB" i="1">
                                <a:latin typeface="Cambria Math" panose="02040503050406030204" pitchFamily="18" charset="0"/>
                              </a:rPr>
                            </m:ctrlPr>
                          </m:eqArrPr>
                          <m:e>
                            <m:r>
                              <a:rPr lang="en-GB" i="1">
                                <a:latin typeface="Cambria Math"/>
                              </a:rPr>
                              <m:t>Ɵ</m:t>
                            </m:r>
                            <m:r>
                              <a:rPr lang="en-GB" b="0" i="1" baseline="-25000" smtClean="0">
                                <a:latin typeface="Cambria Math"/>
                              </a:rPr>
                              <m:t>0</m:t>
                            </m:r>
                          </m:e>
                          <m:e>
                            <m:r>
                              <a:rPr lang="en-GB" i="1">
                                <a:latin typeface="Cambria Math"/>
                              </a:rPr>
                              <m:t>Ɵ</m:t>
                            </m:r>
                            <m:r>
                              <a:rPr lang="en-GB" b="0" i="1" baseline="-25000" smtClean="0">
                                <a:latin typeface="Cambria Math"/>
                              </a:rPr>
                              <m:t>1</m:t>
                            </m:r>
                          </m:e>
                          <m:e>
                            <m:r>
                              <a:rPr lang="en-GB" i="1" smtClean="0">
                                <a:latin typeface="Cambria Math"/>
                              </a:rPr>
                              <m:t>Ɵ</m:t>
                            </m:r>
                            <m:r>
                              <a:rPr lang="en-GB" b="0" i="1" baseline="-25000" smtClean="0">
                                <a:latin typeface="Cambria Math"/>
                              </a:rPr>
                              <m:t>2</m:t>
                            </m:r>
                          </m:e>
                          <m:e>
                            <m:r>
                              <a:rPr lang="en-GB" b="0" i="1" baseline="-25000" smtClean="0">
                                <a:latin typeface="Cambria Math"/>
                              </a:rPr>
                              <m:t>…</m:t>
                            </m:r>
                          </m:e>
                          <m:e>
                            <m:r>
                              <a:rPr lang="en-GB" i="1">
                                <a:latin typeface="Cambria Math"/>
                              </a:rPr>
                              <m:t>Ɵ</m:t>
                            </m:r>
                            <m:r>
                              <a:rPr lang="en-GB" b="0" i="1" baseline="-25000" smtClean="0">
                                <a:latin typeface="Cambria Math"/>
                              </a:rPr>
                              <m:t>𝑗</m:t>
                            </m:r>
                          </m:e>
                          <m:e>
                            <m:r>
                              <a:rPr lang="en-GB" b="0" i="1" baseline="-25000" smtClean="0">
                                <a:latin typeface="Cambria Math"/>
                              </a:rPr>
                              <m:t>…</m:t>
                            </m:r>
                          </m:e>
                          <m:e>
                            <m:r>
                              <a:rPr lang="en-GB" b="0" i="1" baseline="-25000" smtClean="0">
                                <a:latin typeface="Cambria Math"/>
                              </a:rPr>
                              <m:t> </m:t>
                            </m:r>
                            <m:r>
                              <a:rPr lang="en-GB" i="1">
                                <a:latin typeface="Cambria Math"/>
                              </a:rPr>
                              <m:t>Ɵ</m:t>
                            </m:r>
                            <m:r>
                              <a:rPr lang="en-GB" b="0" i="1" baseline="-25000" smtClean="0">
                                <a:latin typeface="Cambria Math"/>
                              </a:rPr>
                              <m:t>𝑛</m:t>
                            </m:r>
                          </m:e>
                        </m:eqArr>
                      </m:e>
                    </m:d>
                  </m:oMath>
                </a14:m>
                <a:r>
                  <a:rPr lang="en-GB" dirty="0"/>
                  <a:t>  </a:t>
                </a:r>
                <a14:m>
                  <m:oMath xmlns:m="http://schemas.openxmlformats.org/officeDocument/2006/math">
                    <m:d>
                      <m:dPr>
                        <m:begChr m:val="{"/>
                        <m:endChr m:val="}"/>
                        <m:ctrlPr>
                          <a:rPr lang="pt-BR" i="1">
                            <a:latin typeface="Cambria Math" panose="02040503050406030204" pitchFamily="18" charset="0"/>
                          </a:rPr>
                        </m:ctrlPr>
                      </m:dPr>
                      <m:e>
                        <m:eqArr>
                          <m:eqArrPr>
                            <m:ctrlPr>
                              <a:rPr lang="en-GB" b="0" i="1" baseline="-25000" smtClean="0">
                                <a:latin typeface="Cambria Math" panose="02040503050406030204" pitchFamily="18" charset="0"/>
                              </a:rPr>
                            </m:ctrlPr>
                          </m:eqArrPr>
                          <m:e>
                            <m:eqArr>
                              <m:eqArrPr>
                                <m:ctrlPr>
                                  <a:rPr lang="en-GB" b="0" i="1" baseline="-25000" smtClean="0">
                                    <a:latin typeface="Cambria Math" panose="02040503050406030204" pitchFamily="18" charset="0"/>
                                  </a:rPr>
                                </m:ctrlPr>
                              </m:eqArrPr>
                              <m:e/>
                              <m:e>
                                <m:r>
                                  <a:rPr lang="en-GB" b="0" i="1" smtClean="0">
                                    <a:latin typeface="Cambria Math"/>
                                  </a:rPr>
                                  <m:t>1,</m:t>
                                </m:r>
                                <m:r>
                                  <a:rPr lang="en-GB" b="0" i="1" smtClean="0">
                                    <a:latin typeface="Cambria Math"/>
                                  </a:rPr>
                                  <m:t>𝑥</m:t>
                                </m:r>
                                <m:r>
                                  <a:rPr lang="en-GB" i="1" baseline="30000">
                                    <a:latin typeface="Cambria Math"/>
                                  </a:rPr>
                                  <m:t>1</m:t>
                                </m:r>
                                <m:r>
                                  <a:rPr lang="en-GB" i="1" baseline="-25000">
                                    <a:latin typeface="Cambria Math"/>
                                  </a:rPr>
                                  <m:t>1</m:t>
                                </m:r>
                                <m:r>
                                  <a:rPr lang="en-GB" b="0" i="1" smtClean="0">
                                    <a:latin typeface="Cambria Math"/>
                                  </a:rPr>
                                  <m:t>, …</m:t>
                                </m:r>
                                <m:r>
                                  <a:rPr lang="en-GB" b="0" i="1" smtClean="0">
                                    <a:latin typeface="Cambria Math"/>
                                  </a:rPr>
                                  <m:t>𝑥</m:t>
                                </m:r>
                                <m:r>
                                  <a:rPr lang="en-GB" b="0" i="1" baseline="30000" smtClean="0">
                                    <a:latin typeface="Cambria Math"/>
                                  </a:rPr>
                                  <m:t>1</m:t>
                                </m:r>
                                <m:r>
                                  <a:rPr lang="en-GB" b="0" i="1" baseline="-25000" smtClean="0">
                                    <a:latin typeface="Cambria Math"/>
                                  </a:rPr>
                                  <m:t>𝑛</m:t>
                                </m:r>
                              </m:e>
                              <m:e>
                                <m:r>
                                  <a:rPr lang="en-GB" b="0" i="1" smtClean="0">
                                    <a:latin typeface="Cambria Math"/>
                                  </a:rPr>
                                  <m:t>1,</m:t>
                                </m:r>
                                <m:r>
                                  <a:rPr lang="en-GB" b="0" i="1" smtClean="0">
                                    <a:latin typeface="Cambria Math"/>
                                  </a:rPr>
                                  <m:t>𝑥</m:t>
                                </m:r>
                                <m:r>
                                  <a:rPr lang="en-GB" i="1" baseline="30000">
                                    <a:latin typeface="Cambria Math"/>
                                  </a:rPr>
                                  <m:t>2</m:t>
                                </m:r>
                                <m:r>
                                  <a:rPr lang="en-GB" b="0" i="1" baseline="-25000" smtClean="0">
                                    <a:latin typeface="Cambria Math"/>
                                  </a:rPr>
                                  <m:t>1</m:t>
                                </m:r>
                                <m:r>
                                  <a:rPr lang="en-GB" i="1">
                                    <a:latin typeface="Cambria Math"/>
                                  </a:rPr>
                                  <m:t>, …</m:t>
                                </m:r>
                                <m:r>
                                  <a:rPr lang="en-GB" i="1">
                                    <a:latin typeface="Cambria Math"/>
                                  </a:rPr>
                                  <m:t>𝑥</m:t>
                                </m:r>
                                <m:r>
                                  <a:rPr lang="en-GB" b="0" i="1" baseline="30000" smtClean="0">
                                    <a:latin typeface="Cambria Math"/>
                                  </a:rPr>
                                  <m:t>2</m:t>
                                </m:r>
                                <m:r>
                                  <a:rPr lang="en-GB" i="1" baseline="-25000">
                                    <a:latin typeface="Cambria Math"/>
                                  </a:rPr>
                                  <m:t>𝑛</m:t>
                                </m:r>
                              </m:e>
                              <m:e>
                                <m:r>
                                  <a:rPr lang="en-GB" b="0" i="1" smtClean="0">
                                    <a:latin typeface="Cambria Math"/>
                                  </a:rPr>
                                  <m:t>1, </m:t>
                                </m:r>
                                <m:r>
                                  <a:rPr lang="en-GB" b="0" i="1" smtClean="0">
                                    <a:latin typeface="Cambria Math"/>
                                  </a:rPr>
                                  <m:t>𝑥</m:t>
                                </m:r>
                                <m:r>
                                  <a:rPr lang="en-GB" i="1" baseline="30000">
                                    <a:latin typeface="Cambria Math"/>
                                  </a:rPr>
                                  <m:t>3</m:t>
                                </m:r>
                                <m:r>
                                  <a:rPr lang="en-GB" b="0" i="1" baseline="-25000" smtClean="0">
                                    <a:latin typeface="Cambria Math"/>
                                  </a:rPr>
                                  <m:t>1</m:t>
                                </m:r>
                                <m:r>
                                  <a:rPr lang="en-GB" i="1">
                                    <a:latin typeface="Cambria Math"/>
                                  </a:rPr>
                                  <m:t>, …</m:t>
                                </m:r>
                                <m:r>
                                  <a:rPr lang="en-GB" i="1">
                                    <a:latin typeface="Cambria Math"/>
                                  </a:rPr>
                                  <m:t>𝑥</m:t>
                                </m:r>
                                <m:r>
                                  <a:rPr lang="en-GB" b="0" i="1" baseline="30000" smtClean="0">
                                    <a:latin typeface="Cambria Math"/>
                                  </a:rPr>
                                  <m:t>3</m:t>
                                </m:r>
                                <m:r>
                                  <a:rPr lang="en-GB" i="1" baseline="-25000">
                                    <a:latin typeface="Cambria Math"/>
                                  </a:rPr>
                                  <m:t>𝑛</m:t>
                                </m:r>
                              </m:e>
                              <m:e>
                                <m:r>
                                  <a:rPr lang="en-GB" i="1" baseline="-25000">
                                    <a:latin typeface="Cambria Math"/>
                                  </a:rPr>
                                  <m:t>…</m:t>
                                </m:r>
                              </m:e>
                              <m:e>
                                <m:r>
                                  <a:rPr lang="en-GB" i="1">
                                    <a:latin typeface="Cambria Math"/>
                                  </a:rPr>
                                  <m:t>1,</m:t>
                                </m:r>
                                <m:r>
                                  <a:rPr lang="en-GB" b="0" i="1" smtClean="0">
                                    <a:latin typeface="Cambria Math"/>
                                  </a:rPr>
                                  <m:t>𝑥</m:t>
                                </m:r>
                                <m:r>
                                  <a:rPr lang="en-GB" i="1" baseline="30000">
                                    <a:latin typeface="Cambria Math"/>
                                  </a:rPr>
                                  <m:t>𝑖</m:t>
                                </m:r>
                                <m:r>
                                  <a:rPr lang="en-GB" b="0" i="1" baseline="-25000" smtClean="0">
                                    <a:latin typeface="Cambria Math"/>
                                  </a:rPr>
                                  <m:t>1</m:t>
                                </m:r>
                                <m:r>
                                  <a:rPr lang="en-GB" i="1">
                                    <a:latin typeface="Cambria Math"/>
                                  </a:rPr>
                                  <m:t>, …</m:t>
                                </m:r>
                                <m:r>
                                  <a:rPr lang="en-GB" i="1">
                                    <a:latin typeface="Cambria Math"/>
                                  </a:rPr>
                                  <m:t>𝑥𝑖𝑛</m:t>
                                </m:r>
                              </m:e>
                              <m:e>
                                <m:r>
                                  <a:rPr lang="en-GB" i="1" baseline="-25000">
                                    <a:latin typeface="Cambria Math"/>
                                  </a:rPr>
                                  <m:t>…</m:t>
                                </m:r>
                              </m:e>
                              <m:e>
                                <m:r>
                                  <a:rPr lang="en-GB" b="0" i="1" baseline="-25000" smtClean="0">
                                    <a:latin typeface="Cambria Math"/>
                                  </a:rPr>
                                  <m:t>…</m:t>
                                </m:r>
                              </m:e>
                              <m:e>
                                <m:r>
                                  <a:rPr lang="en-GB" b="0" i="1" baseline="-25000" smtClean="0">
                                    <a:latin typeface="Cambria Math"/>
                                  </a:rPr>
                                  <m:t>…</m:t>
                                </m:r>
                              </m:e>
                              <m:e>
                                <m:r>
                                  <a:rPr lang="en-GB" i="1">
                                    <a:latin typeface="Cambria Math"/>
                                  </a:rPr>
                                  <m:t>1,</m:t>
                                </m:r>
                                <m:r>
                                  <a:rPr lang="en-GB" b="0" i="1" smtClean="0">
                                    <a:latin typeface="Cambria Math"/>
                                  </a:rPr>
                                  <m:t>𝑥</m:t>
                                </m:r>
                                <m:r>
                                  <a:rPr lang="en-GB" b="0" i="1" baseline="30000" smtClean="0">
                                    <a:latin typeface="Cambria Math"/>
                                  </a:rPr>
                                  <m:t>𝑚</m:t>
                                </m:r>
                                <m:r>
                                  <a:rPr lang="en-GB" b="0" i="1" baseline="-25000" smtClean="0">
                                    <a:latin typeface="Cambria Math"/>
                                  </a:rPr>
                                  <m:t>1</m:t>
                                </m:r>
                                <m:r>
                                  <a:rPr lang="en-GB" i="1">
                                    <a:latin typeface="Cambria Math"/>
                                  </a:rPr>
                                  <m:t>, …</m:t>
                                </m:r>
                                <m:r>
                                  <a:rPr lang="en-GB" i="1">
                                    <a:latin typeface="Cambria Math"/>
                                  </a:rPr>
                                  <m:t>𝑥𝑚𝑛</m:t>
                                </m:r>
                              </m:e>
                            </m:eqArr>
                          </m:e>
                          <m:e/>
                        </m:eqArr>
                      </m:e>
                    </m:d>
                  </m:oMath>
                </a14:m>
                <a:r>
                  <a:rPr lang="en-GB" dirty="0"/>
                  <a:t> </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455" t="-2433"/>
                </a:stretch>
              </a:blipFill>
            </p:spPr>
            <p:txBody>
              <a:bodyPr/>
              <a:lstStyle/>
              <a:p>
                <a:r>
                  <a:rPr lang="el-GR">
                    <a:noFill/>
                  </a:rPr>
                  <a:t> </a:t>
                </a:r>
              </a:p>
            </p:txBody>
          </p:sp>
        </mc:Fallback>
      </mc:AlternateContent>
      <p:sp>
        <p:nvSpPr>
          <p:cNvPr id="5" name="Down Arrow 4"/>
          <p:cNvSpPr/>
          <p:nvPr/>
        </p:nvSpPr>
        <p:spPr>
          <a:xfrm rot="16200000">
            <a:off x="2604215" y="4353207"/>
            <a:ext cx="392271" cy="419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mc:AlternateContent xmlns:mc="http://schemas.openxmlformats.org/markup-compatibility/2006" xmlns:a14="http://schemas.microsoft.com/office/drawing/2010/main">
        <mc:Choice Requires="a14">
          <p:sp>
            <p:nvSpPr>
              <p:cNvPr id="6" name="TextBox 5"/>
              <p:cNvSpPr txBox="1"/>
              <p:nvPr/>
            </p:nvSpPr>
            <p:spPr>
              <a:xfrm>
                <a:off x="4801711" y="4235673"/>
                <a:ext cx="837089" cy="523220"/>
              </a:xfrm>
              <a:prstGeom prst="rect">
                <a:avLst/>
              </a:prstGeom>
              <a:noFill/>
            </p:spPr>
            <p:txBody>
              <a:bodyPr wrap="none" rtlCol="0">
                <a:spAutoFit/>
              </a:bodyPr>
              <a:lstStyle/>
              <a:p>
                <a:r>
                  <a:rPr lang="en-GB" sz="2800" b="1" dirty="0">
                    <a:solidFill>
                      <a:srgbClr val="FF0000"/>
                    </a:solidFill>
                  </a:rPr>
                  <a:t>? </a:t>
                </a:r>
                <a14:m>
                  <m:oMath xmlns:m="http://schemas.openxmlformats.org/officeDocument/2006/math">
                    <m:r>
                      <a:rPr lang="en-GB" sz="2800" b="1" i="1">
                        <a:solidFill>
                          <a:srgbClr val="FF0000"/>
                        </a:solidFill>
                        <a:latin typeface="Cambria Math"/>
                      </a:rPr>
                      <m:t>Ɵ</m:t>
                    </m:r>
                  </m:oMath>
                </a14:m>
                <a:r>
                  <a:rPr lang="en-GB" sz="2800" b="1" dirty="0">
                    <a:solidFill>
                      <a:srgbClr val="FF0000"/>
                    </a:solidFill>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4801711" y="4235673"/>
                <a:ext cx="837089" cy="523220"/>
              </a:xfrm>
              <a:prstGeom prst="rect">
                <a:avLst/>
              </a:prstGeom>
              <a:blipFill rotWithShape="1">
                <a:blip r:embed="rId3"/>
                <a:stretch>
                  <a:fillRect l="-15328" t="-11628" b="-31395"/>
                </a:stretch>
              </a:blipFill>
            </p:spPr>
            <p:txBody>
              <a:bodyPr/>
              <a:lstStyle/>
              <a:p>
                <a:r>
                  <a:rPr lang="en-GB">
                    <a:noFill/>
                  </a:rPr>
                  <a:t> </a:t>
                </a:r>
              </a:p>
            </p:txBody>
          </p:sp>
        </mc:Fallback>
      </mc:AlternateContent>
      <p:sp>
        <p:nvSpPr>
          <p:cNvPr id="7" name="Down Arrow 6"/>
          <p:cNvSpPr/>
          <p:nvPr/>
        </p:nvSpPr>
        <p:spPr>
          <a:xfrm rot="16200000">
            <a:off x="5469515" y="4078184"/>
            <a:ext cx="914400" cy="838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mc:AlternateContent xmlns:mc="http://schemas.openxmlformats.org/markup-compatibility/2006" xmlns:a14="http://schemas.microsoft.com/office/drawing/2010/main">
        <mc:Choice Requires="a14">
          <p:sp>
            <p:nvSpPr>
              <p:cNvPr id="8" name="TextBox 7"/>
              <p:cNvSpPr txBox="1"/>
              <p:nvPr/>
            </p:nvSpPr>
            <p:spPr>
              <a:xfrm>
                <a:off x="6477000" y="4247689"/>
                <a:ext cx="2333524" cy="369332"/>
              </a:xfrm>
              <a:prstGeom prst="rect">
                <a:avLst/>
              </a:prstGeom>
              <a:noFill/>
            </p:spPr>
            <p:txBody>
              <a:bodyPr wrap="none" rtlCol="0">
                <a:spAutoFit/>
              </a:bodyPr>
              <a:lstStyle/>
              <a:p>
                <a:r>
                  <a:rPr lang="en-GB" b="1" dirty="0"/>
                  <a:t>Most close </a:t>
                </a:r>
                <a14:m>
                  <m:oMath xmlns:m="http://schemas.openxmlformats.org/officeDocument/2006/math">
                    <m:r>
                      <a:rPr lang="en-GB" b="1" i="1">
                        <a:latin typeface="Cambria Math"/>
                      </a:rPr>
                      <m:t>𝒉</m:t>
                    </m:r>
                    <m:r>
                      <a:rPr lang="en-GB" b="1" i="1" baseline="-25000">
                        <a:latin typeface="Cambria Math"/>
                      </a:rPr>
                      <m:t>Ɵ</m:t>
                    </m:r>
                    <m:d>
                      <m:dPr>
                        <m:ctrlPr>
                          <a:rPr lang="en-GB" b="1" i="1">
                            <a:latin typeface="Cambria Math" panose="02040503050406030204" pitchFamily="18" charset="0"/>
                          </a:rPr>
                        </m:ctrlPr>
                      </m:dPr>
                      <m:e>
                        <m:r>
                          <a:rPr lang="en-GB" b="1" i="1">
                            <a:latin typeface="Cambria Math"/>
                          </a:rPr>
                          <m:t>𝒙</m:t>
                        </m:r>
                      </m:e>
                    </m:d>
                  </m:oMath>
                </a14:m>
                <a:r>
                  <a:rPr lang="en-GB" dirty="0"/>
                  <a:t> - y</a:t>
                </a:r>
              </a:p>
            </p:txBody>
          </p:sp>
        </mc:Choice>
        <mc:Fallback xmlns="">
          <p:sp>
            <p:nvSpPr>
              <p:cNvPr id="8" name="TextBox 7"/>
              <p:cNvSpPr txBox="1">
                <a:spLocks noRot="1" noChangeAspect="1" noMove="1" noResize="1" noEditPoints="1" noAdjustHandles="1" noChangeArrowheads="1" noChangeShapeType="1" noTextEdit="1"/>
              </p:cNvSpPr>
              <p:nvPr/>
            </p:nvSpPr>
            <p:spPr>
              <a:xfrm>
                <a:off x="6477000" y="4247689"/>
                <a:ext cx="2333524" cy="369332"/>
              </a:xfrm>
              <a:prstGeom prst="rect">
                <a:avLst/>
              </a:prstGeom>
              <a:blipFill rotWithShape="1">
                <a:blip r:embed="rId4"/>
                <a:stretch>
                  <a:fillRect l="-2356" t="-8333" r="-1309" b="-2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524000" y="2860333"/>
                <a:ext cx="474810" cy="3629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b="1" i="1" smtClean="0">
                          <a:solidFill>
                            <a:srgbClr val="FF0000"/>
                          </a:solidFill>
                          <a:latin typeface="Cambria Math"/>
                        </a:rPr>
                        <m:t>Ɵ</m:t>
                      </m:r>
                      <m:r>
                        <a:rPr lang="en-GB" b="1" i="1" baseline="30000" smtClean="0">
                          <a:solidFill>
                            <a:srgbClr val="FF0000"/>
                          </a:solidFill>
                          <a:latin typeface="Cambria Math"/>
                        </a:rPr>
                        <m:t>𝑻</m:t>
                      </m:r>
                    </m:oMath>
                  </m:oMathPara>
                </a14:m>
                <a:endParaRPr lang="en-GB" baseline="30000" dirty="0"/>
              </a:p>
            </p:txBody>
          </p:sp>
        </mc:Choice>
        <mc:Fallback xmlns="">
          <p:sp>
            <p:nvSpPr>
              <p:cNvPr id="10" name="Rectangle 9"/>
              <p:cNvSpPr>
                <a:spLocks noRot="1" noChangeAspect="1" noMove="1" noResize="1" noEditPoints="1" noAdjustHandles="1" noChangeArrowheads="1" noChangeShapeType="1" noTextEdit="1"/>
              </p:cNvSpPr>
              <p:nvPr/>
            </p:nvSpPr>
            <p:spPr>
              <a:xfrm>
                <a:off x="1524000" y="2860333"/>
                <a:ext cx="474810" cy="362984"/>
              </a:xfrm>
              <a:prstGeom prst="rect">
                <a:avLst/>
              </a:prstGeom>
              <a:blipFill rotWithShape="1">
                <a:blip r:embed="rId5"/>
                <a:stretch>
                  <a:fillRect/>
                </a:stretch>
              </a:blipFill>
            </p:spPr>
            <p:txBody>
              <a:bodyPr/>
              <a:lstStyle/>
              <a:p>
                <a:r>
                  <a:rPr lang="en-GB">
                    <a:noFill/>
                  </a:rPr>
                  <a:t> </a:t>
                </a:r>
              </a:p>
            </p:txBody>
          </p:sp>
        </mc:Fallback>
      </mc:AlternateContent>
      <p:cxnSp>
        <p:nvCxnSpPr>
          <p:cNvPr id="11" name="Curved Connector 10"/>
          <p:cNvCxnSpPr>
            <a:cxnSpLocks noChangeShapeType="1"/>
          </p:cNvCxnSpPr>
          <p:nvPr/>
        </p:nvCxnSpPr>
        <p:spPr bwMode="auto">
          <a:xfrm rot="5400000" flipH="1" flipV="1">
            <a:off x="1425861" y="3549649"/>
            <a:ext cx="623383" cy="1"/>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820420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Measure “close”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0" y="1414984"/>
                <a:ext cx="6705458" cy="4761979"/>
              </a:xfrm>
            </p:spPr>
            <p:txBody>
              <a:bodyPr/>
              <a:lstStyle/>
              <a:p>
                <a:r>
                  <a:rPr lang="en-GB" dirty="0"/>
                  <a:t>Aim is to </a:t>
                </a:r>
                <a:r>
                  <a:rPr lang="en-US" dirty="0">
                    <a:ea typeface="ＭＳ Ｐゴシック" charset="-128"/>
                  </a:rPr>
                  <a:t>c</a:t>
                </a:r>
                <a:r>
                  <a:rPr lang="en-US" altLang="en-US" dirty="0">
                    <a:ea typeface="ＭＳ Ｐゴシック" charset="-128"/>
                  </a:rPr>
                  <a:t>hoose {</a:t>
                </a:r>
                <a:r>
                  <a:rPr lang="en-US" altLang="en-US" i="1" dirty="0">
                    <a:latin typeface="Times New Roman" charset="0"/>
                    <a:ea typeface="ＭＳ Ｐゴシック" charset="-128"/>
                    <a:cs typeface="Times New Roman" charset="0"/>
                  </a:rPr>
                  <a:t>θ</a:t>
                </a:r>
                <a:r>
                  <a:rPr lang="en-US" altLang="en-US" i="1" baseline="-25000" dirty="0">
                    <a:latin typeface="Times New Roman" charset="0"/>
                    <a:ea typeface="ＭＳ Ｐゴシック" charset="-128"/>
                    <a:cs typeface="Times New Roman" charset="0"/>
                  </a:rPr>
                  <a:t>0 </a:t>
                </a:r>
                <a:r>
                  <a:rPr lang="en-US" altLang="en-US" i="1" dirty="0">
                    <a:latin typeface="Times New Roman" charset="0"/>
                    <a:ea typeface="ＭＳ Ｐゴシック" charset="-128"/>
                    <a:cs typeface="Times New Roman" charset="0"/>
                  </a:rPr>
                  <a:t> ,θ</a:t>
                </a:r>
                <a:r>
                  <a:rPr lang="en-US" altLang="en-US" i="1" baseline="-25000" dirty="0">
                    <a:latin typeface="Times New Roman" charset="0"/>
                    <a:ea typeface="ＭＳ Ｐゴシック" charset="-128"/>
                    <a:cs typeface="Times New Roman" charset="0"/>
                  </a:rPr>
                  <a:t>1…</a:t>
                </a:r>
                <a:r>
                  <a:rPr lang="en-US" altLang="en-US" i="1" dirty="0">
                    <a:latin typeface="Times New Roman" charset="0"/>
                    <a:ea typeface="ＭＳ Ｐゴシック" charset="-128"/>
                    <a:cs typeface="Times New Roman" charset="0"/>
                  </a:rPr>
                  <a:t> </a:t>
                </a:r>
                <a:r>
                  <a:rPr lang="en-US" altLang="en-US" dirty="0">
                    <a:latin typeface="Times New Roman" charset="0"/>
                    <a:ea typeface="ＭＳ Ｐゴシック" charset="-128"/>
                    <a:cs typeface="Times New Roman" charset="0"/>
                  </a:rPr>
                  <a:t>}</a:t>
                </a:r>
                <a:r>
                  <a:rPr lang="en-US" altLang="en-US" dirty="0">
                    <a:ea typeface="ＭＳ Ｐゴシック" charset="-128"/>
                  </a:rPr>
                  <a:t>so that </a:t>
                </a:r>
                <a:r>
                  <a:rPr lang="en-US" altLang="en-US" i="1" dirty="0">
                    <a:latin typeface="Times New Roman" charset="0"/>
                    <a:ea typeface="ＭＳ Ｐゴシック" charset="-128"/>
                    <a:cs typeface="Times New Roman" charset="0"/>
                  </a:rPr>
                  <a:t>h</a:t>
                </a:r>
                <a:r>
                  <a:rPr lang="en-US" altLang="en-US" i="1" baseline="-25000" dirty="0">
                    <a:latin typeface="Times New Roman" charset="0"/>
                    <a:ea typeface="ＭＳ Ｐゴシック" charset="-128"/>
                    <a:cs typeface="Times New Roman" charset="0"/>
                  </a:rPr>
                  <a:t>θ </a:t>
                </a:r>
                <a:r>
                  <a:rPr lang="en-US" altLang="en-US" dirty="0">
                    <a:latin typeface="Times New Roman" charset="0"/>
                    <a:ea typeface="ＭＳ Ｐゴシック" charset="-128"/>
                    <a:cs typeface="Times New Roman" charset="0"/>
                  </a:rPr>
                  <a:t>(</a:t>
                </a:r>
                <a:r>
                  <a:rPr lang="en-US" altLang="en-US" i="1" dirty="0">
                    <a:latin typeface="Times New Roman" charset="0"/>
                    <a:ea typeface="ＭＳ Ｐゴシック" charset="-128"/>
                    <a:cs typeface="Times New Roman" charset="0"/>
                  </a:rPr>
                  <a:t>x</a:t>
                </a:r>
                <a:r>
                  <a:rPr lang="en-US" altLang="en-US" dirty="0">
                    <a:latin typeface="Times New Roman" charset="0"/>
                    <a:ea typeface="ＭＳ Ｐゴシック" charset="-128"/>
                    <a:cs typeface="Times New Roman" charset="0"/>
                  </a:rPr>
                  <a:t>) </a:t>
                </a:r>
                <a:r>
                  <a:rPr lang="en-US" altLang="en-US" dirty="0">
                    <a:ea typeface="ＭＳ Ｐゴシック" charset="-128"/>
                  </a:rPr>
                  <a:t>is close to </a:t>
                </a:r>
                <a:r>
                  <a:rPr lang="en-US" altLang="en-US" i="1" dirty="0">
                    <a:latin typeface="Times New Roman" charset="0"/>
                    <a:ea typeface="ＭＳ Ｐゴシック" charset="-128"/>
                    <a:cs typeface="Times New Roman" charset="0"/>
                  </a:rPr>
                  <a:t>y</a:t>
                </a:r>
                <a:r>
                  <a:rPr lang="en-US" altLang="en-US" dirty="0">
                    <a:ea typeface="ＭＳ Ｐゴシック" charset="-128"/>
                  </a:rPr>
                  <a:t> for the training examples</a:t>
                </a:r>
              </a:p>
              <a:p>
                <a:r>
                  <a:rPr lang="en-US" altLang="en-US" dirty="0">
                    <a:ea typeface="ＭＳ Ｐゴシック" charset="-128"/>
                  </a:rPr>
                  <a:t>Do achieve it, we need a Cost Function/Error Function:</a:t>
                </a:r>
              </a:p>
              <a:p>
                <a:pPr marL="0" indent="0">
                  <a:buNone/>
                </a:pPr>
                <a14:m>
                  <m:oMathPara xmlns:m="http://schemas.openxmlformats.org/officeDocument/2006/math">
                    <m:oMathParaPr>
                      <m:jc m:val="centerGroup"/>
                    </m:oMathParaPr>
                    <m:oMath xmlns:m="http://schemas.openxmlformats.org/officeDocument/2006/math">
                      <m:sSup>
                        <m:sSupPr>
                          <m:ctrlPr>
                            <a:rPr lang="pt-BR" altLang="en-US" i="1">
                              <a:latin typeface="Cambria Math" panose="02040503050406030204" pitchFamily="18" charset="0"/>
                              <a:ea typeface="ＭＳ Ｐゴシック" charset="-128"/>
                            </a:rPr>
                          </m:ctrlPr>
                        </m:sSupPr>
                        <m:e>
                          <m:r>
                            <a:rPr lang="en-GB" altLang="en-US" i="1">
                              <a:latin typeface="Cambria Math"/>
                              <a:ea typeface="ＭＳ Ｐゴシック" charset="-128"/>
                            </a:rPr>
                            <m:t>𝐽</m:t>
                          </m:r>
                          <m:d>
                            <m:dPr>
                              <m:ctrlPr>
                                <a:rPr lang="pt-BR" altLang="en-US" i="1" smtClean="0">
                                  <a:latin typeface="Cambria Math" panose="02040503050406030204" pitchFamily="18" charset="0"/>
                                  <a:ea typeface="ＭＳ Ｐゴシック" charset="-128"/>
                                </a:rPr>
                              </m:ctrlPr>
                            </m:dPr>
                            <m:e>
                              <m:r>
                                <m:rPr>
                                  <m:nor/>
                                </m:rPr>
                                <a:rPr lang="en-US" altLang="en-US" i="1" dirty="0" smtClean="0">
                                  <a:latin typeface="Times New Roman" charset="0"/>
                                  <a:ea typeface="ＭＳ Ｐゴシック" charset="-128"/>
                                  <a:cs typeface="Times New Roman" charset="0"/>
                                </a:rPr>
                                <m:t>θ</m:t>
                              </m:r>
                            </m:e>
                          </m:d>
                          <m:r>
                            <a:rPr lang="en-GB" altLang="en-US" b="0" i="1" dirty="0" smtClean="0">
                              <a:latin typeface="Cambria Math"/>
                              <a:ea typeface="ＭＳ Ｐゴシック" charset="-128"/>
                              <a:cs typeface="Times New Roman" charset="0"/>
                            </a:rPr>
                            <m:t>=</m:t>
                          </m:r>
                        </m:e>
                        <m:sup/>
                      </m:sSup>
                      <m:sSup>
                        <m:sSupPr>
                          <m:ctrlPr>
                            <a:rPr lang="pt-BR" altLang="en-US" i="1" smtClean="0">
                              <a:latin typeface="Cambria Math" panose="02040503050406030204" pitchFamily="18" charset="0"/>
                              <a:ea typeface="ＭＳ Ｐゴシック" charset="-128"/>
                            </a:rPr>
                          </m:ctrlPr>
                        </m:sSupPr>
                        <m:e>
                          <m:r>
                            <a:rPr lang="en-GB" altLang="en-US" b="0" i="1" smtClean="0">
                              <a:latin typeface="Cambria Math"/>
                              <a:ea typeface="ＭＳ Ｐゴシック" charset="-128"/>
                            </a:rPr>
                            <m:t>𝐽</m:t>
                          </m:r>
                          <m:d>
                            <m:dPr>
                              <m:ctrlPr>
                                <a:rPr lang="pt-BR" altLang="en-US" i="1" smtClean="0">
                                  <a:latin typeface="Cambria Math" panose="02040503050406030204" pitchFamily="18" charset="0"/>
                                  <a:ea typeface="ＭＳ Ｐゴシック" charset="-128"/>
                                </a:rPr>
                              </m:ctrlPr>
                            </m:dPr>
                            <m:e>
                              <m:r>
                                <m:rPr>
                                  <m:nor/>
                                </m:rPr>
                                <a:rPr lang="en-US" altLang="en-US" i="1" dirty="0">
                                  <a:latin typeface="Times New Roman" charset="0"/>
                                  <a:ea typeface="ＭＳ Ｐゴシック" charset="-128"/>
                                  <a:cs typeface="Times New Roman" charset="0"/>
                                </a:rPr>
                                <m:t>θ</m:t>
                              </m:r>
                              <m:r>
                                <m:rPr>
                                  <m:nor/>
                                </m:rPr>
                                <a:rPr lang="en-US" altLang="en-US" i="1" baseline="-25000" dirty="0">
                                  <a:latin typeface="Times New Roman" charset="0"/>
                                  <a:ea typeface="ＭＳ Ｐゴシック" charset="-128"/>
                                  <a:cs typeface="Times New Roman" charset="0"/>
                                </a:rPr>
                                <m:t>0</m:t>
                              </m:r>
                              <m:r>
                                <a:rPr lang="en-GB" altLang="en-US" b="0" i="1" dirty="0" smtClean="0">
                                  <a:latin typeface="Cambria Math"/>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b="0" i="1" baseline="-25000" dirty="0" smtClean="0">
                                  <a:latin typeface="Times New Roman" charset="0"/>
                                  <a:ea typeface="ＭＳ Ｐゴシック" charset="-128"/>
                                  <a:cs typeface="Times New Roman" charset="0"/>
                                </a:rPr>
                                <m:t>1</m:t>
                              </m:r>
                              <m:r>
                                <m:rPr>
                                  <m:nor/>
                                </m:rPr>
                                <a:rPr lang="en-GB" altLang="en-US" b="0" i="1" dirty="0" smtClean="0">
                                  <a:latin typeface="Times New Roman" charset="0"/>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b="0" i="1" baseline="-25000" dirty="0" smtClean="0">
                                  <a:latin typeface="Times New Roman" charset="0"/>
                                  <a:ea typeface="ＭＳ Ｐゴシック" charset="-128"/>
                                  <a:cs typeface="Times New Roman" charset="0"/>
                                </a:rPr>
                                <m:t>j</m:t>
                              </m:r>
                            </m:e>
                          </m:d>
                        </m:e>
                        <m:sup/>
                      </m:sSup>
                      <m:r>
                        <a:rPr lang="pt-BR" altLang="en-US" i="1" smtClean="0">
                          <a:latin typeface="Cambria Math"/>
                          <a:ea typeface="ＭＳ Ｐゴシック" charset="-128"/>
                        </a:rPr>
                        <m:t>=</m:t>
                      </m:r>
                      <m:f>
                        <m:fPr>
                          <m:ctrlPr>
                            <a:rPr lang="pt-BR" altLang="en-US" i="1" smtClean="0">
                              <a:latin typeface="Cambria Math" panose="02040503050406030204" pitchFamily="18" charset="0"/>
                              <a:ea typeface="ＭＳ Ｐゴシック" charset="-128"/>
                            </a:rPr>
                          </m:ctrlPr>
                        </m:fPr>
                        <m:num>
                          <m:r>
                            <a:rPr lang="en-GB" altLang="en-US" b="0" i="1" smtClean="0">
                              <a:latin typeface="Cambria Math"/>
                              <a:ea typeface="ＭＳ Ｐゴシック" charset="-128"/>
                            </a:rPr>
                            <m:t>1</m:t>
                          </m:r>
                        </m:num>
                        <m:den>
                          <m:r>
                            <a:rPr lang="en-GB" altLang="en-US" b="0" i="1" smtClean="0">
                              <a:latin typeface="Cambria Math"/>
                              <a:ea typeface="ＭＳ Ｐゴシック" charset="-128"/>
                            </a:rPr>
                            <m:t>2</m:t>
                          </m:r>
                        </m:den>
                      </m:f>
                      <m:nary>
                        <m:naryPr>
                          <m:chr m:val="∑"/>
                          <m:ctrlPr>
                            <a:rPr lang="pt-BR" altLang="en-US" i="1" smtClean="0">
                              <a:latin typeface="Cambria Math" panose="02040503050406030204" pitchFamily="18" charset="0"/>
                              <a:ea typeface="ＭＳ Ｐゴシック" charset="-128"/>
                            </a:rPr>
                          </m:ctrlPr>
                        </m:naryPr>
                        <m:sub>
                          <m:r>
                            <m:rPr>
                              <m:brk m:alnAt="23"/>
                            </m:rPr>
                            <a:rPr lang="en-GB" altLang="en-US" b="0" i="1" smtClean="0">
                              <a:latin typeface="Cambria Math"/>
                              <a:ea typeface="ＭＳ Ｐゴシック" charset="-128"/>
                            </a:rPr>
                            <m:t>𝑖</m:t>
                          </m:r>
                          <m:r>
                            <a:rPr lang="pt-BR" altLang="en-US" i="1" smtClean="0">
                              <a:latin typeface="Cambria Math"/>
                              <a:ea typeface="ＭＳ Ｐゴシック" charset="-128"/>
                            </a:rPr>
                            <m:t>=</m:t>
                          </m:r>
                          <m:r>
                            <a:rPr lang="en-GB" altLang="en-US" b="0" i="1" smtClean="0">
                              <a:latin typeface="Cambria Math"/>
                              <a:ea typeface="ＭＳ Ｐゴシック" charset="-128"/>
                            </a:rPr>
                            <m:t>1</m:t>
                          </m:r>
                        </m:sub>
                        <m:sup>
                          <m:r>
                            <a:rPr lang="en-GB" altLang="en-US" b="0" i="1" smtClean="0">
                              <a:latin typeface="Cambria Math"/>
                              <a:ea typeface="ＭＳ Ｐゴシック" charset="-128"/>
                            </a:rPr>
                            <m:t>𝑚</m:t>
                          </m:r>
                        </m:sup>
                        <m:e>
                          <m:d>
                            <m:dPr>
                              <m:ctrlPr>
                                <a:rPr lang="pt-BR" altLang="en-US" i="1" smtClean="0">
                                  <a:latin typeface="Cambria Math" panose="02040503050406030204" pitchFamily="18" charset="0"/>
                                  <a:ea typeface="ＭＳ Ｐゴシック" charset="-128"/>
                                </a:rPr>
                              </m:ctrlPr>
                            </m:dPr>
                            <m:e>
                              <m:r>
                                <m:rPr>
                                  <m:nor/>
                                </m:rPr>
                                <a:rPr lang="en-US" altLang="en-US" i="1" dirty="0">
                                  <a:latin typeface="Times New Roman" charset="0"/>
                                  <a:ea typeface="ＭＳ Ｐゴシック" charset="-128"/>
                                  <a:cs typeface="Times New Roman" charset="0"/>
                                </a:rPr>
                                <m:t>h</m:t>
                              </m:r>
                              <m:r>
                                <m:rPr>
                                  <m:nor/>
                                </m:rPr>
                                <a:rPr lang="en-US" altLang="en-US" i="1" baseline="-25000" dirty="0">
                                  <a:latin typeface="Times New Roman" charset="0"/>
                                  <a:ea typeface="ＭＳ Ｐゴシック" charset="-128"/>
                                  <a:cs typeface="Times New Roman" charset="0"/>
                                </a:rPr>
                                <m:t>θ</m:t>
                              </m:r>
                              <m:d>
                                <m:dPr>
                                  <m:ctrlPr>
                                    <a:rPr lang="en-GB" altLang="en-US" b="0" i="1" smtClean="0">
                                      <a:latin typeface="Cambria Math" panose="02040503050406030204" pitchFamily="18" charset="0"/>
                                      <a:ea typeface="ＭＳ Ｐゴシック" charset="-128"/>
                                      <a:cs typeface="Times New Roman" charset="0"/>
                                    </a:rPr>
                                  </m:ctrlPr>
                                </m:dPr>
                                <m:e>
                                  <m:sSup>
                                    <m:sSupPr>
                                      <m:ctrlPr>
                                        <a:rPr lang="pt-BR" altLang="en-US" i="1">
                                          <a:latin typeface="Cambria Math" panose="02040503050406030204" pitchFamily="18" charset="0"/>
                                          <a:ea typeface="ＭＳ Ｐゴシック" charset="-128"/>
                                        </a:rPr>
                                      </m:ctrlPr>
                                    </m:sSupPr>
                                    <m:e>
                                      <m:r>
                                        <a:rPr lang="pt-BR" altLang="en-US" i="1">
                                          <a:latin typeface="Cambria Math"/>
                                          <a:ea typeface="ＭＳ Ｐゴシック" charset="-128"/>
                                        </a:rPr>
                                        <m:t>𝑥</m:t>
                                      </m:r>
                                    </m:e>
                                    <m:sup>
                                      <m:r>
                                        <a:rPr lang="en-GB" altLang="en-US" b="0" i="1" smtClean="0">
                                          <a:latin typeface="Cambria Math"/>
                                          <a:ea typeface="ＭＳ Ｐゴシック" charset="-128"/>
                                        </a:rPr>
                                        <m:t>𝑖</m:t>
                                      </m:r>
                                    </m:sup>
                                  </m:sSup>
                                </m:e>
                              </m:d>
                              <m:r>
                                <a:rPr lang="en-GB" altLang="en-US" b="0" i="1" smtClean="0">
                                  <a:latin typeface="Cambria Math"/>
                                  <a:ea typeface="ＭＳ Ｐゴシック" charset="-128"/>
                                </a:rPr>
                                <m:t>−</m:t>
                              </m:r>
                              <m:sSup>
                                <m:sSupPr>
                                  <m:ctrlPr>
                                    <a:rPr lang="pt-BR" altLang="en-US" i="1">
                                      <a:latin typeface="Cambria Math" panose="02040503050406030204" pitchFamily="18" charset="0"/>
                                      <a:ea typeface="ＭＳ Ｐゴシック" charset="-128"/>
                                    </a:rPr>
                                  </m:ctrlPr>
                                </m:sSupPr>
                                <m:e>
                                  <m:r>
                                    <a:rPr lang="en-GB" altLang="en-US" b="0" i="1" smtClean="0">
                                      <a:latin typeface="Cambria Math"/>
                                      <a:ea typeface="ＭＳ Ｐゴシック" charset="-128"/>
                                    </a:rPr>
                                    <m:t>𝑦</m:t>
                                  </m:r>
                                </m:e>
                                <m:sup>
                                  <m:r>
                                    <a:rPr lang="en-GB" altLang="en-US" b="0" i="1" smtClean="0">
                                      <a:latin typeface="Cambria Math"/>
                                      <a:ea typeface="ＭＳ Ｐゴシック" charset="-128"/>
                                    </a:rPr>
                                    <m:t>𝑖</m:t>
                                  </m:r>
                                </m:sup>
                              </m:sSup>
                            </m:e>
                          </m:d>
                          <m:r>
                            <a:rPr lang="en-GB" altLang="en-US" b="0" i="1" baseline="30000" smtClean="0">
                              <a:latin typeface="Cambria Math"/>
                              <a:ea typeface="ＭＳ Ｐゴシック" charset="-128"/>
                            </a:rPr>
                            <m:t>2</m:t>
                          </m:r>
                        </m:e>
                      </m:nary>
                    </m:oMath>
                  </m:oMathPara>
                </a14:m>
                <a:endParaRPr lang="en-US" altLang="en-US" dirty="0">
                  <a:ea typeface="ＭＳ Ｐゴシック" charset="-128"/>
                </a:endParaRPr>
              </a:p>
              <a:p>
                <a:endParaRPr lang="en-US" altLang="en-US" dirty="0">
                  <a:ea typeface="ＭＳ Ｐゴシック" charset="-128"/>
                </a:endParaRPr>
              </a:p>
              <a:p>
                <a:r>
                  <a:rPr lang="en-US" altLang="en-US" sz="2000" dirty="0">
                    <a:ea typeface="ＭＳ Ｐゴシック" charset="-128"/>
                  </a:rPr>
                  <a:t>The goal: minimize  </a:t>
                </a:r>
                <a14:m>
                  <m:oMath xmlns:m="http://schemas.openxmlformats.org/officeDocument/2006/math">
                    <m:r>
                      <a:rPr lang="en-GB" altLang="en-US" sz="2000" i="1">
                        <a:latin typeface="Cambria Math"/>
                        <a:ea typeface="ＭＳ Ｐゴシック" charset="-128"/>
                      </a:rPr>
                      <m:t>𝐽</m:t>
                    </m:r>
                    <m:d>
                      <m:dPr>
                        <m:ctrlPr>
                          <a:rPr lang="pt-BR" altLang="en-US" sz="2000" i="1">
                            <a:latin typeface="Cambria Math" panose="02040503050406030204" pitchFamily="18" charset="0"/>
                            <a:ea typeface="ＭＳ Ｐゴシック" charset="-128"/>
                          </a:rPr>
                        </m:ctrlPr>
                      </m:dPr>
                      <m:e>
                        <m:r>
                          <m:rPr>
                            <m:nor/>
                          </m:rPr>
                          <a:rPr lang="en-US" altLang="en-US" sz="2000" i="1" dirty="0">
                            <a:latin typeface="Times New Roman" charset="0"/>
                            <a:ea typeface="ＭＳ Ｐゴシック" charset="-128"/>
                            <a:cs typeface="Times New Roman" charset="0"/>
                          </a:rPr>
                          <m:t>θ</m:t>
                        </m:r>
                        <m:r>
                          <m:rPr>
                            <m:nor/>
                          </m:rPr>
                          <a:rPr lang="en-US" altLang="en-US" sz="2000" i="1" baseline="-25000" dirty="0">
                            <a:latin typeface="Times New Roman" charset="0"/>
                            <a:ea typeface="ＭＳ Ｐゴシック" charset="-128"/>
                            <a:cs typeface="Times New Roman" charset="0"/>
                          </a:rPr>
                          <m:t>0</m:t>
                        </m:r>
                        <m:r>
                          <a:rPr lang="en-GB" altLang="en-US" sz="2000" i="1" dirty="0">
                            <a:latin typeface="Cambria Math"/>
                            <a:ea typeface="ＭＳ Ｐゴシック" charset="-128"/>
                            <a:cs typeface="Times New Roman" charset="0"/>
                          </a:rPr>
                          <m:t>,</m:t>
                        </m:r>
                        <m:r>
                          <m:rPr>
                            <m:nor/>
                          </m:rPr>
                          <a:rPr lang="en-US" altLang="en-US" sz="2000" i="1" dirty="0">
                            <a:latin typeface="Times New Roman" charset="0"/>
                            <a:ea typeface="ＭＳ Ｐゴシック" charset="-128"/>
                            <a:cs typeface="Times New Roman" charset="0"/>
                          </a:rPr>
                          <m:t>θ</m:t>
                        </m:r>
                        <m:r>
                          <m:rPr>
                            <m:nor/>
                          </m:rPr>
                          <a:rPr lang="en-GB" altLang="en-US" sz="2000" i="1" baseline="-25000" dirty="0">
                            <a:latin typeface="Times New Roman" charset="0"/>
                            <a:ea typeface="ＭＳ Ｐゴシック" charset="-128"/>
                            <a:cs typeface="Times New Roman" charset="0"/>
                          </a:rPr>
                          <m:t>1</m:t>
                        </m:r>
                        <m:r>
                          <m:rPr>
                            <m:nor/>
                          </m:rPr>
                          <a:rPr lang="en-GB" altLang="en-US" sz="2000" i="1" dirty="0">
                            <a:latin typeface="Times New Roman" charset="0"/>
                            <a:ea typeface="ＭＳ Ｐゴシック" charset="-128"/>
                            <a:cs typeface="Times New Roman" charset="0"/>
                          </a:rPr>
                          <m:t>,..</m:t>
                        </m:r>
                        <m:r>
                          <m:rPr>
                            <m:nor/>
                          </m:rPr>
                          <a:rPr lang="en-US" altLang="en-US" sz="2000" i="1" dirty="0">
                            <a:latin typeface="Times New Roman" charset="0"/>
                            <a:ea typeface="ＭＳ Ｐゴシック" charset="-128"/>
                            <a:cs typeface="Times New Roman" charset="0"/>
                          </a:rPr>
                          <m:t>θ</m:t>
                        </m:r>
                        <m:r>
                          <m:rPr>
                            <m:nor/>
                          </m:rPr>
                          <a:rPr lang="en-GB" altLang="en-US" sz="2000" i="1" baseline="-25000" dirty="0">
                            <a:latin typeface="Times New Roman" charset="0"/>
                            <a:ea typeface="ＭＳ Ｐゴシック" charset="-128"/>
                            <a:cs typeface="Times New Roman" charset="0"/>
                          </a:rPr>
                          <m:t>j</m:t>
                        </m:r>
                      </m:e>
                    </m:d>
                  </m:oMath>
                </a14:m>
                <a:endParaRPr lang="en-US" altLang="en-US" sz="2000" dirty="0">
                  <a:ea typeface="ＭＳ Ｐゴシック" charset="-128"/>
                </a:endParaRPr>
              </a:p>
              <a:p>
                <a:endParaRPr lang="en-US" altLang="en-US" dirty="0">
                  <a:ea typeface="ＭＳ Ｐゴシック" charset="-128"/>
                </a:endParaRPr>
              </a:p>
              <a:p>
                <a:pPr marL="0" indent="0">
                  <a:buNone/>
                </a:pPr>
                <a:r>
                  <a:rPr lang="en-US" altLang="en-US" dirty="0">
                    <a:ea typeface="ＭＳ Ｐゴシック" charset="-128"/>
                  </a:rPr>
                  <a:t>minimize  </a:t>
                </a:r>
                <a14:m>
                  <m:oMath xmlns:m="http://schemas.openxmlformats.org/officeDocument/2006/math">
                    <m:r>
                      <a:rPr lang="en-GB" altLang="en-US" i="1">
                        <a:latin typeface="Cambria Math"/>
                        <a:ea typeface="ＭＳ Ｐゴシック" charset="-128"/>
                      </a:rPr>
                      <m:t>𝐽</m:t>
                    </m:r>
                    <m:d>
                      <m:dPr>
                        <m:ctrlPr>
                          <a:rPr lang="pt-BR" altLang="en-US" i="1">
                            <a:latin typeface="Cambria Math" panose="02040503050406030204" pitchFamily="18" charset="0"/>
                            <a:ea typeface="ＭＳ Ｐゴシック" charset="-128"/>
                          </a:rPr>
                        </m:ctrlPr>
                      </m:dPr>
                      <m:e>
                        <m:r>
                          <m:rPr>
                            <m:nor/>
                          </m:rPr>
                          <a:rPr lang="en-US" altLang="en-US" i="1" dirty="0">
                            <a:latin typeface="Times New Roman" charset="0"/>
                            <a:ea typeface="ＭＳ Ｐゴシック" charset="-128"/>
                            <a:cs typeface="Times New Roman" charset="0"/>
                          </a:rPr>
                          <m:t>θ</m:t>
                        </m:r>
                        <m:r>
                          <m:rPr>
                            <m:nor/>
                          </m:rPr>
                          <a:rPr lang="en-US" altLang="en-US" i="1" baseline="-25000" dirty="0">
                            <a:latin typeface="Times New Roman" charset="0"/>
                            <a:ea typeface="ＭＳ Ｐゴシック" charset="-128"/>
                            <a:cs typeface="Times New Roman" charset="0"/>
                          </a:rPr>
                          <m:t>0</m:t>
                        </m:r>
                        <m:r>
                          <a:rPr lang="en-GB" altLang="en-US" i="1" dirty="0">
                            <a:latin typeface="Cambria Math"/>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i="1" baseline="-25000" dirty="0">
                            <a:latin typeface="Times New Roman" charset="0"/>
                            <a:ea typeface="ＭＳ Ｐゴシック" charset="-128"/>
                            <a:cs typeface="Times New Roman" charset="0"/>
                          </a:rPr>
                          <m:t>1</m:t>
                        </m:r>
                        <m:r>
                          <m:rPr>
                            <m:nor/>
                          </m:rPr>
                          <a:rPr lang="en-GB" altLang="en-US" i="1" dirty="0">
                            <a:latin typeface="Times New Roman" charset="0"/>
                            <a:ea typeface="ＭＳ Ｐゴシック" charset="-128"/>
                            <a:cs typeface="Times New Roman" charset="0"/>
                          </a:rPr>
                          <m:t>,</m:t>
                        </m:r>
                        <m:r>
                          <m:rPr>
                            <m:nor/>
                          </m:rPr>
                          <a:rPr lang="en-US" altLang="en-US" i="1" dirty="0">
                            <a:latin typeface="Times New Roman" charset="0"/>
                            <a:ea typeface="ＭＳ Ｐゴシック" charset="-128"/>
                            <a:cs typeface="Times New Roman" charset="0"/>
                          </a:rPr>
                          <m:t>θ</m:t>
                        </m:r>
                        <m:r>
                          <m:rPr>
                            <m:nor/>
                          </m:rPr>
                          <a:rPr lang="en-GB" altLang="en-US" b="0" i="1" baseline="-25000" dirty="0" smtClean="0">
                            <a:latin typeface="Times New Roman" charset="0"/>
                            <a:ea typeface="ＭＳ Ｐゴシック" charset="-128"/>
                            <a:cs typeface="Times New Roman" charset="0"/>
                          </a:rPr>
                          <m:t>2</m:t>
                        </m:r>
                      </m:e>
                    </m:d>
                  </m:oMath>
                </a14:m>
                <a:endParaRPr lang="en-US" altLang="en-US" dirty="0">
                  <a:ea typeface="ＭＳ Ｐゴシック" charset="-128"/>
                </a:endParaRPr>
              </a:p>
              <a:p>
                <a:endParaRPr lang="en-GB" dirty="0"/>
              </a:p>
              <a:p>
                <a:pPr algn="ct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0" y="1414984"/>
                <a:ext cx="6705458" cy="4761979"/>
              </a:xfrm>
              <a:blipFill rotWithShape="1">
                <a:blip r:embed="rId2"/>
                <a:stretch>
                  <a:fillRect l="-1364" t="-1793"/>
                </a:stretch>
              </a:blipFill>
            </p:spPr>
            <p:txBody>
              <a:bodyPr/>
              <a:lstStyle/>
              <a:p>
                <a:r>
                  <a:rPr lang="en-GB">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944478438"/>
              </p:ext>
            </p:extLst>
          </p:nvPr>
        </p:nvGraphicFramePr>
        <p:xfrm>
          <a:off x="5105400" y="4267200"/>
          <a:ext cx="3886199" cy="2133601"/>
        </p:xfrm>
        <a:graphic>
          <a:graphicData uri="http://schemas.openxmlformats.org/drawingml/2006/table">
            <a:tbl>
              <a:tblPr/>
              <a:tblGrid>
                <a:gridCol w="1202757">
                  <a:extLst>
                    <a:ext uri="{9D8B030D-6E8A-4147-A177-3AD203B41FA5}">
                      <a16:colId xmlns:a16="http://schemas.microsoft.com/office/drawing/2014/main" val="20000"/>
                    </a:ext>
                  </a:extLst>
                </a:gridCol>
                <a:gridCol w="1202757">
                  <a:extLst>
                    <a:ext uri="{9D8B030D-6E8A-4147-A177-3AD203B41FA5}">
                      <a16:colId xmlns:a16="http://schemas.microsoft.com/office/drawing/2014/main" val="20001"/>
                    </a:ext>
                  </a:extLst>
                </a:gridCol>
                <a:gridCol w="1480685">
                  <a:extLst>
                    <a:ext uri="{9D8B030D-6E8A-4147-A177-3AD203B41FA5}">
                      <a16:colId xmlns:a16="http://schemas.microsoft.com/office/drawing/2014/main" val="20002"/>
                    </a:ext>
                  </a:extLst>
                </a:gridCol>
              </a:tblGrid>
              <a:tr h="524186">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Size in feet</a:t>
                      </a:r>
                      <a:r>
                        <a:rPr kumimoji="0" lang="en-US" altLang="en-US" sz="1400" b="1" i="0" u="none" strike="noStrike" cap="none" normalizeH="0" baseline="30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 (</a:t>
                      </a:r>
                      <a:r>
                        <a:rPr kumimoji="0" lang="en-US" altLang="en-US" sz="1400" b="0" i="0" u="none" strike="noStrike" cap="none" normalizeH="0" baseline="0" dirty="0">
                          <a:ln>
                            <a:noFill/>
                          </a:ln>
                          <a:solidFill>
                            <a:srgbClr val="FF0000"/>
                          </a:solidFill>
                          <a:effectLst/>
                          <a:latin typeface="Calibri" charset="0"/>
                          <a:ea typeface="ＭＳ Ｐゴシック" charset="-128"/>
                        </a:rPr>
                        <a:t>x</a:t>
                      </a:r>
                      <a:r>
                        <a:rPr kumimoji="0" lang="en-US" altLang="en-US" sz="1400" b="0" i="0" u="none" strike="noStrike" cap="none" normalizeH="0" baseline="-25000" dirty="0">
                          <a:ln>
                            <a:noFill/>
                          </a:ln>
                          <a:solidFill>
                            <a:srgbClr val="FF0000"/>
                          </a:solidFill>
                          <a:effectLst/>
                          <a:latin typeface="Calibri" charset="0"/>
                          <a:ea typeface="ＭＳ Ｐゴシック" charset="-128"/>
                        </a:rPr>
                        <a:t>1</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0000"/>
                          </a:solidFill>
                          <a:effectLst/>
                          <a:latin typeface="Calibri" charset="0"/>
                          <a:ea typeface="ＭＳ Ｐゴシック" charset="-128"/>
                        </a:rPr>
                        <a:t># Rooms (x</a:t>
                      </a:r>
                      <a:r>
                        <a:rPr kumimoji="0" lang="en-US" altLang="en-US" sz="1400" b="1" i="0" u="none" strike="noStrike" cap="none" normalizeH="0" baseline="-25000" dirty="0">
                          <a:ln>
                            <a:noFill/>
                          </a:ln>
                          <a:solidFill>
                            <a:srgbClr val="FF0000"/>
                          </a:solidFill>
                          <a:effectLst/>
                          <a:latin typeface="Calibri" charset="0"/>
                          <a:ea typeface="ＭＳ Ｐゴシック" charset="-128"/>
                        </a:rPr>
                        <a:t>2</a:t>
                      </a:r>
                      <a:r>
                        <a:rPr kumimoji="0" lang="en-US" altLang="en-US" sz="1400" b="1" i="0" u="none" strike="noStrike" cap="none" normalizeH="0" baseline="0" dirty="0">
                          <a:ln>
                            <a:noFill/>
                          </a:ln>
                          <a:solidFill>
                            <a:srgbClr val="FF0000"/>
                          </a:solidFill>
                          <a:effectLst/>
                          <a:latin typeface="Calibri" charset="0"/>
                          <a:ea typeface="ＭＳ Ｐゴシック" charset="-128"/>
                        </a:rPr>
                        <a:t>)</a:t>
                      </a:r>
                    </a:p>
                  </a:txBody>
                  <a:tcPr marL="7620" marR="7620" marT="1016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latin typeface="Calibri" charset="0"/>
                          <a:ea typeface="ＭＳ Ｐゴシック" charset="-128"/>
                        </a:rPr>
                        <a:t>Price ($) in 1000's (</a:t>
                      </a:r>
                      <a:r>
                        <a:rPr kumimoji="0" lang="en-US" altLang="en-US" sz="1400" b="0" i="0" u="none" strike="noStrike" cap="none" normalizeH="0" baseline="0">
                          <a:ln>
                            <a:noFill/>
                          </a:ln>
                          <a:solidFill>
                            <a:schemeClr val="tx1"/>
                          </a:solidFill>
                          <a:effectLst/>
                          <a:latin typeface="Calibri" charset="0"/>
                          <a:ea typeface="ＭＳ Ｐゴシック" charset="-128"/>
                        </a:rPr>
                        <a:t>y</a:t>
                      </a:r>
                      <a:r>
                        <a:rPr kumimoji="0" lang="en-US" altLang="en-US" sz="1400" b="1" i="0" u="none" strike="noStrike" cap="none" normalizeH="0" baseline="0">
                          <a:ln>
                            <a:noFill/>
                          </a:ln>
                          <a:solidFill>
                            <a:schemeClr val="tx1"/>
                          </a:solidFill>
                          <a:effectLst/>
                          <a:latin typeface="Calibri" charset="0"/>
                          <a:ea typeface="ＭＳ Ｐゴシック" charset="-128"/>
                        </a:rPr>
                        <a:t>)</a:t>
                      </a:r>
                      <a:endParaRPr kumimoji="0" lang="en-US" altLang="en-US" sz="1400" b="1" i="0" u="none" strike="noStrike" cap="none" normalizeH="0" baseline="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2104</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6</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460</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1416</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4</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232</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1534</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5</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315</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65048">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Calibri" charset="0"/>
                          <a:ea typeface="ＭＳ Ｐゴシック" charset="-128"/>
                        </a:rPr>
                        <a:t>852</a:t>
                      </a:r>
                      <a:endParaRPr kumimoji="0" lang="en-US" altLang="en-US" sz="14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alibri" charset="0"/>
                          <a:ea typeface="ＭＳ Ｐゴシック" charset="-128"/>
                        </a:rPr>
                        <a:t>3</a:t>
                      </a: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178</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549223">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charset="0"/>
                          <a:ea typeface="ＭＳ Ｐゴシック" charset="-128"/>
                        </a:rPr>
                        <a:t>…</a:t>
                      </a:r>
                      <a:endParaRPr kumimoji="0" lang="en-US" altLang="en-US" sz="14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1744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Calculation the closest </a:t>
            </a:r>
            <a:r>
              <a:rPr lang="en-US" altLang="en-US" i="1" dirty="0">
                <a:latin typeface="Times New Roman" charset="0"/>
                <a:ea typeface="ＭＳ Ｐゴシック" charset="-128"/>
                <a:cs typeface="Times New Roman" charset="0"/>
              </a:rPr>
              <a:t>θ</a:t>
            </a:r>
            <a:r>
              <a:rPr lang="en-US" altLang="en-US" dirty="0">
                <a:ea typeface="ＭＳ Ｐゴシック" charset="-128"/>
              </a:rPr>
              <a:t> </a:t>
            </a:r>
            <a:r>
              <a:rPr lang="en-GB" dirty="0"/>
              <a:t>value with the </a:t>
            </a:r>
            <a:r>
              <a:rPr lang="en-US" altLang="en-US" dirty="0">
                <a:ea typeface="ＭＳ Ｐゴシック" charset="-128"/>
              </a:rPr>
              <a:t>Cost Function</a:t>
            </a:r>
            <a:endParaRPr lang="en-GB" dirty="0"/>
          </a:p>
        </p:txBody>
      </p:sp>
      <p:sp>
        <p:nvSpPr>
          <p:cNvPr id="3" name="Content Placeholder 2"/>
          <p:cNvSpPr>
            <a:spLocks noGrp="1"/>
          </p:cNvSpPr>
          <p:nvPr>
            <p:ph idx="1"/>
          </p:nvPr>
        </p:nvSpPr>
        <p:spPr/>
        <p:txBody>
          <a:bodyPr/>
          <a:lstStyle/>
          <a:p>
            <a:r>
              <a:rPr lang="en-GB" dirty="0"/>
              <a:t>Calculation steps:</a:t>
            </a:r>
          </a:p>
          <a:p>
            <a:endParaRPr lang="en-GB" dirty="0"/>
          </a:p>
          <a:p>
            <a:pPr marL="274320" lvl="1" indent="0">
              <a:buNone/>
            </a:pPr>
            <a:r>
              <a:rPr lang="en-GB" sz="2400" dirty="0"/>
              <a:t>1. Start with the initial values of </a:t>
            </a:r>
            <a:r>
              <a:rPr lang="en-US" altLang="en-US" sz="2400" i="1" dirty="0">
                <a:latin typeface="Times New Roman" charset="0"/>
                <a:ea typeface="ＭＳ Ｐゴシック" charset="-128"/>
                <a:cs typeface="Times New Roman" charset="0"/>
              </a:rPr>
              <a:t>θ</a:t>
            </a:r>
          </a:p>
          <a:p>
            <a:pPr marL="274320" lvl="1" indent="0">
              <a:buNone/>
            </a:pPr>
            <a:r>
              <a:rPr lang="en-US" altLang="en-US" sz="2400" i="1" dirty="0">
                <a:latin typeface="Times New Roman" charset="0"/>
                <a:ea typeface="ＭＳ Ｐゴシック" charset="-128"/>
                <a:cs typeface="Times New Roman" charset="0"/>
              </a:rPr>
              <a:t> θ</a:t>
            </a:r>
            <a:r>
              <a:rPr lang="en-US" altLang="en-US" sz="2400" i="1" baseline="-25000" dirty="0">
                <a:latin typeface="Times New Roman" charset="0"/>
                <a:ea typeface="ＭＳ Ｐゴシック" charset="-128"/>
                <a:cs typeface="Times New Roman" charset="0"/>
              </a:rPr>
              <a:t>0</a:t>
            </a:r>
            <a:r>
              <a:rPr lang="en-US" altLang="en-US" sz="2400" i="1" dirty="0">
                <a:latin typeface="Times New Roman" charset="0"/>
                <a:ea typeface="ＭＳ Ｐゴシック" charset="-128"/>
                <a:cs typeface="Times New Roman" charset="0"/>
              </a:rPr>
              <a:t>=0.5, θ</a:t>
            </a:r>
            <a:r>
              <a:rPr lang="en-US" altLang="en-US" sz="2400" i="1" baseline="-25000" dirty="0">
                <a:latin typeface="Times New Roman" charset="0"/>
                <a:ea typeface="ＭＳ Ｐゴシック" charset="-128"/>
                <a:cs typeface="Times New Roman" charset="0"/>
              </a:rPr>
              <a:t>1</a:t>
            </a:r>
            <a:r>
              <a:rPr lang="en-US" altLang="en-US" sz="2400" i="1" dirty="0">
                <a:latin typeface="Times New Roman" charset="0"/>
                <a:ea typeface="ＭＳ Ｐゴシック" charset="-128"/>
                <a:cs typeface="Times New Roman" charset="0"/>
              </a:rPr>
              <a:t> =1.2, θ</a:t>
            </a:r>
            <a:r>
              <a:rPr lang="en-US" altLang="en-US" sz="2400" i="1" baseline="-25000" dirty="0">
                <a:latin typeface="Times New Roman" charset="0"/>
                <a:ea typeface="ＭＳ Ｐゴシック" charset="-128"/>
                <a:cs typeface="Times New Roman" charset="0"/>
              </a:rPr>
              <a:t>2</a:t>
            </a:r>
            <a:r>
              <a:rPr lang="en-US" altLang="en-US" sz="2400" i="1" dirty="0">
                <a:latin typeface="Times New Roman" charset="0"/>
                <a:ea typeface="ＭＳ Ｐゴシック" charset="-128"/>
                <a:cs typeface="Times New Roman" charset="0"/>
              </a:rPr>
              <a:t> =2.0 (randomly)  </a:t>
            </a:r>
          </a:p>
          <a:p>
            <a:pPr marL="731520" lvl="1" indent="-457200">
              <a:buFont typeface="+mj-lt"/>
              <a:buAutoNum type="arabicPeriod"/>
            </a:pPr>
            <a:endParaRPr lang="en-US" altLang="en-US" sz="2400" i="1" dirty="0">
              <a:latin typeface="Times New Roman" charset="0"/>
              <a:ea typeface="ＭＳ Ｐゴシック" charset="-128"/>
              <a:cs typeface="Times New Roman" charset="0"/>
            </a:endParaRPr>
          </a:p>
          <a:p>
            <a:pPr marL="274320" lvl="1" indent="0">
              <a:buNone/>
            </a:pPr>
            <a:r>
              <a:rPr lang="en-US" sz="2400" dirty="0"/>
              <a:t>2. Follow a minimizing path to keep changing </a:t>
            </a:r>
            <a:r>
              <a:rPr lang="en-US" altLang="en-US" sz="2400" dirty="0"/>
              <a:t>θ for reducing the cost function J </a:t>
            </a:r>
          </a:p>
          <a:p>
            <a:pPr marL="274320" lvl="1" indent="0">
              <a:buNone/>
            </a:pPr>
            <a:endParaRPr lang="en-US" altLang="en-US" sz="2400" dirty="0"/>
          </a:p>
          <a:p>
            <a:pPr marL="274320" lvl="1" indent="0">
              <a:buNone/>
            </a:pPr>
            <a:r>
              <a:rPr lang="en-GB" sz="2400" dirty="0"/>
              <a:t>3. Stop if the J can’t be reduced anymore </a:t>
            </a:r>
          </a:p>
        </p:txBody>
      </p:sp>
    </p:spTree>
    <p:extLst>
      <p:ext uri="{BB962C8B-B14F-4D97-AF65-F5344CB8AC3E}">
        <p14:creationId xmlns:p14="http://schemas.microsoft.com/office/powerpoint/2010/main" val="2169919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2362342" y="1414984"/>
            <a:ext cx="6705458" cy="4761979"/>
          </a:xfrm>
        </p:spPr>
        <p:txBody>
          <a:bodyPr/>
          <a:lstStyle/>
          <a:p>
            <a:endParaRPr lang="en-GB"/>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1176338"/>
            <a:ext cx="7677150" cy="537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7"/>
          <p:cNvSpPr>
            <a:spLocks noChangeArrowheads="1"/>
          </p:cNvSpPr>
          <p:nvPr/>
        </p:nvSpPr>
        <p:spPr bwMode="auto">
          <a:xfrm>
            <a:off x="4343400" y="269875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6" name="AutoShape 8"/>
          <p:cNvSpPr>
            <a:spLocks noChangeArrowheads="1"/>
          </p:cNvSpPr>
          <p:nvPr/>
        </p:nvSpPr>
        <p:spPr bwMode="auto">
          <a:xfrm>
            <a:off x="4381500" y="2989263"/>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7" name="AutoShape 9"/>
          <p:cNvSpPr>
            <a:spLocks noChangeArrowheads="1"/>
          </p:cNvSpPr>
          <p:nvPr/>
        </p:nvSpPr>
        <p:spPr bwMode="auto">
          <a:xfrm>
            <a:off x="4362450" y="32845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8" name="AutoShape 10"/>
          <p:cNvSpPr>
            <a:spLocks noChangeArrowheads="1"/>
          </p:cNvSpPr>
          <p:nvPr/>
        </p:nvSpPr>
        <p:spPr bwMode="auto">
          <a:xfrm>
            <a:off x="4133850" y="35893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9" name="AutoShape 11"/>
          <p:cNvSpPr>
            <a:spLocks noChangeArrowheads="1"/>
          </p:cNvSpPr>
          <p:nvPr/>
        </p:nvSpPr>
        <p:spPr bwMode="auto">
          <a:xfrm>
            <a:off x="4210050" y="38941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0" name="AutoShape 12"/>
          <p:cNvSpPr>
            <a:spLocks noChangeArrowheads="1"/>
          </p:cNvSpPr>
          <p:nvPr/>
        </p:nvSpPr>
        <p:spPr bwMode="auto">
          <a:xfrm>
            <a:off x="4514850" y="39703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1" name="AutoShape 13"/>
          <p:cNvSpPr>
            <a:spLocks noChangeArrowheads="1"/>
          </p:cNvSpPr>
          <p:nvPr/>
        </p:nvSpPr>
        <p:spPr bwMode="auto">
          <a:xfrm>
            <a:off x="4667250" y="41989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2" name="AutoShape 14"/>
          <p:cNvSpPr>
            <a:spLocks noChangeArrowheads="1"/>
          </p:cNvSpPr>
          <p:nvPr/>
        </p:nvSpPr>
        <p:spPr bwMode="auto">
          <a:xfrm>
            <a:off x="4591050" y="4503738"/>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cxnSp>
        <p:nvCxnSpPr>
          <p:cNvPr id="13" name="AutoShape 15"/>
          <p:cNvCxnSpPr>
            <a:cxnSpLocks noChangeShapeType="1"/>
          </p:cNvCxnSpPr>
          <p:nvPr/>
        </p:nvCxnSpPr>
        <p:spPr bwMode="auto">
          <a:xfrm>
            <a:off x="4244975" y="3703638"/>
            <a:ext cx="76200" cy="304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4" name="AutoShape 16"/>
          <p:cNvCxnSpPr>
            <a:cxnSpLocks noChangeShapeType="1"/>
          </p:cNvCxnSpPr>
          <p:nvPr/>
        </p:nvCxnSpPr>
        <p:spPr bwMode="auto">
          <a:xfrm flipH="1">
            <a:off x="4244975" y="3398838"/>
            <a:ext cx="228600" cy="304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5" name="AutoShape 17"/>
          <p:cNvCxnSpPr>
            <a:cxnSpLocks noChangeShapeType="1"/>
          </p:cNvCxnSpPr>
          <p:nvPr/>
        </p:nvCxnSpPr>
        <p:spPr bwMode="auto">
          <a:xfrm>
            <a:off x="4327525" y="4008438"/>
            <a:ext cx="304800" cy="762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6" name="AutoShape 18"/>
          <p:cNvCxnSpPr>
            <a:cxnSpLocks noChangeShapeType="1"/>
          </p:cNvCxnSpPr>
          <p:nvPr/>
        </p:nvCxnSpPr>
        <p:spPr bwMode="auto">
          <a:xfrm>
            <a:off x="4621213" y="4084638"/>
            <a:ext cx="152400" cy="2286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7" name="AutoShape 19"/>
          <p:cNvCxnSpPr>
            <a:cxnSpLocks noChangeShapeType="1"/>
          </p:cNvCxnSpPr>
          <p:nvPr/>
        </p:nvCxnSpPr>
        <p:spPr bwMode="auto">
          <a:xfrm flipH="1">
            <a:off x="4697413" y="4313238"/>
            <a:ext cx="76200" cy="3048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8" name="Line 20"/>
          <p:cNvSpPr>
            <a:spLocks noChangeShapeType="1"/>
          </p:cNvSpPr>
          <p:nvPr/>
        </p:nvSpPr>
        <p:spPr bwMode="auto">
          <a:xfrm>
            <a:off x="4457700" y="2813050"/>
            <a:ext cx="42863"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 name="Line 21"/>
          <p:cNvSpPr>
            <a:spLocks noChangeShapeType="1"/>
          </p:cNvSpPr>
          <p:nvPr/>
        </p:nvSpPr>
        <p:spPr bwMode="auto">
          <a:xfrm flipH="1">
            <a:off x="4476750" y="3113088"/>
            <a:ext cx="23813" cy="2809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 name="Text Box 22"/>
          <p:cNvSpPr txBox="1">
            <a:spLocks noChangeArrowheads="1"/>
          </p:cNvSpPr>
          <p:nvPr/>
        </p:nvSpPr>
        <p:spPr bwMode="auto">
          <a:xfrm>
            <a:off x="7324725" y="4953000"/>
            <a:ext cx="3825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1</a:t>
            </a:r>
            <a:endParaRPr lang="en-US" altLang="en-US" sz="1800" baseline="-25000">
              <a:solidFill>
                <a:srgbClr val="000000"/>
              </a:solidFill>
              <a:latin typeface="Symbol" charset="2"/>
            </a:endParaRPr>
          </a:p>
        </p:txBody>
      </p:sp>
      <p:sp>
        <p:nvSpPr>
          <p:cNvPr id="21" name="Text Box 23"/>
          <p:cNvSpPr txBox="1">
            <a:spLocks noChangeArrowheads="1"/>
          </p:cNvSpPr>
          <p:nvPr/>
        </p:nvSpPr>
        <p:spPr bwMode="auto">
          <a:xfrm>
            <a:off x="3303588" y="5332413"/>
            <a:ext cx="3825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0</a:t>
            </a:r>
            <a:endParaRPr lang="en-US" altLang="en-US" sz="1800" baseline="-25000">
              <a:solidFill>
                <a:srgbClr val="000000"/>
              </a:solidFill>
              <a:latin typeface="Symbol" charset="2"/>
            </a:endParaRPr>
          </a:p>
        </p:txBody>
      </p:sp>
      <p:sp>
        <p:nvSpPr>
          <p:cNvPr id="22" name="Text Box 21"/>
          <p:cNvSpPr txBox="1">
            <a:spLocks noChangeArrowheads="1"/>
          </p:cNvSpPr>
          <p:nvPr/>
        </p:nvSpPr>
        <p:spPr bwMode="auto">
          <a:xfrm>
            <a:off x="1149350" y="3173413"/>
            <a:ext cx="904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dirty="0">
                <a:solidFill>
                  <a:srgbClr val="000000"/>
                </a:solidFill>
              </a:rPr>
              <a:t>J(</a:t>
            </a:r>
            <a:r>
              <a:rPr lang="en-US" altLang="en-US" sz="1800" dirty="0">
                <a:solidFill>
                  <a:srgbClr val="000000"/>
                </a:solidFill>
                <a:latin typeface="Symbol" charset="2"/>
                <a:sym typeface="Symbol" charset="2"/>
              </a:rPr>
              <a:t></a:t>
            </a:r>
            <a:r>
              <a:rPr lang="en-US" altLang="en-US" sz="1800" baseline="-25000" dirty="0">
                <a:solidFill>
                  <a:srgbClr val="000000"/>
                </a:solidFill>
                <a:latin typeface="Symbol" charset="2"/>
                <a:sym typeface="Symbol" charset="2"/>
              </a:rPr>
              <a:t>0</a:t>
            </a:r>
            <a:r>
              <a:rPr lang="en-US" altLang="en-US" sz="1800" dirty="0">
                <a:solidFill>
                  <a:srgbClr val="000000"/>
                </a:solidFill>
                <a:latin typeface="Symbol" charset="2"/>
                <a:sym typeface="Symbol" charset="2"/>
              </a:rPr>
              <a:t>,</a:t>
            </a:r>
            <a:r>
              <a:rPr lang="en-US" altLang="en-US" sz="1800" baseline="-25000" dirty="0">
                <a:solidFill>
                  <a:srgbClr val="000000"/>
                </a:solidFill>
                <a:latin typeface="Symbol" charset="2"/>
                <a:sym typeface="Symbol" charset="2"/>
              </a:rPr>
              <a:t>1</a:t>
            </a:r>
            <a:r>
              <a:rPr lang="en-US" altLang="en-US" sz="1800" dirty="0">
                <a:solidFill>
                  <a:srgbClr val="000000"/>
                </a:solidFill>
              </a:rPr>
              <a:t>)</a:t>
            </a:r>
            <a:endParaRPr lang="en-US" altLang="en-US" sz="1800" baseline="-25000" dirty="0">
              <a:solidFill>
                <a:srgbClr val="000000"/>
              </a:solidFill>
              <a:latin typeface="Symbol" charset="2"/>
              <a:sym typeface="Symbol" charset="2"/>
            </a:endParaRPr>
          </a:p>
        </p:txBody>
      </p:sp>
    </p:spTree>
    <p:extLst>
      <p:ext uri="{BB962C8B-B14F-4D97-AF65-F5344CB8AC3E}">
        <p14:creationId xmlns:p14="http://schemas.microsoft.com/office/powerpoint/2010/main" val="152906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500"/>
                                  </p:stCondLst>
                                  <p:childTnLst>
                                    <p:set>
                                      <p:cBhvr>
                                        <p:cTn id="30" dur="1" fill="hold">
                                          <p:stCondLst>
                                            <p:cond delay="0"/>
                                          </p:stCondLst>
                                        </p:cTn>
                                        <p:tgtEl>
                                          <p:spTgt spid="13"/>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500"/>
                                  </p:stCondLst>
                                  <p:childTnLst>
                                    <p:set>
                                      <p:cBhvr>
                                        <p:cTn id="36" dur="1" fill="hold">
                                          <p:stCondLst>
                                            <p:cond delay="0"/>
                                          </p:stCondLst>
                                        </p:cTn>
                                        <p:tgtEl>
                                          <p:spTgt spid="15"/>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nodeType="afterEffect">
                                  <p:stCondLst>
                                    <p:cond delay="500"/>
                                  </p:stCondLst>
                                  <p:childTnLst>
                                    <p:set>
                                      <p:cBhvr>
                                        <p:cTn id="42" dur="1" fill="hold">
                                          <p:stCondLst>
                                            <p:cond delay="0"/>
                                          </p:stCondLst>
                                        </p:cTn>
                                        <p:tgtEl>
                                          <p:spTgt spid="16"/>
                                        </p:tgtEl>
                                        <p:attrNameLst>
                                          <p:attrName>style.visibility</p:attrName>
                                        </p:attrNameLst>
                                      </p:cBhvr>
                                      <p:to>
                                        <p:strVal val="visible"/>
                                      </p:to>
                                    </p:set>
                                  </p:childTnLst>
                                </p:cTn>
                              </p:par>
                            </p:childTnLst>
                          </p:cTn>
                        </p:par>
                        <p:par>
                          <p:cTn id="43" fill="hold">
                            <p:stCondLst>
                              <p:cond delay="1500"/>
                            </p:stCondLst>
                            <p:childTnLst>
                              <p:par>
                                <p:cTn id="44" presetID="1" presetClass="entr" presetSubtype="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childTnLst>
                                </p:cTn>
                              </p:par>
                            </p:childTnLst>
                          </p:cTn>
                        </p:par>
                        <p:par>
                          <p:cTn id="46" fill="hold">
                            <p:stCondLst>
                              <p:cond delay="1500"/>
                            </p:stCondLst>
                            <p:childTnLst>
                              <p:par>
                                <p:cTn id="47" presetID="1" presetClass="entr" presetSubtype="0" fill="hold" nodeType="afterEffect">
                                  <p:stCondLst>
                                    <p:cond delay="500"/>
                                  </p:stCondLst>
                                  <p:childTnLst>
                                    <p:set>
                                      <p:cBhvr>
                                        <p:cTn id="48" dur="1" fill="hold">
                                          <p:stCondLst>
                                            <p:cond delay="0"/>
                                          </p:stCondLst>
                                        </p:cTn>
                                        <p:tgtEl>
                                          <p:spTgt spid="17"/>
                                        </p:tgtEl>
                                        <p:attrNameLst>
                                          <p:attrName>style.visibility</p:attrName>
                                        </p:attrNameLst>
                                      </p:cBhvr>
                                      <p:to>
                                        <p:strVal val="visible"/>
                                      </p:to>
                                    </p:set>
                                  </p:childTnLst>
                                </p:cTn>
                              </p:par>
                            </p:childTnLst>
                          </p:cTn>
                        </p:par>
                        <p:par>
                          <p:cTn id="49" fill="hold">
                            <p:stCondLst>
                              <p:cond delay="2000"/>
                            </p:stCondLst>
                            <p:childTnLst>
                              <p:par>
                                <p:cTn id="50" presetID="1"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81038"/>
            <a:ext cx="7677150" cy="537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p:cNvSpPr txBox="1">
            <a:spLocks noChangeArrowheads="1"/>
          </p:cNvSpPr>
          <p:nvPr/>
        </p:nvSpPr>
        <p:spPr bwMode="auto">
          <a:xfrm>
            <a:off x="2751138" y="5324475"/>
            <a:ext cx="3825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0</a:t>
            </a:r>
            <a:endParaRPr lang="en-US" altLang="en-US" sz="1800" baseline="-25000">
              <a:solidFill>
                <a:srgbClr val="000000"/>
              </a:solidFill>
              <a:latin typeface="Symbol" charset="2"/>
            </a:endParaRPr>
          </a:p>
        </p:txBody>
      </p:sp>
      <p:sp>
        <p:nvSpPr>
          <p:cNvPr id="6" name="Text Box 5"/>
          <p:cNvSpPr txBox="1">
            <a:spLocks noChangeArrowheads="1"/>
          </p:cNvSpPr>
          <p:nvPr/>
        </p:nvSpPr>
        <p:spPr bwMode="auto">
          <a:xfrm>
            <a:off x="6772275" y="4945063"/>
            <a:ext cx="3825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1</a:t>
            </a:r>
            <a:endParaRPr lang="en-US" altLang="en-US" sz="1800" baseline="-25000">
              <a:solidFill>
                <a:srgbClr val="000000"/>
              </a:solidFill>
              <a:latin typeface="Symbol" charset="2"/>
            </a:endParaRPr>
          </a:p>
        </p:txBody>
      </p:sp>
      <p:sp>
        <p:nvSpPr>
          <p:cNvPr id="7" name="AutoShape 7"/>
          <p:cNvSpPr>
            <a:spLocks noChangeArrowheads="1"/>
          </p:cNvSpPr>
          <p:nvPr/>
        </p:nvSpPr>
        <p:spPr bwMode="auto">
          <a:xfrm>
            <a:off x="3857626" y="2412207"/>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8" name="AutoShape 8"/>
          <p:cNvSpPr>
            <a:spLocks noChangeArrowheads="1"/>
          </p:cNvSpPr>
          <p:nvPr/>
        </p:nvSpPr>
        <p:spPr bwMode="auto">
          <a:xfrm>
            <a:off x="4243388" y="287655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9" name="AutoShape 9"/>
          <p:cNvSpPr>
            <a:spLocks noChangeArrowheads="1"/>
          </p:cNvSpPr>
          <p:nvPr/>
        </p:nvSpPr>
        <p:spPr bwMode="auto">
          <a:xfrm>
            <a:off x="4529138" y="3000375"/>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0" name="AutoShape 10"/>
          <p:cNvSpPr>
            <a:spLocks noChangeArrowheads="1"/>
          </p:cNvSpPr>
          <p:nvPr/>
        </p:nvSpPr>
        <p:spPr bwMode="auto">
          <a:xfrm>
            <a:off x="4876800" y="32766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1" name="AutoShape 11"/>
          <p:cNvSpPr>
            <a:spLocks noChangeArrowheads="1"/>
          </p:cNvSpPr>
          <p:nvPr/>
        </p:nvSpPr>
        <p:spPr bwMode="auto">
          <a:xfrm>
            <a:off x="5257800" y="35052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2" name="AutoShape 12"/>
          <p:cNvSpPr>
            <a:spLocks noChangeArrowheads="1"/>
          </p:cNvSpPr>
          <p:nvPr/>
        </p:nvSpPr>
        <p:spPr bwMode="auto">
          <a:xfrm>
            <a:off x="5638800" y="36576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13" name="AutoShape 13"/>
          <p:cNvSpPr>
            <a:spLocks noChangeArrowheads="1"/>
          </p:cNvSpPr>
          <p:nvPr/>
        </p:nvSpPr>
        <p:spPr bwMode="auto">
          <a:xfrm>
            <a:off x="6019800" y="3810000"/>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cxnSp>
        <p:nvCxnSpPr>
          <p:cNvPr id="14" name="AutoShape 14"/>
          <p:cNvCxnSpPr>
            <a:cxnSpLocks noChangeShapeType="1"/>
          </p:cNvCxnSpPr>
          <p:nvPr/>
        </p:nvCxnSpPr>
        <p:spPr bwMode="auto">
          <a:xfrm>
            <a:off x="4976813" y="3390900"/>
            <a:ext cx="381000" cy="2286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5" name="AutoShape 15"/>
          <p:cNvCxnSpPr>
            <a:cxnSpLocks noChangeShapeType="1"/>
          </p:cNvCxnSpPr>
          <p:nvPr/>
        </p:nvCxnSpPr>
        <p:spPr bwMode="auto">
          <a:xfrm>
            <a:off x="5368925" y="3619500"/>
            <a:ext cx="381000" cy="1524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16" name="AutoShape 16"/>
          <p:cNvCxnSpPr>
            <a:cxnSpLocks noChangeShapeType="1"/>
          </p:cNvCxnSpPr>
          <p:nvPr/>
        </p:nvCxnSpPr>
        <p:spPr bwMode="auto">
          <a:xfrm>
            <a:off x="5749925" y="3771900"/>
            <a:ext cx="381000" cy="152400"/>
          </a:xfrm>
          <a:prstGeom prst="straightConnector1">
            <a:avLst/>
          </a:prstGeom>
          <a:noFill/>
          <a:ln w="28575">
            <a:solidFill>
              <a:schemeClr val="tx1"/>
            </a:solidFill>
            <a:round/>
            <a:headEnd/>
            <a:tailEnd/>
          </a:ln>
          <a:extLst>
            <a:ext uri="{909E8E84-426E-40DD-AFC4-6F175D3DCCD1}">
              <a14:hiddenFill xmlns:a14="http://schemas.microsoft.com/office/drawing/2010/main">
                <a:noFill/>
              </a14:hiddenFill>
            </a:ext>
          </a:extLst>
        </p:spPr>
      </p:cxnSp>
      <p:sp>
        <p:nvSpPr>
          <p:cNvPr id="17" name="Line 17"/>
          <p:cNvSpPr>
            <a:spLocks noChangeShapeType="1"/>
          </p:cNvSpPr>
          <p:nvPr/>
        </p:nvSpPr>
        <p:spPr bwMode="auto">
          <a:xfrm>
            <a:off x="3975327" y="2526507"/>
            <a:ext cx="372836" cy="4595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8" name="Line 18"/>
          <p:cNvSpPr>
            <a:spLocks noChangeShapeType="1"/>
          </p:cNvSpPr>
          <p:nvPr/>
        </p:nvSpPr>
        <p:spPr bwMode="auto">
          <a:xfrm>
            <a:off x="4348163" y="2990850"/>
            <a:ext cx="290512" cy="133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 name="AutoShape 19"/>
          <p:cNvSpPr>
            <a:spLocks noChangeArrowheads="1"/>
          </p:cNvSpPr>
          <p:nvPr/>
        </p:nvSpPr>
        <p:spPr bwMode="auto">
          <a:xfrm>
            <a:off x="3746727" y="2653733"/>
            <a:ext cx="2286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endParaRPr lang="en-US" altLang="en-US" sz="1800">
              <a:solidFill>
                <a:srgbClr val="000000"/>
              </a:solidFill>
            </a:endParaRPr>
          </a:p>
        </p:txBody>
      </p:sp>
      <p:sp>
        <p:nvSpPr>
          <p:cNvPr id="20" name="Line 20"/>
          <p:cNvSpPr>
            <a:spLocks noChangeShapeType="1"/>
          </p:cNvSpPr>
          <p:nvPr/>
        </p:nvSpPr>
        <p:spPr bwMode="auto">
          <a:xfrm>
            <a:off x="4643438" y="3128963"/>
            <a:ext cx="333375" cy="2619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1" name="Text Box 21"/>
          <p:cNvSpPr txBox="1">
            <a:spLocks noChangeArrowheads="1"/>
          </p:cNvSpPr>
          <p:nvPr/>
        </p:nvSpPr>
        <p:spPr bwMode="auto">
          <a:xfrm>
            <a:off x="596900" y="3178175"/>
            <a:ext cx="904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800">
                <a:solidFill>
                  <a:srgbClr val="000000"/>
                </a:solidFill>
              </a:rPr>
              <a:t>J(</a:t>
            </a:r>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0</a:t>
            </a:r>
            <a:r>
              <a:rPr lang="en-US" altLang="en-US" sz="1800">
                <a:solidFill>
                  <a:srgbClr val="000000"/>
                </a:solidFill>
                <a:latin typeface="Symbol" charset="2"/>
                <a:sym typeface="Symbol" charset="2"/>
              </a:rPr>
              <a:t>,</a:t>
            </a:r>
            <a:r>
              <a:rPr lang="en-US" altLang="en-US" sz="1800" baseline="-25000">
                <a:solidFill>
                  <a:srgbClr val="000000"/>
                </a:solidFill>
                <a:latin typeface="Symbol" charset="2"/>
                <a:sym typeface="Symbol" charset="2"/>
              </a:rPr>
              <a:t>1</a:t>
            </a:r>
            <a:r>
              <a:rPr lang="en-US" altLang="en-US" sz="1800">
                <a:solidFill>
                  <a:srgbClr val="000000"/>
                </a:solidFill>
              </a:rPr>
              <a:t>)</a:t>
            </a:r>
            <a:endParaRPr lang="en-US" altLang="en-US" sz="1800" baseline="-25000">
              <a:solidFill>
                <a:srgbClr val="000000"/>
              </a:solidFill>
              <a:latin typeface="Symbol" charset="2"/>
              <a:sym typeface="Symbol" charset="2"/>
            </a:endParaRPr>
          </a:p>
        </p:txBody>
      </p:sp>
    </p:spTree>
    <p:extLst>
      <p:ext uri="{BB962C8B-B14F-4D97-AF65-F5344CB8AC3E}">
        <p14:creationId xmlns:p14="http://schemas.microsoft.com/office/powerpoint/2010/main" val="2866508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50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500"/>
                                  </p:stCondLst>
                                  <p:childTnLst>
                                    <p:set>
                                      <p:cBhvr>
                                        <p:cTn id="40" dur="1" fill="hold">
                                          <p:stCondLst>
                                            <p:cond delay="0"/>
                                          </p:stCondLst>
                                        </p:cTn>
                                        <p:tgtEl>
                                          <p:spTgt spid="15"/>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par>
                          <p:cTn id="44" fill="hold">
                            <p:stCondLst>
                              <p:cond delay="1000"/>
                            </p:stCondLst>
                            <p:childTnLst>
                              <p:par>
                                <p:cTn id="45" presetID="1" presetClass="entr" presetSubtype="0" fill="hold" nodeType="afterEffect">
                                  <p:stCondLst>
                                    <p:cond delay="500"/>
                                  </p:stCondLst>
                                  <p:childTnLst>
                                    <p:set>
                                      <p:cBhvr>
                                        <p:cTn id="46" dur="1" fill="hold">
                                          <p:stCondLst>
                                            <p:cond delay="0"/>
                                          </p:stCondLst>
                                        </p:cTn>
                                        <p:tgtEl>
                                          <p:spTgt spid="16"/>
                                        </p:tgtEl>
                                        <p:attrNameLst>
                                          <p:attrName>style.visibility</p:attrName>
                                        </p:attrNameLst>
                                      </p:cBhvr>
                                      <p:to>
                                        <p:strVal val="visible"/>
                                      </p:to>
                                    </p:set>
                                  </p:childTnLst>
                                </p:cTn>
                              </p:par>
                            </p:childTnLst>
                          </p:cTn>
                        </p:par>
                        <p:par>
                          <p:cTn id="47" fill="hold">
                            <p:stCondLst>
                              <p:cond delay="1500"/>
                            </p:stCondLst>
                            <p:childTnLst>
                              <p:par>
                                <p:cTn id="48" presetID="1" presetClass="entr" presetSubtype="0"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7" grpId="0" animBg="1"/>
      <p:bldP spid="18" grpId="0" animBg="1"/>
      <p:bldP spid="19"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3505200"/>
            <a:ext cx="33528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a:bodyPr>
          <a:lstStyle/>
          <a:p>
            <a:r>
              <a:rPr lang="en-GB" dirty="0"/>
              <a:t>LMS (least mean squares)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GB" sz="2000" dirty="0"/>
                  <a:t>We want to choose θ so as to minimize J(θ)</a:t>
                </a:r>
              </a:p>
              <a:p>
                <a:r>
                  <a:rPr lang="en-GB" sz="2000" dirty="0"/>
                  <a:t>Gradient Descent algorithm, let’s start with some initial θ, and repeatedly performs the update simultaneously for all θ:</a:t>
                </a:r>
                <a:endParaRPr lang="en-GB" dirty="0"/>
              </a:p>
              <a:p>
                <a:pPr marL="0" indent="0">
                  <a:buNone/>
                </a:pPr>
                <a:r>
                  <a:rPr lang="en-GB" dirty="0"/>
                  <a:t>θ</a:t>
                </a:r>
                <a:r>
                  <a:rPr lang="en-GB" baseline="-25000" dirty="0"/>
                  <a:t>j</a:t>
                </a:r>
                <a:r>
                  <a:rPr lang="en-GB" dirty="0"/>
                  <a:t> := θ</a:t>
                </a:r>
                <a:r>
                  <a:rPr lang="en-GB" baseline="-25000" dirty="0"/>
                  <a:t>j</a:t>
                </a:r>
                <a:r>
                  <a:rPr lang="en-GB" dirty="0"/>
                  <a:t>- </a:t>
                </a:r>
                <a:r>
                  <a:rPr lang="el-GR" dirty="0"/>
                  <a:t>α</a:t>
                </a:r>
                <a14:m>
                  <m:oMath xmlns:m="http://schemas.openxmlformats.org/officeDocument/2006/math">
                    <m:f>
                      <m:fPr>
                        <m:ctrlPr>
                          <a:rPr lang="el-GR" i="1" smtClean="0">
                            <a:latin typeface="Cambria Math" panose="02040503050406030204" pitchFamily="18" charset="0"/>
                          </a:rPr>
                        </m:ctrlPr>
                      </m:fPr>
                      <m:num>
                        <m:r>
                          <m:rPr>
                            <m:nor/>
                          </m:rPr>
                          <a:rPr lang="en-GB"/>
                          <m:t>∂</m:t>
                        </m:r>
                      </m:num>
                      <m:den>
                        <m:r>
                          <m:rPr>
                            <m:nor/>
                          </m:rPr>
                          <a:rPr lang="el-GR"/>
                          <m:t>∂</m:t>
                        </m:r>
                        <m:r>
                          <m:rPr>
                            <m:nor/>
                          </m:rPr>
                          <a:rPr lang="el-GR"/>
                          <m:t>θ</m:t>
                        </m:r>
                        <m:r>
                          <m:rPr>
                            <m:nor/>
                          </m:rPr>
                          <a:rPr lang="en-GB" baseline="-25000"/>
                          <m:t>j</m:t>
                        </m:r>
                      </m:den>
                    </m:f>
                  </m:oMath>
                </a14:m>
                <a:r>
                  <a:rPr lang="en-GB" dirty="0"/>
                  <a:t>J(θ) | j = 0,…,n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4"/>
                <a:stretch>
                  <a:fillRect l="-1111" t="-500"/>
                </a:stretch>
              </a:blipFill>
            </p:spPr>
            <p:txBody>
              <a:bodyPr/>
              <a:lstStyle/>
              <a:p>
                <a:r>
                  <a:rPr lang="en-GB">
                    <a:noFill/>
                  </a:rPr>
                  <a:t> </a:t>
                </a:r>
              </a:p>
            </p:txBody>
          </p:sp>
        </mc:Fallback>
      </mc:AlternateContent>
      <p:cxnSp>
        <p:nvCxnSpPr>
          <p:cNvPr id="10" name="Curved Connector 9"/>
          <p:cNvCxnSpPr>
            <a:cxnSpLocks noChangeShapeType="1"/>
          </p:cNvCxnSpPr>
          <p:nvPr/>
        </p:nvCxnSpPr>
        <p:spPr bwMode="auto">
          <a:xfrm rot="5400000" flipH="1" flipV="1">
            <a:off x="2260293" y="3273426"/>
            <a:ext cx="838200" cy="685800"/>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1" name="TextBox 10"/>
          <p:cNvSpPr txBox="1">
            <a:spLocks noChangeArrowheads="1"/>
          </p:cNvSpPr>
          <p:nvPr/>
        </p:nvSpPr>
        <p:spPr bwMode="auto">
          <a:xfrm>
            <a:off x="1925331" y="3978276"/>
            <a:ext cx="1468437" cy="369888"/>
          </a:xfrm>
          <a:prstGeom prst="rect">
            <a:avLst/>
          </a:prstGeom>
          <a:gradFill rotWithShape="1">
            <a:gsLst>
              <a:gs pos="0">
                <a:srgbClr val="FFE5E5"/>
              </a:gs>
              <a:gs pos="64999">
                <a:srgbClr val="FFBEBD"/>
              </a:gs>
              <a:gs pos="100000">
                <a:srgbClr val="FFA2A1"/>
              </a:gs>
            </a:gsLst>
            <a:lin ang="5400000" scaled="1"/>
          </a:gradFill>
          <a:ln w="9525">
            <a:solidFill>
              <a:srgbClr val="BE4B48"/>
            </a:solidFill>
            <a:miter lim="800000"/>
            <a:headEnd/>
            <a:tailEnd/>
          </a:ln>
          <a:effectLst>
            <a:outerShdw blurRad="40000" dist="20000" dir="5400000" rotWithShape="0">
              <a:srgbClr val="808080">
                <a:alpha val="37999"/>
              </a:srgbClr>
            </a:outerShdw>
          </a:effectLst>
        </p:spPr>
        <p:txBody>
          <a:bodyPr wrap="none">
            <a:spAutoFit/>
          </a:bodyPr>
          <a:lstStyle/>
          <a:p>
            <a:pPr>
              <a:defRPr/>
            </a:pPr>
            <a:r>
              <a:rPr lang="en-US" dirty="0">
                <a:solidFill>
                  <a:schemeClr val="dk1"/>
                </a:solidFill>
                <a:latin typeface="+mn-lt"/>
                <a:ea typeface="+mn-ea"/>
              </a:rPr>
              <a:t>learning rate</a:t>
            </a:r>
          </a:p>
        </p:txBody>
      </p:sp>
      <p:cxnSp>
        <p:nvCxnSpPr>
          <p:cNvPr id="12" name="Curved Connector 11"/>
          <p:cNvCxnSpPr>
            <a:cxnSpLocks noChangeShapeType="1"/>
          </p:cNvCxnSpPr>
          <p:nvPr/>
        </p:nvCxnSpPr>
        <p:spPr bwMode="auto">
          <a:xfrm flipV="1">
            <a:off x="5584336" y="3768726"/>
            <a:ext cx="435464" cy="362033"/>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3631893" y="3978276"/>
            <a:ext cx="1941557" cy="369332"/>
          </a:xfrm>
          <a:prstGeom prst="rect">
            <a:avLst/>
          </a:prstGeom>
          <a:gradFill rotWithShape="1">
            <a:gsLst>
              <a:gs pos="0">
                <a:srgbClr val="FFE5E5"/>
              </a:gs>
              <a:gs pos="64999">
                <a:srgbClr val="FFBEBD"/>
              </a:gs>
              <a:gs pos="100000">
                <a:srgbClr val="FFA2A1"/>
              </a:gs>
            </a:gsLst>
            <a:lin ang="5400000" scaled="1"/>
          </a:gradFill>
          <a:ln w="9525">
            <a:solidFill>
              <a:srgbClr val="BE4B48"/>
            </a:solidFill>
            <a:miter lim="800000"/>
            <a:headEnd/>
            <a:tailEnd/>
          </a:ln>
          <a:effectLst>
            <a:outerShdw blurRad="40000" dist="20000" dir="5400000" rotWithShape="0">
              <a:srgbClr val="808080">
                <a:alpha val="37999"/>
              </a:srgbClr>
            </a:outerShdw>
          </a:effectLst>
        </p:spPr>
        <p:txBody>
          <a:bodyPr wrap="none">
            <a:spAutoFit/>
          </a:bodyPr>
          <a:lstStyle/>
          <a:p>
            <a:pPr>
              <a:defRPr/>
            </a:pPr>
            <a:r>
              <a:rPr lang="en-US" dirty="0">
                <a:solidFill>
                  <a:schemeClr val="dk1"/>
                </a:solidFill>
              </a:rPr>
              <a:t>Partial derivative</a:t>
            </a:r>
            <a:endParaRPr lang="en-US" dirty="0">
              <a:solidFill>
                <a:schemeClr val="dk1"/>
              </a:solidFill>
              <a:latin typeface="+mn-lt"/>
              <a:ea typeface="+mn-ea"/>
            </a:endParaRPr>
          </a:p>
        </p:txBody>
      </p:sp>
      <p:sp>
        <p:nvSpPr>
          <p:cNvPr id="15" name="Rectangle 14"/>
          <p:cNvSpPr/>
          <p:nvPr/>
        </p:nvSpPr>
        <p:spPr>
          <a:xfrm>
            <a:off x="5943600" y="2926195"/>
            <a:ext cx="2954655" cy="369332"/>
          </a:xfrm>
          <a:prstGeom prst="rect">
            <a:avLst/>
          </a:prstGeom>
        </p:spPr>
        <p:txBody>
          <a:bodyPr wrap="none">
            <a:spAutoFit/>
          </a:bodyPr>
          <a:lstStyle/>
          <a:p>
            <a:r>
              <a:rPr lang="en-GB" dirty="0"/>
              <a:t>One training example (x, y)</a:t>
            </a:r>
          </a:p>
        </p:txBody>
      </p:sp>
      <p:cxnSp>
        <p:nvCxnSpPr>
          <p:cNvPr id="17" name="Curved Connector 16"/>
          <p:cNvCxnSpPr>
            <a:cxnSpLocks noChangeShapeType="1"/>
          </p:cNvCxnSpPr>
          <p:nvPr/>
        </p:nvCxnSpPr>
        <p:spPr bwMode="auto">
          <a:xfrm rot="10800000">
            <a:off x="3578825" y="3454401"/>
            <a:ext cx="685800" cy="628650"/>
          </a:xfrm>
          <a:prstGeom prst="curvedConnector3">
            <a:avLst>
              <a:gd name="adj1" fmla="val 50000"/>
            </a:avLst>
          </a:prstGeom>
          <a:noFill/>
          <a:ln w="4445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4" name="TextBox 23"/>
          <p:cNvSpPr txBox="1"/>
          <p:nvPr/>
        </p:nvSpPr>
        <p:spPr>
          <a:xfrm>
            <a:off x="1618570" y="4711658"/>
            <a:ext cx="2154757" cy="307777"/>
          </a:xfrm>
          <a:prstGeom prst="rect">
            <a:avLst/>
          </a:prstGeom>
          <a:noFill/>
        </p:spPr>
        <p:txBody>
          <a:bodyPr wrap="none" rtlCol="0">
            <a:spAutoFit/>
          </a:bodyPr>
          <a:lstStyle/>
          <a:p>
            <a:r>
              <a:rPr lang="en-GB" sz="1400" b="1" dirty="0"/>
              <a:t>Derivatives power rule:</a:t>
            </a:r>
          </a:p>
        </p:txBody>
      </p:sp>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1556" y="4533680"/>
            <a:ext cx="1461063" cy="57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TextBox 25"/>
          <p:cNvSpPr txBox="1"/>
          <p:nvPr/>
        </p:nvSpPr>
        <p:spPr>
          <a:xfrm>
            <a:off x="1618570" y="5305695"/>
            <a:ext cx="5221301" cy="307777"/>
          </a:xfrm>
          <a:prstGeom prst="rect">
            <a:avLst/>
          </a:prstGeom>
          <a:noFill/>
        </p:spPr>
        <p:txBody>
          <a:bodyPr wrap="none" rtlCol="0">
            <a:spAutoFit/>
          </a:bodyPr>
          <a:lstStyle/>
          <a:p>
            <a:r>
              <a:rPr lang="en-GB" sz="1400" b="1" dirty="0"/>
              <a:t>Derivatives chain rule: </a:t>
            </a:r>
            <a:r>
              <a:rPr lang="en-GB" sz="1400" b="1" dirty="0">
                <a:solidFill>
                  <a:srgbClr val="0070C0"/>
                </a:solidFill>
              </a:rPr>
              <a:t>the derivative of f(g(x)) = f'(g(x))g'(x)</a:t>
            </a:r>
          </a:p>
        </p:txBody>
      </p:sp>
      <p:sp>
        <p:nvSpPr>
          <p:cNvPr id="27" name="Rectangle 26"/>
          <p:cNvSpPr/>
          <p:nvPr/>
        </p:nvSpPr>
        <p:spPr>
          <a:xfrm>
            <a:off x="411210" y="5638800"/>
            <a:ext cx="8402375" cy="923330"/>
          </a:xfrm>
          <a:prstGeom prst="rect">
            <a:avLst/>
          </a:prstGeom>
        </p:spPr>
        <p:txBody>
          <a:bodyPr wrap="square">
            <a:spAutoFit/>
          </a:bodyPr>
          <a:lstStyle/>
          <a:p>
            <a:pPr algn="ctr"/>
            <a:r>
              <a:rPr lang="en-GB" dirty="0">
                <a:solidFill>
                  <a:srgbClr val="FF0000"/>
                </a:solidFill>
              </a:rPr>
              <a:t>For a single training example, this gives the update rule</a:t>
            </a:r>
          </a:p>
          <a:p>
            <a:pPr algn="ctr"/>
            <a:endParaRPr lang="en-GB" dirty="0"/>
          </a:p>
          <a:p>
            <a:endParaRPr lang="en-GB" dirty="0"/>
          </a:p>
        </p:txBody>
      </p:sp>
      <p:pic>
        <p:nvPicPr>
          <p:cNvPr id="30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5775" y="6040141"/>
            <a:ext cx="26384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634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7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p:bldP spid="24" grpId="0"/>
      <p:bldP spid="26"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Gradient descent algorithm in example</a:t>
            </a:r>
            <a:endParaRPr lang="en-GB" dirty="0"/>
          </a:p>
        </p:txBody>
      </p:sp>
      <p:sp>
        <p:nvSpPr>
          <p:cNvPr id="3" name="Content Placeholder 2"/>
          <p:cNvSpPr>
            <a:spLocks noGrp="1"/>
          </p:cNvSpPr>
          <p:nvPr>
            <p:ph idx="1"/>
          </p:nvPr>
        </p:nvSpPr>
        <p:spPr/>
        <p:txBody>
          <a:bodyPr/>
          <a:lstStyle/>
          <a:p>
            <a:r>
              <a:rPr lang="en-GB" dirty="0"/>
              <a:t>To simplify the explanation and visualisation, we delete the #room feature from the training dataset.</a:t>
            </a:r>
          </a:p>
          <a:p>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65090351"/>
              </p:ext>
            </p:extLst>
          </p:nvPr>
        </p:nvGraphicFramePr>
        <p:xfrm>
          <a:off x="1713593" y="2620341"/>
          <a:ext cx="2934607" cy="1842315"/>
        </p:xfrm>
        <a:graphic>
          <a:graphicData uri="http://schemas.openxmlformats.org/drawingml/2006/table">
            <a:tbl>
              <a:tblPr/>
              <a:tblGrid>
                <a:gridCol w="1389786">
                  <a:extLst>
                    <a:ext uri="{9D8B030D-6E8A-4147-A177-3AD203B41FA5}">
                      <a16:colId xmlns:a16="http://schemas.microsoft.com/office/drawing/2014/main" val="20000"/>
                    </a:ext>
                  </a:extLst>
                </a:gridCol>
                <a:gridCol w="1544821">
                  <a:extLst>
                    <a:ext uri="{9D8B030D-6E8A-4147-A177-3AD203B41FA5}">
                      <a16:colId xmlns:a16="http://schemas.microsoft.com/office/drawing/2014/main" val="20001"/>
                    </a:ext>
                  </a:extLst>
                </a:gridCol>
              </a:tblGrid>
              <a:tr h="4448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alibri" charset="0"/>
                          <a:ea typeface="ＭＳ Ｐゴシック" charset="-128"/>
                        </a:rPr>
                        <a:t>Size in feet</a:t>
                      </a:r>
                      <a:r>
                        <a:rPr kumimoji="0" lang="en-US" altLang="en-US" sz="1200" b="1" i="0" u="none" strike="noStrike" cap="none" normalizeH="0" baseline="30000" dirty="0">
                          <a:ln>
                            <a:noFill/>
                          </a:ln>
                          <a:solidFill>
                            <a:schemeClr val="tx1"/>
                          </a:solidFill>
                          <a:effectLst/>
                          <a:latin typeface="Calibri" charset="0"/>
                          <a:ea typeface="ＭＳ Ｐゴシック" charset="-128"/>
                        </a:rPr>
                        <a:t>2</a:t>
                      </a:r>
                      <a:r>
                        <a:rPr kumimoji="0" lang="en-US" altLang="en-US" sz="1200" b="1" i="0" u="none" strike="noStrike" cap="none" normalizeH="0" baseline="0" dirty="0">
                          <a:ln>
                            <a:noFill/>
                          </a:ln>
                          <a:solidFill>
                            <a:schemeClr val="tx1"/>
                          </a:solidFill>
                          <a:effectLst/>
                          <a:latin typeface="Calibri" charset="0"/>
                          <a:ea typeface="ＭＳ Ｐゴシック" charset="-128"/>
                        </a:rPr>
                        <a:t> (</a:t>
                      </a:r>
                      <a:r>
                        <a:rPr kumimoji="0" lang="en-US" altLang="en-US" sz="1200" b="0" i="0" u="none" strike="noStrike" cap="none" normalizeH="0" baseline="0" dirty="0">
                          <a:ln>
                            <a:noFill/>
                          </a:ln>
                          <a:solidFill>
                            <a:schemeClr val="tx1"/>
                          </a:solidFill>
                          <a:effectLst/>
                          <a:latin typeface="Calibri" charset="0"/>
                          <a:ea typeface="ＭＳ Ｐゴシック" charset="-128"/>
                        </a:rPr>
                        <a:t>x</a:t>
                      </a:r>
                      <a:r>
                        <a:rPr kumimoji="0" lang="en-US" altLang="en-US" sz="1200" b="1" i="0" u="none" strike="noStrike" cap="none" normalizeH="0" baseline="0" dirty="0">
                          <a:ln>
                            <a:noFill/>
                          </a:ln>
                          <a:solidFill>
                            <a:schemeClr val="tx1"/>
                          </a:solidFill>
                          <a:effectLst/>
                          <a:latin typeface="Calibri" charset="0"/>
                          <a:ea typeface="ＭＳ Ｐゴシック" charset="-128"/>
                        </a:rPr>
                        <a:t>)</a:t>
                      </a:r>
                      <a:endParaRPr kumimoji="0" lang="en-US" altLang="en-US" sz="1200" b="1" i="0" u="none" strike="noStrike" cap="none" normalizeH="0" baseline="0" dirty="0">
                        <a:ln>
                          <a:noFill/>
                        </a:ln>
                        <a:solidFill>
                          <a:srgbClr val="000000"/>
                        </a:solidFill>
                        <a:effectLst/>
                        <a:latin typeface="Calibri" charset="0"/>
                        <a:ea typeface="ＭＳ Ｐゴシック" charset="-128"/>
                      </a:endParaRPr>
                    </a:p>
                  </a:txBody>
                  <a:tcPr marL="7620" marR="7620" marT="1016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alibri" charset="0"/>
                          <a:ea typeface="ＭＳ Ｐゴシック" charset="-128"/>
                        </a:rPr>
                        <a:t>Price ($) in 1000's (</a:t>
                      </a:r>
                      <a:r>
                        <a:rPr kumimoji="0" lang="en-US" altLang="en-US" sz="1200" b="0" i="0" u="none" strike="noStrike" cap="none" normalizeH="0" baseline="0">
                          <a:ln>
                            <a:noFill/>
                          </a:ln>
                          <a:solidFill>
                            <a:schemeClr val="tx1"/>
                          </a:solidFill>
                          <a:effectLst/>
                          <a:latin typeface="Calibri" charset="0"/>
                          <a:ea typeface="ＭＳ Ｐゴシック" charset="-128"/>
                        </a:rPr>
                        <a:t>y</a:t>
                      </a:r>
                      <a:r>
                        <a:rPr kumimoji="0" lang="en-US" altLang="en-US" sz="1200" b="1" i="0" u="none" strike="noStrike" cap="none" normalizeH="0" baseline="0">
                          <a:ln>
                            <a:noFill/>
                          </a:ln>
                          <a:solidFill>
                            <a:schemeClr val="tx1"/>
                          </a:solidFill>
                          <a:effectLst/>
                          <a:latin typeface="Calibri" charset="0"/>
                          <a:ea typeface="ＭＳ Ｐゴシック" charset="-128"/>
                        </a:rPr>
                        <a:t>)</a:t>
                      </a:r>
                      <a:endParaRPr kumimoji="0" lang="en-US" altLang="en-US" sz="1200" b="1" i="0" u="none" strike="noStrike" cap="none" normalizeH="0" baseline="0">
                        <a:ln>
                          <a:noFill/>
                        </a:ln>
                        <a:solidFill>
                          <a:srgbClr val="000000"/>
                        </a:solidFill>
                        <a:effectLst/>
                        <a:latin typeface="Calibri" charset="0"/>
                        <a:ea typeface="ＭＳ Ｐゴシック" charset="-128"/>
                      </a:endParaRPr>
                    </a:p>
                  </a:txBody>
                  <a:tcPr marL="7620" marR="7620" marT="1016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2104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460</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1416</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232</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1534</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Calibri" charset="0"/>
                          <a:ea typeface="ＭＳ Ｐゴシック" charset="-128"/>
                        </a:rPr>
                        <a:t>315</a:t>
                      </a:r>
                      <a:endParaRPr kumimoji="0" lang="en-US" altLang="en-US" sz="1200" b="0" i="0" u="none" strike="noStrike" cap="none" normalizeH="0" baseline="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24915">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852</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charset="0"/>
                          <a:ea typeface="ＭＳ Ｐゴシック" charset="-128"/>
                        </a:rPr>
                        <a:t>178</a:t>
                      </a:r>
                      <a:endParaRPr kumimoji="0" lang="en-US" altLang="en-US" sz="1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466061">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Font typeface="Arial" charset="0"/>
                        <a:defRPr sz="2800">
                          <a:solidFill>
                            <a:schemeClr val="tx1"/>
                          </a:solidFill>
                          <a:latin typeface="Calibri" charset="0"/>
                          <a:ea typeface="ＭＳ Ｐゴシック" charset="-128"/>
                        </a:defRPr>
                      </a:lvl1pPr>
                      <a:lvl2pPr marL="37931725" indent="-37474525" eaLnBrk="0" hangingPunct="0">
                        <a:spcBef>
                          <a:spcPct val="20000"/>
                        </a:spcBef>
                        <a:buFont typeface="Arial" charset="0"/>
                        <a:defRPr sz="2400">
                          <a:solidFill>
                            <a:schemeClr val="tx1"/>
                          </a:solidFill>
                          <a:latin typeface="Calibri" charset="0"/>
                          <a:ea typeface="ＭＳ Ｐゴシック" charset="-128"/>
                        </a:defRPr>
                      </a:lvl2pPr>
                      <a:lvl3pPr eaLnBrk="0" hangingPunct="0">
                        <a:spcBef>
                          <a:spcPct val="20000"/>
                        </a:spcBef>
                        <a:defRPr sz="2000">
                          <a:solidFill>
                            <a:schemeClr val="tx1"/>
                          </a:solidFill>
                          <a:latin typeface="Calibri" charset="0"/>
                          <a:ea typeface="ＭＳ Ｐゴシック" charset="-128"/>
                        </a:defRPr>
                      </a:lvl3pPr>
                      <a:lvl4pPr eaLnBrk="0" hangingPunct="0">
                        <a:spcBef>
                          <a:spcPct val="20000"/>
                        </a:spcBef>
                        <a:defRPr>
                          <a:solidFill>
                            <a:schemeClr val="tx1"/>
                          </a:solidFill>
                          <a:latin typeface="Calibri" charset="0"/>
                          <a:ea typeface="ＭＳ Ｐゴシック" charset="-128"/>
                        </a:defRPr>
                      </a:lvl4pPr>
                      <a:lvl5pPr eaLnBrk="0" hangingPunct="0">
                        <a:spcBef>
                          <a:spcPct val="20000"/>
                        </a:spcBef>
                        <a:defRPr>
                          <a:solidFill>
                            <a:schemeClr val="tx1"/>
                          </a:solidFill>
                          <a:latin typeface="Calibri" charset="0"/>
                          <a:ea typeface="ＭＳ Ｐゴシック" charset="-128"/>
                        </a:defRPr>
                      </a:lvl5pPr>
                      <a:lvl6pPr marL="457200" eaLnBrk="0" fontAlgn="base" hangingPunct="0">
                        <a:spcBef>
                          <a:spcPct val="20000"/>
                        </a:spcBef>
                        <a:spcAft>
                          <a:spcPct val="0"/>
                        </a:spcAft>
                        <a:defRPr>
                          <a:solidFill>
                            <a:schemeClr val="tx1"/>
                          </a:solidFill>
                          <a:latin typeface="Calibri" charset="0"/>
                          <a:ea typeface="ＭＳ Ｐゴシック" charset="-128"/>
                        </a:defRPr>
                      </a:lvl6pPr>
                      <a:lvl7pPr marL="914400" eaLnBrk="0" fontAlgn="base" hangingPunct="0">
                        <a:spcBef>
                          <a:spcPct val="20000"/>
                        </a:spcBef>
                        <a:spcAft>
                          <a:spcPct val="0"/>
                        </a:spcAft>
                        <a:defRPr>
                          <a:solidFill>
                            <a:schemeClr val="tx1"/>
                          </a:solidFill>
                          <a:latin typeface="Calibri" charset="0"/>
                          <a:ea typeface="ＭＳ Ｐゴシック" charset="-128"/>
                        </a:defRPr>
                      </a:lvl7pPr>
                      <a:lvl8pPr marL="1371600" eaLnBrk="0" fontAlgn="base" hangingPunct="0">
                        <a:spcBef>
                          <a:spcPct val="20000"/>
                        </a:spcBef>
                        <a:spcAft>
                          <a:spcPct val="0"/>
                        </a:spcAft>
                        <a:defRPr>
                          <a:solidFill>
                            <a:schemeClr val="tx1"/>
                          </a:solidFill>
                          <a:latin typeface="Calibri" charset="0"/>
                          <a:ea typeface="ＭＳ Ｐゴシック" charset="-128"/>
                        </a:defRPr>
                      </a:lvl8pPr>
                      <a:lvl9pPr marL="1828800" eaLnBrk="0" fontAlgn="base" hangingPunct="0">
                        <a:spcBef>
                          <a:spcPct val="20000"/>
                        </a:spcBef>
                        <a:spcAft>
                          <a:spcPct val="0"/>
                        </a:spcAft>
                        <a:defRPr>
                          <a:solidFill>
                            <a:schemeClr val="tx1"/>
                          </a:solidFill>
                          <a:latin typeface="Calibri" charset="0"/>
                          <a:ea typeface="ＭＳ Ｐゴシック"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Calibri" charset="0"/>
                          <a:ea typeface="ＭＳ Ｐゴシック" charset="-128"/>
                        </a:rPr>
                        <a:t>…</a:t>
                      </a:r>
                      <a:endParaRPr kumimoji="0" lang="en-US" altLang="en-US" sz="3200" b="0" i="0" u="none" strike="noStrike" cap="none" normalizeH="0" baseline="0" dirty="0">
                        <a:ln>
                          <a:noFill/>
                        </a:ln>
                        <a:solidFill>
                          <a:srgbClr val="000000"/>
                        </a:solidFill>
                        <a:effectLst/>
                        <a:latin typeface="Calibri" charset="0"/>
                        <a:ea typeface="ＭＳ Ｐゴシック" charset="-128"/>
                      </a:endParaRPr>
                    </a:p>
                  </a:txBody>
                  <a:tcPr marL="7620" marR="7620" marT="10160"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cxnSp>
        <p:nvCxnSpPr>
          <p:cNvPr id="5" name="Straight Arrow Connector 4"/>
          <p:cNvCxnSpPr>
            <a:stCxn id="6" idx="2"/>
          </p:cNvCxnSpPr>
          <p:nvPr/>
        </p:nvCxnSpPr>
        <p:spPr>
          <a:xfrm>
            <a:off x="1909053" y="3487812"/>
            <a:ext cx="0" cy="474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752600" y="3118480"/>
            <a:ext cx="312906" cy="369332"/>
          </a:xfrm>
          <a:prstGeom prst="rect">
            <a:avLst/>
          </a:prstGeom>
          <a:noFill/>
        </p:spPr>
        <p:txBody>
          <a:bodyPr wrap="none" rtlCol="0">
            <a:spAutoFit/>
          </a:bodyPr>
          <a:lstStyle/>
          <a:p>
            <a:r>
              <a:rPr lang="en-GB" dirty="0"/>
              <a:t>1</a:t>
            </a:r>
          </a:p>
        </p:txBody>
      </p:sp>
      <p:sp>
        <p:nvSpPr>
          <p:cNvPr id="7" name="TextBox 6"/>
          <p:cNvSpPr txBox="1"/>
          <p:nvPr/>
        </p:nvSpPr>
        <p:spPr>
          <a:xfrm>
            <a:off x="1720461" y="4050268"/>
            <a:ext cx="389850" cy="369332"/>
          </a:xfrm>
          <a:prstGeom prst="rect">
            <a:avLst/>
          </a:prstGeom>
          <a:noFill/>
        </p:spPr>
        <p:txBody>
          <a:bodyPr wrap="none" rtlCol="0">
            <a:spAutoFit/>
          </a:bodyPr>
          <a:lstStyle/>
          <a:p>
            <a:r>
              <a:rPr lang="en-GB" b="1" dirty="0"/>
              <a:t>m</a:t>
            </a:r>
          </a:p>
        </p:txBody>
      </p:sp>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6729412" y="2598569"/>
            <a:ext cx="2262188" cy="297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9"/>
          <p:cNvSpPr txBox="1">
            <a:spLocks noChangeArrowheads="1"/>
          </p:cNvSpPr>
          <p:nvPr/>
        </p:nvSpPr>
        <p:spPr bwMode="auto">
          <a:xfrm>
            <a:off x="4803094" y="2526906"/>
            <a:ext cx="1792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Hypothesis:</a:t>
            </a:r>
          </a:p>
        </p:txBody>
      </p:sp>
      <p:pic>
        <p:nvPicPr>
          <p:cNvPr id="10" name="Picture 1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6911068" y="3269252"/>
            <a:ext cx="661987" cy="312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4"/>
          <p:cNvSpPr txBox="1">
            <a:spLocks noChangeArrowheads="1"/>
          </p:cNvSpPr>
          <p:nvPr/>
        </p:nvSpPr>
        <p:spPr bwMode="auto">
          <a:xfrm>
            <a:off x="4821918" y="3200915"/>
            <a:ext cx="1860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Parameters:</a:t>
            </a:r>
          </a:p>
        </p:txBody>
      </p:sp>
      <p:pic>
        <p:nvPicPr>
          <p:cNvPr id="12" name="Picture 12"/>
          <p:cNvPicPr>
            <a:picLocks noChangeAspect="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5153364" y="4419600"/>
            <a:ext cx="3810000" cy="58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6"/>
          <p:cNvSpPr txBox="1">
            <a:spLocks noChangeArrowheads="1"/>
          </p:cNvSpPr>
          <p:nvPr/>
        </p:nvSpPr>
        <p:spPr bwMode="auto">
          <a:xfrm>
            <a:off x="4853668" y="3831375"/>
            <a:ext cx="2168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Cost Function:</a:t>
            </a:r>
          </a:p>
        </p:txBody>
      </p:sp>
      <p:pic>
        <p:nvPicPr>
          <p:cNvPr id="14" name="Picture 6"/>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6149066" y="5390330"/>
            <a:ext cx="2435225" cy="473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8"/>
          <p:cNvSpPr txBox="1">
            <a:spLocks noChangeArrowheads="1"/>
          </p:cNvSpPr>
          <p:nvPr/>
        </p:nvSpPr>
        <p:spPr bwMode="auto">
          <a:xfrm>
            <a:off x="4929868" y="5390330"/>
            <a:ext cx="920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dirty="0"/>
              <a:t>Goal:</a:t>
            </a:r>
          </a:p>
        </p:txBody>
      </p:sp>
    </p:spTree>
    <p:extLst>
      <p:ext uri="{BB962C8B-B14F-4D97-AF65-F5344CB8AC3E}">
        <p14:creationId xmlns:p14="http://schemas.microsoft.com/office/powerpoint/2010/main" val="376832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Gradient descent algorithm in code</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76400"/>
            <a:ext cx="535305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4909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Alternative way to minimisation J</a:t>
            </a:r>
          </a:p>
        </p:txBody>
      </p:sp>
      <p:sp>
        <p:nvSpPr>
          <p:cNvPr id="3" name="Content Placeholder 2"/>
          <p:cNvSpPr>
            <a:spLocks noGrp="1"/>
          </p:cNvSpPr>
          <p:nvPr>
            <p:ph idx="1"/>
          </p:nvPr>
        </p:nvSpPr>
        <p:spPr/>
        <p:txBody>
          <a:bodyPr/>
          <a:lstStyle/>
          <a:p>
            <a:r>
              <a:rPr lang="en-GB" dirty="0"/>
              <a:t>Matrix derivatives + Least squares revisited</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759531"/>
            <a:ext cx="3479381"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3904" y="2355679"/>
            <a:ext cx="3951521" cy="2216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600200" y="5257800"/>
            <a:ext cx="7315200" cy="646331"/>
          </a:xfrm>
          <a:prstGeom prst="rect">
            <a:avLst/>
          </a:prstGeom>
        </p:spPr>
        <p:txBody>
          <a:bodyPr wrap="square">
            <a:spAutoFit/>
          </a:bodyPr>
          <a:lstStyle/>
          <a:p>
            <a:r>
              <a:rPr lang="en-GB" dirty="0"/>
              <a:t>Minimize J by explicitly taking its derivatives with respect to the </a:t>
            </a:r>
            <a:r>
              <a:rPr lang="en-GB" dirty="0" err="1"/>
              <a:t>θj’s</a:t>
            </a:r>
            <a:r>
              <a:rPr lang="en-GB" dirty="0"/>
              <a:t>, and setting them to zero</a:t>
            </a:r>
          </a:p>
        </p:txBody>
      </p:sp>
    </p:spTree>
    <p:extLst>
      <p:ext uri="{BB962C8B-B14F-4D97-AF65-F5344CB8AC3E}">
        <p14:creationId xmlns:p14="http://schemas.microsoft.com/office/powerpoint/2010/main" val="384934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Gradient descent </a:t>
            </a:r>
            <a:r>
              <a:rPr lang="en-US" altLang="en-US" b="1" dirty="0" err="1"/>
              <a:t>visualisation</a:t>
            </a:r>
            <a:endParaRPr lang="en-GB" dirty="0"/>
          </a:p>
        </p:txBody>
      </p:sp>
      <p:pic>
        <p:nvPicPr>
          <p:cNvPr id="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41963" y="2239963"/>
            <a:ext cx="3551237"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5600" y="2239963"/>
            <a:ext cx="3551238"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166938" y="13462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p:cNvSpPr txBox="1">
            <a:spLocks noChangeArrowheads="1"/>
          </p:cNvSpPr>
          <p:nvPr/>
        </p:nvSpPr>
        <p:spPr bwMode="auto">
          <a:xfrm>
            <a:off x="1477962" y="18383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(for fixed           , this is a function of x)</a:t>
            </a:r>
          </a:p>
        </p:txBody>
      </p:sp>
      <p:pic>
        <p:nvPicPr>
          <p:cNvPr id="8"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79462" y="1871209"/>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473825" y="13462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7"/>
          <p:cNvSpPr txBox="1">
            <a:spLocks noChangeArrowheads="1"/>
          </p:cNvSpPr>
          <p:nvPr/>
        </p:nvSpPr>
        <p:spPr bwMode="auto">
          <a:xfrm>
            <a:off x="5505450" y="18383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(function of the parameters            )</a:t>
            </a:r>
          </a:p>
        </p:txBody>
      </p:sp>
      <p:pic>
        <p:nvPicPr>
          <p:cNvPr id="11"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516144" y="1877219"/>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226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630363"/>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630363"/>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7366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Box 4"/>
          <p:cNvSpPr txBox="1">
            <a:spLocks noChangeArrowheads="1"/>
          </p:cNvSpPr>
          <p:nvPr/>
        </p:nvSpPr>
        <p:spPr bwMode="auto">
          <a:xfrm>
            <a:off x="838200" y="12287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3253"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346200"/>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7366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TextBox 7"/>
          <p:cNvSpPr txBox="1">
            <a:spLocks noChangeArrowheads="1"/>
          </p:cNvSpPr>
          <p:nvPr/>
        </p:nvSpPr>
        <p:spPr bwMode="auto">
          <a:xfrm>
            <a:off x="5327650" y="12287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3256"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346200"/>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8021539"/>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706563"/>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4"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706563"/>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5"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8128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Box 4"/>
          <p:cNvSpPr txBox="1">
            <a:spLocks noChangeArrowheads="1"/>
          </p:cNvSpPr>
          <p:nvPr/>
        </p:nvSpPr>
        <p:spPr bwMode="auto">
          <a:xfrm>
            <a:off x="838200" y="13049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4277"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422400"/>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8128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9" name="TextBox 7"/>
          <p:cNvSpPr txBox="1">
            <a:spLocks noChangeArrowheads="1"/>
          </p:cNvSpPr>
          <p:nvPr/>
        </p:nvSpPr>
        <p:spPr bwMode="auto">
          <a:xfrm>
            <a:off x="5327650" y="13049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4280"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422400"/>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154733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630363"/>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298"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630363"/>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299"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7366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Box 4"/>
          <p:cNvSpPr txBox="1">
            <a:spLocks noChangeArrowheads="1"/>
          </p:cNvSpPr>
          <p:nvPr/>
        </p:nvSpPr>
        <p:spPr bwMode="auto">
          <a:xfrm>
            <a:off x="838200" y="12287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5301"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346200"/>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2"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7366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TextBox 7"/>
          <p:cNvSpPr txBox="1">
            <a:spLocks noChangeArrowheads="1"/>
          </p:cNvSpPr>
          <p:nvPr/>
        </p:nvSpPr>
        <p:spPr bwMode="auto">
          <a:xfrm>
            <a:off x="5327650" y="12287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5304"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346200"/>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131834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706563"/>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2"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706563"/>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3"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8128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4"/>
          <p:cNvSpPr txBox="1">
            <a:spLocks noChangeArrowheads="1"/>
          </p:cNvSpPr>
          <p:nvPr/>
        </p:nvSpPr>
        <p:spPr bwMode="auto">
          <a:xfrm>
            <a:off x="838200" y="13049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6325"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422400"/>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8128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7" name="TextBox 7"/>
          <p:cNvSpPr txBox="1">
            <a:spLocks noChangeArrowheads="1"/>
          </p:cNvSpPr>
          <p:nvPr/>
        </p:nvSpPr>
        <p:spPr bwMode="auto">
          <a:xfrm>
            <a:off x="5327650" y="13049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6328"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422400"/>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351057"/>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706563"/>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6"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706563"/>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8128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extBox 4"/>
          <p:cNvSpPr txBox="1">
            <a:spLocks noChangeArrowheads="1"/>
          </p:cNvSpPr>
          <p:nvPr/>
        </p:nvSpPr>
        <p:spPr bwMode="auto">
          <a:xfrm>
            <a:off x="838200" y="13049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7349"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422400"/>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8128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TextBox 7"/>
          <p:cNvSpPr txBox="1">
            <a:spLocks noChangeArrowheads="1"/>
          </p:cNvSpPr>
          <p:nvPr/>
        </p:nvSpPr>
        <p:spPr bwMode="auto">
          <a:xfrm>
            <a:off x="5327650" y="13049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7352"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422400"/>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05455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630363"/>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630363"/>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1"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7366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Box 4"/>
          <p:cNvSpPr txBox="1">
            <a:spLocks noChangeArrowheads="1"/>
          </p:cNvSpPr>
          <p:nvPr/>
        </p:nvSpPr>
        <p:spPr bwMode="auto">
          <a:xfrm>
            <a:off x="838200" y="12287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8373"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346200"/>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7366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5" name="TextBox 7"/>
          <p:cNvSpPr txBox="1">
            <a:spLocks noChangeArrowheads="1"/>
          </p:cNvSpPr>
          <p:nvPr/>
        </p:nvSpPr>
        <p:spPr bwMode="auto">
          <a:xfrm>
            <a:off x="5327650" y="12287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8376"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346200"/>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030013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688275"/>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4"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688275"/>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5"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794512"/>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TextBox 4"/>
          <p:cNvSpPr txBox="1">
            <a:spLocks noChangeArrowheads="1"/>
          </p:cNvSpPr>
          <p:nvPr/>
        </p:nvSpPr>
        <p:spPr bwMode="auto">
          <a:xfrm>
            <a:off x="838200" y="1286637"/>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59397"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404112"/>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794512"/>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9" name="TextBox 7"/>
          <p:cNvSpPr txBox="1">
            <a:spLocks noChangeArrowheads="1"/>
          </p:cNvSpPr>
          <p:nvPr/>
        </p:nvSpPr>
        <p:spPr bwMode="auto">
          <a:xfrm>
            <a:off x="5327650" y="1286637"/>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59400"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404112"/>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506221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5963" y="1630363"/>
            <a:ext cx="4389437"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8"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1630363"/>
            <a:ext cx="4389438"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3"/>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2243138" y="736600"/>
            <a:ext cx="6794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TextBox 4"/>
          <p:cNvSpPr txBox="1">
            <a:spLocks noChangeArrowheads="1"/>
          </p:cNvSpPr>
          <p:nvPr/>
        </p:nvSpPr>
        <p:spPr bwMode="auto">
          <a:xfrm>
            <a:off x="838200" y="1228725"/>
            <a:ext cx="408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(for fixed           , this is a function of x)</a:t>
            </a:r>
          </a:p>
        </p:txBody>
      </p:sp>
      <p:pic>
        <p:nvPicPr>
          <p:cNvPr id="60421" name="Picture 5"/>
          <p:cNvPicPr>
            <a:picLocks noChangeAspect="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1819275" y="1346200"/>
            <a:ext cx="519113"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550025" y="736600"/>
            <a:ext cx="1077913"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TextBox 7"/>
          <p:cNvSpPr txBox="1">
            <a:spLocks noChangeArrowheads="1"/>
          </p:cNvSpPr>
          <p:nvPr/>
        </p:nvSpPr>
        <p:spPr bwMode="auto">
          <a:xfrm>
            <a:off x="5327650" y="1228725"/>
            <a:ext cx="3790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(function of the parameters            )</a:t>
            </a:r>
          </a:p>
        </p:txBody>
      </p:sp>
      <p:pic>
        <p:nvPicPr>
          <p:cNvPr id="60424" name="Picture 8"/>
          <p:cNvPicPr>
            <a:picLocks noChangeAspect="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8080375" y="1346200"/>
            <a:ext cx="5159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9380660"/>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ja-JP" altLang="en-US" b="1" dirty="0"/>
              <a:t>“</a:t>
            </a:r>
            <a:r>
              <a:rPr lang="en-US" altLang="ja-JP" b="1" dirty="0"/>
              <a:t>Batch</a:t>
            </a:r>
            <a:r>
              <a:rPr lang="ja-JP" altLang="en-US" b="1" dirty="0"/>
              <a:t>”</a:t>
            </a:r>
            <a:r>
              <a:rPr lang="en-US" altLang="ja-JP" b="1" dirty="0"/>
              <a:t> Gradient Descent</a:t>
            </a:r>
            <a:endParaRPr lang="en-US" altLang="en-US" b="1" dirty="0"/>
          </a:p>
        </p:txBody>
      </p:sp>
      <p:sp>
        <p:nvSpPr>
          <p:cNvPr id="3" name="Content Placeholder 2"/>
          <p:cNvSpPr>
            <a:spLocks noGrp="1"/>
          </p:cNvSpPr>
          <p:nvPr>
            <p:ph idx="1"/>
          </p:nvPr>
        </p:nvSpPr>
        <p:spPr/>
        <p:txBody>
          <a:bodyPr/>
          <a:lstStyle/>
          <a:p>
            <a:r>
              <a:rPr lang="ja-JP" altLang="en-US" dirty="0"/>
              <a:t>“</a:t>
            </a:r>
            <a:r>
              <a:rPr lang="en-US" altLang="ja-JP" dirty="0"/>
              <a:t>Batch</a:t>
            </a:r>
            <a:r>
              <a:rPr lang="ja-JP" altLang="en-US" dirty="0"/>
              <a:t>”</a:t>
            </a:r>
            <a:r>
              <a:rPr lang="en-US" altLang="ja-JP" dirty="0"/>
              <a:t>: Each step of gradient descent uses all the training examples.</a:t>
            </a:r>
          </a:p>
          <a:p>
            <a:endParaRPr lang="en-US" altLang="en-US" dirty="0"/>
          </a:p>
          <a:p>
            <a:r>
              <a:rPr lang="en-US" altLang="en-US" dirty="0"/>
              <a:t>Alternative: process part of the dataset for each step of the algorithm.</a:t>
            </a:r>
          </a:p>
          <a:p>
            <a:endParaRPr lang="en-GB" dirty="0"/>
          </a:p>
        </p:txBody>
      </p:sp>
    </p:spTree>
    <p:extLst>
      <p:ext uri="{BB962C8B-B14F-4D97-AF65-F5344CB8AC3E}">
        <p14:creationId xmlns:p14="http://schemas.microsoft.com/office/powerpoint/2010/main" val="21870817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multiple features</a:t>
            </a:r>
          </a:p>
        </p:txBody>
      </p:sp>
      <p:graphicFrame>
        <p:nvGraphicFramePr>
          <p:cNvPr id="4" name="Table 3"/>
          <p:cNvGraphicFramePr>
            <a:graphicFrameLocks noGrp="1"/>
          </p:cNvGraphicFramePr>
          <p:nvPr>
            <p:extLst>
              <p:ext uri="{D42A27DB-BD31-4B8C-83A1-F6EECF244321}">
                <p14:modId xmlns:p14="http://schemas.microsoft.com/office/powerpoint/2010/main" val="2850316921"/>
              </p:ext>
            </p:extLst>
          </p:nvPr>
        </p:nvGraphicFramePr>
        <p:xfrm>
          <a:off x="1524000" y="1447800"/>
          <a:ext cx="7543800" cy="2886077"/>
        </p:xfrm>
        <a:graphic>
          <a:graphicData uri="http://schemas.openxmlformats.org/drawingml/2006/table">
            <a:tbl>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1381125">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7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chemeClr val="tx1"/>
                          </a:solidFill>
                          <a:effectLst/>
                          <a:latin typeface="Calibri" pitchFamily="34" charset="0"/>
                          <a:ea typeface="ＭＳ Ｐゴシック" pitchFamily="34" charset="-128"/>
                        </a:rPr>
                        <a:t>Size (feet</a:t>
                      </a:r>
                      <a:r>
                        <a:rPr kumimoji="0" lang="en-US" altLang="en-US" sz="2100" b="1" i="0" u="none" strike="noStrike" cap="none" normalizeH="0" baseline="30000" dirty="0">
                          <a:ln>
                            <a:noFill/>
                          </a:ln>
                          <a:solidFill>
                            <a:schemeClr val="tx1"/>
                          </a:solidFill>
                          <a:effectLst/>
                          <a:latin typeface="Calibri" pitchFamily="34" charset="0"/>
                          <a:ea typeface="ＭＳ Ｐゴシック" pitchFamily="34" charset="-128"/>
                        </a:rPr>
                        <a:t>2</a:t>
                      </a:r>
                      <a:r>
                        <a:rPr kumimoji="0" lang="en-US" altLang="en-US" sz="2100" b="1" i="0" u="none" strike="noStrike" cap="none" normalizeH="0" baseline="0" dirty="0">
                          <a:ln>
                            <a:noFill/>
                          </a:ln>
                          <a:solidFill>
                            <a:schemeClr val="tx1"/>
                          </a:solidFill>
                          <a:effectLst/>
                          <a:latin typeface="Calibri" pitchFamily="34" charset="0"/>
                          <a:ea typeface="ＭＳ Ｐゴシック" pitchFamily="34" charset="-128"/>
                        </a:rPr>
                        <a:t>)</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chemeClr val="tx1"/>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#bedrooms</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7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 floors</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7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Age of home (years)</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rPr>
                        <a:t>Price ($1000)</a:t>
                      </a: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endParaRPr>
                    </a:p>
                    <a:p>
                      <a:pPr marL="0" marR="0" lvl="0" indent="0" algn="ctr" defTabSz="457200" rtl="0" eaLnBrk="1" fontAlgn="b" latinLnBrk="0" hangingPunct="1">
                        <a:lnSpc>
                          <a:spcPct val="100000"/>
                        </a:lnSpc>
                        <a:spcBef>
                          <a:spcPct val="0"/>
                        </a:spcBef>
                        <a:spcAft>
                          <a:spcPct val="0"/>
                        </a:spcAft>
                        <a:buClrTx/>
                        <a:buSzTx/>
                        <a:buFontTx/>
                        <a:buNone/>
                        <a:tabLst/>
                      </a:pPr>
                      <a:endParaRPr kumimoji="0" lang="en-US" altLang="en-US" sz="2100" b="1"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2104</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5</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itchFamily="34" charset="0"/>
                          <a:ea typeface="ＭＳ Ｐゴシック" pitchFamily="34" charset="-128"/>
                        </a:rPr>
                        <a:t>45</a:t>
                      </a:r>
                      <a:endParaRPr kumimoji="0" lang="en-US" altLang="en-US" sz="2400" b="0" i="0" u="none" strike="noStrike" cap="none" normalizeH="0" baseline="0" dirty="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460</a:t>
                      </a:r>
                    </a:p>
                  </a:txBody>
                  <a:tcPr marL="7620" marR="7620" marT="10158" marB="0"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1416</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3</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40</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232</a:t>
                      </a: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1534</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3</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Calibri" pitchFamily="34" charset="0"/>
                          <a:ea typeface="ＭＳ Ｐゴシック" pitchFamily="34" charset="-128"/>
                        </a:rPr>
                        <a:t>30</a:t>
                      </a:r>
                      <a:endParaRPr kumimoji="0" lang="en-US" altLang="en-US" sz="2400" b="0" i="0" u="none" strike="noStrike" cap="none" normalizeH="0" baseline="0">
                        <a:ln>
                          <a:noFill/>
                        </a:ln>
                        <a:solidFill>
                          <a:srgbClr val="000000"/>
                        </a:solidFill>
                        <a:effectLst/>
                        <a:latin typeface="Calibri" pitchFamily="34" charset="0"/>
                        <a:ea typeface="ＭＳ Ｐゴシック" pitchFamily="34" charset="-128"/>
                      </a:endParaRP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315</a:t>
                      </a: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376238">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852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2</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1</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000000"/>
                          </a:solidFill>
                          <a:effectLst/>
                          <a:latin typeface="Calibri" pitchFamily="34" charset="0"/>
                          <a:ea typeface="ＭＳ Ｐゴシック" pitchFamily="34" charset="-128"/>
                        </a:rPr>
                        <a:t>36</a:t>
                      </a:r>
                    </a:p>
                  </a:txBody>
                  <a:tcPr marL="7620" marR="7620" marT="10158" marB="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c>
                  <a:txBody>
                    <a:bodyPr/>
                    <a:lstStyle>
                      <a:lvl1pPr eaLnBrk="0" hangingPunct="0">
                        <a:spcBef>
                          <a:spcPct val="20000"/>
                        </a:spcBef>
                        <a:buFont typeface="Arial" pitchFamily="34" charset="0"/>
                        <a:defRPr sz="2800">
                          <a:solidFill>
                            <a:schemeClr val="tx1"/>
                          </a:solidFill>
                          <a:latin typeface="Calibri" pitchFamily="34" charset="0"/>
                          <a:ea typeface="ＭＳ Ｐゴシック" pitchFamily="34" charset="-128"/>
                        </a:defRPr>
                      </a:lvl1pPr>
                      <a:lvl2pPr marL="742950" indent="-285750" eaLnBrk="0" hangingPunct="0">
                        <a:spcBef>
                          <a:spcPct val="20000"/>
                        </a:spcBef>
                        <a:buFont typeface="Arial" pitchFamily="34" charset="0"/>
                        <a:defRPr sz="2400">
                          <a:solidFill>
                            <a:schemeClr val="tx1"/>
                          </a:solidFill>
                          <a:latin typeface="Calibri" pitchFamily="34" charset="0"/>
                          <a:ea typeface="ＭＳ Ｐゴシック" pitchFamily="34" charset="-128"/>
                        </a:defRPr>
                      </a:lvl2pPr>
                      <a:lvl3pPr marL="1143000" indent="-228600" eaLnBrk="0" hangingPunct="0">
                        <a:spcBef>
                          <a:spcPct val="20000"/>
                        </a:spcBef>
                        <a:buFont typeface="Arial" pitchFamily="34" charset="0"/>
                        <a:defRPr sz="2000">
                          <a:solidFill>
                            <a:schemeClr val="tx1"/>
                          </a:solidFill>
                          <a:latin typeface="Calibri" pitchFamily="34" charset="0"/>
                          <a:ea typeface="ＭＳ Ｐゴシック" pitchFamily="34" charset="-128"/>
                        </a:defRPr>
                      </a:lvl3pPr>
                      <a:lvl4pPr marL="16002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4pPr>
                      <a:lvl5pPr marL="2057400" indent="-228600" eaLnBrk="0" hangingPunct="0">
                        <a:spcBef>
                          <a:spcPct val="20000"/>
                        </a:spcBef>
                        <a:buFont typeface="Arial" pitchFamily="34" charset="0"/>
                        <a:defRPr>
                          <a:solidFill>
                            <a:schemeClr val="tx1"/>
                          </a:solidFill>
                          <a:latin typeface="Calibri" pitchFamily="34" charset="0"/>
                          <a:ea typeface="ＭＳ Ｐゴシック" pitchFamily="34" charset="-128"/>
                        </a:defRPr>
                      </a:lvl5pPr>
                      <a:lvl6pPr marL="25146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6pPr>
                      <a:lvl7pPr marL="29718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7pPr>
                      <a:lvl8pPr marL="34290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8pPr>
                      <a:lvl9pPr marL="3886200" indent="-228600" defTabSz="457200" eaLnBrk="0" fontAlgn="base" hangingPunct="0">
                        <a:spcBef>
                          <a:spcPct val="20000"/>
                        </a:spcBef>
                        <a:spcAft>
                          <a:spcPct val="0"/>
                        </a:spcAft>
                        <a:buFont typeface="Arial" pitchFamily="34" charset="0"/>
                        <a:defRPr>
                          <a:solidFill>
                            <a:schemeClr val="tx1"/>
                          </a:solidFill>
                          <a:latin typeface="Calibri" pitchFamily="34" charset="0"/>
                          <a:ea typeface="ＭＳ Ｐゴシック" pitchFamily="34" charset="-128"/>
                        </a:defRPr>
                      </a:lvl9pPr>
                    </a:lstStyle>
                    <a:p>
                      <a:pPr marL="0" marR="0" lvl="0" indent="0" algn="ctr" defTabSz="457200" rtl="0" eaLnBrk="1" fontAlgn="b" latinLnBrk="0" hangingPunct="1">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alibri" pitchFamily="34" charset="0"/>
                          <a:ea typeface="ＭＳ Ｐゴシック" pitchFamily="34" charset="-128"/>
                        </a:rPr>
                        <a:t>178</a:t>
                      </a:r>
                    </a:p>
                  </a:txBody>
                  <a:tcPr marL="7620" marR="7620" marT="10158" marB="0" anchor="b"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pic>
        <p:nvPicPr>
          <p:cNvPr id="5" name="Picture 4"/>
          <p:cNvPicPr>
            <a:picLocks noChangeAspect="1"/>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1981200" y="2590800"/>
            <a:ext cx="230188"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custDataLst>
              <p:tags r:id="rId2"/>
            </p:custDataLst>
          </p:nvPr>
        </p:nvPicPr>
        <p:blipFill>
          <a:blip r:embed="rId11">
            <a:extLst>
              <a:ext uri="{28A0092B-C50C-407E-A947-70E740481C1C}">
                <a14:useLocalDpi xmlns:a14="http://schemas.microsoft.com/office/drawing/2010/main" val="0"/>
              </a:ext>
            </a:extLst>
          </a:blip>
          <a:srcRect/>
          <a:stretch>
            <a:fillRect/>
          </a:stretch>
        </p:blipFill>
        <p:spPr bwMode="auto">
          <a:xfrm>
            <a:off x="3149600" y="2590800"/>
            <a:ext cx="22383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custDataLst>
              <p:tags r:id="rId3"/>
            </p:custDataLst>
          </p:nvPr>
        </p:nvPicPr>
        <p:blipFill>
          <a:blip r:embed="rId12">
            <a:extLst>
              <a:ext uri="{28A0092B-C50C-407E-A947-70E740481C1C}">
                <a14:useLocalDpi xmlns:a14="http://schemas.microsoft.com/office/drawing/2010/main" val="0"/>
              </a:ext>
            </a:extLst>
          </a:blip>
          <a:srcRect/>
          <a:stretch>
            <a:fillRect/>
          </a:stretch>
        </p:blipFill>
        <p:spPr bwMode="auto">
          <a:xfrm>
            <a:off x="4271963" y="2590800"/>
            <a:ext cx="2286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custDataLst>
              <p:tags r:id="rId4"/>
            </p:custDataLst>
          </p:nvPr>
        </p:nvPicPr>
        <p:blipFill>
          <a:blip r:embed="rId13">
            <a:extLst>
              <a:ext uri="{28A0092B-C50C-407E-A947-70E740481C1C}">
                <a14:useLocalDpi xmlns:a14="http://schemas.microsoft.com/office/drawing/2010/main" val="0"/>
              </a:ext>
            </a:extLst>
          </a:blip>
          <a:srcRect/>
          <a:stretch>
            <a:fillRect/>
          </a:stretch>
        </p:blipFill>
        <p:spPr bwMode="auto">
          <a:xfrm>
            <a:off x="5416550" y="2590800"/>
            <a:ext cx="230188"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custDataLst>
              <p:tags r:id="rId5"/>
            </p:custDataLst>
          </p:nvPr>
        </p:nvPicPr>
        <p:blipFill>
          <a:blip r:embed="rId14">
            <a:extLst>
              <a:ext uri="{28A0092B-C50C-407E-A947-70E740481C1C}">
                <a14:useLocalDpi xmlns:a14="http://schemas.microsoft.com/office/drawing/2010/main" val="0"/>
              </a:ext>
            </a:extLst>
          </a:blip>
          <a:srcRect/>
          <a:stretch>
            <a:fillRect/>
          </a:stretch>
        </p:blipFill>
        <p:spPr bwMode="auto">
          <a:xfrm>
            <a:off x="8251825" y="2586038"/>
            <a:ext cx="119063"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p:cNvPicPr>
          <p:nvPr>
            <p:custDataLst>
              <p:tags r:id="rId6"/>
            </p:custDataLst>
          </p:nvPr>
        </p:nvPicPr>
        <p:blipFill>
          <a:blip r:embed="rId15">
            <a:extLst>
              <a:ext uri="{28A0092B-C50C-407E-A947-70E740481C1C}">
                <a14:useLocalDpi xmlns:a14="http://schemas.microsoft.com/office/drawing/2010/main" val="0"/>
              </a:ext>
            </a:extLst>
          </a:blip>
          <a:srcRect/>
          <a:stretch>
            <a:fillRect/>
          </a:stretch>
        </p:blipFill>
        <p:spPr bwMode="auto">
          <a:xfrm>
            <a:off x="6724650" y="2586038"/>
            <a:ext cx="2333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a:xfrm>
            <a:off x="2808525" y="4366180"/>
            <a:ext cx="575799" cy="369332"/>
          </a:xfrm>
          <a:prstGeom prst="rect">
            <a:avLst/>
          </a:prstGeom>
          <a:noFill/>
        </p:spPr>
        <p:txBody>
          <a:bodyPr wrap="none" rtlCol="0">
            <a:spAutoFit/>
          </a:bodyPr>
          <a:lstStyle/>
          <a:p>
            <a:r>
              <a:rPr lang="en-GB" dirty="0"/>
              <a:t>n=4</a:t>
            </a:r>
          </a:p>
        </p:txBody>
      </p:sp>
      <p:pic>
        <p:nvPicPr>
          <p:cNvPr id="13" name="Picture 12"/>
          <p:cNvPicPr>
            <a:picLocks noChangeAspect="1"/>
          </p:cNvPicPr>
          <p:nvPr>
            <p:custDataLst>
              <p:tags r:id="rId7"/>
            </p:custDataLst>
          </p:nvPr>
        </p:nvPicPr>
        <p:blipFill>
          <a:blip r:embed="rId16">
            <a:extLst>
              <a:ext uri="{28A0092B-C50C-407E-A947-70E740481C1C}">
                <a14:useLocalDpi xmlns:a14="http://schemas.microsoft.com/office/drawing/2010/main" val="0"/>
              </a:ext>
            </a:extLst>
          </a:blip>
          <a:srcRect/>
          <a:stretch>
            <a:fillRect/>
          </a:stretch>
        </p:blipFill>
        <p:spPr bwMode="auto">
          <a:xfrm>
            <a:off x="2667000" y="4735512"/>
            <a:ext cx="2970212"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p:cNvPicPr>
            <a:picLocks noChangeAspect="1"/>
          </p:cNvPicPr>
          <p:nvPr>
            <p:custDataLst>
              <p:tags r:id="rId8"/>
            </p:custDataLst>
          </p:nvPr>
        </p:nvPicPr>
        <p:blipFill>
          <a:blip r:embed="rId17">
            <a:extLst>
              <a:ext uri="{28A0092B-C50C-407E-A947-70E740481C1C}">
                <a14:useLocalDpi xmlns:a14="http://schemas.microsoft.com/office/drawing/2010/main" val="0"/>
              </a:ext>
            </a:extLst>
          </a:blip>
          <a:srcRect/>
          <a:stretch>
            <a:fillRect/>
          </a:stretch>
        </p:blipFill>
        <p:spPr bwMode="auto">
          <a:xfrm>
            <a:off x="7235825" y="4735512"/>
            <a:ext cx="1101725" cy="162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120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043A558-56C3-499B-89A2-59E5853E6BB4}" type="slidenum">
              <a:rPr lang="en-US" smtClean="0">
                <a:solidFill>
                  <a:prstClr val="black">
                    <a:tint val="75000"/>
                  </a:prstClr>
                </a:solidFill>
              </a:rPr>
              <a:pPr/>
              <a:t>32</a:t>
            </a:fld>
            <a:endParaRPr lang="en-US">
              <a:solidFill>
                <a:prstClr val="black">
                  <a:tint val="75000"/>
                </a:prstClr>
              </a:solidFill>
            </a:endParaRPr>
          </a:p>
        </p:txBody>
      </p:sp>
      <p:sp>
        <p:nvSpPr>
          <p:cNvPr id="4" name="TextBox 3"/>
          <p:cNvSpPr txBox="1"/>
          <p:nvPr/>
        </p:nvSpPr>
        <p:spPr>
          <a:xfrm>
            <a:off x="2393420" y="2108187"/>
            <a:ext cx="4648200" cy="833562"/>
          </a:xfrm>
          <a:prstGeom prst="rect">
            <a:avLst/>
          </a:prstGeom>
          <a:noFill/>
        </p:spPr>
        <p:txBody>
          <a:bodyPr wrap="square" rtlCol="0">
            <a:spAutoFit/>
          </a:bodyPr>
          <a:lstStyle/>
          <a:p>
            <a:pPr>
              <a:spcAft>
                <a:spcPts val="500"/>
              </a:spcAft>
            </a:pPr>
            <a:r>
              <a:rPr lang="en-US" sz="2000" dirty="0"/>
              <a:t>E.g.       = size (0-2000 feet</a:t>
            </a:r>
            <a:r>
              <a:rPr lang="en-US" sz="2000" baseline="30000" dirty="0"/>
              <a:t>2</a:t>
            </a:r>
            <a:r>
              <a:rPr lang="en-US" sz="2000" dirty="0"/>
              <a:t>)</a:t>
            </a:r>
            <a:endParaRPr lang="en-US" sz="2000" dirty="0">
              <a:solidFill>
                <a:srgbClr val="000000"/>
              </a:solidFill>
            </a:endParaRPr>
          </a:p>
          <a:p>
            <a:pPr>
              <a:spcAft>
                <a:spcPts val="500"/>
              </a:spcAft>
            </a:pPr>
            <a:r>
              <a:rPr lang="en-US" sz="2000" dirty="0"/>
              <a:t>              = number of bedrooms (1-5</a:t>
            </a:r>
            <a:r>
              <a:rPr lang="en-US" sz="2400" dirty="0"/>
              <a:t>)</a:t>
            </a:r>
          </a:p>
        </p:txBody>
      </p:sp>
      <p:pic>
        <p:nvPicPr>
          <p:cNvPr id="5" name="Picture 4"/>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073400" y="2190991"/>
            <a:ext cx="267462" cy="240792"/>
          </a:xfrm>
          <a:prstGeom prst="rect">
            <a:avLst/>
          </a:prstGeom>
        </p:spPr>
      </p:pic>
      <p:pic>
        <p:nvPicPr>
          <p:cNvPr id="6" name="Picture 5"/>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3073400" y="2683433"/>
            <a:ext cx="274320" cy="240792"/>
          </a:xfrm>
          <a:prstGeom prst="rect">
            <a:avLst/>
          </a:prstGeom>
        </p:spPr>
      </p:pic>
      <p:sp>
        <p:nvSpPr>
          <p:cNvPr id="7" name="Rectangle 6"/>
          <p:cNvSpPr/>
          <p:nvPr/>
        </p:nvSpPr>
        <p:spPr>
          <a:xfrm>
            <a:off x="1688101" y="990600"/>
            <a:ext cx="7010400" cy="830997"/>
          </a:xfrm>
          <a:prstGeom prst="rect">
            <a:avLst/>
          </a:prstGeom>
        </p:spPr>
        <p:txBody>
          <a:bodyPr wrap="square">
            <a:spAutoFit/>
          </a:bodyPr>
          <a:lstStyle/>
          <a:p>
            <a:r>
              <a:rPr lang="en-US" sz="2400" b="1" dirty="0"/>
              <a:t>Feature Scaling</a:t>
            </a:r>
          </a:p>
          <a:p>
            <a:pPr>
              <a:spcAft>
                <a:spcPts val="500"/>
              </a:spcAft>
            </a:pPr>
            <a:r>
              <a:rPr lang="en-US" sz="2400" dirty="0"/>
              <a:t>Idea: Make sure features are on a similar scale.</a:t>
            </a:r>
          </a:p>
        </p:txBody>
      </p:sp>
      <p:pic>
        <p:nvPicPr>
          <p:cNvPr id="8" name="Picture 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701800" y="4241800"/>
            <a:ext cx="1959102" cy="600456"/>
          </a:xfrm>
          <a:prstGeom prst="rect">
            <a:avLst/>
          </a:prstGeom>
        </p:spPr>
      </p:pic>
      <p:pic>
        <p:nvPicPr>
          <p:cNvPr id="9" name="Picture 8"/>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688101" y="5269977"/>
            <a:ext cx="3241548" cy="527304"/>
          </a:xfrm>
          <a:prstGeom prst="rect">
            <a:avLst/>
          </a:prstGeom>
        </p:spPr>
      </p:pic>
      <p:sp>
        <p:nvSpPr>
          <p:cNvPr id="10" name="Rectangle 9"/>
          <p:cNvSpPr/>
          <p:nvPr/>
        </p:nvSpPr>
        <p:spPr>
          <a:xfrm>
            <a:off x="2415392" y="4240492"/>
            <a:ext cx="1251871" cy="33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393420" y="3834142"/>
            <a:ext cx="1346633" cy="707886"/>
          </a:xfrm>
          <a:prstGeom prst="rect">
            <a:avLst/>
          </a:prstGeom>
          <a:noFill/>
        </p:spPr>
        <p:txBody>
          <a:bodyPr wrap="square">
            <a:spAutoFit/>
          </a:bodyPr>
          <a:lstStyle/>
          <a:p>
            <a:pPr algn="ctr"/>
            <a:r>
              <a:rPr lang="en-US" sz="2000" dirty="0"/>
              <a:t>size (feet</a:t>
            </a:r>
            <a:r>
              <a:rPr lang="en-US" sz="2000" baseline="30000" dirty="0"/>
              <a:t>2</a:t>
            </a:r>
            <a:r>
              <a:rPr lang="en-US" sz="2000" dirty="0"/>
              <a:t>)</a:t>
            </a:r>
            <a:endParaRPr lang="en-US" sz="2000" dirty="0">
              <a:solidFill>
                <a:srgbClr val="000000"/>
              </a:solidFill>
            </a:endParaRPr>
          </a:p>
        </p:txBody>
      </p:sp>
      <p:sp>
        <p:nvSpPr>
          <p:cNvPr id="12" name="Rectangle 11"/>
          <p:cNvSpPr/>
          <p:nvPr/>
        </p:nvSpPr>
        <p:spPr>
          <a:xfrm>
            <a:off x="2415381" y="5269979"/>
            <a:ext cx="2514268" cy="2502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415381" y="5132783"/>
            <a:ext cx="2542680" cy="400110"/>
          </a:xfrm>
          <a:prstGeom prst="rect">
            <a:avLst/>
          </a:prstGeom>
          <a:noFill/>
        </p:spPr>
        <p:txBody>
          <a:bodyPr wrap="square">
            <a:spAutoFit/>
          </a:bodyPr>
          <a:lstStyle/>
          <a:p>
            <a:pPr algn="ctr"/>
            <a:r>
              <a:rPr lang="en-US" sz="2000" dirty="0"/>
              <a:t>number of bedrooms</a:t>
            </a:r>
            <a:endParaRPr lang="en-US" sz="2000" dirty="0">
              <a:solidFill>
                <a:srgbClr val="000000"/>
              </a:solidFill>
            </a:endParaRPr>
          </a:p>
        </p:txBody>
      </p:sp>
      <p:sp>
        <p:nvSpPr>
          <p:cNvPr id="14" name="Down Arrow 13"/>
          <p:cNvSpPr/>
          <p:nvPr/>
        </p:nvSpPr>
        <p:spPr>
          <a:xfrm>
            <a:off x="3041327" y="3145657"/>
            <a:ext cx="381000" cy="6096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5969000" y="4140201"/>
            <a:ext cx="3784600" cy="830997"/>
          </a:xfrm>
          <a:prstGeom prst="rect">
            <a:avLst/>
          </a:prstGeom>
        </p:spPr>
        <p:txBody>
          <a:bodyPr wrap="square">
            <a:spAutoFit/>
          </a:bodyPr>
          <a:lstStyle/>
          <a:p>
            <a:pPr>
              <a:spcAft>
                <a:spcPts val="500"/>
              </a:spcAft>
            </a:pPr>
            <a:r>
              <a:rPr lang="en-US" sz="2400" dirty="0"/>
              <a:t>Get every feature into range</a:t>
            </a:r>
          </a:p>
        </p:txBody>
      </p:sp>
      <p:pic>
        <p:nvPicPr>
          <p:cNvPr id="17" name="Picture 16"/>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6629400" y="5059809"/>
            <a:ext cx="1575054" cy="335280"/>
          </a:xfrm>
          <a:prstGeom prst="rect">
            <a:avLst/>
          </a:prstGeom>
        </p:spPr>
      </p:pic>
    </p:spTree>
    <p:extLst>
      <p:ext uri="{BB962C8B-B14F-4D97-AF65-F5344CB8AC3E}">
        <p14:creationId xmlns:p14="http://schemas.microsoft.com/office/powerpoint/2010/main" val="125223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23644" y="2015002"/>
            <a:ext cx="4648200" cy="833562"/>
          </a:xfrm>
          <a:prstGeom prst="rect">
            <a:avLst/>
          </a:prstGeom>
          <a:noFill/>
        </p:spPr>
        <p:txBody>
          <a:bodyPr wrap="square" rtlCol="0">
            <a:spAutoFit/>
          </a:bodyPr>
          <a:lstStyle/>
          <a:p>
            <a:pPr>
              <a:spcAft>
                <a:spcPts val="500"/>
              </a:spcAft>
            </a:pPr>
            <a:r>
              <a:rPr lang="en-US" sz="2000" dirty="0"/>
              <a:t>E.g.       = size (0-2000 feet</a:t>
            </a:r>
            <a:r>
              <a:rPr lang="en-US" sz="2000" baseline="30000" dirty="0"/>
              <a:t>2</a:t>
            </a:r>
            <a:r>
              <a:rPr lang="en-US" sz="2000" dirty="0"/>
              <a:t>)</a:t>
            </a:r>
            <a:endParaRPr lang="en-US" sz="2000" dirty="0">
              <a:solidFill>
                <a:srgbClr val="000000"/>
              </a:solidFill>
            </a:endParaRPr>
          </a:p>
          <a:p>
            <a:pPr>
              <a:spcAft>
                <a:spcPts val="500"/>
              </a:spcAft>
            </a:pPr>
            <a:r>
              <a:rPr lang="en-US" sz="2000" dirty="0"/>
              <a:t>              = number of bedrooms (1-5</a:t>
            </a:r>
            <a:r>
              <a:rPr lang="en-US" sz="2400" dirty="0"/>
              <a:t>)</a:t>
            </a:r>
          </a:p>
        </p:txBody>
      </p:sp>
      <p:pic>
        <p:nvPicPr>
          <p:cNvPr id="5" name="Picture 4"/>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466976" y="2070595"/>
            <a:ext cx="267462" cy="240792"/>
          </a:xfrm>
          <a:prstGeom prst="rect">
            <a:avLst/>
          </a:prstGeom>
        </p:spPr>
      </p:pic>
      <p:pic>
        <p:nvPicPr>
          <p:cNvPr id="6" name="Picture 5"/>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2477862" y="2472997"/>
            <a:ext cx="274320" cy="240792"/>
          </a:xfrm>
          <a:prstGeom prst="rect">
            <a:avLst/>
          </a:prstGeom>
        </p:spPr>
      </p:pic>
      <p:sp>
        <p:nvSpPr>
          <p:cNvPr id="7" name="Rectangle 6"/>
          <p:cNvSpPr/>
          <p:nvPr/>
        </p:nvSpPr>
        <p:spPr>
          <a:xfrm>
            <a:off x="1804036" y="990600"/>
            <a:ext cx="7010400" cy="830997"/>
          </a:xfrm>
          <a:prstGeom prst="rect">
            <a:avLst/>
          </a:prstGeom>
        </p:spPr>
        <p:txBody>
          <a:bodyPr wrap="square">
            <a:spAutoFit/>
          </a:bodyPr>
          <a:lstStyle/>
          <a:p>
            <a:r>
              <a:rPr lang="en-US" sz="2400" b="1" dirty="0"/>
              <a:t>Feature Scaling</a:t>
            </a:r>
          </a:p>
          <a:p>
            <a:pPr>
              <a:spcAft>
                <a:spcPts val="500"/>
              </a:spcAft>
            </a:pPr>
            <a:r>
              <a:rPr lang="en-US" sz="2400" dirty="0"/>
              <a:t>Idea: Make sure features are on a similar scale.</a:t>
            </a:r>
          </a:p>
        </p:txBody>
      </p:sp>
      <p:sp>
        <p:nvSpPr>
          <p:cNvPr id="14" name="Down Arrow 13"/>
          <p:cNvSpPr/>
          <p:nvPr/>
        </p:nvSpPr>
        <p:spPr>
          <a:xfrm>
            <a:off x="2667000" y="3035557"/>
            <a:ext cx="381000" cy="6096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4572000" y="2921001"/>
            <a:ext cx="4572000" cy="1451679"/>
          </a:xfrm>
          <a:prstGeom prst="rect">
            <a:avLst/>
          </a:prstGeom>
        </p:spPr>
        <p:txBody>
          <a:bodyPr wrap="square">
            <a:spAutoFit/>
          </a:bodyPr>
          <a:lstStyle/>
          <a:p>
            <a:pPr>
              <a:spcAft>
                <a:spcPts val="500"/>
              </a:spcAft>
            </a:pPr>
            <a:r>
              <a:rPr lang="en-US" sz="2000" dirty="0"/>
              <a:t>Replace      with                to make features </a:t>
            </a:r>
          </a:p>
          <a:p>
            <a:pPr>
              <a:spcAft>
                <a:spcPts val="500"/>
              </a:spcAft>
            </a:pPr>
            <a:r>
              <a:rPr lang="en-US" sz="2000" dirty="0"/>
              <a:t>have approximately zero mean </a:t>
            </a:r>
          </a:p>
          <a:p>
            <a:pPr>
              <a:spcAft>
                <a:spcPts val="500"/>
              </a:spcAft>
            </a:pPr>
            <a:r>
              <a:rPr lang="en-US" sz="2000" dirty="0"/>
              <a:t>(Do not apply to              ).</a:t>
            </a:r>
          </a:p>
        </p:txBody>
      </p:sp>
      <p:sp>
        <p:nvSpPr>
          <p:cNvPr id="19" name="Rectangle 18"/>
          <p:cNvSpPr/>
          <p:nvPr/>
        </p:nvSpPr>
        <p:spPr>
          <a:xfrm>
            <a:off x="1600200" y="3632201"/>
            <a:ext cx="7199757" cy="461665"/>
          </a:xfrm>
          <a:prstGeom prst="rect">
            <a:avLst/>
          </a:prstGeom>
        </p:spPr>
        <p:txBody>
          <a:bodyPr wrap="square">
            <a:spAutoFit/>
          </a:bodyPr>
          <a:lstStyle/>
          <a:p>
            <a:r>
              <a:rPr lang="en-US" sz="2400" b="1" dirty="0"/>
              <a:t>Mean normalization</a:t>
            </a:r>
          </a:p>
        </p:txBody>
      </p:sp>
      <p:pic>
        <p:nvPicPr>
          <p:cNvPr id="20" name="Picture 19"/>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5744151" y="3035557"/>
            <a:ext cx="201930" cy="203200"/>
          </a:xfrm>
          <a:prstGeom prst="rect">
            <a:avLst/>
          </a:prstGeom>
        </p:spPr>
      </p:pic>
      <p:pic>
        <p:nvPicPr>
          <p:cNvPr id="21" name="Picture 20"/>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6623685" y="3035557"/>
            <a:ext cx="748665" cy="223520"/>
          </a:xfrm>
          <a:prstGeom prst="rect">
            <a:avLst/>
          </a:prstGeom>
        </p:spPr>
      </p:pic>
      <p:pic>
        <p:nvPicPr>
          <p:cNvPr id="22" name="Picture 21"/>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6649403" y="4038601"/>
            <a:ext cx="697230" cy="281940"/>
          </a:xfrm>
          <a:prstGeom prst="rect">
            <a:avLst/>
          </a:prstGeom>
        </p:spPr>
      </p:pic>
      <p:sp>
        <p:nvSpPr>
          <p:cNvPr id="23" name="TextBox 22"/>
          <p:cNvSpPr txBox="1"/>
          <p:nvPr/>
        </p:nvSpPr>
        <p:spPr>
          <a:xfrm>
            <a:off x="1539186" y="4313284"/>
            <a:ext cx="4648200" cy="400110"/>
          </a:xfrm>
          <a:prstGeom prst="rect">
            <a:avLst/>
          </a:prstGeom>
          <a:noFill/>
        </p:spPr>
        <p:txBody>
          <a:bodyPr wrap="square" rtlCol="0">
            <a:spAutoFit/>
          </a:bodyPr>
          <a:lstStyle/>
          <a:p>
            <a:pPr>
              <a:spcAft>
                <a:spcPts val="500"/>
              </a:spcAft>
            </a:pPr>
            <a:r>
              <a:rPr lang="en-US" sz="2000" dirty="0"/>
              <a:t>E.g. </a:t>
            </a:r>
            <a:endParaRPr lang="en-US" sz="2400" dirty="0"/>
          </a:p>
        </p:txBody>
      </p:sp>
      <p:pic>
        <p:nvPicPr>
          <p:cNvPr id="24" name="Picture 23"/>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1804036" y="4602227"/>
            <a:ext cx="1860804" cy="496824"/>
          </a:xfrm>
          <a:prstGeom prst="rect">
            <a:avLst/>
          </a:prstGeom>
        </p:spPr>
      </p:pic>
      <p:pic>
        <p:nvPicPr>
          <p:cNvPr id="25" name="Picture 24"/>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1752600" y="5486400"/>
            <a:ext cx="2295144" cy="527304"/>
          </a:xfrm>
          <a:prstGeom prst="rect">
            <a:avLst/>
          </a:prstGeom>
        </p:spPr>
      </p:pic>
      <p:pic>
        <p:nvPicPr>
          <p:cNvPr id="26" name="Picture 25"/>
          <p:cNvPicPr>
            <a:picLocks noChangeAspect="1"/>
          </p:cNvPicPr>
          <p:nvPr>
            <p:custDataLst>
              <p:tags r:id="rId8"/>
            </p:custDataLst>
          </p:nvPr>
        </p:nvPicPr>
        <p:blipFill>
          <a:blip r:embed="rId17" cstate="print">
            <a:extLst>
              <a:ext uri="{28A0092B-C50C-407E-A947-70E740481C1C}">
                <a14:useLocalDpi xmlns:a14="http://schemas.microsoft.com/office/drawing/2010/main" val="0"/>
              </a:ext>
            </a:extLst>
          </a:blip>
          <a:stretch>
            <a:fillRect/>
          </a:stretch>
        </p:blipFill>
        <p:spPr>
          <a:xfrm>
            <a:off x="5181601" y="4953001"/>
            <a:ext cx="3632835" cy="292100"/>
          </a:xfrm>
          <a:prstGeom prst="rect">
            <a:avLst/>
          </a:prstGeom>
        </p:spPr>
      </p:pic>
    </p:spTree>
    <p:extLst>
      <p:ext uri="{BB962C8B-B14F-4D97-AF65-F5344CB8AC3E}">
        <p14:creationId xmlns:p14="http://schemas.microsoft.com/office/powerpoint/2010/main" val="2536124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77333" y="482600"/>
            <a:ext cx="7314247" cy="523220"/>
          </a:xfrm>
          <a:prstGeom prst="rect">
            <a:avLst/>
          </a:prstGeom>
          <a:noFill/>
        </p:spPr>
        <p:txBody>
          <a:bodyPr wrap="square" rtlCol="0">
            <a:spAutoFit/>
          </a:bodyPr>
          <a:lstStyle/>
          <a:p>
            <a:r>
              <a:rPr lang="en-US" sz="2800" b="1" dirty="0"/>
              <a:t>Gradient descent</a:t>
            </a:r>
          </a:p>
        </p:txBody>
      </p:sp>
      <p:pic>
        <p:nvPicPr>
          <p:cNvPr id="5" name="Picture 4"/>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286933" y="1498600"/>
            <a:ext cx="3450336" cy="776224"/>
          </a:xfrm>
          <a:prstGeom prst="rect">
            <a:avLst/>
          </a:prstGeom>
        </p:spPr>
      </p:pic>
      <p:sp>
        <p:nvSpPr>
          <p:cNvPr id="6" name="TextBox 5"/>
          <p:cNvSpPr txBox="1"/>
          <p:nvPr/>
        </p:nvSpPr>
        <p:spPr>
          <a:xfrm>
            <a:off x="1677353" y="2568570"/>
            <a:ext cx="7314247" cy="964367"/>
          </a:xfrm>
          <a:prstGeom prst="rect">
            <a:avLst/>
          </a:prstGeom>
          <a:noFill/>
        </p:spPr>
        <p:txBody>
          <a:bodyPr wrap="square" rtlCol="0">
            <a:spAutoFit/>
          </a:bodyPr>
          <a:lstStyle/>
          <a:p>
            <a:pPr marL="457200" indent="-457200">
              <a:lnSpc>
                <a:spcPts val="3360"/>
              </a:lnSpc>
              <a:buFontTx/>
              <a:buChar char="-"/>
            </a:pPr>
            <a:r>
              <a:rPr lang="en-US" sz="2800" dirty="0"/>
              <a:t>“Debugging”: How to make sure gradient descent is working correctly.</a:t>
            </a:r>
          </a:p>
        </p:txBody>
      </p:sp>
      <p:sp>
        <p:nvSpPr>
          <p:cNvPr id="7" name="Rectangle 6"/>
          <p:cNvSpPr/>
          <p:nvPr/>
        </p:nvSpPr>
        <p:spPr>
          <a:xfrm>
            <a:off x="1677333" y="3509477"/>
            <a:ext cx="6477000" cy="964367"/>
          </a:xfrm>
          <a:prstGeom prst="rect">
            <a:avLst/>
          </a:prstGeom>
        </p:spPr>
        <p:txBody>
          <a:bodyPr wrap="square">
            <a:spAutoFit/>
          </a:bodyPr>
          <a:lstStyle/>
          <a:p>
            <a:pPr marL="457200" indent="-457200">
              <a:lnSpc>
                <a:spcPts val="3360"/>
              </a:lnSpc>
              <a:buFontTx/>
              <a:buChar char="-"/>
            </a:pPr>
            <a:endParaRPr lang="en-US" sz="2800" dirty="0"/>
          </a:p>
          <a:p>
            <a:pPr marL="457200" indent="-457200">
              <a:lnSpc>
                <a:spcPts val="3360"/>
              </a:lnSpc>
              <a:buFontTx/>
              <a:buChar char="-"/>
            </a:pPr>
            <a:r>
              <a:rPr lang="en-US" sz="2800" dirty="0"/>
              <a:t>How to choose learning rate     .</a:t>
            </a:r>
          </a:p>
        </p:txBody>
      </p:sp>
      <p:pic>
        <p:nvPicPr>
          <p:cNvPr id="8" name="Picture 7"/>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6781800" y="4075185"/>
            <a:ext cx="228600" cy="243840"/>
          </a:xfrm>
          <a:prstGeom prst="rect">
            <a:avLst/>
          </a:prstGeom>
        </p:spPr>
      </p:pic>
    </p:spTree>
    <p:extLst>
      <p:ext uri="{BB962C8B-B14F-4D97-AF65-F5344CB8AC3E}">
        <p14:creationId xmlns:p14="http://schemas.microsoft.com/office/powerpoint/2010/main" val="2723520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524000" y="457200"/>
            <a:ext cx="7314247" cy="523220"/>
          </a:xfrm>
          <a:prstGeom prst="rect">
            <a:avLst/>
          </a:prstGeom>
          <a:noFill/>
        </p:spPr>
        <p:txBody>
          <a:bodyPr wrap="square" rtlCol="0">
            <a:spAutoFit/>
          </a:bodyPr>
          <a:lstStyle/>
          <a:p>
            <a:r>
              <a:rPr lang="en-US" sz="2800" b="1" dirty="0"/>
              <a:t>Choosing </a:t>
            </a:r>
          </a:p>
        </p:txBody>
      </p:sp>
      <p:sp>
        <p:nvSpPr>
          <p:cNvPr id="21" name="TextBox 20"/>
          <p:cNvSpPr txBox="1"/>
          <p:nvPr/>
        </p:nvSpPr>
        <p:spPr>
          <a:xfrm>
            <a:off x="2058353" y="1483007"/>
            <a:ext cx="7314247" cy="1400383"/>
          </a:xfrm>
          <a:prstGeom prst="rect">
            <a:avLst/>
          </a:prstGeom>
          <a:noFill/>
        </p:spPr>
        <p:txBody>
          <a:bodyPr wrap="square" rtlCol="0">
            <a:spAutoFit/>
          </a:bodyPr>
          <a:lstStyle/>
          <a:p>
            <a:pPr marL="457200" indent="-457200">
              <a:lnSpc>
                <a:spcPts val="3360"/>
              </a:lnSpc>
              <a:buFontTx/>
              <a:buChar char="-"/>
            </a:pPr>
            <a:r>
              <a:rPr lang="en-US" sz="2800" dirty="0"/>
              <a:t>If     is too small: slow convergence.</a:t>
            </a:r>
          </a:p>
          <a:p>
            <a:pPr marL="457200" indent="-457200">
              <a:lnSpc>
                <a:spcPts val="3360"/>
              </a:lnSpc>
              <a:buFontTx/>
              <a:buChar char="-"/>
            </a:pPr>
            <a:r>
              <a:rPr lang="en-US" sz="2800" dirty="0"/>
              <a:t>If     is too large:         may not decrease on every iteration; may not converge.</a:t>
            </a:r>
          </a:p>
        </p:txBody>
      </p:sp>
      <p:pic>
        <p:nvPicPr>
          <p:cNvPr id="22" name="Picture 21"/>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34361" y="1660420"/>
            <a:ext cx="200025" cy="213360"/>
          </a:xfrm>
          <a:prstGeom prst="rect">
            <a:avLst/>
          </a:prstGeom>
        </p:spPr>
      </p:pic>
      <p:pic>
        <p:nvPicPr>
          <p:cNvPr id="23" name="Picture 22"/>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934360" y="2076518"/>
            <a:ext cx="200025" cy="213360"/>
          </a:xfrm>
          <a:prstGeom prst="rect">
            <a:avLst/>
          </a:prstGeom>
        </p:spPr>
      </p:pic>
      <p:pic>
        <p:nvPicPr>
          <p:cNvPr id="24" name="Picture 23"/>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5289407" y="2041828"/>
            <a:ext cx="534924" cy="408432"/>
          </a:xfrm>
          <a:prstGeom prst="rect">
            <a:avLst/>
          </a:prstGeom>
        </p:spPr>
      </p:pic>
      <p:sp>
        <p:nvSpPr>
          <p:cNvPr id="25" name="TextBox 24"/>
          <p:cNvSpPr txBox="1"/>
          <p:nvPr/>
        </p:nvSpPr>
        <p:spPr>
          <a:xfrm>
            <a:off x="1484705" y="3746188"/>
            <a:ext cx="7314247" cy="523220"/>
          </a:xfrm>
          <a:prstGeom prst="rect">
            <a:avLst/>
          </a:prstGeom>
          <a:noFill/>
        </p:spPr>
        <p:txBody>
          <a:bodyPr wrap="square" rtlCol="0">
            <a:spAutoFit/>
          </a:bodyPr>
          <a:lstStyle/>
          <a:p>
            <a:r>
              <a:rPr lang="en-US" sz="2800" dirty="0"/>
              <a:t>To choose    , try</a:t>
            </a:r>
          </a:p>
        </p:txBody>
      </p:sp>
      <p:pic>
        <p:nvPicPr>
          <p:cNvPr id="26" name="Picture 25"/>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tretch>
            <a:fillRect/>
          </a:stretch>
        </p:blipFill>
        <p:spPr>
          <a:xfrm>
            <a:off x="3313500" y="3877297"/>
            <a:ext cx="200025" cy="213360"/>
          </a:xfrm>
          <a:prstGeom prst="rect">
            <a:avLst/>
          </a:prstGeom>
        </p:spPr>
      </p:pic>
      <p:pic>
        <p:nvPicPr>
          <p:cNvPr id="27" name="Picture 26"/>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2427052" y="4620258"/>
            <a:ext cx="6576822" cy="323839"/>
          </a:xfrm>
          <a:prstGeom prst="rect">
            <a:avLst/>
          </a:prstGeom>
        </p:spPr>
      </p:pic>
      <p:sp>
        <p:nvSpPr>
          <p:cNvPr id="28" name="Rectangle 27"/>
          <p:cNvSpPr/>
          <p:nvPr/>
        </p:nvSpPr>
        <p:spPr>
          <a:xfrm>
            <a:off x="3978752" y="4443819"/>
            <a:ext cx="838200" cy="585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5725737" y="4422819"/>
            <a:ext cx="838200" cy="585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7300730" y="4422819"/>
            <a:ext cx="838200" cy="5853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a:xfrm>
            <a:off x="3359084" y="612130"/>
            <a:ext cx="200025" cy="213360"/>
          </a:xfrm>
          <a:prstGeom prst="rect">
            <a:avLst/>
          </a:prstGeom>
        </p:spPr>
      </p:pic>
    </p:spTree>
    <p:extLst>
      <p:ext uri="{BB962C8B-B14F-4D97-AF65-F5344CB8AC3E}">
        <p14:creationId xmlns:p14="http://schemas.microsoft.com/office/powerpoint/2010/main" val="30825176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Outlook</a:t>
            </a:r>
          </a:p>
        </p:txBody>
      </p:sp>
      <p:sp>
        <p:nvSpPr>
          <p:cNvPr id="3" name="Content Placeholder 2"/>
          <p:cNvSpPr>
            <a:spLocks noGrp="1"/>
          </p:cNvSpPr>
          <p:nvPr>
            <p:ph idx="1"/>
          </p:nvPr>
        </p:nvSpPr>
        <p:spPr/>
        <p:txBody>
          <a:bodyPr/>
          <a:lstStyle/>
          <a:p>
            <a:pPr marL="457200" indent="-457200">
              <a:buAutoNum type="arabicPeriod"/>
            </a:pPr>
            <a:r>
              <a:rPr lang="en-GB" sz="2800" dirty="0"/>
              <a:t>Linear regression</a:t>
            </a:r>
          </a:p>
          <a:p>
            <a:pPr marL="1143000" lvl="1" indent="-457200"/>
            <a:r>
              <a:rPr lang="en-GB" sz="2000" dirty="0"/>
              <a:t>Examples</a:t>
            </a:r>
          </a:p>
          <a:p>
            <a:pPr marL="1143000" lvl="1" indent="-457200"/>
            <a:r>
              <a:rPr lang="en-GB" sz="2000" dirty="0"/>
              <a:t>Math notation</a:t>
            </a:r>
          </a:p>
          <a:p>
            <a:pPr marL="1143000" lvl="1" indent="-457200"/>
            <a:r>
              <a:rPr lang="en-GB" sz="2000" dirty="0"/>
              <a:t>Least Mean Square function (LMS)</a:t>
            </a:r>
          </a:p>
          <a:p>
            <a:pPr marL="1143000" lvl="1" indent="-457200"/>
            <a:r>
              <a:rPr lang="en-GB" sz="2000" dirty="0"/>
              <a:t>Gradient Descent function</a:t>
            </a:r>
          </a:p>
          <a:p>
            <a:pPr marL="457200" indent="-457200">
              <a:buAutoNum type="arabicPeriod"/>
            </a:pPr>
            <a:r>
              <a:rPr lang="en-GB" sz="2800" dirty="0">
                <a:solidFill>
                  <a:srgbClr val="FF0000"/>
                </a:solidFill>
              </a:rPr>
              <a:t>Logistic regression </a:t>
            </a:r>
          </a:p>
        </p:txBody>
      </p:sp>
    </p:spTree>
    <p:extLst>
      <p:ext uri="{BB962C8B-B14F-4D97-AF65-F5344CB8AC3E}">
        <p14:creationId xmlns:p14="http://schemas.microsoft.com/office/powerpoint/2010/main" val="425740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Logistic Regression</a:t>
            </a:r>
          </a:p>
        </p:txBody>
      </p:sp>
      <p:sp>
        <p:nvSpPr>
          <p:cNvPr id="3" name="Content Placeholder 2"/>
          <p:cNvSpPr>
            <a:spLocks noGrp="1"/>
          </p:cNvSpPr>
          <p:nvPr>
            <p:ph idx="1"/>
          </p:nvPr>
        </p:nvSpPr>
        <p:spPr/>
        <p:txBody>
          <a:bodyPr/>
          <a:lstStyle/>
          <a:p>
            <a:r>
              <a:rPr lang="en-GB" dirty="0"/>
              <a:t>Logistic Regression (LR) is a model (algorithm) used to solve a classification problem. </a:t>
            </a:r>
          </a:p>
          <a:p>
            <a:r>
              <a:rPr lang="en-GB" dirty="0"/>
              <a:t>Especially, LR aims to binary classification problem that means the target class y = {0,1}.</a:t>
            </a:r>
          </a:p>
          <a:p>
            <a:r>
              <a:rPr lang="en-GB" dirty="0"/>
              <a:t>The reason LR is still a regression model because it’s underlying techniques is very close to Linear Regression.</a:t>
            </a:r>
          </a:p>
          <a:p>
            <a:r>
              <a:rPr lang="en-GB" dirty="0"/>
              <a:t>The term logistic is taken purely because the Logit Function is used to do the classification. </a:t>
            </a:r>
          </a:p>
        </p:txBody>
      </p:sp>
    </p:spTree>
    <p:extLst>
      <p:ext uri="{BB962C8B-B14F-4D97-AF65-F5344CB8AC3E}">
        <p14:creationId xmlns:p14="http://schemas.microsoft.com/office/powerpoint/2010/main" val="3593573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Image for 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055" y="4049486"/>
            <a:ext cx="4910945" cy="26561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lang="en-GB" dirty="0"/>
              <a:t>Binary Classification problem examples</a:t>
            </a:r>
          </a:p>
        </p:txBody>
      </p:sp>
      <p:sp>
        <p:nvSpPr>
          <p:cNvPr id="3" name="Content Placeholder 2"/>
          <p:cNvSpPr>
            <a:spLocks noGrp="1"/>
          </p:cNvSpPr>
          <p:nvPr>
            <p:ph idx="1"/>
          </p:nvPr>
        </p:nvSpPr>
        <p:spPr/>
        <p:txBody>
          <a:bodyPr/>
          <a:lstStyle/>
          <a:p>
            <a:endParaRPr lang="en-GB"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741714"/>
            <a:ext cx="4269094"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530351" y="1763485"/>
            <a:ext cx="4237057" cy="369332"/>
          </a:xfrm>
          <a:prstGeom prst="rect">
            <a:avLst/>
          </a:prstGeom>
        </p:spPr>
        <p:txBody>
          <a:bodyPr wrap="none">
            <a:spAutoFit/>
          </a:bodyPr>
          <a:lstStyle/>
          <a:p>
            <a:r>
              <a:rPr lang="en-GB" b="1" dirty="0"/>
              <a:t>Why cannot use Linear Regression?</a:t>
            </a:r>
            <a:endParaRPr lang="en-GB" dirty="0"/>
          </a:p>
        </p:txBody>
      </p:sp>
    </p:spTree>
    <p:extLst>
      <p:ext uri="{BB962C8B-B14F-4D97-AF65-F5344CB8AC3E}">
        <p14:creationId xmlns:p14="http://schemas.microsoft.com/office/powerpoint/2010/main" val="397452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Logistic Regression model</a:t>
            </a:r>
            <a:endParaRPr lang="en-GB" dirty="0"/>
          </a:p>
        </p:txBody>
      </p:sp>
      <p:sp>
        <p:nvSpPr>
          <p:cNvPr id="3" name="Content Placeholder 2"/>
          <p:cNvSpPr>
            <a:spLocks noGrp="1"/>
          </p:cNvSpPr>
          <p:nvPr>
            <p:ph idx="1"/>
          </p:nvPr>
        </p:nvSpPr>
        <p:spPr/>
        <p:txBody>
          <a:bodyPr/>
          <a:lstStyle/>
          <a:p>
            <a:r>
              <a:rPr lang="en-GB" sz="2000" dirty="0"/>
              <a:t>The logistic function is a Sigmoid function, which takes any real value between zero and one. So the logistic regression hypothesis is defined as:</a:t>
            </a:r>
          </a:p>
          <a:p>
            <a:endParaRPr lang="en-GB"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5915" y="3004457"/>
            <a:ext cx="3530742" cy="2862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600200" y="4495800"/>
            <a:ext cx="3286477" cy="369332"/>
          </a:xfrm>
          <a:prstGeom prst="rect">
            <a:avLst/>
          </a:prstGeom>
        </p:spPr>
        <p:txBody>
          <a:bodyPr wrap="none">
            <a:spAutoFit/>
          </a:bodyPr>
          <a:lstStyle/>
          <a:p>
            <a:r>
              <a:rPr lang="en-GB" dirty="0"/>
              <a:t>g(z) tends towards 1 as z → ∞</a:t>
            </a:r>
          </a:p>
        </p:txBody>
      </p:sp>
      <p:sp>
        <p:nvSpPr>
          <p:cNvPr id="7" name="Rectangle 6"/>
          <p:cNvSpPr/>
          <p:nvPr/>
        </p:nvSpPr>
        <p:spPr>
          <a:xfrm>
            <a:off x="1600200" y="4930055"/>
            <a:ext cx="3657600" cy="369332"/>
          </a:xfrm>
          <a:prstGeom prst="rect">
            <a:avLst/>
          </a:prstGeom>
        </p:spPr>
        <p:txBody>
          <a:bodyPr wrap="square">
            <a:spAutoFit/>
          </a:bodyPr>
          <a:lstStyle/>
          <a:p>
            <a:r>
              <a:rPr lang="en-GB" dirty="0"/>
              <a:t>g(z) tends towards 0 as z → −∞.</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4993" y="2743200"/>
            <a:ext cx="3811377"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0888" y="5692055"/>
            <a:ext cx="27051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Curved Connector 9"/>
          <p:cNvCxnSpPr/>
          <p:nvPr/>
        </p:nvCxnSpPr>
        <p:spPr>
          <a:xfrm rot="16200000" flipH="1">
            <a:off x="1783644" y="5265899"/>
            <a:ext cx="609600" cy="395112"/>
          </a:xfrm>
          <a:prstGeom prst="curvedConnector3">
            <a:avLst>
              <a:gd name="adj1" fmla="val 50000"/>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45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Important property  </a:t>
            </a:r>
          </a:p>
        </p:txBody>
      </p:sp>
      <p:sp>
        <p:nvSpPr>
          <p:cNvPr id="3" name="Content Placeholder 2"/>
          <p:cNvSpPr>
            <a:spLocks noGrp="1"/>
          </p:cNvSpPr>
          <p:nvPr>
            <p:ph idx="1"/>
          </p:nvPr>
        </p:nvSpPr>
        <p:spPr>
          <a:xfrm>
            <a:off x="1524000" y="838200"/>
            <a:ext cx="7315200" cy="4876800"/>
          </a:xfrm>
        </p:spPr>
        <p:txBody>
          <a:bodyPr/>
          <a:lstStyle/>
          <a:p>
            <a:r>
              <a:rPr lang="en-GB" dirty="0"/>
              <a:t>Before moving on, here’s a useful property of the derivative of the sigmoid function, which we write as g′:</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44824"/>
            <a:ext cx="3542913"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descr="Image for pos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9462" y="2408797"/>
            <a:ext cx="3612544" cy="37153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625554" y="2392237"/>
            <a:ext cx="1443024" cy="369332"/>
          </a:xfrm>
          <a:prstGeom prst="rect">
            <a:avLst/>
          </a:prstGeom>
          <a:noFill/>
        </p:spPr>
        <p:txBody>
          <a:bodyPr wrap="none" rtlCol="0">
            <a:spAutoFit/>
          </a:bodyPr>
          <a:lstStyle/>
          <a:p>
            <a:r>
              <a:rPr lang="en-GB" sz="1400" dirty="0"/>
              <a:t>Reciprocal rule</a:t>
            </a:r>
            <a:r>
              <a:rPr lang="en-GB" dirty="0"/>
              <a:t>:</a:t>
            </a:r>
          </a:p>
        </p:txBody>
      </p:sp>
      <p:pic>
        <p:nvPicPr>
          <p:cNvPr id="3078" name="Picture 6" descr="Image for pos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06451" y="2838610"/>
            <a:ext cx="3827407" cy="3839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3632988" y="3174634"/>
            <a:ext cx="1258678" cy="307777"/>
          </a:xfrm>
          <a:prstGeom prst="rect">
            <a:avLst/>
          </a:prstGeom>
          <a:noFill/>
        </p:spPr>
        <p:txBody>
          <a:bodyPr wrap="none" rtlCol="0">
            <a:spAutoFit/>
          </a:bodyPr>
          <a:lstStyle/>
          <a:p>
            <a:r>
              <a:rPr lang="en-GB" sz="1400" dirty="0"/>
              <a:t>Linearity rule:</a:t>
            </a:r>
          </a:p>
        </p:txBody>
      </p:sp>
      <p:pic>
        <p:nvPicPr>
          <p:cNvPr id="3080" name="Picture 8" descr="Image for po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7686" y="3273524"/>
            <a:ext cx="3494292" cy="201499"/>
          </a:xfrm>
          <a:prstGeom prst="rect">
            <a:avLst/>
          </a:prstGeom>
          <a:noFill/>
          <a:extLst>
            <a:ext uri="{909E8E84-426E-40DD-AFC4-6F175D3DCCD1}">
              <a14:hiddenFill xmlns:a14="http://schemas.microsoft.com/office/drawing/2010/main">
                <a:solidFill>
                  <a:srgbClr val="FFFFFF"/>
                </a:solidFill>
              </a14:hiddenFill>
            </a:ext>
          </a:extLst>
        </p:spPr>
      </p:pic>
      <p:pic>
        <p:nvPicPr>
          <p:cNvPr id="3081"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06451" y="3532755"/>
            <a:ext cx="2590800" cy="365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520951" y="3577028"/>
            <a:ext cx="235962" cy="276999"/>
          </a:xfrm>
          <a:prstGeom prst="rect">
            <a:avLst/>
          </a:prstGeom>
          <a:noFill/>
        </p:spPr>
        <p:txBody>
          <a:bodyPr wrap="none" rtlCol="0">
            <a:spAutoFit/>
          </a:bodyPr>
          <a:lstStyle/>
          <a:p>
            <a:r>
              <a:rPr lang="en-GB" sz="1200" b="1" dirty="0"/>
              <a:t>)</a:t>
            </a:r>
          </a:p>
        </p:txBody>
      </p:sp>
      <p:sp>
        <p:nvSpPr>
          <p:cNvPr id="7" name="TextBox 6"/>
          <p:cNvSpPr txBox="1"/>
          <p:nvPr/>
        </p:nvSpPr>
        <p:spPr>
          <a:xfrm>
            <a:off x="3632988" y="3898053"/>
            <a:ext cx="1518364" cy="307777"/>
          </a:xfrm>
          <a:prstGeom prst="rect">
            <a:avLst/>
          </a:prstGeom>
          <a:noFill/>
        </p:spPr>
        <p:txBody>
          <a:bodyPr wrap="none" rtlCol="0">
            <a:spAutoFit/>
          </a:bodyPr>
          <a:lstStyle/>
          <a:p>
            <a:r>
              <a:rPr lang="en-GB" sz="1400" dirty="0"/>
              <a:t>Exponential rule:</a:t>
            </a:r>
          </a:p>
        </p:txBody>
      </p:sp>
      <p:pic>
        <p:nvPicPr>
          <p:cNvPr id="3083" name="Picture 11" descr="Image for post"/>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75849" y="4001066"/>
            <a:ext cx="1650897" cy="20082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56913" y="3541695"/>
            <a:ext cx="2006087" cy="38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5" name="Picture 1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041763" y="4239766"/>
            <a:ext cx="2225374" cy="38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3657600" y="4628719"/>
            <a:ext cx="1258678" cy="307777"/>
          </a:xfrm>
          <a:prstGeom prst="rect">
            <a:avLst/>
          </a:prstGeom>
          <a:noFill/>
        </p:spPr>
        <p:txBody>
          <a:bodyPr wrap="none" rtlCol="0">
            <a:spAutoFit/>
          </a:bodyPr>
          <a:lstStyle/>
          <a:p>
            <a:r>
              <a:rPr lang="en-GB" sz="1400" dirty="0"/>
              <a:t>Linearity rule:</a:t>
            </a:r>
          </a:p>
        </p:txBody>
      </p:sp>
      <p:pic>
        <p:nvPicPr>
          <p:cNvPr id="18" name="Picture 8" descr="Image for po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2562" y="4681857"/>
            <a:ext cx="3494292" cy="201499"/>
          </a:xfrm>
          <a:prstGeom prst="rect">
            <a:avLst/>
          </a:prstGeom>
          <a:noFill/>
          <a:extLst>
            <a:ext uri="{909E8E84-426E-40DD-AFC4-6F175D3DCCD1}">
              <a14:hiddenFill xmlns:a14="http://schemas.microsoft.com/office/drawing/2010/main">
                <a:solidFill>
                  <a:srgbClr val="FFFFFF"/>
                </a:solidFill>
              </a14:hiddenFill>
            </a:ext>
          </a:extLst>
        </p:spPr>
      </p:pic>
      <p:pic>
        <p:nvPicPr>
          <p:cNvPr id="3087" name="Picture 15" descr="Image for post"/>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114800" y="4982955"/>
            <a:ext cx="4297178" cy="334541"/>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311046" y="5398162"/>
            <a:ext cx="1887689" cy="222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9" name="Picture 17"/>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311046" y="5677619"/>
            <a:ext cx="1522812" cy="265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Curved Connector 9"/>
          <p:cNvCxnSpPr>
            <a:stCxn id="3089" idx="1"/>
          </p:cNvCxnSpPr>
          <p:nvPr/>
        </p:nvCxnSpPr>
        <p:spPr>
          <a:xfrm rot="10800000">
            <a:off x="2514600" y="3030576"/>
            <a:ext cx="3796446" cy="2780034"/>
          </a:xfrm>
          <a:prstGeom prst="curvedConnector3">
            <a:avLst>
              <a:gd name="adj1" fmla="val 7526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529903" y="5213496"/>
            <a:ext cx="550151" cy="369332"/>
          </a:xfrm>
          <a:prstGeom prst="rect">
            <a:avLst/>
          </a:prstGeom>
          <a:noFill/>
        </p:spPr>
        <p:txBody>
          <a:bodyPr wrap="none" rtlCol="0">
            <a:spAutoFit/>
          </a:bodyPr>
          <a:lstStyle/>
          <a:p>
            <a:r>
              <a:rPr lang="en-GB" dirty="0"/>
              <a:t>z=x</a:t>
            </a:r>
          </a:p>
        </p:txBody>
      </p:sp>
      <p:pic>
        <p:nvPicPr>
          <p:cNvPr id="3090" name="Picture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 y="4743450"/>
            <a:ext cx="3314700" cy="196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Curved Connector 20"/>
          <p:cNvCxnSpPr/>
          <p:nvPr/>
        </p:nvCxnSpPr>
        <p:spPr>
          <a:xfrm rot="5400000" flipH="1" flipV="1">
            <a:off x="-1068986" y="4798414"/>
            <a:ext cx="2976172" cy="533400"/>
          </a:xfrm>
          <a:prstGeom prst="curvedConnector3">
            <a:avLst>
              <a:gd name="adj1" fmla="val 84382"/>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04800" y="4117558"/>
            <a:ext cx="550151" cy="369332"/>
          </a:xfrm>
          <a:prstGeom prst="rect">
            <a:avLst/>
          </a:prstGeom>
          <a:noFill/>
        </p:spPr>
        <p:txBody>
          <a:bodyPr wrap="none" rtlCol="0">
            <a:spAutoFit/>
          </a:bodyPr>
          <a:lstStyle/>
          <a:p>
            <a:r>
              <a:rPr lang="en-GB" dirty="0"/>
              <a:t>z=x</a:t>
            </a:r>
          </a:p>
        </p:txBody>
      </p:sp>
    </p:spTree>
    <p:extLst>
      <p:ext uri="{BB962C8B-B14F-4D97-AF65-F5344CB8AC3E}">
        <p14:creationId xmlns:p14="http://schemas.microsoft.com/office/powerpoint/2010/main" val="48677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8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8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8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8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8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8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09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6" grpId="0"/>
      <p:bldP spid="7" grpId="0"/>
      <p:bldP spid="17" grpId="0"/>
      <p:bldP spid="19" grpId="0"/>
      <p:bldP spid="4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Search for </a:t>
            </a:r>
            <a:r>
              <a:rPr lang="el-GR" dirty="0"/>
              <a:t>θ</a:t>
            </a:r>
            <a:endParaRPr lang="en-GB" dirty="0"/>
          </a:p>
        </p:txBody>
      </p:sp>
      <p:sp>
        <p:nvSpPr>
          <p:cNvPr id="3" name="Content Placeholder 2"/>
          <p:cNvSpPr>
            <a:spLocks noGrp="1"/>
          </p:cNvSpPr>
          <p:nvPr>
            <p:ph idx="1"/>
          </p:nvPr>
        </p:nvSpPr>
        <p:spPr/>
        <p:txBody>
          <a:bodyPr/>
          <a:lstStyle/>
          <a:p>
            <a:r>
              <a:rPr lang="en-GB" dirty="0"/>
              <a:t>Given the logistic regression model, how do we fit θ for it?</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209800"/>
            <a:ext cx="4162425" cy="1581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114801"/>
            <a:ext cx="2452512" cy="388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Connector 6"/>
          <p:cNvCxnSpPr/>
          <p:nvPr/>
        </p:nvCxnSpPr>
        <p:spPr>
          <a:xfrm>
            <a:off x="4419600" y="2242336"/>
            <a:ext cx="0" cy="243840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876800" y="2177534"/>
            <a:ext cx="2787943" cy="369332"/>
          </a:xfrm>
          <a:prstGeom prst="rect">
            <a:avLst/>
          </a:prstGeom>
          <a:noFill/>
        </p:spPr>
        <p:txBody>
          <a:bodyPr wrap="none" rtlCol="0">
            <a:spAutoFit/>
          </a:bodyPr>
          <a:lstStyle/>
          <a:p>
            <a:r>
              <a:rPr lang="en-GB" dirty="0"/>
              <a:t>Probabilistic assumptions</a:t>
            </a:r>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1800" y="2601295"/>
            <a:ext cx="3407229" cy="86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0486" y="3905250"/>
            <a:ext cx="460057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Down Arrow 8"/>
          <p:cNvSpPr/>
          <p:nvPr/>
        </p:nvSpPr>
        <p:spPr>
          <a:xfrm>
            <a:off x="6505414" y="3461536"/>
            <a:ext cx="276386" cy="3294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0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2179" y="4691622"/>
            <a:ext cx="4486481" cy="1861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a:xfrm flipV="1">
            <a:off x="152400" y="4680736"/>
            <a:ext cx="4278086" cy="10886"/>
          </a:xfrm>
          <a:prstGeom prst="line">
            <a:avLst/>
          </a:prstGeom>
        </p:spPr>
        <p:style>
          <a:lnRef idx="1">
            <a:schemeClr val="accent1"/>
          </a:lnRef>
          <a:fillRef idx="0">
            <a:schemeClr val="accent1"/>
          </a:fillRef>
          <a:effectRef idx="0">
            <a:schemeClr val="accent1"/>
          </a:effectRef>
          <a:fontRef idx="minor">
            <a:schemeClr val="tx1"/>
          </a:fontRef>
        </p:style>
      </p:cxnSp>
      <p:sp>
        <p:nvSpPr>
          <p:cNvPr id="16" name="Down Arrow 15"/>
          <p:cNvSpPr/>
          <p:nvPr/>
        </p:nvSpPr>
        <p:spPr>
          <a:xfrm>
            <a:off x="6497926" y="4407293"/>
            <a:ext cx="276386" cy="3294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ight Arrow 11"/>
          <p:cNvSpPr/>
          <p:nvPr/>
        </p:nvSpPr>
        <p:spPr>
          <a:xfrm rot="8905730">
            <a:off x="4614836" y="5136524"/>
            <a:ext cx="382970" cy="2449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102"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326" y="5463637"/>
            <a:ext cx="4832272" cy="971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6621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Search for </a:t>
            </a:r>
            <a:r>
              <a:rPr lang="el-GR" dirty="0"/>
              <a:t>θ</a:t>
            </a:r>
            <a:r>
              <a:rPr lang="en-GB" dirty="0"/>
              <a:t> (cont.)</a:t>
            </a:r>
          </a:p>
        </p:txBody>
      </p:sp>
      <p:sp>
        <p:nvSpPr>
          <p:cNvPr id="3" name="Content Placeholder 2"/>
          <p:cNvSpPr>
            <a:spLocks noGrp="1"/>
          </p:cNvSpPr>
          <p:nvPr>
            <p:ph idx="1"/>
          </p:nvPr>
        </p:nvSpPr>
        <p:spPr/>
        <p:txBody>
          <a:bodyPr/>
          <a:lstStyle/>
          <a:p>
            <a:r>
              <a:rPr lang="en-GB" dirty="0"/>
              <a:t>Gradient ascent rule:</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462344"/>
            <a:ext cx="3731743" cy="2167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133600"/>
            <a:ext cx="8272463" cy="229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5202971"/>
            <a:ext cx="40290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ounded Rectangle 5"/>
          <p:cNvSpPr/>
          <p:nvPr/>
        </p:nvSpPr>
        <p:spPr>
          <a:xfrm>
            <a:off x="761999" y="5213857"/>
            <a:ext cx="4029075" cy="685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457200" y="6107668"/>
            <a:ext cx="4878259" cy="369332"/>
          </a:xfrm>
          <a:prstGeom prst="rect">
            <a:avLst/>
          </a:prstGeom>
          <a:noFill/>
        </p:spPr>
        <p:txBody>
          <a:bodyPr wrap="none" rtlCol="0">
            <a:spAutoFit/>
          </a:bodyPr>
          <a:lstStyle/>
          <a:p>
            <a:r>
              <a:rPr lang="en-GB" dirty="0"/>
              <a:t>The identical update rule for linear regression</a:t>
            </a:r>
          </a:p>
        </p:txBody>
      </p:sp>
    </p:spTree>
    <p:extLst>
      <p:ext uri="{BB962C8B-B14F-4D97-AF65-F5344CB8AC3E}">
        <p14:creationId xmlns:p14="http://schemas.microsoft.com/office/powerpoint/2010/main" val="1564251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Logistic Regression Python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1936" y="1219200"/>
            <a:ext cx="7612063"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6" y="3810000"/>
            <a:ext cx="4695825"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537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Evaluation</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543" y="1371600"/>
            <a:ext cx="4343400" cy="505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981200"/>
            <a:ext cx="4105275"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893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p:txBody>
          <a:bodyPr/>
          <a:lstStyle/>
          <a:p>
            <a:r>
              <a:rPr lang="en-GB" dirty="0"/>
              <a:t>The linear regression (definition and examples)</a:t>
            </a:r>
          </a:p>
          <a:p>
            <a:endParaRPr lang="en-GB" dirty="0"/>
          </a:p>
          <a:p>
            <a:r>
              <a:rPr lang="en-GB" dirty="0"/>
              <a:t>Linear and Logistic regression process and math foundations</a:t>
            </a:r>
          </a:p>
          <a:p>
            <a:endParaRPr lang="en-GB" dirty="0"/>
          </a:p>
          <a:p>
            <a:pPr lvl="1"/>
            <a:r>
              <a:rPr lang="en-GB" sz="1800" dirty="0"/>
              <a:t>Math notations, LMS, Gradient Descent algorithm</a:t>
            </a:r>
          </a:p>
          <a:p>
            <a:endParaRPr lang="en-GB" dirty="0"/>
          </a:p>
          <a:p>
            <a:r>
              <a:rPr lang="en-GB" dirty="0"/>
              <a:t>Make sure your linear regression works correctly </a:t>
            </a:r>
          </a:p>
          <a:p>
            <a:endParaRPr lang="en-GB" dirty="0"/>
          </a:p>
          <a:p>
            <a:pPr lvl="1"/>
            <a:r>
              <a:rPr lang="en-GB" sz="1800" dirty="0"/>
              <a:t>Scaling (normalisation), and select learning rate   </a:t>
            </a:r>
          </a:p>
        </p:txBody>
      </p:sp>
    </p:spTree>
    <p:extLst>
      <p:ext uri="{BB962C8B-B14F-4D97-AF65-F5344CB8AC3E}">
        <p14:creationId xmlns:p14="http://schemas.microsoft.com/office/powerpoint/2010/main" val="27492364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24"/>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0&#10;$&#10;&#10;\end{document}"/>
  <p:tag name="IGUANATEXSIZE" val="20"/>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1&#10;$&#10;&#10;\end{document}"/>
  <p:tag name="IGUANATEXSIZE" val="20"/>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2&#10;$&#10;&#10;\end{document}"/>
  <p:tag name="IGUANATEXSIZE" val="20"/>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3&#10;$&#10;&#10;\end{document}"/>
  <p:tag name="IGUANATEXSIZE" val="20"/>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10;$&#10;&#10;\end{document}"/>
  <p:tag name="IGUANATEXSIZE" val="20"/>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4&#10;$&#10;&#10;\end{document}"/>
  <p:tag name="IGUANATEXSIZE" val="20"/>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 = \begin{bmatrix}&#10;1 &amp; 2104 &amp; 5 &amp; 1 &amp; 45 \\&#10;1 &amp; 1416 &amp; 3 &amp; 2 &amp; 40 \\&#10;1 &amp; 1534 &amp; 3 &amp; 2 &amp; 30 \\&#10;1 &amp; 852 &amp; 2 &amp; 1 &amp; 36 \\&#10;\end{bmatrix}&#10;$&#10;&#10;\end{document}"/>
  <p:tag name="IGUANATEXSIZE" val="20"/>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 = \begin{bmatrix}&#10; 460\\&#10; 232\\&#10; 315\\&#10; 178&#10;\end{bmatrix}&#10;$&#10;&#10;\end{document}"/>
  <p:tag name="IGUANATEXSIZE" val="20"/>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10;&#10;\end{document}"/>
  <p:tag name="IGUANATEXSIZE" val="24"/>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10;&#10;\end{document}"/>
  <p:tag name="IGUANATEXSIZE" val="24"/>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 = \frac{size (feet^2)}{2000}$&#10;&#10;\end{document}"/>
  <p:tag name="IGUANATEXSIZE" val="24"/>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 = \frac{numbersdf    of bedrooms}{5}$&#10;&#10;\end{document}"/>
  <p:tag name="IGUANATEXSIZE" val="24"/>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 \leq x_i \leq 1$&#10;&#10;\end{document}"/>
  <p:tag name="IGUANATEXSIZE" val="24"/>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10;&#10;\end{document}"/>
  <p:tag name="IGUANATEXSIZE" val="24"/>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10;&#10;\end{document}"/>
  <p:tag name="IGUANATEXSIZE" val="24"/>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i$&#10;&#10;&#10;\end{document}"/>
  <p:tag name="IGUANATEXSIZE" val="20"/>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i - \mu_i$&#10;&#10;&#10;\end{document}"/>
  <p:tag name="IGUANATEXSIZE" val="20"/>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0 = 1$&#10;&#10;&#10;\end{document}"/>
  <p:tag name="IGUANATEXSIZE" val="20"/>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 = \frac{size - 1000}{2000}$&#10;&#10;&#10;\end{document}"/>
  <p:tag name="IGUANATEXSIZE" val="24"/>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 = \frac{\#bedrooms - 2}{5}$&#10;&#10;&#10;\end{document}"/>
  <p:tag name="IGUANATEXSIZE" val="24"/>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0.5 \leq x_1 \leq 0.5, -0.5 \leq x_2 \leq 0.5$&#10;&#10;&#10;\end{document}"/>
  <p:tag name="IGUANATEXSIZE" val="20"/>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_j := \theta_j - \alpha \frac{\partial}{\partial \theta_j} J(\theta)&#10;$&#10;&#10;\end{document}"/>
  <p:tag name="IGUANATEXSIZE" val="32"/>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32"/>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J(\theta)&#10;$&#10;&#10;\end{document}"/>
  <p:tag name="IGUANATEXSIZE" val="24"/>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dots, 0.001, 0.000, 0.01, 0.000, 0.1, 0.000, 1, \dots&#10;$&#10;&#10;\end{document}"/>
  <p:tag name="IGUANATEXSIZE" val="28"/>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8"/>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1708</TotalTime>
  <Words>2080</Words>
  <Application>Microsoft Office PowerPoint</Application>
  <PresentationFormat>Προβολή στην οθόνη (4:3)</PresentationFormat>
  <Paragraphs>345</Paragraphs>
  <Slides>45</Slides>
  <Notes>6</Notes>
  <HiddenSlides>0</HiddenSlides>
  <MMClips>0</MMClips>
  <ScaleCrop>false</ScaleCrop>
  <HeadingPairs>
    <vt:vector size="6" baseType="variant">
      <vt:variant>
        <vt:lpstr>Γραμματοσειρές που χρησιμοποιούνται</vt:lpstr>
      </vt:variant>
      <vt:variant>
        <vt:i4>6</vt:i4>
      </vt:variant>
      <vt:variant>
        <vt:lpstr>Θέμα</vt:lpstr>
      </vt:variant>
      <vt:variant>
        <vt:i4>1</vt:i4>
      </vt:variant>
      <vt:variant>
        <vt:lpstr>Τίτλοι διαφανειών</vt:lpstr>
      </vt:variant>
      <vt:variant>
        <vt:i4>45</vt:i4>
      </vt:variant>
    </vt:vector>
  </HeadingPairs>
  <TitlesOfParts>
    <vt:vector size="52" baseType="lpstr">
      <vt:lpstr>ＭＳ Ｐゴシック</vt:lpstr>
      <vt:lpstr>Arial</vt:lpstr>
      <vt:lpstr>Calibri</vt:lpstr>
      <vt:lpstr>Cambria Math</vt:lpstr>
      <vt:lpstr>Symbol</vt:lpstr>
      <vt:lpstr>Times New Roman</vt:lpstr>
      <vt:lpstr>2_Office Theme</vt:lpstr>
      <vt:lpstr>Regression Problem  </vt:lpstr>
      <vt:lpstr>Declaration</vt:lpstr>
      <vt:lpstr>Outlook</vt:lpstr>
      <vt:lpstr>What is linear regression</vt:lpstr>
      <vt:lpstr>Simple example </vt:lpstr>
      <vt:lpstr>Exam the data in your head</vt:lpstr>
      <vt:lpstr>Let’s plot the data</vt:lpstr>
      <vt:lpstr>More realistic example</vt:lpstr>
      <vt:lpstr>Mathematic notations</vt:lpstr>
      <vt:lpstr>Mathematic notations</vt:lpstr>
      <vt:lpstr>Mathematic notations</vt:lpstr>
      <vt:lpstr>Mathematic notations</vt:lpstr>
      <vt:lpstr>Measure “close”</vt:lpstr>
      <vt:lpstr>Calculation the closest θ value with the Cost Function</vt:lpstr>
      <vt:lpstr>Παρουσίαση του PowerPoint</vt:lpstr>
      <vt:lpstr>Παρουσίαση του PowerPoint</vt:lpstr>
      <vt:lpstr>LMS (least mean squares)</vt:lpstr>
      <vt:lpstr>Gradient descent algorithm in example</vt:lpstr>
      <vt:lpstr>Gradient descent algorithm in code</vt:lpstr>
      <vt:lpstr>Alternative way to minimisation J</vt:lpstr>
      <vt:lpstr>Gradient descent visualisation</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“Batch” Gradient Descent</vt:lpstr>
      <vt:lpstr>The multiple features</vt:lpstr>
      <vt:lpstr>Παρουσίαση του PowerPoint</vt:lpstr>
      <vt:lpstr>Παρουσίαση του PowerPoint</vt:lpstr>
      <vt:lpstr>Παρουσίαση του PowerPoint</vt:lpstr>
      <vt:lpstr>Παρουσίαση του PowerPoint</vt:lpstr>
      <vt:lpstr>Outlook</vt:lpstr>
      <vt:lpstr>Logistic Regression</vt:lpstr>
      <vt:lpstr>Binary Classification problem examples</vt:lpstr>
      <vt:lpstr>Logistic Regression model</vt:lpstr>
      <vt:lpstr>Important property  </vt:lpstr>
      <vt:lpstr>Search for θ</vt:lpstr>
      <vt:lpstr>Search for θ (cont.)</vt:lpstr>
      <vt:lpstr>Logistic Regression Python </vt:lpstr>
      <vt:lpstr>Evaluation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Linear Regression</dc:title>
  <dc:creator>Maxwell Yu</dc:creator>
  <cp:lastModifiedBy>Giannis Tsioulis</cp:lastModifiedBy>
  <cp:revision>57</cp:revision>
  <dcterms:created xsi:type="dcterms:W3CDTF">2006-08-16T00:00:00Z</dcterms:created>
  <dcterms:modified xsi:type="dcterms:W3CDTF">2025-11-04T20:22:20Z</dcterms:modified>
</cp:coreProperties>
</file>
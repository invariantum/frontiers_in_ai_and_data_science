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94" r:id="rId3"/>
    <p:sldId id="300" r:id="rId4"/>
    <p:sldId id="282" r:id="rId5"/>
    <p:sldId id="301" r:id="rId6"/>
    <p:sldId id="292" r:id="rId7"/>
    <p:sldId id="257" r:id="rId8"/>
    <p:sldId id="287" r:id="rId9"/>
    <p:sldId id="283" r:id="rId10"/>
    <p:sldId id="284" r:id="rId11"/>
    <p:sldId id="285" r:id="rId12"/>
    <p:sldId id="286" r:id="rId13"/>
    <p:sldId id="289" r:id="rId14"/>
    <p:sldId id="258" r:id="rId15"/>
    <p:sldId id="259" r:id="rId16"/>
    <p:sldId id="260" r:id="rId17"/>
    <p:sldId id="261" r:id="rId18"/>
    <p:sldId id="290" r:id="rId19"/>
    <p:sldId id="262" r:id="rId20"/>
    <p:sldId id="263" r:id="rId21"/>
    <p:sldId id="264" r:id="rId22"/>
    <p:sldId id="265" r:id="rId23"/>
    <p:sldId id="266" r:id="rId24"/>
    <p:sldId id="267" r:id="rId25"/>
    <p:sldId id="268" r:id="rId26"/>
    <p:sldId id="269" r:id="rId27"/>
    <p:sldId id="270" r:id="rId28"/>
    <p:sldId id="271" r:id="rId29"/>
    <p:sldId id="302" r:id="rId30"/>
    <p:sldId id="272" r:id="rId31"/>
    <p:sldId id="278" r:id="rId32"/>
    <p:sldId id="279" r:id="rId33"/>
    <p:sldId id="299" r:id="rId34"/>
    <p:sldId id="273" r:id="rId35"/>
    <p:sldId id="293" r:id="rId36"/>
    <p:sldId id="276" r:id="rId37"/>
    <p:sldId id="277" r:id="rId38"/>
    <p:sldId id="29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43" autoAdjust="0"/>
  </p:normalViewPr>
  <p:slideViewPr>
    <p:cSldViewPr>
      <p:cViewPr varScale="1">
        <p:scale>
          <a:sx n="61" d="100"/>
          <a:sy n="61" d="100"/>
        </p:scale>
        <p:origin x="1440" y="44"/>
      </p:cViewPr>
      <p:guideLst>
        <p:guide orient="horz" pos="2160"/>
        <p:guide pos="2880"/>
      </p:guideLst>
    </p:cSldViewPr>
  </p:slideViewPr>
  <p:notesTextViewPr>
    <p:cViewPr>
      <p:scale>
        <a:sx n="100" d="100"/>
        <a:sy n="100" d="100"/>
      </p:scale>
      <p:origin x="0" y="0"/>
    </p:cViewPr>
  </p:notesTextViewPr>
  <p:notesViewPr>
    <p:cSldViewPr>
      <p:cViewPr varScale="1">
        <p:scale>
          <a:sx n="68" d="100"/>
          <a:sy n="68" d="100"/>
        </p:scale>
        <p:origin x="280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custSel addSld delSld modSld">
      <pc:chgData name="Giannis Tsioulis" userId="d59c48a07cb29050" providerId="LiveId" clId="{D1FB67B2-2F40-423F-AEB1-7CE013CAD466}" dt="2025-10-07T20:19:41.773" v="92" actId="47"/>
      <pc:docMkLst>
        <pc:docMk/>
      </pc:docMkLst>
      <pc:sldChg chg="addSp modSp mod">
        <pc:chgData name="Giannis Tsioulis" userId="d59c48a07cb29050" providerId="LiveId" clId="{D1FB67B2-2F40-423F-AEB1-7CE013CAD466}" dt="2025-10-07T20:16:19.510" v="83" actId="207"/>
        <pc:sldMkLst>
          <pc:docMk/>
          <pc:sldMk cId="1762119713" sldId="256"/>
        </pc:sldMkLst>
        <pc:spChg chg="add mod">
          <ac:chgData name="Giannis Tsioulis" userId="d59c48a07cb29050" providerId="LiveId" clId="{D1FB67B2-2F40-423F-AEB1-7CE013CAD466}" dt="2025-10-07T20:16:19.510" v="83" actId="207"/>
          <ac:spMkLst>
            <pc:docMk/>
            <pc:sldMk cId="1762119713" sldId="256"/>
            <ac:spMk id="2" creationId="{6B246FF1-9020-F3E7-8FC5-A95BBE191469}"/>
          </ac:spMkLst>
        </pc:spChg>
        <pc:spChg chg="add mod">
          <ac:chgData name="Giannis Tsioulis" userId="d59c48a07cb29050" providerId="LiveId" clId="{D1FB67B2-2F40-423F-AEB1-7CE013CAD466}" dt="2025-10-07T20:14:40.254" v="53" actId="207"/>
          <ac:spMkLst>
            <pc:docMk/>
            <pc:sldMk cId="1762119713" sldId="256"/>
            <ac:spMk id="3" creationId="{F506DA0F-9E79-2E9B-A996-5C8CE0755C04}"/>
          </ac:spMkLst>
        </pc:spChg>
        <pc:spChg chg="mod">
          <ac:chgData name="Giannis Tsioulis" userId="d59c48a07cb29050" providerId="LiveId" clId="{D1FB67B2-2F40-423F-AEB1-7CE013CAD466}" dt="2025-10-07T20:11:55.584" v="15" actId="20577"/>
          <ac:spMkLst>
            <pc:docMk/>
            <pc:sldMk cId="1762119713" sldId="256"/>
            <ac:spMk id="4" creationId="{00000000-0000-0000-0000-000000000000}"/>
          </ac:spMkLst>
        </pc:spChg>
        <pc:spChg chg="mod">
          <ac:chgData name="Giannis Tsioulis" userId="d59c48a07cb29050" providerId="LiveId" clId="{D1FB67B2-2F40-423F-AEB1-7CE013CAD466}" dt="2025-10-07T20:14:25.097" v="52" actId="20577"/>
          <ac:spMkLst>
            <pc:docMk/>
            <pc:sldMk cId="1762119713" sldId="256"/>
            <ac:spMk id="5" creationId="{00000000-0000-0000-0000-000000000000}"/>
          </ac:spMkLst>
        </pc:spChg>
      </pc:sldChg>
      <pc:sldChg chg="del">
        <pc:chgData name="Giannis Tsioulis" userId="d59c48a07cb29050" providerId="LiveId" clId="{D1FB67B2-2F40-423F-AEB1-7CE013CAD466}" dt="2025-10-07T20:19:41.773" v="92" actId="47"/>
        <pc:sldMkLst>
          <pc:docMk/>
          <pc:sldMk cId="4260702471" sldId="274"/>
        </pc:sldMkLst>
      </pc:sldChg>
      <pc:sldChg chg="del">
        <pc:chgData name="Giannis Tsioulis" userId="d59c48a07cb29050" providerId="LiveId" clId="{D1FB67B2-2F40-423F-AEB1-7CE013CAD466}" dt="2025-10-07T20:19:10.262" v="91" actId="47"/>
        <pc:sldMkLst>
          <pc:docMk/>
          <pc:sldMk cId="1073695655" sldId="291"/>
        </pc:sldMkLst>
      </pc:sldChg>
      <pc:sldChg chg="modSp add mod">
        <pc:chgData name="Giannis Tsioulis" userId="d59c48a07cb29050" providerId="LiveId" clId="{D1FB67B2-2F40-423F-AEB1-7CE013CAD466}" dt="2025-10-07T20:18:40.970" v="89" actId="1076"/>
        <pc:sldMkLst>
          <pc:docMk/>
          <pc:sldMk cId="1204406781" sldId="294"/>
        </pc:sldMkLst>
        <pc:spChg chg="mod">
          <ac:chgData name="Giannis Tsioulis" userId="d59c48a07cb29050" providerId="LiveId" clId="{D1FB67B2-2F40-423F-AEB1-7CE013CAD466}" dt="2025-10-07T20:18:12.663" v="86" actId="1076"/>
          <ac:spMkLst>
            <pc:docMk/>
            <pc:sldMk cId="1204406781" sldId="294"/>
            <ac:spMk id="2" creationId="{AAE03060-EEB1-497D-FE76-17B09D026377}"/>
          </ac:spMkLst>
        </pc:spChg>
        <pc:spChg chg="mod">
          <ac:chgData name="Giannis Tsioulis" userId="d59c48a07cb29050" providerId="LiveId" clId="{D1FB67B2-2F40-423F-AEB1-7CE013CAD466}" dt="2025-10-07T20:17:15.803" v="84"/>
          <ac:spMkLst>
            <pc:docMk/>
            <pc:sldMk cId="1204406781" sldId="294"/>
            <ac:spMk id="3" creationId="{3CF8DC8E-35FA-7209-9C3F-2AFBE9BD5694}"/>
          </ac:spMkLst>
        </pc:spChg>
        <pc:spChg chg="mod">
          <ac:chgData name="Giannis Tsioulis" userId="d59c48a07cb29050" providerId="LiveId" clId="{D1FB67B2-2F40-423F-AEB1-7CE013CAD466}" dt="2025-10-07T20:18:29.176" v="87" actId="1076"/>
          <ac:spMkLst>
            <pc:docMk/>
            <pc:sldMk cId="1204406781" sldId="294"/>
            <ac:spMk id="4" creationId="{7F3EBB0B-37B8-ECDE-2938-9D3EFF3CDE12}"/>
          </ac:spMkLst>
        </pc:spChg>
        <pc:picChg chg="mod">
          <ac:chgData name="Giannis Tsioulis" userId="d59c48a07cb29050" providerId="LiveId" clId="{D1FB67B2-2F40-423F-AEB1-7CE013CAD466}" dt="2025-10-07T20:18:40.970" v="89" actId="1076"/>
          <ac:picMkLst>
            <pc:docMk/>
            <pc:sldMk cId="1204406781" sldId="294"/>
            <ac:picMk id="5" creationId="{8042B73C-1E93-4DB5-EB10-5FD6D16EBD2F}"/>
          </ac:picMkLst>
        </pc:picChg>
        <pc:picChg chg="mod">
          <ac:chgData name="Giannis Tsioulis" userId="d59c48a07cb29050" providerId="LiveId" clId="{D1FB67B2-2F40-423F-AEB1-7CE013CAD466}" dt="2025-10-07T20:18:36.186" v="88" actId="1076"/>
          <ac:picMkLst>
            <pc:docMk/>
            <pc:sldMk cId="1204406781" sldId="294"/>
            <ac:picMk id="7" creationId="{C2DFC3F1-C502-6BC2-0ED0-09B5EC3AD187}"/>
          </ac:picMkLst>
        </pc:picChg>
      </pc:sldChg>
      <pc:sldChg chg="del">
        <pc:chgData name="Giannis Tsioulis" userId="d59c48a07cb29050" providerId="LiveId" clId="{D1FB67B2-2F40-423F-AEB1-7CE013CAD466}" dt="2025-10-07T20:18:03.739" v="85" actId="47"/>
        <pc:sldMkLst>
          <pc:docMk/>
          <pc:sldMk cId="2886612080" sldId="297"/>
        </pc:sldMkLst>
      </pc:sldChg>
      <pc:sldChg chg="del">
        <pc:chgData name="Giannis Tsioulis" userId="d59c48a07cb29050" providerId="LiveId" clId="{D1FB67B2-2F40-423F-AEB1-7CE013CAD466}" dt="2025-10-07T20:18:57.954" v="90" actId="47"/>
        <pc:sldMkLst>
          <pc:docMk/>
          <pc:sldMk cId="2908236615"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176D52-0B07-46A8-81E9-A52D7E790864}" type="datetimeFigureOut">
              <a:rPr lang="en-GB" smtClean="0"/>
              <a:t>07/10/2025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7C9DE3-8D66-41A1-9327-275C27398A09}" type="slidenum">
              <a:rPr lang="en-GB" smtClean="0"/>
              <a:t>‹#›</a:t>
            </a:fld>
            <a:endParaRPr lang="en-GB"/>
          </a:p>
        </p:txBody>
      </p:sp>
    </p:spTree>
    <p:extLst>
      <p:ext uri="{BB962C8B-B14F-4D97-AF65-F5344CB8AC3E}">
        <p14:creationId xmlns:p14="http://schemas.microsoft.com/office/powerpoint/2010/main" val="2770239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ndex.php?title=Ross_Quillian&amp;action=edit&amp;redlink=1"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B7C9DE3-8D66-41A1-9327-275C27398A09}" type="slidenum">
              <a:rPr lang="en-GB" smtClean="0"/>
              <a:t>4</a:t>
            </a:fld>
            <a:endParaRPr lang="en-GB"/>
          </a:p>
        </p:txBody>
      </p:sp>
    </p:spTree>
    <p:extLst>
      <p:ext uri="{BB962C8B-B14F-4D97-AF65-F5344CB8AC3E}">
        <p14:creationId xmlns:p14="http://schemas.microsoft.com/office/powerpoint/2010/main" val="557456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B7C9DE3-8D66-41A1-9327-275C27398A09}" type="slidenum">
              <a:rPr lang="en-GB" smtClean="0"/>
              <a:t>20</a:t>
            </a:fld>
            <a:endParaRPr lang="en-GB"/>
          </a:p>
        </p:txBody>
      </p:sp>
    </p:spTree>
    <p:extLst>
      <p:ext uri="{BB962C8B-B14F-4D97-AF65-F5344CB8AC3E}">
        <p14:creationId xmlns:p14="http://schemas.microsoft.com/office/powerpoint/2010/main" val="1317860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 was not enough memory or processing speed to accomplish anything truly useful. For example, </a:t>
            </a:r>
            <a:r>
              <a:rPr lang="en-GB" sz="1200" b="0" i="0" u="none" strike="noStrike" kern="1200" dirty="0">
                <a:solidFill>
                  <a:schemeClr val="tx1"/>
                </a:solidFill>
                <a:effectLst/>
                <a:latin typeface="+mn-lt"/>
                <a:ea typeface="+mn-ea"/>
                <a:cs typeface="+mn-cs"/>
                <a:hlinkClick r:id="rId3" tooltip="Ross Quillian (page does not exist)"/>
              </a:rPr>
              <a:t>Ross </a:t>
            </a:r>
            <a:r>
              <a:rPr lang="en-GB" sz="1200" b="0" i="0" u="none" strike="noStrike" kern="1200" dirty="0" err="1">
                <a:solidFill>
                  <a:schemeClr val="tx1"/>
                </a:solidFill>
                <a:effectLst/>
                <a:latin typeface="+mn-lt"/>
                <a:ea typeface="+mn-ea"/>
                <a:cs typeface="+mn-cs"/>
                <a:hlinkClick r:id="rId3" tooltip="Ross Quillian (page does not exist)"/>
              </a:rPr>
              <a:t>Quillian</a:t>
            </a:r>
            <a:r>
              <a:rPr lang="en-GB" sz="1200" b="0" i="0" u="none" kern="1200" dirty="0" err="1">
                <a:solidFill>
                  <a:schemeClr val="tx1"/>
                </a:solidFill>
                <a:effectLst/>
                <a:latin typeface="+mn-lt"/>
                <a:ea typeface="+mn-ea"/>
                <a:cs typeface="+mn-cs"/>
              </a:rPr>
              <a:t>'s</a:t>
            </a:r>
            <a:r>
              <a:rPr lang="en-GB" sz="1200" b="0" i="0" u="none"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successful work on natural language was demonstrated with a vocabulary of only </a:t>
            </a:r>
            <a:r>
              <a:rPr lang="en-GB" sz="1200" b="0" i="1" kern="1200" dirty="0">
                <a:solidFill>
                  <a:schemeClr val="tx1"/>
                </a:solidFill>
                <a:effectLst/>
                <a:latin typeface="+mn-lt"/>
                <a:ea typeface="+mn-ea"/>
                <a:cs typeface="+mn-cs"/>
              </a:rPr>
              <a:t>twenty</a:t>
            </a:r>
            <a:r>
              <a:rPr lang="en-GB" sz="1200" b="0" i="0" kern="1200" dirty="0">
                <a:solidFill>
                  <a:schemeClr val="tx1"/>
                </a:solidFill>
                <a:effectLst/>
                <a:latin typeface="+mn-lt"/>
                <a:ea typeface="+mn-ea"/>
                <a:cs typeface="+mn-cs"/>
              </a:rPr>
              <a:t> words, because that was all that would fit in memory.</a:t>
            </a:r>
          </a:p>
          <a:p>
            <a:endParaRPr lang="en-GB" dirty="0"/>
          </a:p>
        </p:txBody>
      </p:sp>
      <p:sp>
        <p:nvSpPr>
          <p:cNvPr id="4" name="Slide Number Placeholder 3"/>
          <p:cNvSpPr>
            <a:spLocks noGrp="1"/>
          </p:cNvSpPr>
          <p:nvPr>
            <p:ph type="sldNum" sz="quarter" idx="10"/>
          </p:nvPr>
        </p:nvSpPr>
        <p:spPr/>
        <p:txBody>
          <a:bodyPr/>
          <a:lstStyle/>
          <a:p>
            <a:fld id="{DB7C9DE3-8D66-41A1-9327-275C27398A09}" type="slidenum">
              <a:rPr lang="en-GB" smtClean="0"/>
              <a:t>25</a:t>
            </a:fld>
            <a:endParaRPr lang="en-GB"/>
          </a:p>
        </p:txBody>
      </p:sp>
    </p:spTree>
    <p:extLst>
      <p:ext uri="{BB962C8B-B14F-4D97-AF65-F5344CB8AC3E}">
        <p14:creationId xmlns:p14="http://schemas.microsoft.com/office/powerpoint/2010/main" val="3136171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new ideas</a:t>
            </a:r>
            <a:r>
              <a:rPr lang="en-GB" baseline="0" dirty="0"/>
              <a:t> were also boosted by increased PC powers</a:t>
            </a:r>
            <a:endParaRPr lang="en-GB" dirty="0"/>
          </a:p>
        </p:txBody>
      </p:sp>
      <p:sp>
        <p:nvSpPr>
          <p:cNvPr id="4" name="Slide Number Placeholder 3"/>
          <p:cNvSpPr>
            <a:spLocks noGrp="1"/>
          </p:cNvSpPr>
          <p:nvPr>
            <p:ph type="sldNum" sz="quarter" idx="10"/>
          </p:nvPr>
        </p:nvSpPr>
        <p:spPr/>
        <p:txBody>
          <a:bodyPr/>
          <a:lstStyle/>
          <a:p>
            <a:fld id="{DB7C9DE3-8D66-41A1-9327-275C27398A09}" type="slidenum">
              <a:rPr lang="en-GB" smtClean="0"/>
              <a:t>28</a:t>
            </a:fld>
            <a:endParaRPr lang="en-GB"/>
          </a:p>
        </p:txBody>
      </p:sp>
    </p:spTree>
    <p:extLst>
      <p:ext uri="{BB962C8B-B14F-4D97-AF65-F5344CB8AC3E}">
        <p14:creationId xmlns:p14="http://schemas.microsoft.com/office/powerpoint/2010/main" val="3337489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spTree>
    <p:extLst>
      <p:ext uri="{BB962C8B-B14F-4D97-AF65-F5344CB8AC3E}">
        <p14:creationId xmlns:p14="http://schemas.microsoft.com/office/powerpoint/2010/main" val="39776922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6"/>
          <a:stretch>
            <a:fillRect/>
          </a:stretch>
        </p:blipFill>
        <p:spPr>
          <a:xfrm>
            <a:off x="265085" y="4876800"/>
            <a:ext cx="748535" cy="619477"/>
          </a:xfrm>
          <a:prstGeom prst="rect">
            <a:avLst/>
          </a:prstGeom>
        </p:spPr>
      </p:pic>
      <p:sp>
        <p:nvSpPr>
          <p:cNvPr id="2" name="MSIPCMContentMarking" descr="{&quot;HashCode&quot;:269818377,&quot;Placement&quot;:&quot;Footer&quot;}"/>
          <p:cNvSpPr txBox="1"/>
          <p:nvPr/>
        </p:nvSpPr>
        <p:spPr>
          <a:xfrm>
            <a:off x="68426" y="5791200"/>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dirty="0">
                <a:solidFill>
                  <a:srgbClr val="000000"/>
                </a:solidFill>
                <a:latin typeface="Calibri" panose="020F0502020204030204" pitchFamily="34" charset="0"/>
              </a:rPr>
              <a:t>Sensitivity: Internal</a:t>
            </a:r>
          </a:p>
        </p:txBody>
      </p:sp>
      <p:pic>
        <p:nvPicPr>
          <p:cNvPr id="3" name="Picture 2">
            <a:extLst>
              <a:ext uri="{FF2B5EF4-FFF2-40B4-BE49-F238E27FC236}">
                <a16:creationId xmlns:a16="http://schemas.microsoft.com/office/drawing/2014/main" id="{6023BF16-5CB9-4516-8BBA-159E7B3A98F5}"/>
              </a:ext>
            </a:extLst>
          </p:cNvPr>
          <p:cNvPicPr>
            <a:picLocks noChangeAspect="1"/>
          </p:cNvPicPr>
          <p:nvPr userDrawn="1"/>
        </p:nvPicPr>
        <p:blipFill>
          <a:blip r:embed="rId7"/>
          <a:stretch>
            <a:fillRect/>
          </a:stretch>
        </p:blipFill>
        <p:spPr>
          <a:xfrm>
            <a:off x="8860" y="26581"/>
            <a:ext cx="1345019" cy="1345019"/>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giannis00" TargetMode="External"/><Relationship Id="rId2" Type="http://schemas.openxmlformats.org/officeDocument/2006/relationships/hyperlink" Target="mailto:i.tsioulis@mc-class.gr"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en.wikipedia.org/wiki/John_McCarthy_(computer_scientist)" TargetMode="External"/><Relationship Id="rId3" Type="http://schemas.openxmlformats.org/officeDocument/2006/relationships/hyperlink" Target="https://en.wikipedia.org/wiki/Marvin_Minsky" TargetMode="External"/><Relationship Id="rId7" Type="http://schemas.openxmlformats.org/officeDocument/2006/relationships/hyperlink" Target="https://en.wikipedia.org/wiki/John_Henry_Hollan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en.wikipedia.org/wiki/Ray_Solomonoff" TargetMode="External"/><Relationship Id="rId5" Type="http://schemas.openxmlformats.org/officeDocument/2006/relationships/hyperlink" Target="https://en.wikipedia.org/wiki/Donald_MacCrimmon_MacKay" TargetMode="External"/><Relationship Id="rId10" Type="http://schemas.openxmlformats.org/officeDocument/2006/relationships/image" Target="../media/image24.jpeg"/><Relationship Id="rId4" Type="http://schemas.openxmlformats.org/officeDocument/2006/relationships/hyperlink" Target="https://en.wikipedia.org/wiki/Julian_Bigelow" TargetMode="External"/><Relationship Id="rId9" Type="http://schemas.openxmlformats.org/officeDocument/2006/relationships/hyperlink" Target="https://en.wikipedia.org/wiki/Claude_Shannon"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kaggle.com/harryyu/week10-reinforcement-learning-frozenlake-v0"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www.gogeometry.com/software/ai/branches-of-artificial-intelligence-by-application.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chatbotsmagazine.com/how-close-are-chatbots-to-pass-turing-test-33f27b18305e" TargetMode="External"/><Relationship Id="rId1" Type="http://schemas.openxmlformats.org/officeDocument/2006/relationships/slideLayout" Target="../slideLayouts/slideLayout2.xml"/><Relationship Id="rId4" Type="http://schemas.openxmlformats.org/officeDocument/2006/relationships/hyperlink" Target="https://www.pandorabots.com/mitsuku/"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e3zine.com/strong-artificial-intelligence/" TargetMode="External"/><Relationship Id="rId2" Type="http://schemas.openxmlformats.org/officeDocument/2006/relationships/hyperlink" Target="http://ceur-ws.org/Vol-2287/paper34.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 y="3124201"/>
            <a:ext cx="8991600" cy="609600"/>
          </a:xfrm>
        </p:spPr>
        <p:txBody>
          <a:bodyPr/>
          <a:lstStyle/>
          <a:p>
            <a:r>
              <a:rPr lang="en-GB" dirty="0">
                <a:solidFill>
                  <a:srgbClr val="0070C0"/>
                </a:solidFill>
              </a:rPr>
              <a:t>Introduction </a:t>
            </a:r>
            <a:r>
              <a:rPr lang="en-US" dirty="0">
                <a:solidFill>
                  <a:srgbClr val="0070C0"/>
                </a:solidFill>
              </a:rPr>
              <a:t>Frontiers in AI and Data Science </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accent5">
                    <a:lumMod val="50000"/>
                  </a:schemeClr>
                </a:solidFill>
              </a:rPr>
              <a:t>Slides acknowledgements:</a:t>
            </a:r>
          </a:p>
          <a:p>
            <a:r>
              <a:rPr lang="en-GB" sz="1600" dirty="0">
                <a:solidFill>
                  <a:schemeClr val="accent5">
                    <a:lumMod val="50000"/>
                  </a:schemeClr>
                </a:solidFill>
              </a:rPr>
              <a:t>Dr Hong Qing Yu</a:t>
            </a:r>
            <a:endParaRPr lang="el-GR" sz="1600" dirty="0">
              <a:solidFill>
                <a:schemeClr val="accent5">
                  <a:lumMod val="50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324100" y="3838544"/>
            <a:ext cx="4495800" cy="400110"/>
          </a:xfrm>
          <a:prstGeom prst="rect">
            <a:avLst/>
          </a:prstGeom>
          <a:noFill/>
        </p:spPr>
        <p:txBody>
          <a:bodyPr wrap="square" rtlCol="0">
            <a:spAutoFit/>
          </a:bodyPr>
          <a:lstStyle/>
          <a:p>
            <a:pPr algn="ct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AE03060-EEB1-497D-FE76-17B09D026377}"/>
              </a:ext>
            </a:extLst>
          </p:cNvPr>
          <p:cNvSpPr>
            <a:spLocks noGrp="1"/>
          </p:cNvSpPr>
          <p:nvPr>
            <p:ph type="title"/>
          </p:nvPr>
        </p:nvSpPr>
        <p:spPr>
          <a:xfrm>
            <a:off x="1990828" y="1219200"/>
            <a:ext cx="5556885" cy="796372"/>
          </a:xfrm>
        </p:spPr>
        <p:txBody>
          <a:bodyPr/>
          <a:lstStyle/>
          <a:p>
            <a:r>
              <a:rPr lang="en-US" dirty="0"/>
              <a:t>Instructor Contact &amp; Resources</a:t>
            </a:r>
            <a:br>
              <a:rPr lang="en-US" dirty="0"/>
            </a:br>
            <a:endParaRPr lang="el-GR" dirty="0"/>
          </a:p>
        </p:txBody>
      </p:sp>
      <p:sp>
        <p:nvSpPr>
          <p:cNvPr id="4" name="Rectangle 1">
            <a:extLst>
              <a:ext uri="{FF2B5EF4-FFF2-40B4-BE49-F238E27FC236}">
                <a16:creationId xmlns:a16="http://schemas.microsoft.com/office/drawing/2014/main" id="{7F3EBB0B-37B8-ECDE-2938-9D3EFF3CDE12}"/>
              </a:ext>
            </a:extLst>
          </p:cNvPr>
          <p:cNvSpPr>
            <a:spLocks noGrp="1" noChangeArrowheads="1"/>
          </p:cNvSpPr>
          <p:nvPr>
            <p:ph type="body" idx="1"/>
          </p:nvPr>
        </p:nvSpPr>
        <p:spPr bwMode="auto">
          <a:xfrm>
            <a:off x="2667000" y="2438400"/>
            <a:ext cx="2381456" cy="1551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lnSpc>
                <a:spcPct val="100000"/>
              </a:lnSpc>
              <a:spcBef>
                <a:spcPct val="0"/>
              </a:spcBef>
              <a:spcAft>
                <a:spcPct val="0"/>
              </a:spcAft>
            </a:pPr>
            <a:endParaRPr lang="el-GR" altLang="el-GR" sz="1350" dirty="0"/>
          </a:p>
          <a:p>
            <a:pPr algn="l" rtl="0" eaLnBrk="0" fontAlgn="base" hangingPunct="0">
              <a:spcBef>
                <a:spcPct val="0"/>
              </a:spcBef>
              <a:spcAft>
                <a:spcPct val="0"/>
              </a:spcAft>
            </a:pPr>
            <a:r>
              <a:rPr lang="el-GR" altLang="el-GR" sz="1800" dirty="0" err="1">
                <a:solidFill>
                  <a:schemeClr val="accent5">
                    <a:lumMod val="50000"/>
                  </a:schemeClr>
                </a:solidFill>
                <a:latin typeface="Segoe UI" panose="020B0502040204020203" pitchFamily="34" charset="0"/>
                <a:cs typeface="Segoe UI" panose="020B0502040204020203" pitchFamily="34" charset="0"/>
              </a:rPr>
              <a:t>Ioannis</a:t>
            </a:r>
            <a:r>
              <a:rPr lang="el-GR" altLang="el-GR" sz="1800" dirty="0">
                <a:solidFill>
                  <a:schemeClr val="accent5">
                    <a:lumMod val="50000"/>
                  </a:schemeClr>
                </a:solidFill>
                <a:latin typeface="Segoe UI" panose="020B0502040204020203" pitchFamily="34" charset="0"/>
                <a:cs typeface="Segoe UI" panose="020B0502040204020203" pitchFamily="34" charset="0"/>
              </a:rPr>
              <a:t> Tsioulis </a:t>
            </a:r>
            <a:endParaRPr lang="en-US" altLang="el-GR" sz="1800" dirty="0">
              <a:solidFill>
                <a:schemeClr val="accent5">
                  <a:lumMod val="50000"/>
                </a:schemeClr>
              </a:solidFill>
              <a:latin typeface="Segoe UI" panose="020B0502040204020203" pitchFamily="34" charset="0"/>
              <a:cs typeface="Segoe UI" panose="020B0502040204020203" pitchFamily="34" charset="0"/>
            </a:endParaRPr>
          </a:p>
          <a:p>
            <a:pPr algn="l" rtl="0" eaLnBrk="0" fontAlgn="base" hangingPunct="0">
              <a:spcBef>
                <a:spcPct val="0"/>
              </a:spcBef>
              <a:spcAft>
                <a:spcPct val="0"/>
              </a:spcAft>
              <a:buFontTx/>
              <a:buChar char="•"/>
            </a:pPr>
            <a:endParaRPr lang="en-US" altLang="el-GR" sz="1800" dirty="0">
              <a:latin typeface="Segoe UI" panose="020B0502040204020203" pitchFamily="34" charset="0"/>
              <a:cs typeface="Segoe UI" panose="020B0502040204020203" pitchFamily="34" charset="0"/>
            </a:endParaRPr>
          </a:p>
          <a:p>
            <a:pPr algn="l" rtl="0" eaLnBrk="0" fontAlgn="base" hangingPunct="0">
              <a:spcBef>
                <a:spcPct val="0"/>
              </a:spcBef>
              <a:spcAft>
                <a:spcPct val="0"/>
              </a:spcAft>
            </a:pPr>
            <a:r>
              <a:rPr lang="en-US" altLang="el-GR" sz="1800" dirty="0">
                <a:latin typeface="Segoe UI" panose="020B0502040204020203" pitchFamily="34" charset="0"/>
                <a:cs typeface="Segoe UI" panose="020B0502040204020203" pitchFamily="34" charset="0"/>
                <a:hlinkClick r:id="rId2"/>
              </a:rPr>
              <a:t>i.tsioulis@mc-class.gr</a:t>
            </a:r>
            <a:endParaRPr lang="en-US" altLang="el-GR" sz="1800" dirty="0">
              <a:latin typeface="Segoe UI" panose="020B0502040204020203" pitchFamily="34" charset="0"/>
              <a:cs typeface="Segoe UI" panose="020B0502040204020203" pitchFamily="34" charset="0"/>
            </a:endParaRPr>
          </a:p>
          <a:p>
            <a:pPr algn="l" rtl="0" eaLnBrk="0" fontAlgn="base" hangingPunct="0">
              <a:spcBef>
                <a:spcPct val="0"/>
              </a:spcBef>
              <a:spcAft>
                <a:spcPct val="0"/>
              </a:spcAft>
              <a:buFontTx/>
              <a:buChar char="•"/>
            </a:pPr>
            <a:endParaRPr lang="el-GR" altLang="el-GR" sz="1800" dirty="0">
              <a:latin typeface="Segoe UI" panose="020B0502040204020203" pitchFamily="34" charset="0"/>
              <a:cs typeface="Segoe UI" panose="020B0502040204020203" pitchFamily="34" charset="0"/>
            </a:endParaRPr>
          </a:p>
          <a:p>
            <a:pPr defTabSz="685800" eaLnBrk="0" fontAlgn="base" hangingPunct="0">
              <a:lnSpc>
                <a:spcPct val="100000"/>
              </a:lnSpc>
              <a:spcBef>
                <a:spcPct val="0"/>
              </a:spcBef>
              <a:spcAft>
                <a:spcPct val="0"/>
              </a:spcAft>
            </a:pPr>
            <a:r>
              <a:rPr lang="en-US" altLang="el-GR" sz="1800" dirty="0">
                <a:latin typeface="Segoe UI" panose="020B0502040204020203" pitchFamily="34" charset="0"/>
                <a:cs typeface="Segoe UI" panose="020B0502040204020203" pitchFamily="34" charset="0"/>
                <a:hlinkClick r:id="rId3"/>
              </a:rPr>
              <a:t>github.com/giannis00</a:t>
            </a:r>
            <a:endParaRPr lang="el-GR" altLang="el-GR" sz="1800" dirty="0">
              <a:latin typeface="Segoe UI" panose="020B0502040204020203" pitchFamily="34" charset="0"/>
              <a:cs typeface="Segoe UI" panose="020B0502040204020203" pitchFamily="34" charset="0"/>
            </a:endParaRPr>
          </a:p>
        </p:txBody>
      </p:sp>
      <p:pic>
        <p:nvPicPr>
          <p:cNvPr id="5" name="Εικόνα 4">
            <a:extLst>
              <a:ext uri="{FF2B5EF4-FFF2-40B4-BE49-F238E27FC236}">
                <a16:creationId xmlns:a16="http://schemas.microsoft.com/office/drawing/2014/main" id="{8042B73C-1E93-4DB5-EB10-5FD6D16EB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9992" y="3533293"/>
            <a:ext cx="566283" cy="566283"/>
          </a:xfrm>
          <a:prstGeom prst="rect">
            <a:avLst/>
          </a:prstGeom>
        </p:spPr>
      </p:pic>
      <p:pic>
        <p:nvPicPr>
          <p:cNvPr id="7" name="Εικόνα 6">
            <a:extLst>
              <a:ext uri="{FF2B5EF4-FFF2-40B4-BE49-F238E27FC236}">
                <a16:creationId xmlns:a16="http://schemas.microsoft.com/office/drawing/2014/main" id="{C2DFC3F1-C502-6BC2-0ED0-09B5EC3AD1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5401" y="2971800"/>
            <a:ext cx="671475" cy="671475"/>
          </a:xfrm>
          <a:prstGeom prst="rect">
            <a:avLst/>
          </a:prstGeom>
        </p:spPr>
      </p:pic>
      <p:sp>
        <p:nvSpPr>
          <p:cNvPr id="3" name="object 6">
            <a:extLst>
              <a:ext uri="{FF2B5EF4-FFF2-40B4-BE49-F238E27FC236}">
                <a16:creationId xmlns:a16="http://schemas.microsoft.com/office/drawing/2014/main" id="{3CF8DC8E-35FA-7209-9C3F-2AFBE9BD5694}"/>
              </a:ext>
            </a:extLst>
          </p:cNvPr>
          <p:cNvSpPr txBox="1">
            <a:spLocks noGrp="1"/>
          </p:cNvSpPr>
          <p:nvPr>
            <p:ph type="sldNum" sz="quarter" idx="7"/>
          </p:nvPr>
        </p:nvSpPr>
        <p:spPr>
          <a:xfrm>
            <a:off x="11621689" y="6322391"/>
            <a:ext cx="335915" cy="329565"/>
          </a:xfrm>
          <a:prstGeom prst="rect">
            <a:avLst/>
          </a:prstGeom>
        </p:spPr>
        <p:txBody>
          <a:bodyPr vert="horz" wrap="square" lIns="0" tIns="0" rIns="0" bIns="0" rtlCol="0">
            <a:spAutoFit/>
          </a:bodyPr>
          <a:lstStyle>
            <a:defPPr>
              <a:defRPr kern="0"/>
            </a:defPPr>
            <a:lvl1pPr>
              <a:defRPr sz="1800" b="0" i="0">
                <a:solidFill>
                  <a:srgbClr val="777777"/>
                </a:solidFill>
                <a:latin typeface="Segoe UI"/>
                <a:cs typeface="Segoe UI"/>
              </a:defRPr>
            </a:lvl1pPr>
          </a:lstStyle>
          <a:p>
            <a:pPr marL="38100">
              <a:spcBef>
                <a:spcPts val="240"/>
              </a:spcBef>
            </a:pPr>
            <a:fld id="{81D60167-4931-47E6-BA6A-407CBD079E47}" type="slidenum">
              <a:rPr lang="el-GR" spc="-25" smtClean="0"/>
              <a:pPr marL="38100">
                <a:spcBef>
                  <a:spcPts val="240"/>
                </a:spcBef>
              </a:pPr>
              <a:t>2</a:t>
            </a:fld>
            <a:endParaRPr spc="-19" dirty="0"/>
          </a:p>
        </p:txBody>
      </p:sp>
    </p:spTree>
    <p:extLst>
      <p:ext uri="{BB962C8B-B14F-4D97-AF65-F5344CB8AC3E}">
        <p14:creationId xmlns:p14="http://schemas.microsoft.com/office/powerpoint/2010/main" val="120440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Outlook 1</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Core textbooks</a:t>
            </a:r>
          </a:p>
          <a:p>
            <a:pPr marL="342900" indent="-342900">
              <a:buFont typeface="Arial" panose="020B0604020202020204" pitchFamily="34" charset="0"/>
              <a:buChar char="•"/>
            </a:pPr>
            <a:r>
              <a:rPr lang="en-GB" dirty="0"/>
              <a:t>Module introduction </a:t>
            </a:r>
          </a:p>
        </p:txBody>
      </p:sp>
    </p:spTree>
    <p:extLst>
      <p:ext uri="{BB962C8B-B14F-4D97-AF65-F5344CB8AC3E}">
        <p14:creationId xmlns:p14="http://schemas.microsoft.com/office/powerpoint/2010/main" val="38184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Core textbooks </a:t>
            </a:r>
          </a:p>
        </p:txBody>
      </p:sp>
      <p:pic>
        <p:nvPicPr>
          <p:cNvPr id="11266" name="Picture 2" descr="https://encrypted-tbn0.gstatic.com/images?q=tbn:ANd9GcQfYKUerI9m4FPyMz36tUcvfQVE5h7ATyPmU1cb2IQOnQSIUocR0UGKVaxrV1u8CsEgIrNvqjI&amp;usqp=C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599" y="1143000"/>
            <a:ext cx="2816463" cy="327318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Artificial Intelligence: A Modern Approach (International Edition):  Amazon.co.uk: Russell, Stuart, Norvig, Peter: 9780130803023: Boo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8768" y="138567"/>
            <a:ext cx="2756917" cy="3429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AutoShape 7" descr="Doing Data Science: Straight Talk from the Frontline: Amazon.co.uk: Cathy  O'Neil, Rachel Schutt: 8601200584905: Boo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7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0452" y="3701142"/>
            <a:ext cx="2057400" cy="3091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724400"/>
            <a:ext cx="38385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514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813" y="25400"/>
            <a:ext cx="6705457" cy="595996"/>
          </a:xfrm>
        </p:spPr>
        <p:txBody>
          <a:bodyPr/>
          <a:lstStyle/>
          <a:p>
            <a:r>
              <a:rPr lang="en-GB" dirty="0"/>
              <a:t>Module topics (Teaching Weeks)</a:t>
            </a:r>
          </a:p>
        </p:txBody>
      </p:sp>
      <p:graphicFrame>
        <p:nvGraphicFramePr>
          <p:cNvPr id="4" name="Content Placeholder 3"/>
          <p:cNvGraphicFramePr>
            <a:graphicFrameLocks noGrp="1"/>
          </p:cNvGraphicFramePr>
          <p:nvPr>
            <p:ph idx="1"/>
          </p:nvPr>
        </p:nvGraphicFramePr>
        <p:xfrm>
          <a:off x="1371441" y="621396"/>
          <a:ext cx="6401118" cy="6064287"/>
        </p:xfrm>
        <a:graphic>
          <a:graphicData uri="http://schemas.openxmlformats.org/drawingml/2006/table">
            <a:tbl>
              <a:tblPr firstRow="1" firstCol="1" bandRow="1">
                <a:tableStyleId>{5C22544A-7EE6-4342-B048-85BDC9FD1C3A}</a:tableStyleId>
              </a:tblPr>
              <a:tblGrid>
                <a:gridCol w="1059180">
                  <a:extLst>
                    <a:ext uri="{9D8B030D-6E8A-4147-A177-3AD203B41FA5}">
                      <a16:colId xmlns:a16="http://schemas.microsoft.com/office/drawing/2014/main" val="20000"/>
                    </a:ext>
                  </a:extLst>
                </a:gridCol>
                <a:gridCol w="2430145">
                  <a:extLst>
                    <a:ext uri="{9D8B030D-6E8A-4147-A177-3AD203B41FA5}">
                      <a16:colId xmlns:a16="http://schemas.microsoft.com/office/drawing/2014/main" val="20001"/>
                    </a:ext>
                  </a:extLst>
                </a:gridCol>
                <a:gridCol w="2911793">
                  <a:extLst>
                    <a:ext uri="{9D8B030D-6E8A-4147-A177-3AD203B41FA5}">
                      <a16:colId xmlns:a16="http://schemas.microsoft.com/office/drawing/2014/main" val="20002"/>
                    </a:ext>
                  </a:extLst>
                </a:gridCol>
              </a:tblGrid>
              <a:tr h="440461">
                <a:tc>
                  <a:txBody>
                    <a:bodyPr/>
                    <a:lstStyle/>
                    <a:p>
                      <a:pPr algn="ctr">
                        <a:lnSpc>
                          <a:spcPct val="107000"/>
                        </a:lnSpc>
                        <a:spcAft>
                          <a:spcPts val="0"/>
                        </a:spcAft>
                      </a:pPr>
                      <a:r>
                        <a:rPr lang="en-GB" sz="1100" dirty="0">
                          <a:effectLst/>
                        </a:rPr>
                        <a:t>Weeks</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Theory</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Practical</a:t>
                      </a: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30586">
                <a:tc>
                  <a:txBody>
                    <a:bodyPr/>
                    <a:lstStyle/>
                    <a:p>
                      <a:pPr algn="ctr">
                        <a:lnSpc>
                          <a:spcPct val="107000"/>
                        </a:lnSpc>
                        <a:spcAft>
                          <a:spcPts val="0"/>
                        </a:spcAft>
                      </a:pPr>
                      <a:r>
                        <a:rPr lang="en-GB" sz="1100">
                          <a:effectLst/>
                        </a:rPr>
                        <a:t>1</a:t>
                      </a:r>
                      <a:endParaRPr lang="en-GB" sz="110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AI history, branches, application scenarios and relations to Data Mining and Machine Learning</a:t>
                      </a:r>
                      <a:endParaRPr lang="en-GB" sz="1100" dirty="0">
                        <a:effectLst/>
                        <a:latin typeface="Calibri"/>
                        <a:ea typeface="Calibri"/>
                        <a:cs typeface="Times New Roman"/>
                      </a:endParaRPr>
                    </a:p>
                  </a:txBody>
                  <a:tcPr marL="68580" marR="68580" marT="0" marB="0"/>
                </a:tc>
                <a:tc>
                  <a:txBody>
                    <a:bodyPr/>
                    <a:lstStyle/>
                    <a:p>
                      <a:pPr algn="ctr"/>
                      <a:r>
                        <a:rPr lang="en-GB" sz="1200" dirty="0">
                          <a:effectLst/>
                        </a:rPr>
                        <a:t>Python basics</a:t>
                      </a:r>
                      <a:endParaRPr lang="en-GB" sz="1200" dirty="0"/>
                    </a:p>
                  </a:txBody>
                  <a:tcPr marL="68580" marR="68580" marT="0" marB="0"/>
                </a:tc>
                <a:extLst>
                  <a:ext uri="{0D108BD9-81ED-4DB2-BD59-A6C34878D82A}">
                    <a16:rowId xmlns:a16="http://schemas.microsoft.com/office/drawing/2014/main" val="10001"/>
                  </a:ext>
                </a:extLst>
              </a:tr>
              <a:tr h="121876">
                <a:tc>
                  <a:txBody>
                    <a:bodyPr/>
                    <a:lstStyle/>
                    <a:p>
                      <a:pPr algn="ctr">
                        <a:lnSpc>
                          <a:spcPct val="107000"/>
                        </a:lnSpc>
                        <a:spcAft>
                          <a:spcPts val="0"/>
                        </a:spcAft>
                      </a:pPr>
                      <a:r>
                        <a:rPr lang="en-GB" sz="1100">
                          <a:effectLst/>
                        </a:rPr>
                        <a:t>2</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Data Pre-processing and EDA</a:t>
                      </a: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Data Pre-processing</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03874">
                <a:tc>
                  <a:txBody>
                    <a:bodyPr/>
                    <a:lstStyle/>
                    <a:p>
                      <a:pPr algn="ctr">
                        <a:lnSpc>
                          <a:spcPct val="107000"/>
                        </a:lnSpc>
                        <a:spcAft>
                          <a:spcPts val="0"/>
                        </a:spcAft>
                      </a:pPr>
                      <a:r>
                        <a:rPr lang="en-GB" sz="1100">
                          <a:effectLst/>
                        </a:rPr>
                        <a:t>3</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Mining Frequent Pattern and Association Rules</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kern="1200" dirty="0">
                          <a:solidFill>
                            <a:schemeClr val="dk1"/>
                          </a:solidFill>
                          <a:effectLst/>
                          <a:latin typeface="+mn-lt"/>
                          <a:ea typeface="+mn-ea"/>
                          <a:cs typeface="+mn-cs"/>
                        </a:rPr>
                        <a:t>Python - EDA</a:t>
                      </a: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65883">
                <a:tc>
                  <a:txBody>
                    <a:bodyPr/>
                    <a:lstStyle/>
                    <a:p>
                      <a:pPr algn="ctr">
                        <a:lnSpc>
                          <a:spcPct val="107000"/>
                        </a:lnSpc>
                        <a:spcAft>
                          <a:spcPts val="0"/>
                        </a:spcAft>
                      </a:pPr>
                      <a:r>
                        <a:rPr lang="en-GB" sz="1100" dirty="0">
                          <a:effectLst/>
                        </a:rPr>
                        <a:t>4</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Classification and Decision Tree</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ARL</a:t>
                      </a: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4"/>
                  </a:ext>
                </a:extLst>
              </a:tr>
              <a:tr h="374546">
                <a:tc>
                  <a:txBody>
                    <a:bodyPr/>
                    <a:lstStyle/>
                    <a:p>
                      <a:pPr algn="ctr">
                        <a:lnSpc>
                          <a:spcPct val="107000"/>
                        </a:lnSpc>
                        <a:spcAft>
                          <a:spcPts val="0"/>
                        </a:spcAft>
                      </a:pPr>
                      <a:r>
                        <a:rPr lang="en-GB" sz="1100" dirty="0">
                          <a:effectLst/>
                        </a:rPr>
                        <a:t>5</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Random FR and KNN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DT</a:t>
                      </a:r>
                      <a:endParaRPr lang="en-GB" sz="1100" dirty="0">
                        <a:effectLst/>
                        <a:latin typeface="Calibri"/>
                        <a:ea typeface="Calibri"/>
                        <a:cs typeface="Times New Roman"/>
                      </a:endParaRP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5"/>
                  </a:ext>
                </a:extLst>
              </a:tr>
              <a:tr h="399553">
                <a:tc>
                  <a:txBody>
                    <a:bodyPr/>
                    <a:lstStyle/>
                    <a:p>
                      <a:pPr algn="ctr">
                        <a:lnSpc>
                          <a:spcPct val="107000"/>
                        </a:lnSpc>
                        <a:spcAft>
                          <a:spcPts val="0"/>
                        </a:spcAft>
                      </a:pPr>
                      <a:r>
                        <a:rPr lang="en-GB" sz="1100" dirty="0">
                          <a:effectLst/>
                          <a:latin typeface="Calibri"/>
                          <a:ea typeface="Calibri"/>
                          <a:cs typeface="Times New Roman"/>
                        </a:rPr>
                        <a:t>7</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Linear Regression &amp; Logistic Regression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KNN</a:t>
                      </a:r>
                    </a:p>
                  </a:txBody>
                  <a:tcPr marL="68580" marR="68580" marT="0" marB="0"/>
                </a:tc>
                <a:extLst>
                  <a:ext uri="{0D108BD9-81ED-4DB2-BD59-A6C34878D82A}">
                    <a16:rowId xmlns:a16="http://schemas.microsoft.com/office/drawing/2014/main" val="1911118174"/>
                  </a:ext>
                </a:extLst>
              </a:tr>
              <a:tr h="399553">
                <a:tc>
                  <a:txBody>
                    <a:bodyPr/>
                    <a:lstStyle/>
                    <a:p>
                      <a:pPr algn="ctr">
                        <a:lnSpc>
                          <a:spcPct val="107000"/>
                        </a:lnSpc>
                        <a:spcAft>
                          <a:spcPts val="0"/>
                        </a:spcAft>
                      </a:pPr>
                      <a:r>
                        <a:rPr lang="en-GB" sz="1100" dirty="0">
                          <a:effectLst/>
                          <a:latin typeface="Calibri"/>
                          <a:ea typeface="Calibri"/>
                          <a:cs typeface="Times New Roman"/>
                        </a:rPr>
                        <a:t>8</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Cluster Analysis with Unsupervised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LR</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65465">
                <a:tc>
                  <a:txBody>
                    <a:bodyPr/>
                    <a:lstStyle/>
                    <a:p>
                      <a:pPr algn="ctr">
                        <a:lnSpc>
                          <a:spcPct val="107000"/>
                        </a:lnSpc>
                        <a:spcAft>
                          <a:spcPts val="0"/>
                        </a:spcAft>
                      </a:pPr>
                      <a:r>
                        <a:rPr lang="en-GB" sz="1100" dirty="0">
                          <a:effectLst/>
                          <a:latin typeface="Calibri"/>
                          <a:ea typeface="Calibri"/>
                          <a:cs typeface="Times New Roman"/>
                        </a:rPr>
                        <a:t>9</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Artificial Neural Network &amp; Deep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K-Means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7"/>
                  </a:ext>
                </a:extLst>
              </a:tr>
              <a:tr h="393848">
                <a:tc>
                  <a:txBody>
                    <a:bodyPr/>
                    <a:lstStyle/>
                    <a:p>
                      <a:pPr algn="ctr">
                        <a:lnSpc>
                          <a:spcPct val="107000"/>
                        </a:lnSpc>
                        <a:spcAft>
                          <a:spcPts val="0"/>
                        </a:spcAft>
                      </a:pPr>
                      <a:r>
                        <a:rPr lang="en-GB" sz="1100" dirty="0">
                          <a:effectLst/>
                          <a:latin typeface="Calibri"/>
                          <a:ea typeface="Calibri"/>
                          <a:cs typeface="Times New Roman"/>
                        </a:rPr>
                        <a:t>10</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Natural Language Processing (NLP)</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ANN and DL</a:t>
                      </a:r>
                      <a:endParaRPr lang="en-GB" sz="1100" dirty="0">
                        <a:effectLst/>
                        <a:latin typeface="Calibri"/>
                        <a:ea typeface="Calibri"/>
                        <a:cs typeface="Times New Roman"/>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12276">
                <a:tc>
                  <a:txBody>
                    <a:bodyPr/>
                    <a:lstStyle/>
                    <a:p>
                      <a:pPr algn="ctr">
                        <a:lnSpc>
                          <a:spcPct val="107000"/>
                        </a:lnSpc>
                        <a:spcAft>
                          <a:spcPts val="0"/>
                        </a:spcAft>
                      </a:pPr>
                      <a:r>
                        <a:rPr lang="en-GB" sz="1100" dirty="0">
                          <a:effectLst/>
                          <a:latin typeface="Calibri"/>
                          <a:ea typeface="Calibri"/>
                          <a:cs typeface="Times New Roman"/>
                        </a:rPr>
                        <a:t>11</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Reinforcement Learning &amp; Naïve Bayes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NLP</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65883">
                <a:tc>
                  <a:txBody>
                    <a:bodyPr/>
                    <a:lstStyle/>
                    <a:p>
                      <a:pPr algn="ctr">
                        <a:lnSpc>
                          <a:spcPct val="107000"/>
                        </a:lnSpc>
                        <a:spcAft>
                          <a:spcPts val="0"/>
                        </a:spcAft>
                      </a:pPr>
                      <a:r>
                        <a:rPr lang="en-GB" sz="1100" dirty="0">
                          <a:effectLst/>
                        </a:rPr>
                        <a:t>12</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Knowledge presentation and reasoning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RL and NB </a:t>
                      </a:r>
                      <a:r>
                        <a:rPr lang="en-GB" sz="1100" dirty="0">
                          <a:effectLst/>
                          <a:latin typeface="Calibri"/>
                          <a:ea typeface="Calibri"/>
                          <a:cs typeface="Times New Roman"/>
                        </a:rPr>
                        <a:t> </a:t>
                      </a:r>
                    </a:p>
                  </a:txBody>
                  <a:tcPr marL="68580" marR="68580" marT="0" marB="0"/>
                </a:tc>
                <a:extLst>
                  <a:ext uri="{0D108BD9-81ED-4DB2-BD59-A6C34878D82A}">
                    <a16:rowId xmlns:a16="http://schemas.microsoft.com/office/drawing/2014/main" val="10011"/>
                  </a:ext>
                </a:extLst>
              </a:tr>
              <a:tr h="264058">
                <a:tc>
                  <a:txBody>
                    <a:bodyPr/>
                    <a:lstStyle/>
                    <a:p>
                      <a:pPr algn="ctr">
                        <a:lnSpc>
                          <a:spcPct val="107000"/>
                        </a:lnSpc>
                        <a:spcAft>
                          <a:spcPts val="0"/>
                        </a:spcAft>
                      </a:pPr>
                      <a:r>
                        <a:rPr lang="en-GB" sz="1100" dirty="0">
                          <a:effectLst/>
                        </a:rPr>
                        <a:t>13</a:t>
                      </a:r>
                      <a:endParaRPr lang="en-GB" sz="1100" dirty="0">
                        <a:effectLst/>
                        <a:latin typeface="Calibri"/>
                        <a:ea typeface="Calibri"/>
                        <a:cs typeface="Times New Roman"/>
                      </a:endParaRP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latin typeface="Calibri"/>
                          <a:ea typeface="Calibri"/>
                          <a:cs typeface="Times New Roman"/>
                        </a:rPr>
                        <a:t>Review</a:t>
                      </a:r>
                    </a:p>
                  </a:txBody>
                  <a:tcPr marL="68580" marR="68580" marT="0" marB="0"/>
                </a:tc>
                <a:tc hMerge="1">
                  <a:txBody>
                    <a:bodyPr/>
                    <a:lstStyle/>
                    <a:p>
                      <a:endParaRPr lang="en-GB"/>
                    </a:p>
                  </a:txBody>
                  <a:tcPr/>
                </a:tc>
                <a:extLst>
                  <a:ext uri="{0D108BD9-81ED-4DB2-BD59-A6C34878D82A}">
                    <a16:rowId xmlns:a16="http://schemas.microsoft.com/office/drawing/2014/main" val="10012"/>
                  </a:ext>
                </a:extLst>
              </a:tr>
              <a:tr h="365883">
                <a:tc>
                  <a:txBody>
                    <a:bodyPr/>
                    <a:lstStyle/>
                    <a:p>
                      <a:pPr algn="ctr">
                        <a:lnSpc>
                          <a:spcPct val="107000"/>
                        </a:lnSpc>
                        <a:spcAft>
                          <a:spcPts val="0"/>
                        </a:spcAft>
                      </a:pPr>
                      <a:r>
                        <a:rPr lang="en-GB" sz="1100" dirty="0">
                          <a:effectLst/>
                          <a:latin typeface="Calibri"/>
                          <a:ea typeface="Calibri"/>
                          <a:cs typeface="Times New Roman"/>
                        </a:rPr>
                        <a:t>14 -15</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dirty="0">
                          <a:effectLst/>
                          <a:latin typeface="Calibri"/>
                          <a:ea typeface="Calibri"/>
                          <a:cs typeface="Times New Roman"/>
                        </a:rPr>
                        <a:t>Assessment period</a:t>
                      </a:r>
                      <a:endParaRPr lang="en-GB" sz="1200" b="0" i="0" kern="1200" dirty="0">
                        <a:solidFill>
                          <a:srgbClr val="FF0000"/>
                        </a:solidFill>
                        <a:effectLst/>
                        <a:latin typeface="+mn-lt"/>
                        <a:ea typeface="+mn-ea"/>
                        <a:cs typeface="+mn-cs"/>
                      </a:endParaRPr>
                    </a:p>
                  </a:txBody>
                  <a:tcPr marL="68580" marR="68580" marT="0" marB="0"/>
                </a:tc>
                <a:tc hMerge="1">
                  <a:txBody>
                    <a:bodyPr/>
                    <a:lstStyle/>
                    <a:p>
                      <a:endParaRPr lang="en-GB"/>
                    </a:p>
                  </a:txBody>
                  <a:tcPr/>
                </a:tc>
                <a:extLst>
                  <a:ext uri="{0D108BD9-81ED-4DB2-BD59-A6C34878D82A}">
                    <a16:rowId xmlns:a16="http://schemas.microsoft.com/office/drawing/2014/main" val="2931443189"/>
                  </a:ext>
                </a:extLst>
              </a:tr>
              <a:tr h="365883">
                <a:tc>
                  <a:txBody>
                    <a:bodyPr/>
                    <a:lstStyle/>
                    <a:p>
                      <a:pPr algn="ctr">
                        <a:lnSpc>
                          <a:spcPct val="107000"/>
                        </a:lnSpc>
                        <a:spcAft>
                          <a:spcPts val="0"/>
                        </a:spcAft>
                      </a:pPr>
                      <a:r>
                        <a:rPr lang="en-GB" sz="1100" dirty="0">
                          <a:effectLst/>
                          <a:latin typeface="Calibri"/>
                          <a:ea typeface="Calibri"/>
                          <a:cs typeface="Times New Roman"/>
                        </a:rPr>
                        <a:t>16-18</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b="0" i="0" kern="1200" dirty="0">
                          <a:solidFill>
                            <a:srgbClr val="FF0000"/>
                          </a:solidFill>
                          <a:effectLst/>
                          <a:latin typeface="+mn-lt"/>
                          <a:ea typeface="+mn-ea"/>
                          <a:cs typeface="+mn-cs"/>
                        </a:rPr>
                        <a:t>Enrichment period: Offsite Activities (Career support, CV support) and assessment feedback </a:t>
                      </a:r>
                    </a:p>
                  </a:txBody>
                  <a:tcPr marL="68580" marR="68580" marT="0" marB="0"/>
                </a:tc>
                <a:tc hMerge="1">
                  <a:txBody>
                    <a:bodyPr/>
                    <a:lstStyle/>
                    <a:p>
                      <a:endParaRPr lang="en-GB"/>
                    </a:p>
                  </a:txBody>
                  <a:tcPr/>
                </a:tc>
                <a:extLst>
                  <a:ext uri="{0D108BD9-81ED-4DB2-BD59-A6C34878D82A}">
                    <a16:rowId xmlns:a16="http://schemas.microsoft.com/office/drawing/2014/main" val="3003053503"/>
                  </a:ext>
                </a:extLst>
              </a:tr>
            </a:tbl>
          </a:graphicData>
        </a:graphic>
      </p:graphicFrame>
      <p:sp>
        <p:nvSpPr>
          <p:cNvPr id="3" name="Arrow: Right 2">
            <a:extLst>
              <a:ext uri="{FF2B5EF4-FFF2-40B4-BE49-F238E27FC236}">
                <a16:creationId xmlns:a16="http://schemas.microsoft.com/office/drawing/2014/main" id="{0B63953F-A88C-48ED-82CD-D6321CE0A85F}"/>
              </a:ext>
            </a:extLst>
          </p:cNvPr>
          <p:cNvSpPr/>
          <p:nvPr/>
        </p:nvSpPr>
        <p:spPr>
          <a:xfrm>
            <a:off x="7737496" y="36576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C2675A5-3F32-47A0-9B0E-36B516A96CDA}"/>
              </a:ext>
            </a:extLst>
          </p:cNvPr>
          <p:cNvSpPr txBox="1"/>
          <p:nvPr/>
        </p:nvSpPr>
        <p:spPr>
          <a:xfrm>
            <a:off x="8039560" y="3595300"/>
            <a:ext cx="1018227" cy="276999"/>
          </a:xfrm>
          <a:prstGeom prst="rect">
            <a:avLst/>
          </a:prstGeom>
          <a:noFill/>
        </p:spPr>
        <p:txBody>
          <a:bodyPr wrap="none" rtlCol="0">
            <a:spAutoFit/>
          </a:bodyPr>
          <a:lstStyle/>
          <a:p>
            <a:r>
              <a:rPr lang="en-GB" sz="1200" dirty="0"/>
              <a:t>A1 Deadline</a:t>
            </a:r>
          </a:p>
        </p:txBody>
      </p:sp>
      <p:sp>
        <p:nvSpPr>
          <p:cNvPr id="6" name="Arrow: Right 5">
            <a:extLst>
              <a:ext uri="{FF2B5EF4-FFF2-40B4-BE49-F238E27FC236}">
                <a16:creationId xmlns:a16="http://schemas.microsoft.com/office/drawing/2014/main" id="{14785A31-0DEF-489D-AD45-0CEA66B15A9E}"/>
              </a:ext>
            </a:extLst>
          </p:cNvPr>
          <p:cNvSpPr/>
          <p:nvPr/>
        </p:nvSpPr>
        <p:spPr>
          <a:xfrm>
            <a:off x="7772559" y="6080778"/>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3922A36-01D6-49F3-97D1-8516135E6660}"/>
              </a:ext>
            </a:extLst>
          </p:cNvPr>
          <p:cNvSpPr txBox="1"/>
          <p:nvPr/>
        </p:nvSpPr>
        <p:spPr>
          <a:xfrm>
            <a:off x="8001156" y="6018479"/>
            <a:ext cx="1018227" cy="276999"/>
          </a:xfrm>
          <a:prstGeom prst="rect">
            <a:avLst/>
          </a:prstGeom>
          <a:noFill/>
        </p:spPr>
        <p:txBody>
          <a:bodyPr wrap="none" rtlCol="0">
            <a:spAutoFit/>
          </a:bodyPr>
          <a:lstStyle/>
          <a:p>
            <a:r>
              <a:rPr lang="en-GB" sz="1200" dirty="0"/>
              <a:t>A2 Deadline</a:t>
            </a:r>
          </a:p>
        </p:txBody>
      </p:sp>
      <p:sp>
        <p:nvSpPr>
          <p:cNvPr id="8" name="TextBox 7">
            <a:extLst>
              <a:ext uri="{FF2B5EF4-FFF2-40B4-BE49-F238E27FC236}">
                <a16:creationId xmlns:a16="http://schemas.microsoft.com/office/drawing/2014/main" id="{1978E467-4568-4356-B16C-241D11BA2C59}"/>
              </a:ext>
            </a:extLst>
          </p:cNvPr>
          <p:cNvSpPr txBox="1"/>
          <p:nvPr/>
        </p:nvSpPr>
        <p:spPr>
          <a:xfrm>
            <a:off x="6973464" y="6018479"/>
            <a:ext cx="787844" cy="276999"/>
          </a:xfrm>
          <a:prstGeom prst="rect">
            <a:avLst/>
          </a:prstGeom>
          <a:noFill/>
        </p:spPr>
        <p:txBody>
          <a:bodyPr wrap="none" rtlCol="0">
            <a:spAutoFit/>
          </a:bodyPr>
          <a:lstStyle/>
          <a:p>
            <a:r>
              <a:rPr lang="en-GB" sz="1200" dirty="0"/>
              <a:t>Week 14</a:t>
            </a:r>
          </a:p>
        </p:txBody>
      </p:sp>
    </p:spTree>
    <p:extLst>
      <p:ext uri="{BB962C8B-B14F-4D97-AF65-F5344CB8AC3E}">
        <p14:creationId xmlns:p14="http://schemas.microsoft.com/office/powerpoint/2010/main" val="802549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p>
        </p:txBody>
      </p:sp>
      <p:sp>
        <p:nvSpPr>
          <p:cNvPr id="3" name="Content Placeholder 2"/>
          <p:cNvSpPr>
            <a:spLocks noGrp="1"/>
          </p:cNvSpPr>
          <p:nvPr>
            <p:ph idx="1"/>
          </p:nvPr>
        </p:nvSpPr>
        <p:spPr/>
        <p:txBody>
          <a:bodyPr/>
          <a:lstStyle/>
          <a:p>
            <a:r>
              <a:rPr lang="en-GB" dirty="0"/>
              <a:t>MLO1: Explain fundamental concepts in ML/ AI</a:t>
            </a:r>
          </a:p>
          <a:p>
            <a:endParaRPr lang="en-GB" dirty="0"/>
          </a:p>
          <a:p>
            <a:r>
              <a:rPr lang="en-GB" dirty="0"/>
              <a:t>MLO2: Apply data mining tools to a problem instance and interpret the results</a:t>
            </a:r>
          </a:p>
          <a:p>
            <a:endParaRPr lang="en-GB" dirty="0"/>
          </a:p>
          <a:p>
            <a:pPr lvl="0"/>
            <a:r>
              <a:rPr lang="en-GB" dirty="0"/>
              <a:t>MLO3: Select and justify choice of AI or ML approach for a specific problem instance</a:t>
            </a:r>
          </a:p>
          <a:p>
            <a:endParaRPr lang="en-GB" dirty="0"/>
          </a:p>
        </p:txBody>
      </p:sp>
    </p:spTree>
    <p:extLst>
      <p:ext uri="{BB962C8B-B14F-4D97-AF65-F5344CB8AC3E}">
        <p14:creationId xmlns:p14="http://schemas.microsoft.com/office/powerpoint/2010/main" val="864114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Outlook 2</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The definition of Data Mining</a:t>
            </a:r>
          </a:p>
          <a:p>
            <a:pPr marL="342900" indent="-342900">
              <a:buFont typeface="Arial" panose="020B0604020202020204" pitchFamily="34" charset="0"/>
              <a:buChar char="•"/>
            </a:pPr>
            <a:r>
              <a:rPr lang="en-GB" dirty="0"/>
              <a:t>The definition of AI and relations to Data Mining</a:t>
            </a:r>
          </a:p>
          <a:p>
            <a:pPr marL="342900" indent="-342900">
              <a:buFont typeface="Arial" panose="020B0604020202020204" pitchFamily="34" charset="0"/>
              <a:buChar char="•"/>
            </a:pPr>
            <a:r>
              <a:rPr lang="en-GB" dirty="0"/>
              <a:t>A bit of history of AI and branches </a:t>
            </a:r>
          </a:p>
          <a:p>
            <a:pPr marL="342900" indent="-342900">
              <a:buFont typeface="Arial" panose="020B0604020202020204" pitchFamily="34" charset="0"/>
              <a:buChar char="•"/>
            </a:pPr>
            <a:r>
              <a:rPr lang="en-GB" dirty="0"/>
              <a:t>Different level of Machine Intelligent (a demo)</a:t>
            </a:r>
          </a:p>
          <a:p>
            <a:pPr marL="342900" indent="-342900">
              <a:buFont typeface="Arial" panose="020B0604020202020204" pitchFamily="34" charset="0"/>
              <a:buChar char="•"/>
            </a:pPr>
            <a:r>
              <a:rPr lang="en-GB" dirty="0"/>
              <a:t>Turing test demo for fun</a:t>
            </a:r>
          </a:p>
          <a:p>
            <a:pPr marL="342900" indent="-342900">
              <a:buFont typeface="Arial" panose="020B0604020202020204" pitchFamily="34" charset="0"/>
              <a:buChar char="•"/>
            </a:pPr>
            <a:r>
              <a:rPr lang="en-GB" dirty="0"/>
              <a:t>Self-Reading Homework </a:t>
            </a:r>
          </a:p>
        </p:txBody>
      </p:sp>
    </p:spTree>
    <p:extLst>
      <p:ext uri="{BB962C8B-B14F-4D97-AF65-F5344CB8AC3E}">
        <p14:creationId xmlns:p14="http://schemas.microsoft.com/office/powerpoint/2010/main" val="222548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0" y="3581400"/>
            <a:ext cx="3429000" cy="595996"/>
          </a:xfrm>
        </p:spPr>
        <p:txBody>
          <a:bodyPr/>
          <a:lstStyle/>
          <a:p>
            <a:r>
              <a:rPr lang="en-GB" dirty="0"/>
              <a:t>Data Mining</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057400"/>
            <a:ext cx="374332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1121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Data Mining?</a:t>
            </a:r>
          </a:p>
        </p:txBody>
      </p:sp>
      <p:sp>
        <p:nvSpPr>
          <p:cNvPr id="3" name="Content Placeholder 2"/>
          <p:cNvSpPr>
            <a:spLocks noGrp="1"/>
          </p:cNvSpPr>
          <p:nvPr>
            <p:ph idx="1"/>
          </p:nvPr>
        </p:nvSpPr>
        <p:spPr/>
        <p:txBody>
          <a:bodyPr/>
          <a:lstStyle/>
          <a:p>
            <a:r>
              <a:rPr lang="en-GB" dirty="0"/>
              <a:t>Data mining is a process to </a:t>
            </a:r>
            <a:r>
              <a:rPr lang="en-GB" dirty="0">
                <a:solidFill>
                  <a:srgbClr val="FF0000"/>
                </a:solidFill>
              </a:rPr>
              <a:t>turn raw data into useful information and knowledge</a:t>
            </a:r>
            <a:r>
              <a:rPr lang="en-GB" dirty="0"/>
              <a:t> by using software and algorithms to look for </a:t>
            </a:r>
            <a:r>
              <a:rPr lang="en-GB" dirty="0">
                <a:solidFill>
                  <a:srgbClr val="FF0000"/>
                </a:solidFill>
              </a:rPr>
              <a:t>patterns</a:t>
            </a:r>
            <a:r>
              <a:rPr lang="en-GB" dirty="0"/>
              <a:t> in </a:t>
            </a:r>
            <a:r>
              <a:rPr lang="en-GB" dirty="0">
                <a:solidFill>
                  <a:srgbClr val="FF0000"/>
                </a:solidFill>
              </a:rPr>
              <a:t>large batches of data</a:t>
            </a:r>
            <a:r>
              <a:rPr lang="en-GB" dirty="0"/>
              <a:t>. </a:t>
            </a:r>
          </a:p>
          <a:p>
            <a:endParaRPr lang="en-GB" dirty="0"/>
          </a:p>
          <a:p>
            <a:r>
              <a:rPr lang="en-GB" dirty="0"/>
              <a:t>For example: businesses can learn more about their customers to develop more effective marketing strategies, increase sales and decrease costs. </a:t>
            </a:r>
          </a:p>
        </p:txBody>
      </p:sp>
      <p:sp>
        <p:nvSpPr>
          <p:cNvPr id="4" name="AutoShape 2" descr="Data Science Apriori Algorithm in Python - Market Basket Analys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851905"/>
            <a:ext cx="3200400" cy="1640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A5E71F02-3882-1FFB-1A71-6921A4798B71}"/>
              </a:ext>
            </a:extLst>
          </p:cNvPr>
          <p:cNvPicPr>
            <a:picLocks noChangeAspect="1"/>
          </p:cNvPicPr>
          <p:nvPr/>
        </p:nvPicPr>
        <p:blipFill>
          <a:blip r:embed="rId3"/>
          <a:stretch>
            <a:fillRect/>
          </a:stretch>
        </p:blipFill>
        <p:spPr>
          <a:xfrm>
            <a:off x="5791200" y="5281404"/>
            <a:ext cx="1159127" cy="895560"/>
          </a:xfrm>
          <a:prstGeom prst="rect">
            <a:avLst/>
          </a:prstGeom>
        </p:spPr>
      </p:pic>
      <p:pic>
        <p:nvPicPr>
          <p:cNvPr id="1026" name="Picture 2" descr="Lagers Of the World - case of 12 Premium bottled beers An ideal beer gift  for men and women - by Traditional Beer Company : Amazon.co.uk: Grocery">
            <a:extLst>
              <a:ext uri="{FF2B5EF4-FFF2-40B4-BE49-F238E27FC236}">
                <a16:creationId xmlns:a16="http://schemas.microsoft.com/office/drawing/2014/main" id="{C16720C5-AE1E-8C85-F3EC-304225F22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5281404"/>
            <a:ext cx="1345787" cy="895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06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Aim of Data Mining</a:t>
            </a:r>
          </a:p>
        </p:txBody>
      </p:sp>
      <p:sp>
        <p:nvSpPr>
          <p:cNvPr id="3" name="Content Placeholder 2"/>
          <p:cNvSpPr>
            <a:spLocks noGrp="1"/>
          </p:cNvSpPr>
          <p:nvPr>
            <p:ph idx="1"/>
          </p:nvPr>
        </p:nvSpPr>
        <p:spPr/>
        <p:txBody>
          <a:bodyPr/>
          <a:lstStyle/>
          <a:p>
            <a:endParaRPr lang="en-GB" dirty="0"/>
          </a:p>
        </p:txBody>
      </p:sp>
      <p:pic>
        <p:nvPicPr>
          <p:cNvPr id="2050" name="Picture 2" descr="Data Mining and Soft Computing. Francisco Herrera - PDF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7391400" cy="553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22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important step of knowledge discovery</a:t>
            </a:r>
          </a:p>
        </p:txBody>
      </p:sp>
      <p:pic>
        <p:nvPicPr>
          <p:cNvPr id="3076" name="Picture 4" descr="Data Mining and Knowledge Discovery Database(Kdd Process) - DataFla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8153884"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EF930450-540E-4644-9517-3DEB4D88DA82}"/>
              </a:ext>
            </a:extLst>
          </p:cNvPr>
          <p:cNvSpPr/>
          <p:nvPr/>
        </p:nvSpPr>
        <p:spPr>
          <a:xfrm>
            <a:off x="7696200" y="1524000"/>
            <a:ext cx="1447800" cy="1447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833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Mining example</a:t>
            </a:r>
          </a:p>
        </p:txBody>
      </p:sp>
      <p:pic>
        <p:nvPicPr>
          <p:cNvPr id="4098" name="Picture 2" descr="Data Requirements for Process Mining — Flux Capaci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24" y="1524000"/>
            <a:ext cx="8872351"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796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3581400"/>
            <a:ext cx="5105400" cy="595996"/>
          </a:xfrm>
        </p:spPr>
        <p:txBody>
          <a:bodyPr/>
          <a:lstStyle/>
          <a:p>
            <a:r>
              <a:rPr lang="en-GB" dirty="0"/>
              <a:t>Artificial Intelligent (AI) </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42" name="Picture 2" descr="Machine Learning. Research: J.C. Kuang | by Media-Nxt Editors | Newhouse  Media-Nxt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524000"/>
            <a:ext cx="2447925" cy="1866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656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AI?</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5515" y="1175948"/>
            <a:ext cx="7357252" cy="354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val="4107413200"/>
              </p:ext>
            </p:extLst>
          </p:nvPr>
        </p:nvGraphicFramePr>
        <p:xfrm>
          <a:off x="1828800" y="4953000"/>
          <a:ext cx="7010400" cy="1280160"/>
        </p:xfrm>
        <a:graphic>
          <a:graphicData uri="http://schemas.openxmlformats.org/drawingml/2006/table">
            <a:tbl>
              <a:tblPr firstRow="1" bandRow="1">
                <a:tableStyleId>{5C22544A-7EE6-4342-B048-85BDC9FD1C3A}</a:tableStyleId>
              </a:tblPr>
              <a:tblGrid>
                <a:gridCol w="3712773">
                  <a:extLst>
                    <a:ext uri="{9D8B030D-6E8A-4147-A177-3AD203B41FA5}">
                      <a16:colId xmlns:a16="http://schemas.microsoft.com/office/drawing/2014/main" val="20000"/>
                    </a:ext>
                  </a:extLst>
                </a:gridCol>
                <a:gridCol w="3297627">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think like humans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think rationally</a:t>
                      </a:r>
                    </a:p>
                    <a:p>
                      <a:endParaRPr lang="en-GB" dirty="0"/>
                    </a:p>
                  </a:txBody>
                  <a:tcPr/>
                </a:tc>
                <a:extLst>
                  <a:ext uri="{0D108BD9-81ED-4DB2-BD59-A6C34878D82A}">
                    <a16:rowId xmlns:a16="http://schemas.microsoft.com/office/drawing/2014/main" val="10000"/>
                  </a:ext>
                </a:extLst>
              </a:tr>
              <a:tr h="370840">
                <a:tc>
                  <a:txBody>
                    <a:bodyPr/>
                    <a:lstStyle/>
                    <a:p>
                      <a:r>
                        <a:rPr lang="en-GB" dirty="0">
                          <a:solidFill>
                            <a:srgbClr val="FF0000"/>
                          </a:solidFill>
                        </a:rPr>
                        <a:t>Systems that act like humans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act rationally</a:t>
                      </a:r>
                    </a:p>
                    <a:p>
                      <a:endParaRPr lang="en-GB" dirty="0"/>
                    </a:p>
                  </a:txBody>
                  <a:tcPr/>
                </a:tc>
                <a:extLst>
                  <a:ext uri="{0D108BD9-81ED-4DB2-BD59-A6C34878D82A}">
                    <a16:rowId xmlns:a16="http://schemas.microsoft.com/office/drawing/2014/main" val="10001"/>
                  </a:ext>
                </a:extLst>
              </a:tr>
            </a:tbl>
          </a:graphicData>
        </a:graphic>
      </p:graphicFrame>
      <p:sp>
        <p:nvSpPr>
          <p:cNvPr id="3" name="TextBox 2"/>
          <p:cNvSpPr txBox="1"/>
          <p:nvPr/>
        </p:nvSpPr>
        <p:spPr>
          <a:xfrm>
            <a:off x="1828800" y="839273"/>
            <a:ext cx="6045438" cy="369332"/>
          </a:xfrm>
          <a:prstGeom prst="rect">
            <a:avLst/>
          </a:prstGeom>
          <a:noFill/>
        </p:spPr>
        <p:txBody>
          <a:bodyPr wrap="none" rtlCol="0">
            <a:spAutoFit/>
          </a:bodyPr>
          <a:lstStyle/>
          <a:p>
            <a:r>
              <a:rPr lang="en-GB" dirty="0"/>
              <a:t>Artificial Intelligence, A Morden Approach. Second Edition</a:t>
            </a:r>
          </a:p>
        </p:txBody>
      </p:sp>
    </p:spTree>
    <p:extLst>
      <p:ext uri="{BB962C8B-B14F-4D97-AF65-F5344CB8AC3E}">
        <p14:creationId xmlns:p14="http://schemas.microsoft.com/office/powerpoint/2010/main" val="405531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Morden or Your Definition </a:t>
            </a:r>
          </a:p>
        </p:txBody>
      </p:sp>
      <p:sp>
        <p:nvSpPr>
          <p:cNvPr id="3" name="Content Placeholder 2"/>
          <p:cNvSpPr>
            <a:spLocks noGrp="1"/>
          </p:cNvSpPr>
          <p:nvPr>
            <p:ph idx="1"/>
          </p:nvPr>
        </p:nvSpPr>
        <p:spPr/>
        <p:txBody>
          <a:bodyPr/>
          <a:lstStyle/>
          <a:p>
            <a:r>
              <a:rPr lang="en-GB" dirty="0"/>
              <a:t>“AI refers to the simulation of human intelligence in machines that are programmed to think like humans and mimic their actions. The term may also be applied to any machine that exhibits traits associated with a human mind such as learning and problem-solving.”</a:t>
            </a:r>
          </a:p>
          <a:p>
            <a:pPr marL="342900" indent="-342900" algn="r">
              <a:buFontTx/>
              <a:buChar char="-"/>
            </a:pPr>
            <a:r>
              <a:rPr lang="en-GB" dirty="0"/>
              <a:t>Investopedia</a:t>
            </a:r>
          </a:p>
          <a:p>
            <a:r>
              <a:rPr lang="en-GB" dirty="0"/>
              <a:t>AI refers to a soft or hard device that can make inferences and best decisions to support next action or provide recommendations through collected digital information and humankind learning process.</a:t>
            </a:r>
          </a:p>
          <a:p>
            <a:pPr algn="r"/>
            <a:r>
              <a:rPr lang="en-GB" dirty="0"/>
              <a:t>- Me </a:t>
            </a:r>
          </a:p>
        </p:txBody>
      </p:sp>
    </p:spTree>
    <p:extLst>
      <p:ext uri="{BB962C8B-B14F-4D97-AF65-F5344CB8AC3E}">
        <p14:creationId xmlns:p14="http://schemas.microsoft.com/office/powerpoint/2010/main" val="88444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title of the module</a:t>
            </a:r>
          </a:p>
        </p:txBody>
      </p:sp>
      <p:sp>
        <p:nvSpPr>
          <p:cNvPr id="3" name="Content Placeholder 2"/>
          <p:cNvSpPr>
            <a:spLocks noGrp="1"/>
          </p:cNvSpPr>
          <p:nvPr>
            <p:ph idx="1"/>
          </p:nvPr>
        </p:nvSpPr>
        <p:spPr/>
        <p:txBody>
          <a:bodyPr/>
          <a:lstStyle/>
          <a:p>
            <a:r>
              <a:rPr lang="en-GB" dirty="0"/>
              <a:t>Data Mining and Foundation of AI (Good name) but you may feel a bit confusion. </a:t>
            </a:r>
          </a:p>
          <a:p>
            <a:endParaRPr lang="en-GB" dirty="0"/>
          </a:p>
          <a:p>
            <a:r>
              <a:rPr lang="en-GB" dirty="0"/>
              <a:t>Actually, data mining partially belongs to AI field</a:t>
            </a:r>
          </a:p>
          <a:p>
            <a:endParaRPr lang="en-GB" dirty="0"/>
          </a:p>
          <a:p>
            <a:endParaRPr lang="en-GB" dirty="0"/>
          </a:p>
        </p:txBody>
      </p:sp>
      <p:sp>
        <p:nvSpPr>
          <p:cNvPr id="4" name="AutoShape 2" descr="53,992 Confused Illustrations, Royalty-Free Vector Graphics &amp; Clip Art -  iStoc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733800"/>
            <a:ext cx="2486025" cy="1838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572000" y="3777734"/>
            <a:ext cx="4301177" cy="369332"/>
          </a:xfrm>
          <a:prstGeom prst="rect">
            <a:avLst/>
          </a:prstGeom>
          <a:noFill/>
        </p:spPr>
        <p:txBody>
          <a:bodyPr wrap="none" rtlCol="0">
            <a:spAutoFit/>
          </a:bodyPr>
          <a:lstStyle/>
          <a:p>
            <a:r>
              <a:rPr lang="en-GB" dirty="0">
                <a:solidFill>
                  <a:srgbClr val="FF0000"/>
                </a:solidFill>
              </a:rPr>
              <a:t>How about MACHINE LEARNING then?</a:t>
            </a:r>
          </a:p>
        </p:txBody>
      </p:sp>
    </p:spTree>
    <p:extLst>
      <p:ext uri="{BB962C8B-B14F-4D97-AF65-F5344CB8AC3E}">
        <p14:creationId xmlns:p14="http://schemas.microsoft.com/office/powerpoint/2010/main" val="260524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 between Data Mining, Machine Learning, AI and others</a:t>
            </a:r>
            <a:br>
              <a:rPr lang="en-GB" dirty="0"/>
            </a:br>
            <a:endParaRPr lang="en-GB" dirty="0"/>
          </a:p>
        </p:txBody>
      </p:sp>
      <p:pic>
        <p:nvPicPr>
          <p:cNvPr id="4098" name="Picture 2" descr="Machine Learning vs. Statistical Model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24000"/>
            <a:ext cx="7315200" cy="4499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92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1" y="3976004"/>
            <a:ext cx="4571999" cy="595996"/>
          </a:xfrm>
        </p:spPr>
        <p:txBody>
          <a:bodyPr/>
          <a:lstStyle/>
          <a:p>
            <a:r>
              <a:rPr lang="en-GB" dirty="0"/>
              <a:t>A bit of History of AI</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1266" name="Picture 2" descr="Alan Turing | 0-day Clothing: T-Shirts for Hackers, Engineers and Geeks | Alan  turing, Computer science, T shi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1785254"/>
            <a:ext cx="2247900"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98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(start)</a:t>
            </a:r>
          </a:p>
        </p:txBody>
      </p:sp>
      <p:sp>
        <p:nvSpPr>
          <p:cNvPr id="3" name="Content Placeholder 2"/>
          <p:cNvSpPr>
            <a:spLocks noGrp="1"/>
          </p:cNvSpPr>
          <p:nvPr>
            <p:ph idx="1"/>
          </p:nvPr>
        </p:nvSpPr>
        <p:spPr/>
        <p:txBody>
          <a:bodyPr/>
          <a:lstStyle/>
          <a:p>
            <a:r>
              <a:rPr lang="en-GB" i="1" dirty="0"/>
              <a:t>Long </a:t>
            </a:r>
            <a:r>
              <a:rPr lang="en-GB" i="1" dirty="0" err="1"/>
              <a:t>long</a:t>
            </a:r>
            <a:r>
              <a:rPr lang="en-GB" i="1" dirty="0"/>
              <a:t> ago… </a:t>
            </a:r>
          </a:p>
          <a:p>
            <a:r>
              <a:rPr lang="en-GB" i="1" dirty="0"/>
              <a:t>Philosopher Aristotle (385-322 B.C.)</a:t>
            </a:r>
          </a:p>
          <a:p>
            <a:r>
              <a:rPr lang="en-GB" i="1" dirty="0"/>
              <a:t>My story will start from 1950 in the UK and one important publication:</a:t>
            </a:r>
          </a:p>
          <a:p>
            <a:pPr marL="0" lvl="1" indent="0">
              <a:spcBef>
                <a:spcPts val="1000"/>
              </a:spcBef>
              <a:buNone/>
            </a:pPr>
            <a:r>
              <a:rPr lang="en-GB" altLang="en-US" sz="2000" i="1" dirty="0"/>
              <a:t>Turing, A.M. (1950), Computing machinery and intelligence, Mind, Vol. 59, pp. 433-460.</a:t>
            </a:r>
            <a:endParaRPr lang="en-GB" altLang="en-US" sz="2400" i="1" dirty="0"/>
          </a:p>
          <a:p>
            <a:endParaRPr lang="en-GB" i="1" dirty="0"/>
          </a:p>
          <a:p>
            <a:endParaRPr lang="en-GB" i="1"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733800"/>
            <a:ext cx="517834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ounded Rectangle 4"/>
          <p:cNvSpPr/>
          <p:nvPr/>
        </p:nvSpPr>
        <p:spPr>
          <a:xfrm>
            <a:off x="5508171" y="5984421"/>
            <a:ext cx="1828800" cy="3429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3483429"/>
            <a:ext cx="1553620" cy="2077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356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fade">
                                      <p:cBhvr>
                                        <p:cTn id="16" dur="500"/>
                                        <p:tgtEl>
                                          <p:spTgt spid="512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(born)</a:t>
            </a:r>
          </a:p>
        </p:txBody>
      </p:sp>
      <p:sp>
        <p:nvSpPr>
          <p:cNvPr id="3" name="Content Placeholder 2"/>
          <p:cNvSpPr>
            <a:spLocks noGrp="1"/>
          </p:cNvSpPr>
          <p:nvPr>
            <p:ph idx="1"/>
          </p:nvPr>
        </p:nvSpPr>
        <p:spPr>
          <a:xfrm>
            <a:off x="1143001" y="990600"/>
            <a:ext cx="7382232" cy="4761979"/>
          </a:xfrm>
        </p:spPr>
        <p:txBody>
          <a:bodyPr/>
          <a:lstStyle/>
          <a:p>
            <a:r>
              <a:rPr lang="en-GB" altLang="en-US" dirty="0"/>
              <a:t>The official birth of artificial intelligence:</a:t>
            </a:r>
          </a:p>
          <a:p>
            <a:pPr lvl="1"/>
            <a:r>
              <a:rPr lang="en-GB" altLang="en-US" sz="2000" dirty="0"/>
              <a:t>1956: Dartmouth Conference - </a:t>
            </a:r>
            <a:r>
              <a:rPr lang="en-US" altLang="en-US" sz="2000" dirty="0"/>
              <a:t>"Artificial Intelligence" adopted</a:t>
            </a:r>
          </a:p>
          <a:p>
            <a:pPr lvl="1"/>
            <a:r>
              <a:rPr lang="en-GB" altLang="en-US" sz="2000" dirty="0"/>
              <a:t>The term ‘Artificial Intelligence’ was coined in a proposal for the conference at Dartmouth College in 1956</a:t>
            </a:r>
          </a:p>
          <a:p>
            <a:pPr lvl="1"/>
            <a:endParaRPr lang="en-GB" altLang="en-US" sz="2000" dirty="0"/>
          </a:p>
          <a:p>
            <a:pPr marL="457200" lvl="1" indent="-457200" fontAlgn="base">
              <a:lnSpc>
                <a:spcPct val="100000"/>
              </a:lnSpc>
              <a:spcBef>
                <a:spcPct val="0"/>
              </a:spcBef>
              <a:spcAft>
                <a:spcPct val="0"/>
              </a:spcAft>
              <a:buNone/>
            </a:pPr>
            <a:r>
              <a:rPr lang="en-US" altLang="en-US" sz="2000" dirty="0">
                <a:solidFill>
                  <a:srgbClr val="202122"/>
                </a:solidFill>
                <a:latin typeface="Arial" charset="0"/>
                <a:cs typeface="Arial" charset="0"/>
              </a:rPr>
              <a:t>1) </a:t>
            </a:r>
            <a:r>
              <a:rPr lang="en-US" altLang="en-US" sz="2000" dirty="0">
                <a:solidFill>
                  <a:srgbClr val="0B0080"/>
                </a:solidFill>
                <a:latin typeface="Arial" charset="0"/>
                <a:cs typeface="Arial" charset="0"/>
                <a:hlinkClick r:id="rId3" tooltip="Marvin Minsky"/>
              </a:rPr>
              <a:t>Dr. Marvin Minsky</a:t>
            </a:r>
            <a:r>
              <a:rPr lang="en-US" altLang="en-US" sz="2000" dirty="0">
                <a:solidFill>
                  <a:srgbClr val="0B0080"/>
                </a:solidFill>
                <a:latin typeface="Arial" charset="0"/>
                <a:cs typeface="Arial" charset="0"/>
              </a:rPr>
              <a:t> (MIT co-founder)</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2) </a:t>
            </a:r>
            <a:r>
              <a:rPr lang="en-US" altLang="en-US" sz="2000" u="sng" dirty="0">
                <a:solidFill>
                  <a:srgbClr val="0B0080"/>
                </a:solidFill>
                <a:latin typeface="Arial" charset="0"/>
                <a:cs typeface="Arial" charset="0"/>
                <a:hlinkClick r:id="rId4" tooltip="Julian Bigelow"/>
              </a:rPr>
              <a:t>Dr. Julian Bigelow</a:t>
            </a:r>
            <a:r>
              <a:rPr lang="en-US" altLang="en-US" sz="2000" u="sng" dirty="0">
                <a:solidFill>
                  <a:srgbClr val="0B0080"/>
                </a:solidFill>
                <a:latin typeface="Arial" charset="0"/>
                <a:cs typeface="Arial" charset="0"/>
              </a:rPr>
              <a:t> (</a:t>
            </a:r>
            <a:r>
              <a:rPr lang="en-US" altLang="en-US" sz="2000" u="sng" dirty="0" err="1">
                <a:solidFill>
                  <a:srgbClr val="0B0080"/>
                </a:solidFill>
                <a:latin typeface="Arial" charset="0"/>
                <a:cs typeface="Arial" charset="0"/>
              </a:rPr>
              <a:t>Contri</a:t>
            </a:r>
            <a:r>
              <a:rPr lang="en-US" altLang="en-US" sz="2000" u="sng" dirty="0">
                <a:solidFill>
                  <a:srgbClr val="0B0080"/>
                </a:solidFill>
                <a:latin typeface="Arial" charset="0"/>
                <a:cs typeface="Arial" charset="0"/>
              </a:rPr>
              <a:t> IT)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3) </a:t>
            </a:r>
            <a:r>
              <a:rPr lang="en-US" altLang="en-US" sz="2000" dirty="0">
                <a:solidFill>
                  <a:srgbClr val="0B0080"/>
                </a:solidFill>
                <a:latin typeface="Arial" charset="0"/>
                <a:cs typeface="Arial" charset="0"/>
                <a:hlinkClick r:id="rId5" tooltip="Donald MacCrimmon MacKay"/>
              </a:rPr>
              <a:t>Professor D.M. Mackay</a:t>
            </a:r>
            <a:r>
              <a:rPr lang="en-US" altLang="en-US" sz="2000" dirty="0">
                <a:solidFill>
                  <a:srgbClr val="0B0080"/>
                </a:solidFill>
                <a:latin typeface="Arial" charset="0"/>
                <a:cs typeface="Arial" charset="0"/>
              </a:rPr>
              <a:t> (</a:t>
            </a:r>
            <a:r>
              <a:rPr lang="en-GB" sz="2000" dirty="0"/>
              <a:t>Neuro</a:t>
            </a:r>
            <a:r>
              <a:rPr lang="en-US" altLang="en-US" sz="2000"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4) </a:t>
            </a:r>
            <a:r>
              <a:rPr lang="en-US" altLang="en-US" sz="2000" dirty="0">
                <a:solidFill>
                  <a:srgbClr val="0B0080"/>
                </a:solidFill>
                <a:latin typeface="Arial" charset="0"/>
                <a:cs typeface="Arial" charset="0"/>
                <a:hlinkClick r:id="rId6" tooltip="Ray Solomonoff"/>
              </a:rPr>
              <a:t>Mr. Ray </a:t>
            </a:r>
            <a:r>
              <a:rPr lang="en-US" altLang="en-US" sz="2000" dirty="0" err="1">
                <a:solidFill>
                  <a:srgbClr val="0B0080"/>
                </a:solidFill>
                <a:latin typeface="Arial" charset="0"/>
                <a:cs typeface="Arial" charset="0"/>
                <a:hlinkClick r:id="rId6" tooltip="Ray Solomonoff"/>
              </a:rPr>
              <a:t>Solomonoff</a:t>
            </a:r>
            <a:r>
              <a:rPr lang="en-US" altLang="en-US" sz="2000" dirty="0">
                <a:solidFill>
                  <a:srgbClr val="0B0080"/>
                </a:solidFill>
                <a:latin typeface="Arial" charset="0"/>
                <a:cs typeface="Arial" charset="0"/>
              </a:rPr>
              <a:t> (Probability)</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5) </a:t>
            </a:r>
            <a:r>
              <a:rPr lang="en-US" altLang="en-US" sz="2000" dirty="0">
                <a:solidFill>
                  <a:srgbClr val="0B0080"/>
                </a:solidFill>
                <a:latin typeface="Arial" charset="0"/>
                <a:cs typeface="Arial" charset="0"/>
                <a:hlinkClick r:id="rId7" tooltip="John Henry Holland"/>
              </a:rPr>
              <a:t>Mr. John Holland</a:t>
            </a:r>
            <a:r>
              <a:rPr lang="en-US" altLang="en-US" sz="2000" dirty="0">
                <a:solidFill>
                  <a:srgbClr val="0B0080"/>
                </a:solidFill>
                <a:latin typeface="Arial" charset="0"/>
                <a:cs typeface="Arial" charset="0"/>
              </a:rPr>
              <a:t> (</a:t>
            </a:r>
            <a:r>
              <a:rPr lang="en-GB" sz="2000" u="sng" dirty="0"/>
              <a:t>genetic</a:t>
            </a:r>
            <a:r>
              <a:rPr lang="en-US" altLang="en-US" sz="2000"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6) </a:t>
            </a:r>
            <a:r>
              <a:rPr lang="en-US" altLang="en-US" sz="2000" dirty="0">
                <a:solidFill>
                  <a:srgbClr val="0B0080"/>
                </a:solidFill>
                <a:latin typeface="Arial" charset="0"/>
                <a:cs typeface="Arial" charset="0"/>
                <a:hlinkClick r:id="rId8" tooltip="John McCarthy (computer scientist)"/>
              </a:rPr>
              <a:t>Mr. John McCarthy</a:t>
            </a:r>
            <a:r>
              <a:rPr lang="en-US" altLang="en-US" sz="2000" dirty="0">
                <a:solidFill>
                  <a:srgbClr val="0B0080"/>
                </a:solidFill>
                <a:latin typeface="Arial" charset="0"/>
                <a:cs typeface="Arial" charset="0"/>
              </a:rPr>
              <a:t> (MIT, lisp)</a:t>
            </a:r>
          </a:p>
          <a:p>
            <a:pPr marL="457200" lvl="1" indent="-457200" eaLnBrk="0" fontAlgn="base" hangingPunct="0">
              <a:lnSpc>
                <a:spcPct val="100000"/>
              </a:lnSpc>
              <a:spcBef>
                <a:spcPct val="0"/>
              </a:spcBef>
              <a:spcAft>
                <a:spcPct val="0"/>
              </a:spcAft>
              <a:buNone/>
            </a:pPr>
            <a:r>
              <a:rPr lang="en-GB" sz="2000" dirty="0"/>
              <a:t>7) </a:t>
            </a:r>
            <a:r>
              <a:rPr lang="en-GB" sz="2000" u="sng" dirty="0" err="1">
                <a:hlinkClick r:id="rId9"/>
              </a:rPr>
              <a:t>Dr.</a:t>
            </a:r>
            <a:r>
              <a:rPr lang="en-GB" sz="2000" u="sng" dirty="0">
                <a:hlinkClick r:id="rId9"/>
              </a:rPr>
              <a:t> Claude Shannon</a:t>
            </a:r>
            <a:r>
              <a:rPr lang="en-GB" sz="2000" u="sng" dirty="0"/>
              <a:t> (IT)</a:t>
            </a:r>
            <a:endParaRPr lang="en-GB" altLang="en-US" sz="2000" dirty="0"/>
          </a:p>
          <a:p>
            <a:pPr lvl="1"/>
            <a:endParaRPr lang="en-GB" altLang="en-US" sz="2000" dirty="0"/>
          </a:p>
          <a:p>
            <a:endParaRPr lang="en-GB" dirty="0"/>
          </a:p>
        </p:txBody>
      </p:sp>
      <p:pic>
        <p:nvPicPr>
          <p:cNvPr id="1026" name="Picture 2" descr="pbs.twimg.com/media/DHbVdasWAAII-zx.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506453" y="2819400"/>
            <a:ext cx="3465094"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169595"/>
            <a:ext cx="256464" cy="3391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45720" rIns="0" bIns="1587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410664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(early days)</a:t>
            </a:r>
          </a:p>
        </p:txBody>
      </p:sp>
      <p:sp>
        <p:nvSpPr>
          <p:cNvPr id="3" name="Content Placeholder 2"/>
          <p:cNvSpPr>
            <a:spLocks noGrp="1"/>
          </p:cNvSpPr>
          <p:nvPr>
            <p:ph idx="1"/>
          </p:nvPr>
        </p:nvSpPr>
        <p:spPr>
          <a:xfrm>
            <a:off x="1809892" y="1143000"/>
            <a:ext cx="6705458" cy="5333999"/>
          </a:xfrm>
        </p:spPr>
        <p:txBody>
          <a:bodyPr/>
          <a:lstStyle/>
          <a:p>
            <a:r>
              <a:rPr lang="en-GB" sz="1800" dirty="0">
                <a:solidFill>
                  <a:srgbClr val="0070C0"/>
                </a:solidFill>
              </a:rPr>
              <a:t>Two major themes that driven AI development from start to today are: Game-play and Robot</a:t>
            </a:r>
          </a:p>
          <a:p>
            <a:r>
              <a:rPr lang="en-GB" altLang="en-US" sz="1800" dirty="0"/>
              <a:t>One of the early research in AI is search problem such as for game-playing. Game-playing can be usefully viewed as a search problem in a space defined by a fixed set of rules </a:t>
            </a:r>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r>
              <a:rPr lang="en-GB" altLang="en-US" sz="1800" dirty="0"/>
              <a:t>Nodes are either white or black corresponding to reflect the adversaries’ turns.</a:t>
            </a:r>
          </a:p>
          <a:p>
            <a:r>
              <a:rPr lang="en-GB" altLang="en-US" sz="1800" dirty="0"/>
              <a:t>The tree of possible moves can be searched for favourable positions.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667000"/>
            <a:ext cx="5688013"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034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(victory)</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altLang="en-US" dirty="0"/>
              <a:t>The real success of AI in game-playing was achieved much later after many years’ effort.</a:t>
            </a:r>
          </a:p>
          <a:p>
            <a:pPr marL="342900" indent="-342900">
              <a:buFont typeface="Arial" panose="020B0604020202020204" pitchFamily="34" charset="0"/>
              <a:buChar char="•"/>
            </a:pPr>
            <a:r>
              <a:rPr lang="en-GB" altLang="en-US" dirty="0"/>
              <a:t>It has been shown that this search based approach works extremely well. </a:t>
            </a:r>
          </a:p>
          <a:p>
            <a:pPr marL="342900" indent="-342900">
              <a:buFont typeface="Arial" panose="020B0604020202020204" pitchFamily="34" charset="0"/>
              <a:buChar char="•"/>
            </a:pPr>
            <a:r>
              <a:rPr lang="en-GB" altLang="en-US" dirty="0"/>
              <a:t>In 1996 IBM Deep Blue beat Gary Kasparov for the first time. In 1997 an upgraded version won an entire match against the same opponent.</a:t>
            </a:r>
          </a:p>
          <a:p>
            <a:endParaRPr lang="en-GB"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038600"/>
            <a:ext cx="3886200" cy="2384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1CB244AA-5641-4E15-8E49-746009649A16}"/>
              </a:ext>
            </a:extLst>
          </p:cNvPr>
          <p:cNvSpPr txBox="1"/>
          <p:nvPr/>
        </p:nvSpPr>
        <p:spPr>
          <a:xfrm>
            <a:off x="1295400" y="5230863"/>
            <a:ext cx="3048000" cy="923330"/>
          </a:xfrm>
          <a:prstGeom prst="rect">
            <a:avLst/>
          </a:prstGeom>
          <a:noFill/>
        </p:spPr>
        <p:txBody>
          <a:bodyPr wrap="square">
            <a:spAutoFit/>
          </a:bodyPr>
          <a:lstStyle/>
          <a:p>
            <a:r>
              <a:rPr lang="en-GB" dirty="0">
                <a:hlinkClick r:id="rId3"/>
              </a:rPr>
              <a:t>https://www.kaggle.com/harryyu/week10-reinforcement-learning-frozenlake-v0</a:t>
            </a:r>
            <a:r>
              <a:rPr lang="en-GB" dirty="0"/>
              <a:t> </a:t>
            </a:r>
          </a:p>
        </p:txBody>
      </p:sp>
    </p:spTree>
    <p:extLst>
      <p:ext uri="{BB962C8B-B14F-4D97-AF65-F5344CB8AC3E}">
        <p14:creationId xmlns:p14="http://schemas.microsoft.com/office/powerpoint/2010/main" val="3306479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(development)</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altLang="en-US" sz="2000" b="1" dirty="0"/>
              <a:t>deductive logic (theorem-provers)</a:t>
            </a:r>
            <a:r>
              <a:rPr lang="en-GB" altLang="en-US" sz="2000" dirty="0"/>
              <a:t>:</a:t>
            </a:r>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r>
              <a:rPr lang="en-GB" altLang="en-US" sz="2000" b="1" dirty="0"/>
              <a:t>Common sense reasoning</a:t>
            </a:r>
            <a:r>
              <a:rPr lang="en-GB" altLang="en-US" sz="2000" dirty="0"/>
              <a:t>: the idea was to code common sense knowledge as logical axioms, and employ a theorem-prover (John McCarthy and Patrick Hayes)</a:t>
            </a:r>
          </a:p>
          <a:p>
            <a:pPr marL="342900" lvl="1" indent="-342900">
              <a:spcBef>
                <a:spcPts val="1000"/>
              </a:spcBef>
            </a:pPr>
            <a:r>
              <a:rPr lang="en-GB" altLang="en-US" sz="2000" b="1" dirty="0"/>
              <a:t>Reasoning as search</a:t>
            </a:r>
            <a:r>
              <a:rPr lang="en-GB" altLang="en-US" sz="2000" dirty="0"/>
              <a:t>: Newell and Simon developed a program called the "General Problem Solver".</a:t>
            </a:r>
          </a:p>
          <a:p>
            <a:pPr marL="342900" lvl="1" indent="-342900">
              <a:spcBef>
                <a:spcPts val="1000"/>
              </a:spcBef>
            </a:pPr>
            <a:r>
              <a:rPr lang="en-GB" altLang="en-US" sz="2000" b="1" dirty="0"/>
              <a:t>Natural language Processing</a:t>
            </a:r>
            <a:r>
              <a:rPr lang="en-GB" altLang="en-US" sz="2000" dirty="0"/>
              <a:t>: Ross </a:t>
            </a:r>
            <a:r>
              <a:rPr lang="en-GB" altLang="en-US" sz="2000" dirty="0" err="1"/>
              <a:t>Quillian</a:t>
            </a:r>
            <a:r>
              <a:rPr lang="en-GB" altLang="en-US" sz="2000" dirty="0"/>
              <a:t> proposed the semantic networks and Margaret </a:t>
            </a:r>
            <a:r>
              <a:rPr lang="en-GB" altLang="en-US" sz="2000" dirty="0" err="1"/>
              <a:t>Masterman</a:t>
            </a:r>
            <a:r>
              <a:rPr lang="en-GB" altLang="en-US" sz="2000" dirty="0"/>
              <a:t> &amp; colleagues at Cambridge design semantic networks for machine translation</a:t>
            </a:r>
            <a:endParaRPr lang="en-GB" altLang="en-US" dirty="0"/>
          </a:p>
          <a:p>
            <a:pPr marL="342900" indent="-342900">
              <a:buFont typeface="Arial" panose="020B0604020202020204" pitchFamily="34" charset="0"/>
              <a:buChar char="•"/>
            </a:pPr>
            <a:endParaRPr lang="en-GB"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828800"/>
            <a:ext cx="6002337"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949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(golden years)</a:t>
            </a:r>
          </a:p>
        </p:txBody>
      </p:sp>
      <p:sp>
        <p:nvSpPr>
          <p:cNvPr id="3" name="Content Placeholder 2"/>
          <p:cNvSpPr>
            <a:spLocks noGrp="1"/>
          </p:cNvSpPr>
          <p:nvPr>
            <p:ph idx="1"/>
          </p:nvPr>
        </p:nvSpPr>
        <p:spPr/>
        <p:txBody>
          <a:bodyPr/>
          <a:lstStyle/>
          <a:p>
            <a:r>
              <a:rPr lang="en-GB" b="1" dirty="0"/>
              <a:t>Golden years: 1956-1974</a:t>
            </a:r>
          </a:p>
          <a:p>
            <a:pPr marL="800100" lvl="2" indent="-342900">
              <a:spcBef>
                <a:spcPts val="1000"/>
              </a:spcBef>
            </a:pPr>
            <a:r>
              <a:rPr lang="en-GB" altLang="en-US" sz="2000" b="1" dirty="0"/>
              <a:t>Lisp</a:t>
            </a:r>
            <a:r>
              <a:rPr lang="en-GB" altLang="en-US" sz="2000" dirty="0"/>
              <a:t>: John McCarthy (MIT) invented the Lisp language.</a:t>
            </a:r>
          </a:p>
          <a:p>
            <a:r>
              <a:rPr lang="en-GB" altLang="en-US" b="1" dirty="0"/>
              <a:t>Funding for AI research</a:t>
            </a:r>
            <a:r>
              <a:rPr lang="en-GB" altLang="en-US" dirty="0"/>
              <a:t>:</a:t>
            </a:r>
          </a:p>
          <a:p>
            <a:pPr lvl="1"/>
            <a:r>
              <a:rPr lang="en-GB" altLang="en-US" sz="2000" dirty="0"/>
              <a:t>Significant funding from both USA and UK governments</a:t>
            </a:r>
          </a:p>
          <a:p>
            <a:r>
              <a:rPr lang="en-GB" altLang="en-US" b="1" dirty="0"/>
              <a:t>The optimism</a:t>
            </a:r>
            <a:r>
              <a:rPr lang="en-GB" altLang="en-US" dirty="0"/>
              <a:t>:</a:t>
            </a:r>
          </a:p>
          <a:p>
            <a:pPr lvl="1"/>
            <a:r>
              <a:rPr lang="en-GB" altLang="en-US" sz="2000" dirty="0"/>
              <a:t>1965, Simon: "machines will be capable, within twenty years, of doing any work a man can do"</a:t>
            </a:r>
          </a:p>
          <a:p>
            <a:pPr lvl="1"/>
            <a:r>
              <a:rPr lang="en-GB" altLang="en-US" sz="2000" dirty="0"/>
              <a:t>1970, Minsky: "In from three to eight years we will have a machine with the general intelligence of an average human being."</a:t>
            </a:r>
          </a:p>
          <a:p>
            <a:endParaRPr lang="en-GB" dirty="0"/>
          </a:p>
        </p:txBody>
      </p:sp>
    </p:spTree>
    <p:extLst>
      <p:ext uri="{BB962C8B-B14F-4D97-AF65-F5344CB8AC3E}">
        <p14:creationId xmlns:p14="http://schemas.microsoft.com/office/powerpoint/2010/main" val="2230735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(1</a:t>
            </a:r>
            <a:r>
              <a:rPr lang="en-GB" baseline="30000" dirty="0"/>
              <a:t>ST</a:t>
            </a:r>
            <a:r>
              <a:rPr lang="en-GB" dirty="0"/>
              <a:t> AI winter)</a:t>
            </a:r>
          </a:p>
        </p:txBody>
      </p:sp>
      <p:sp>
        <p:nvSpPr>
          <p:cNvPr id="3" name="Content Placeholder 2"/>
          <p:cNvSpPr>
            <a:spLocks noGrp="1"/>
          </p:cNvSpPr>
          <p:nvPr>
            <p:ph idx="1"/>
          </p:nvPr>
        </p:nvSpPr>
        <p:spPr>
          <a:xfrm>
            <a:off x="1809892" y="1414985"/>
            <a:ext cx="7105508" cy="4985815"/>
          </a:xfrm>
        </p:spPr>
        <p:txBody>
          <a:bodyPr/>
          <a:lstStyle/>
          <a:p>
            <a:r>
              <a:rPr lang="en-GB" altLang="en-US" sz="1800" b="1" dirty="0"/>
              <a:t>The first AI winter 1974−1980:</a:t>
            </a:r>
            <a:endParaRPr lang="en-GB" altLang="en-US" sz="1800" dirty="0"/>
          </a:p>
          <a:p>
            <a:pPr lvl="1"/>
            <a:r>
              <a:rPr lang="en-GB" altLang="en-US" sz="1800" b="1" dirty="0"/>
              <a:t>Problems</a:t>
            </a:r>
          </a:p>
          <a:p>
            <a:pPr lvl="2"/>
            <a:r>
              <a:rPr lang="en-GB" altLang="en-US" sz="1800" b="1" dirty="0"/>
              <a:t>Limited computer power</a:t>
            </a:r>
            <a:r>
              <a:rPr lang="en-GB" altLang="en-US" sz="1800" dirty="0"/>
              <a:t>: There was not enough memory or processing speed to accomplish anything truly useful </a:t>
            </a:r>
          </a:p>
          <a:p>
            <a:pPr lvl="2"/>
            <a:r>
              <a:rPr lang="en-GB" altLang="en-US" sz="1800" b="1" dirty="0"/>
              <a:t>Intractability and the combinatorial explosion</a:t>
            </a:r>
            <a:r>
              <a:rPr lang="en-GB" altLang="en-US" sz="1800" dirty="0"/>
              <a:t>. In 1972 Richard Karp showed there are many problems that can probably only be solved in exponential time (in the size of the inputs), famously named as NP (</a:t>
            </a:r>
            <a:r>
              <a:rPr lang="en-GB" sz="2000" i="0" dirty="0">
                <a:solidFill>
                  <a:srgbClr val="202124"/>
                </a:solidFill>
                <a:effectLst/>
                <a:latin typeface="arial" panose="020B0604020202020204" pitchFamily="34" charset="0"/>
              </a:rPr>
              <a:t>nondeterministic polynomial time</a:t>
            </a:r>
            <a:r>
              <a:rPr lang="en-GB" altLang="en-US" sz="1800" dirty="0"/>
              <a:t>) complete/hard problem.  </a:t>
            </a:r>
          </a:p>
          <a:p>
            <a:pPr lvl="2"/>
            <a:r>
              <a:rPr lang="en-GB" altLang="en-US" sz="1800" b="1" dirty="0"/>
              <a:t>Common sense knowledge and reasoning</a:t>
            </a:r>
            <a:r>
              <a:rPr lang="en-GB" altLang="en-US" sz="1800" dirty="0"/>
              <a:t>. Many important applications like vision or natural language require simply enormous amounts of information about the world and handling uncertainty.</a:t>
            </a:r>
          </a:p>
          <a:p>
            <a:pPr lvl="1"/>
            <a:r>
              <a:rPr lang="en-GB" altLang="en-US" sz="1800" b="1" dirty="0"/>
              <a:t>The end of funding</a:t>
            </a:r>
          </a:p>
          <a:p>
            <a:pPr lvl="2"/>
            <a:r>
              <a:rPr lang="en-GB" altLang="en-US" sz="1800" dirty="0"/>
              <a:t>The agencies which funded AI research became frustrated with the lack of progress and eventually cut off most funding for AI research.</a:t>
            </a:r>
          </a:p>
          <a:p>
            <a:endParaRPr lang="en-GB" dirty="0"/>
          </a:p>
        </p:txBody>
      </p:sp>
    </p:spTree>
    <p:extLst>
      <p:ext uri="{BB962C8B-B14F-4D97-AF65-F5344CB8AC3E}">
        <p14:creationId xmlns:p14="http://schemas.microsoft.com/office/powerpoint/2010/main" val="4249904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(Rebranding)</a:t>
            </a:r>
          </a:p>
        </p:txBody>
      </p:sp>
      <p:sp>
        <p:nvSpPr>
          <p:cNvPr id="3" name="Content Placeholder 2"/>
          <p:cNvSpPr>
            <a:spLocks noGrp="1"/>
          </p:cNvSpPr>
          <p:nvPr>
            <p:ph idx="1"/>
          </p:nvPr>
        </p:nvSpPr>
        <p:spPr>
          <a:xfrm>
            <a:off x="1809892" y="990601"/>
            <a:ext cx="6705458" cy="5186364"/>
          </a:xfrm>
        </p:spPr>
        <p:txBody>
          <a:bodyPr/>
          <a:lstStyle/>
          <a:p>
            <a:r>
              <a:rPr lang="en-GB" altLang="en-US" sz="1800" b="1" dirty="0"/>
              <a:t>Boom 1980–1987:</a:t>
            </a:r>
            <a:endParaRPr lang="en-GB" altLang="en-US" sz="1800" dirty="0"/>
          </a:p>
          <a:p>
            <a:pPr lvl="1"/>
            <a:r>
              <a:rPr lang="en-GB" altLang="en-US" sz="1800" dirty="0"/>
              <a:t>In the 1980s a form of AI program called "expert systems" was adopted (rule-based technologies) by corporations around the world and knowledge representation became the focus of mainstream AI research</a:t>
            </a:r>
          </a:p>
          <a:p>
            <a:pPr lvl="2"/>
            <a:r>
              <a:rPr lang="en-GB" altLang="en-US" sz="1800" dirty="0"/>
              <a:t>The power of expert systems came from the expert knowledge using </a:t>
            </a:r>
            <a:r>
              <a:rPr lang="en-GB" altLang="en-US" sz="1800" b="1" dirty="0"/>
              <a:t>rules</a:t>
            </a:r>
            <a:r>
              <a:rPr lang="en-GB" altLang="en-US" sz="1800" dirty="0"/>
              <a:t> that are derived from the domain experts </a:t>
            </a:r>
          </a:p>
          <a:p>
            <a:pPr lvl="2"/>
            <a:r>
              <a:rPr lang="en-GB" altLang="en-US" sz="1800" dirty="0"/>
              <a:t>In 1980, an expert system called XCON was completed for the Digital Equipment Corporation. It was an enormous success: it was saving the company 40 million dollars annually by 1986</a:t>
            </a:r>
          </a:p>
          <a:p>
            <a:pPr lvl="2"/>
            <a:r>
              <a:rPr lang="en-GB" altLang="en-US" sz="1800" dirty="0"/>
              <a:t>By 1985 the market for AI had reached over a billion dollars</a:t>
            </a:r>
          </a:p>
          <a:p>
            <a:pPr lvl="1"/>
            <a:r>
              <a:rPr lang="en-GB" altLang="en-US" sz="1800" dirty="0"/>
              <a:t>The money returns: the fifth generation project</a:t>
            </a:r>
          </a:p>
          <a:p>
            <a:pPr lvl="1"/>
            <a:r>
              <a:rPr lang="en-GB" altLang="en-US" sz="1800" dirty="0"/>
              <a:t>However, the fundamental issue about uncertainty (today we call it probability and fuzzy learning) and capability of dealing with big size data aren’t really solved at all in that time.   </a:t>
            </a:r>
          </a:p>
          <a:p>
            <a:endParaRPr lang="en-GB" dirty="0"/>
          </a:p>
        </p:txBody>
      </p:sp>
    </p:spTree>
    <p:extLst>
      <p:ext uri="{BB962C8B-B14F-4D97-AF65-F5344CB8AC3E}">
        <p14:creationId xmlns:p14="http://schemas.microsoft.com/office/powerpoint/2010/main" val="2973107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(2</a:t>
            </a:r>
            <a:r>
              <a:rPr lang="en-GB" baseline="30000" dirty="0"/>
              <a:t>nd</a:t>
            </a:r>
            <a:r>
              <a:rPr lang="en-GB" dirty="0"/>
              <a:t> AI winter)</a:t>
            </a:r>
          </a:p>
        </p:txBody>
      </p:sp>
      <p:sp>
        <p:nvSpPr>
          <p:cNvPr id="3" name="Content Placeholder 2"/>
          <p:cNvSpPr>
            <a:spLocks noGrp="1"/>
          </p:cNvSpPr>
          <p:nvPr>
            <p:ph idx="1"/>
          </p:nvPr>
        </p:nvSpPr>
        <p:spPr/>
        <p:txBody>
          <a:bodyPr/>
          <a:lstStyle/>
          <a:p>
            <a:r>
              <a:rPr lang="en-GB" altLang="en-US" b="1" dirty="0"/>
              <a:t>the second AI winter 1987−1993</a:t>
            </a:r>
          </a:p>
          <a:p>
            <a:pPr lvl="1"/>
            <a:r>
              <a:rPr lang="en-GB" altLang="en-US" sz="2000" dirty="0"/>
              <a:t>In 1987, the Lisp Machine market was collapsed, as desktop computers from Apple and IBM had been steadily gaining speed and power and in 1987 they became more powerful than the more expensive Lisp machines made by </a:t>
            </a:r>
            <a:r>
              <a:rPr lang="en-GB" altLang="en-US" sz="2000" dirty="0" err="1"/>
              <a:t>Symbolics</a:t>
            </a:r>
            <a:r>
              <a:rPr lang="en-GB" altLang="en-US" sz="2000" dirty="0"/>
              <a:t> and others	</a:t>
            </a:r>
          </a:p>
          <a:p>
            <a:pPr lvl="1"/>
            <a:r>
              <a:rPr lang="en-GB" altLang="en-US" sz="2000" dirty="0"/>
              <a:t>Eventually the earliest successful expert systems, such as XCON, proved too expensive to maintain, due to difficult to update and unable to learn.</a:t>
            </a:r>
          </a:p>
          <a:p>
            <a:pPr lvl="1"/>
            <a:r>
              <a:rPr lang="en-GB" altLang="en-US" sz="2000" dirty="0"/>
              <a:t>In the late 80s and early 90s, funding for AI has been deeply cut due to the limitations of the expert systems and the expectations for Japan's Fifth Generation Project not being met</a:t>
            </a:r>
          </a:p>
          <a:p>
            <a:endParaRPr lang="en-GB" dirty="0"/>
          </a:p>
        </p:txBody>
      </p:sp>
    </p:spTree>
    <p:extLst>
      <p:ext uri="{BB962C8B-B14F-4D97-AF65-F5344CB8AC3E}">
        <p14:creationId xmlns:p14="http://schemas.microsoft.com/office/powerpoint/2010/main" val="3403053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(late 80s to 90s new ideas)</a:t>
            </a:r>
          </a:p>
        </p:txBody>
      </p:sp>
      <p:sp>
        <p:nvSpPr>
          <p:cNvPr id="3" name="Content Placeholder 2"/>
          <p:cNvSpPr>
            <a:spLocks noGrp="1"/>
          </p:cNvSpPr>
          <p:nvPr>
            <p:ph idx="1"/>
          </p:nvPr>
        </p:nvSpPr>
        <p:spPr/>
        <p:txBody>
          <a:bodyPr/>
          <a:lstStyle/>
          <a:p>
            <a:pPr marL="0" lvl="1" indent="0">
              <a:spcBef>
                <a:spcPts val="1000"/>
              </a:spcBef>
              <a:buNone/>
            </a:pPr>
            <a:r>
              <a:rPr lang="en-GB" altLang="en-US" sz="2000" dirty="0"/>
              <a:t>In the period of 2</a:t>
            </a:r>
            <a:r>
              <a:rPr lang="en-GB" altLang="en-US" sz="2000" baseline="30000" dirty="0"/>
              <a:t>nd</a:t>
            </a:r>
            <a:r>
              <a:rPr lang="en-GB" altLang="en-US" sz="2000" dirty="0"/>
              <a:t> AI winter (in the late 80s), lots of new ideas are proposed which are the foundations of today’s AI approaches.</a:t>
            </a:r>
          </a:p>
          <a:p>
            <a:pPr marL="457200" lvl="1" indent="-457200">
              <a:spcBef>
                <a:spcPts val="1000"/>
              </a:spcBef>
            </a:pPr>
            <a:r>
              <a:rPr lang="en-GB" altLang="en-US" sz="2000" dirty="0"/>
              <a:t>A completely new approach to AI, based on robotics, has been proposed by Brooks in his paper "Elephants Don't Play Chess”, based on the belief that, to show real intelligence, a machine needs to have a body — it needs to perceive, move, survive and deal with the world.</a:t>
            </a:r>
          </a:p>
          <a:p>
            <a:pPr marL="457200" lvl="1" indent="-457200">
              <a:spcBef>
                <a:spcPts val="1000"/>
              </a:spcBef>
            </a:pPr>
            <a:r>
              <a:rPr lang="en-GB" altLang="en-US" sz="2000" dirty="0"/>
              <a:t>Artificial Neural Networks (ANN) to learn data features</a:t>
            </a:r>
          </a:p>
          <a:p>
            <a:pPr marL="457200" lvl="1" indent="-457200">
              <a:spcBef>
                <a:spcPts val="1000"/>
              </a:spcBef>
            </a:pPr>
            <a:r>
              <a:rPr lang="en-GB" altLang="en-US" sz="2000" dirty="0"/>
              <a:t>Probabilistic and Statistical approach</a:t>
            </a:r>
          </a:p>
          <a:p>
            <a:pPr marL="457200" lvl="1" indent="-457200">
              <a:spcBef>
                <a:spcPts val="1000"/>
              </a:spcBef>
            </a:pPr>
            <a:r>
              <a:rPr lang="en-GB" altLang="en-US" sz="2000" dirty="0"/>
              <a:t>Knowledge representation with Fuzzy framework</a:t>
            </a:r>
          </a:p>
          <a:p>
            <a:pPr marL="457200" lvl="1" indent="-457200">
              <a:spcBef>
                <a:spcPts val="1000"/>
              </a:spcBef>
            </a:pPr>
            <a:r>
              <a:rPr lang="en-GB" altLang="en-US" sz="2000" dirty="0"/>
              <a:t>Imaging processing and vision recognition </a:t>
            </a:r>
          </a:p>
          <a:p>
            <a:endParaRPr lang="en-GB" dirty="0"/>
          </a:p>
        </p:txBody>
      </p:sp>
    </p:spTree>
    <p:extLst>
      <p:ext uri="{BB962C8B-B14F-4D97-AF65-F5344CB8AC3E}">
        <p14:creationId xmlns:p14="http://schemas.microsoft.com/office/powerpoint/2010/main" val="2846790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698-94AE-38F4-ABFE-6759A5FC2D8D}"/>
              </a:ext>
            </a:extLst>
          </p:cNvPr>
          <p:cNvSpPr>
            <a:spLocks noGrp="1"/>
          </p:cNvSpPr>
          <p:nvPr>
            <p:ph type="title"/>
          </p:nvPr>
        </p:nvSpPr>
        <p:spPr/>
        <p:txBody>
          <a:bodyPr/>
          <a:lstStyle/>
          <a:p>
            <a:r>
              <a:rPr lang="en-GB" dirty="0"/>
              <a:t>Winter again</a:t>
            </a:r>
          </a:p>
        </p:txBody>
      </p:sp>
      <p:sp>
        <p:nvSpPr>
          <p:cNvPr id="3" name="Content Placeholder 2">
            <a:extLst>
              <a:ext uri="{FF2B5EF4-FFF2-40B4-BE49-F238E27FC236}">
                <a16:creationId xmlns:a16="http://schemas.microsoft.com/office/drawing/2014/main" id="{A0B260C8-599A-752C-BD21-C0DDBAD5C442}"/>
              </a:ext>
            </a:extLst>
          </p:cNvPr>
          <p:cNvSpPr>
            <a:spLocks noGrp="1"/>
          </p:cNvSpPr>
          <p:nvPr>
            <p:ph idx="1"/>
          </p:nvPr>
        </p:nvSpPr>
        <p:spPr/>
        <p:txBody>
          <a:bodyPr/>
          <a:lstStyle/>
          <a:p>
            <a:endParaRPr lang="en-GB"/>
          </a:p>
        </p:txBody>
      </p:sp>
      <p:pic>
        <p:nvPicPr>
          <p:cNvPr id="2050" name="Picture 2" descr="Winter Solstice 2022: When Is the First Day of Winter? What ...">
            <a:extLst>
              <a:ext uri="{FF2B5EF4-FFF2-40B4-BE49-F238E27FC236}">
                <a16:creationId xmlns:a16="http://schemas.microsoft.com/office/drawing/2014/main" id="{008C7E6E-B168-8658-0D0B-E43D44811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811" y="1295400"/>
            <a:ext cx="6858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497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Brief </a:t>
            </a:r>
            <a:r>
              <a:rPr lang="en-US" altLang="en-US" dirty="0"/>
              <a:t>history of AI </a:t>
            </a:r>
            <a:br>
              <a:rPr lang="en-US" altLang="en-US" dirty="0"/>
            </a:br>
            <a:r>
              <a:rPr lang="en-US" altLang="en-US" dirty="0"/>
              <a:t>(booming today)</a:t>
            </a:r>
            <a:endParaRPr lang="en-GB" dirty="0"/>
          </a:p>
        </p:txBody>
      </p:sp>
      <p:sp>
        <p:nvSpPr>
          <p:cNvPr id="3" name="Content Placeholder 2"/>
          <p:cNvSpPr>
            <a:spLocks noGrp="1"/>
          </p:cNvSpPr>
          <p:nvPr>
            <p:ph idx="1"/>
          </p:nvPr>
        </p:nvSpPr>
        <p:spPr/>
        <p:txBody>
          <a:bodyPr/>
          <a:lstStyle/>
          <a:p>
            <a:r>
              <a:rPr lang="en-GB" dirty="0"/>
              <a:t>Main reasons: </a:t>
            </a:r>
          </a:p>
          <a:p>
            <a:pPr marL="342900" indent="-342900">
              <a:buFont typeface="Arial" panose="020B0604020202020204" pitchFamily="34" charset="0"/>
              <a:buChar char="•"/>
            </a:pPr>
            <a:r>
              <a:rPr lang="en-GB" dirty="0"/>
              <a:t>Hardware power (GPU, storage)</a:t>
            </a:r>
          </a:p>
          <a:p>
            <a:pPr marL="342900" indent="-342900">
              <a:buFont typeface="Arial" panose="020B0604020202020204" pitchFamily="34" charset="0"/>
              <a:buChar char="•"/>
            </a:pPr>
            <a:r>
              <a:rPr lang="en-GB" dirty="0"/>
              <a:t>Cloud computing (Internet, </a:t>
            </a:r>
            <a:r>
              <a:rPr lang="en-GB" dirty="0" err="1"/>
              <a:t>IoT</a:t>
            </a:r>
            <a:r>
              <a:rPr lang="en-GB" dirty="0"/>
              <a:t>)</a:t>
            </a:r>
          </a:p>
          <a:p>
            <a:pPr marL="342900" indent="-342900">
              <a:buFont typeface="Arial" panose="020B0604020202020204" pitchFamily="34" charset="0"/>
              <a:buChar char="•"/>
            </a:pPr>
            <a:r>
              <a:rPr lang="en-GB" dirty="0"/>
              <a:t>Big Data (</a:t>
            </a:r>
            <a:r>
              <a:rPr lang="en-GB" dirty="0" err="1"/>
              <a:t>IoT</a:t>
            </a:r>
            <a:r>
              <a:rPr lang="en-GB" dirty="0"/>
              <a:t>, Mobil App, Social network, Linked data, activities on Internet)</a:t>
            </a:r>
          </a:p>
          <a:p>
            <a:pPr marL="342900" indent="-342900">
              <a:buFont typeface="Arial" panose="020B0604020202020204" pitchFamily="34" charset="0"/>
              <a:buChar char="•"/>
            </a:pPr>
            <a:r>
              <a:rPr lang="en-GB" dirty="0"/>
              <a:t>Industry driven (Google, Amazon, Facebook) </a:t>
            </a:r>
          </a:p>
          <a:p>
            <a:pPr marL="342900" indent="-342900">
              <a:buFont typeface="Arial" panose="020B0604020202020204" pitchFamily="34" charset="0"/>
              <a:buChar char="•"/>
            </a:pPr>
            <a:r>
              <a:rPr lang="en-GB" altLang="en-US" dirty="0"/>
              <a:t>the creation of new ties between AI and other fields working on similar problems</a:t>
            </a:r>
          </a:p>
          <a:p>
            <a:pPr marL="342900" indent="-342900">
              <a:buFont typeface="Arial" panose="020B0604020202020204" pitchFamily="34" charset="0"/>
              <a:buChar char="•"/>
            </a:pPr>
            <a:r>
              <a:rPr lang="en-GB" altLang="en-US" dirty="0"/>
              <a:t>A greater emphasis on solving specific sub-problems</a:t>
            </a:r>
          </a:p>
        </p:txBody>
      </p:sp>
    </p:spTree>
    <p:extLst>
      <p:ext uri="{BB962C8B-B14F-4D97-AF65-F5344CB8AC3E}">
        <p14:creationId xmlns:p14="http://schemas.microsoft.com/office/powerpoint/2010/main" val="8406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9"/>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9"/>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9"/>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Branches of AI technologies</a:t>
            </a:r>
          </a:p>
        </p:txBody>
      </p:sp>
      <p:pic>
        <p:nvPicPr>
          <p:cNvPr id="12292" name="Picture 4" descr="https://diroots.com/wp-content/uploads/2020/07/AI-Branch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033595"/>
            <a:ext cx="5334000" cy="5214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323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Branches of AI technologies by application</a:t>
            </a:r>
          </a:p>
        </p:txBody>
      </p:sp>
      <p:sp>
        <p:nvSpPr>
          <p:cNvPr id="3" name="Content Placeholder 2"/>
          <p:cNvSpPr>
            <a:spLocks noGrp="1"/>
          </p:cNvSpPr>
          <p:nvPr>
            <p:ph idx="1"/>
          </p:nvPr>
        </p:nvSpPr>
        <p:spPr/>
        <p:txBody>
          <a:bodyPr/>
          <a:lstStyle/>
          <a:p>
            <a:endParaRPr lang="en-GB"/>
          </a:p>
        </p:txBody>
      </p:sp>
      <p:pic>
        <p:nvPicPr>
          <p:cNvPr id="13314" name="Picture 2" descr="Artificial Intelligence (AI): Branches by Application Mind Map">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
            <a:ext cx="6324600" cy="675582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DC9B244A-07C3-493C-B838-175A7E9C569C}"/>
              </a:ext>
            </a:extLst>
          </p:cNvPr>
          <p:cNvSpPr/>
          <p:nvPr/>
        </p:nvSpPr>
        <p:spPr>
          <a:xfrm>
            <a:off x="1524000" y="228599"/>
            <a:ext cx="2590800" cy="2988253"/>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D0FC06F7-09BC-4253-82A9-186F548B5C8F}"/>
              </a:ext>
            </a:extLst>
          </p:cNvPr>
          <p:cNvSpPr/>
          <p:nvPr/>
        </p:nvSpPr>
        <p:spPr>
          <a:xfrm>
            <a:off x="5410200" y="1676400"/>
            <a:ext cx="2438400" cy="2681395"/>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13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28B8-0DE3-4F53-A439-6B9CC2B3494F}"/>
              </a:ext>
            </a:extLst>
          </p:cNvPr>
          <p:cNvSpPr>
            <a:spLocks noGrp="1"/>
          </p:cNvSpPr>
          <p:nvPr>
            <p:ph type="title"/>
          </p:nvPr>
        </p:nvSpPr>
        <p:spPr/>
        <p:txBody>
          <a:bodyPr/>
          <a:lstStyle/>
          <a:p>
            <a:r>
              <a:rPr lang="en-GB" dirty="0"/>
              <a:t>Intelligent level</a:t>
            </a:r>
          </a:p>
        </p:txBody>
      </p:sp>
      <p:cxnSp>
        <p:nvCxnSpPr>
          <p:cNvPr id="5" name="Straight Arrow Connector 4">
            <a:extLst>
              <a:ext uri="{FF2B5EF4-FFF2-40B4-BE49-F238E27FC236}">
                <a16:creationId xmlns:a16="http://schemas.microsoft.com/office/drawing/2014/main" id="{7BB8D248-8597-4B00-B5C8-C141050DF4D2}"/>
              </a:ext>
            </a:extLst>
          </p:cNvPr>
          <p:cNvCxnSpPr>
            <a:cxnSpLocks/>
          </p:cNvCxnSpPr>
          <p:nvPr/>
        </p:nvCxnSpPr>
        <p:spPr>
          <a:xfrm>
            <a:off x="685800" y="3200400"/>
            <a:ext cx="72390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C4A4522-A1D7-4671-956A-D06C91DA4FE1}"/>
              </a:ext>
            </a:extLst>
          </p:cNvPr>
          <p:cNvSpPr txBox="1"/>
          <p:nvPr/>
        </p:nvSpPr>
        <p:spPr>
          <a:xfrm>
            <a:off x="152400" y="3259017"/>
            <a:ext cx="2377574" cy="369332"/>
          </a:xfrm>
          <a:prstGeom prst="rect">
            <a:avLst/>
          </a:prstGeom>
          <a:noFill/>
        </p:spPr>
        <p:txBody>
          <a:bodyPr wrap="none" rtlCol="0">
            <a:spAutoFit/>
          </a:bodyPr>
          <a:lstStyle/>
          <a:p>
            <a:r>
              <a:rPr lang="en-GB" dirty="0"/>
              <a:t>Low-level intelligence</a:t>
            </a:r>
          </a:p>
        </p:txBody>
      </p:sp>
      <p:sp>
        <p:nvSpPr>
          <p:cNvPr id="9" name="TextBox 8">
            <a:extLst>
              <a:ext uri="{FF2B5EF4-FFF2-40B4-BE49-F238E27FC236}">
                <a16:creationId xmlns:a16="http://schemas.microsoft.com/office/drawing/2014/main" id="{73BE7D8C-1135-4699-9A93-F5B3F3A78B9D}"/>
              </a:ext>
            </a:extLst>
          </p:cNvPr>
          <p:cNvSpPr txBox="1"/>
          <p:nvPr/>
        </p:nvSpPr>
        <p:spPr>
          <a:xfrm>
            <a:off x="6248400" y="3259017"/>
            <a:ext cx="2428870" cy="369332"/>
          </a:xfrm>
          <a:prstGeom prst="rect">
            <a:avLst/>
          </a:prstGeom>
          <a:noFill/>
        </p:spPr>
        <p:txBody>
          <a:bodyPr wrap="none" rtlCol="0">
            <a:spAutoFit/>
          </a:bodyPr>
          <a:lstStyle/>
          <a:p>
            <a:r>
              <a:rPr lang="en-GB" dirty="0"/>
              <a:t>High-level intelligence</a:t>
            </a:r>
          </a:p>
        </p:txBody>
      </p:sp>
      <p:sp>
        <p:nvSpPr>
          <p:cNvPr id="10" name="TextBox 9">
            <a:extLst>
              <a:ext uri="{FF2B5EF4-FFF2-40B4-BE49-F238E27FC236}">
                <a16:creationId xmlns:a16="http://schemas.microsoft.com/office/drawing/2014/main" id="{95993816-8257-4D33-BEB9-1C09AD67EA28}"/>
              </a:ext>
            </a:extLst>
          </p:cNvPr>
          <p:cNvSpPr txBox="1"/>
          <p:nvPr/>
        </p:nvSpPr>
        <p:spPr>
          <a:xfrm>
            <a:off x="520929" y="2598003"/>
            <a:ext cx="1837234" cy="615553"/>
          </a:xfrm>
          <a:prstGeom prst="rect">
            <a:avLst/>
          </a:prstGeom>
          <a:noFill/>
        </p:spPr>
        <p:txBody>
          <a:bodyPr wrap="none" rtlCol="0">
            <a:spAutoFit/>
          </a:bodyPr>
          <a:lstStyle/>
          <a:p>
            <a:r>
              <a:rPr lang="en-GB" dirty="0">
                <a:solidFill>
                  <a:schemeClr val="accent4"/>
                </a:solidFill>
              </a:rPr>
              <a:t>Data reflection</a:t>
            </a:r>
          </a:p>
          <a:p>
            <a:r>
              <a:rPr lang="en-GB" sz="1600" dirty="0"/>
              <a:t>e.g. Decision Tree</a:t>
            </a:r>
          </a:p>
        </p:txBody>
      </p:sp>
      <p:sp>
        <p:nvSpPr>
          <p:cNvPr id="11" name="TextBox 10">
            <a:extLst>
              <a:ext uri="{FF2B5EF4-FFF2-40B4-BE49-F238E27FC236}">
                <a16:creationId xmlns:a16="http://schemas.microsoft.com/office/drawing/2014/main" id="{C8F24C7E-3B12-4348-A789-DBF755D3DCE8}"/>
              </a:ext>
            </a:extLst>
          </p:cNvPr>
          <p:cNvSpPr txBox="1"/>
          <p:nvPr/>
        </p:nvSpPr>
        <p:spPr>
          <a:xfrm>
            <a:off x="2388888" y="2282180"/>
            <a:ext cx="1904689" cy="861774"/>
          </a:xfrm>
          <a:prstGeom prst="rect">
            <a:avLst/>
          </a:prstGeom>
          <a:noFill/>
        </p:spPr>
        <p:txBody>
          <a:bodyPr wrap="none" rtlCol="0">
            <a:spAutoFit/>
          </a:bodyPr>
          <a:lstStyle/>
          <a:p>
            <a:r>
              <a:rPr lang="en-GB" dirty="0">
                <a:solidFill>
                  <a:srgbClr val="0070C0"/>
                </a:solidFill>
              </a:rPr>
              <a:t>Probability</a:t>
            </a:r>
          </a:p>
          <a:p>
            <a:r>
              <a:rPr lang="en-GB" sz="1600" dirty="0"/>
              <a:t>e.g. Markov Chain</a:t>
            </a:r>
          </a:p>
          <a:p>
            <a:r>
              <a:rPr lang="en-GB" sz="1600" dirty="0"/>
              <a:t>Bayesian networks</a:t>
            </a:r>
          </a:p>
        </p:txBody>
      </p:sp>
      <p:sp>
        <p:nvSpPr>
          <p:cNvPr id="12" name="TextBox 11">
            <a:extLst>
              <a:ext uri="{FF2B5EF4-FFF2-40B4-BE49-F238E27FC236}">
                <a16:creationId xmlns:a16="http://schemas.microsoft.com/office/drawing/2014/main" id="{24A6421E-03DF-40AE-91F2-E8E8594E9E15}"/>
              </a:ext>
            </a:extLst>
          </p:cNvPr>
          <p:cNvSpPr txBox="1"/>
          <p:nvPr/>
        </p:nvSpPr>
        <p:spPr>
          <a:xfrm>
            <a:off x="4336025" y="2066736"/>
            <a:ext cx="2646878" cy="861774"/>
          </a:xfrm>
          <a:prstGeom prst="rect">
            <a:avLst/>
          </a:prstGeom>
          <a:noFill/>
        </p:spPr>
        <p:txBody>
          <a:bodyPr wrap="none" rtlCol="0">
            <a:spAutoFit/>
          </a:bodyPr>
          <a:lstStyle/>
          <a:p>
            <a:r>
              <a:rPr lang="en-GB" dirty="0">
                <a:solidFill>
                  <a:srgbClr val="00B050"/>
                </a:solidFill>
              </a:rPr>
              <a:t>Feature learning</a:t>
            </a:r>
          </a:p>
          <a:p>
            <a:r>
              <a:rPr lang="en-GB" sz="1600" dirty="0"/>
              <a:t>e.g. Deep Neural Networks</a:t>
            </a:r>
          </a:p>
          <a:p>
            <a:r>
              <a:rPr lang="en-GB" sz="1600" dirty="0"/>
              <a:t>Reinforcement learning</a:t>
            </a:r>
          </a:p>
        </p:txBody>
      </p:sp>
      <p:sp>
        <p:nvSpPr>
          <p:cNvPr id="13" name="TextBox 12">
            <a:extLst>
              <a:ext uri="{FF2B5EF4-FFF2-40B4-BE49-F238E27FC236}">
                <a16:creationId xmlns:a16="http://schemas.microsoft.com/office/drawing/2014/main" id="{6D4FFC7E-1075-4B87-96C8-C1CDB94ABDD3}"/>
              </a:ext>
            </a:extLst>
          </p:cNvPr>
          <p:cNvSpPr txBox="1"/>
          <p:nvPr/>
        </p:nvSpPr>
        <p:spPr>
          <a:xfrm>
            <a:off x="6479232" y="1780347"/>
            <a:ext cx="2198038" cy="369332"/>
          </a:xfrm>
          <a:prstGeom prst="rect">
            <a:avLst/>
          </a:prstGeom>
          <a:noFill/>
        </p:spPr>
        <p:txBody>
          <a:bodyPr wrap="none" rtlCol="0">
            <a:spAutoFit/>
          </a:bodyPr>
          <a:lstStyle/>
          <a:p>
            <a:r>
              <a:rPr lang="en-GB" dirty="0">
                <a:solidFill>
                  <a:srgbClr val="FF0000"/>
                </a:solidFill>
              </a:rPr>
              <a:t>Logic and inference</a:t>
            </a:r>
          </a:p>
        </p:txBody>
      </p:sp>
      <p:sp>
        <p:nvSpPr>
          <p:cNvPr id="17" name="TextBox 16">
            <a:extLst>
              <a:ext uri="{FF2B5EF4-FFF2-40B4-BE49-F238E27FC236}">
                <a16:creationId xmlns:a16="http://schemas.microsoft.com/office/drawing/2014/main" id="{95B21583-DBA3-42F6-8E40-7E7C299D87E6}"/>
              </a:ext>
            </a:extLst>
          </p:cNvPr>
          <p:cNvSpPr txBox="1"/>
          <p:nvPr/>
        </p:nvSpPr>
        <p:spPr>
          <a:xfrm>
            <a:off x="256091" y="4099546"/>
            <a:ext cx="1377300" cy="369332"/>
          </a:xfrm>
          <a:prstGeom prst="rect">
            <a:avLst/>
          </a:prstGeom>
          <a:noFill/>
        </p:spPr>
        <p:txBody>
          <a:bodyPr wrap="none" rtlCol="0">
            <a:spAutoFit/>
          </a:bodyPr>
          <a:lstStyle/>
          <a:p>
            <a:r>
              <a:rPr lang="en-GB" dirty="0">
                <a:solidFill>
                  <a:srgbClr val="92D050"/>
                </a:solidFill>
              </a:rPr>
              <a:t>Explainable</a:t>
            </a:r>
          </a:p>
        </p:txBody>
      </p:sp>
      <p:cxnSp>
        <p:nvCxnSpPr>
          <p:cNvPr id="19" name="Straight Arrow Connector 18">
            <a:extLst>
              <a:ext uri="{FF2B5EF4-FFF2-40B4-BE49-F238E27FC236}">
                <a16:creationId xmlns:a16="http://schemas.microsoft.com/office/drawing/2014/main" id="{8E3622D6-B2F1-41EE-9337-6B62130631BD}"/>
              </a:ext>
            </a:extLst>
          </p:cNvPr>
          <p:cNvCxnSpPr>
            <a:stCxn id="17" idx="3"/>
          </p:cNvCxnSpPr>
          <p:nvPr/>
        </p:nvCxnSpPr>
        <p:spPr>
          <a:xfrm>
            <a:off x="1633391" y="4284212"/>
            <a:ext cx="1061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4FD171B-2801-4276-9BA6-9CFBCFD89D50}"/>
              </a:ext>
            </a:extLst>
          </p:cNvPr>
          <p:cNvSpPr txBox="1"/>
          <p:nvPr/>
        </p:nvSpPr>
        <p:spPr>
          <a:xfrm>
            <a:off x="2764829" y="4099546"/>
            <a:ext cx="1415772" cy="369332"/>
          </a:xfrm>
          <a:prstGeom prst="rect">
            <a:avLst/>
          </a:prstGeom>
          <a:noFill/>
        </p:spPr>
        <p:txBody>
          <a:bodyPr wrap="none" rtlCol="0">
            <a:spAutoFit/>
          </a:bodyPr>
          <a:lstStyle/>
          <a:p>
            <a:r>
              <a:rPr lang="en-GB" dirty="0">
                <a:solidFill>
                  <a:srgbClr val="FFC000"/>
                </a:solidFill>
              </a:rPr>
              <a:t>Controllable</a:t>
            </a:r>
          </a:p>
        </p:txBody>
      </p:sp>
      <p:cxnSp>
        <p:nvCxnSpPr>
          <p:cNvPr id="22" name="Straight Arrow Connector 21">
            <a:extLst>
              <a:ext uri="{FF2B5EF4-FFF2-40B4-BE49-F238E27FC236}">
                <a16:creationId xmlns:a16="http://schemas.microsoft.com/office/drawing/2014/main" id="{99B1A6F1-7ACD-4417-B665-5826AC77D02B}"/>
              </a:ext>
            </a:extLst>
          </p:cNvPr>
          <p:cNvCxnSpPr>
            <a:cxnSpLocks/>
            <a:stCxn id="20" idx="3"/>
          </p:cNvCxnSpPr>
          <p:nvPr/>
        </p:nvCxnSpPr>
        <p:spPr>
          <a:xfrm>
            <a:off x="4180601" y="4284212"/>
            <a:ext cx="1077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BCD3027-798B-4A44-9358-28BE83259C63}"/>
              </a:ext>
            </a:extLst>
          </p:cNvPr>
          <p:cNvSpPr txBox="1"/>
          <p:nvPr/>
        </p:nvSpPr>
        <p:spPr>
          <a:xfrm>
            <a:off x="5210908" y="4099546"/>
            <a:ext cx="1146468" cy="369332"/>
          </a:xfrm>
          <a:prstGeom prst="rect">
            <a:avLst/>
          </a:prstGeom>
          <a:noFill/>
        </p:spPr>
        <p:txBody>
          <a:bodyPr wrap="none" rtlCol="0">
            <a:spAutoFit/>
          </a:bodyPr>
          <a:lstStyle/>
          <a:p>
            <a:r>
              <a:rPr lang="en-GB" dirty="0">
                <a:solidFill>
                  <a:srgbClr val="FF0000"/>
                </a:solidFill>
              </a:rPr>
              <a:t>Unknown</a:t>
            </a:r>
          </a:p>
        </p:txBody>
      </p:sp>
      <p:sp>
        <p:nvSpPr>
          <p:cNvPr id="27" name="Rectangle: Rounded Corners 26">
            <a:extLst>
              <a:ext uri="{FF2B5EF4-FFF2-40B4-BE49-F238E27FC236}">
                <a16:creationId xmlns:a16="http://schemas.microsoft.com/office/drawing/2014/main" id="{86A1E4E6-0BE8-4E3F-BCBE-7B8FA1737B18}"/>
              </a:ext>
            </a:extLst>
          </p:cNvPr>
          <p:cNvSpPr/>
          <p:nvPr/>
        </p:nvSpPr>
        <p:spPr>
          <a:xfrm>
            <a:off x="7396076" y="3852573"/>
            <a:ext cx="1671724" cy="83819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497E5077-90AB-423A-98CA-1246252F5869}"/>
              </a:ext>
            </a:extLst>
          </p:cNvPr>
          <p:cNvSpPr/>
          <p:nvPr/>
        </p:nvSpPr>
        <p:spPr>
          <a:xfrm>
            <a:off x="6506124" y="1780347"/>
            <a:ext cx="2561676" cy="45789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row: Right 30">
            <a:extLst>
              <a:ext uri="{FF2B5EF4-FFF2-40B4-BE49-F238E27FC236}">
                <a16:creationId xmlns:a16="http://schemas.microsoft.com/office/drawing/2014/main" id="{223C0BCE-17E3-4EAD-B61A-0484B550B5DC}"/>
              </a:ext>
            </a:extLst>
          </p:cNvPr>
          <p:cNvSpPr/>
          <p:nvPr/>
        </p:nvSpPr>
        <p:spPr>
          <a:xfrm rot="16200000">
            <a:off x="7612281" y="5065914"/>
            <a:ext cx="1111536" cy="4278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demo</a:t>
            </a:r>
          </a:p>
        </p:txBody>
      </p:sp>
      <p:cxnSp>
        <p:nvCxnSpPr>
          <p:cNvPr id="33" name="Straight Arrow Connector 32">
            <a:extLst>
              <a:ext uri="{FF2B5EF4-FFF2-40B4-BE49-F238E27FC236}">
                <a16:creationId xmlns:a16="http://schemas.microsoft.com/office/drawing/2014/main" id="{AD1BF13B-EBE2-4055-AD9C-B3E304C608A7}"/>
              </a:ext>
            </a:extLst>
          </p:cNvPr>
          <p:cNvCxnSpPr>
            <a:cxnSpLocks/>
            <a:stCxn id="23" idx="3"/>
          </p:cNvCxnSpPr>
          <p:nvPr/>
        </p:nvCxnSpPr>
        <p:spPr>
          <a:xfrm>
            <a:off x="6357376" y="4284212"/>
            <a:ext cx="10303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6D89C3F-1F75-4493-A332-79F96370D3BA}"/>
              </a:ext>
            </a:extLst>
          </p:cNvPr>
          <p:cNvSpPr txBox="1"/>
          <p:nvPr/>
        </p:nvSpPr>
        <p:spPr>
          <a:xfrm>
            <a:off x="7317859" y="4087007"/>
            <a:ext cx="1826141" cy="369332"/>
          </a:xfrm>
          <a:prstGeom prst="rect">
            <a:avLst/>
          </a:prstGeom>
          <a:noFill/>
        </p:spPr>
        <p:txBody>
          <a:bodyPr wrap="none" rtlCol="0">
            <a:spAutoFit/>
          </a:bodyPr>
          <a:lstStyle/>
          <a:p>
            <a:r>
              <a:rPr lang="en-GB" dirty="0">
                <a:solidFill>
                  <a:srgbClr val="00B050"/>
                </a:solidFill>
              </a:rPr>
              <a:t>Self-explainable</a:t>
            </a:r>
          </a:p>
        </p:txBody>
      </p:sp>
    </p:spTree>
    <p:extLst>
      <p:ext uri="{BB962C8B-B14F-4D97-AF65-F5344CB8AC3E}">
        <p14:creationId xmlns:p14="http://schemas.microsoft.com/office/powerpoint/2010/main" val="150800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75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75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P spid="27" grpId="0" animBg="1"/>
      <p:bldP spid="28" grpId="0" animBg="1"/>
      <p:bldP spid="31" grpId="0" animBg="1"/>
      <p:bldP spid="3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813" y="25400"/>
            <a:ext cx="6705457" cy="595996"/>
          </a:xfrm>
        </p:spPr>
        <p:txBody>
          <a:bodyPr/>
          <a:lstStyle/>
          <a:p>
            <a:r>
              <a:rPr lang="en-GB" dirty="0"/>
              <a:t>Module topics (Teaching Weeks)</a:t>
            </a:r>
          </a:p>
        </p:txBody>
      </p:sp>
      <p:graphicFrame>
        <p:nvGraphicFramePr>
          <p:cNvPr id="11" name="Content Placeholder 3">
            <a:extLst>
              <a:ext uri="{FF2B5EF4-FFF2-40B4-BE49-F238E27FC236}">
                <a16:creationId xmlns:a16="http://schemas.microsoft.com/office/drawing/2014/main" id="{8EC94561-73C9-4F8B-A150-10F1B50C698E}"/>
              </a:ext>
            </a:extLst>
          </p:cNvPr>
          <p:cNvGraphicFramePr>
            <a:graphicFrameLocks/>
          </p:cNvGraphicFramePr>
          <p:nvPr>
            <p:extLst>
              <p:ext uri="{D42A27DB-BD31-4B8C-83A1-F6EECF244321}">
                <p14:modId xmlns:p14="http://schemas.microsoft.com/office/powerpoint/2010/main" val="2117972089"/>
              </p:ext>
            </p:extLst>
          </p:nvPr>
        </p:nvGraphicFramePr>
        <p:xfrm>
          <a:off x="1440069" y="685800"/>
          <a:ext cx="6401118" cy="6064287"/>
        </p:xfrm>
        <a:graphic>
          <a:graphicData uri="http://schemas.openxmlformats.org/drawingml/2006/table">
            <a:tbl>
              <a:tblPr firstRow="1" firstCol="1" bandRow="1">
                <a:tableStyleId>{5C22544A-7EE6-4342-B048-85BDC9FD1C3A}</a:tableStyleId>
              </a:tblPr>
              <a:tblGrid>
                <a:gridCol w="1059180">
                  <a:extLst>
                    <a:ext uri="{9D8B030D-6E8A-4147-A177-3AD203B41FA5}">
                      <a16:colId xmlns:a16="http://schemas.microsoft.com/office/drawing/2014/main" val="20000"/>
                    </a:ext>
                  </a:extLst>
                </a:gridCol>
                <a:gridCol w="2430145">
                  <a:extLst>
                    <a:ext uri="{9D8B030D-6E8A-4147-A177-3AD203B41FA5}">
                      <a16:colId xmlns:a16="http://schemas.microsoft.com/office/drawing/2014/main" val="20001"/>
                    </a:ext>
                  </a:extLst>
                </a:gridCol>
                <a:gridCol w="2911793">
                  <a:extLst>
                    <a:ext uri="{9D8B030D-6E8A-4147-A177-3AD203B41FA5}">
                      <a16:colId xmlns:a16="http://schemas.microsoft.com/office/drawing/2014/main" val="20002"/>
                    </a:ext>
                  </a:extLst>
                </a:gridCol>
              </a:tblGrid>
              <a:tr h="440461">
                <a:tc>
                  <a:txBody>
                    <a:bodyPr/>
                    <a:lstStyle/>
                    <a:p>
                      <a:pPr algn="ctr">
                        <a:lnSpc>
                          <a:spcPct val="107000"/>
                        </a:lnSpc>
                        <a:spcAft>
                          <a:spcPts val="0"/>
                        </a:spcAft>
                      </a:pPr>
                      <a:r>
                        <a:rPr lang="en-GB" sz="1100" dirty="0">
                          <a:effectLst/>
                        </a:rPr>
                        <a:t>Weeks</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Theory</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Practical</a:t>
                      </a: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30586">
                <a:tc>
                  <a:txBody>
                    <a:bodyPr/>
                    <a:lstStyle/>
                    <a:p>
                      <a:pPr algn="ctr">
                        <a:lnSpc>
                          <a:spcPct val="107000"/>
                        </a:lnSpc>
                        <a:spcAft>
                          <a:spcPts val="0"/>
                        </a:spcAft>
                      </a:pPr>
                      <a:r>
                        <a:rPr lang="en-GB" sz="1100">
                          <a:effectLst/>
                        </a:rPr>
                        <a:t>1</a:t>
                      </a:r>
                      <a:endParaRPr lang="en-GB" sz="110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AI history, branches, application scenarios and relations to Data Mining and Machine Learning</a:t>
                      </a:r>
                      <a:endParaRPr lang="en-GB" sz="1100" dirty="0">
                        <a:effectLst/>
                        <a:latin typeface="Calibri"/>
                        <a:ea typeface="Calibri"/>
                        <a:cs typeface="Times New Roman"/>
                      </a:endParaRPr>
                    </a:p>
                  </a:txBody>
                  <a:tcPr marL="68580" marR="68580" marT="0" marB="0"/>
                </a:tc>
                <a:tc>
                  <a:txBody>
                    <a:bodyPr/>
                    <a:lstStyle/>
                    <a:p>
                      <a:pPr algn="ctr"/>
                      <a:r>
                        <a:rPr lang="en-GB" sz="1200" dirty="0">
                          <a:effectLst/>
                        </a:rPr>
                        <a:t>Python basics</a:t>
                      </a:r>
                      <a:endParaRPr lang="en-GB" sz="1200" dirty="0"/>
                    </a:p>
                  </a:txBody>
                  <a:tcPr marL="68580" marR="68580" marT="0" marB="0"/>
                </a:tc>
                <a:extLst>
                  <a:ext uri="{0D108BD9-81ED-4DB2-BD59-A6C34878D82A}">
                    <a16:rowId xmlns:a16="http://schemas.microsoft.com/office/drawing/2014/main" val="10001"/>
                  </a:ext>
                </a:extLst>
              </a:tr>
              <a:tr h="121876">
                <a:tc>
                  <a:txBody>
                    <a:bodyPr/>
                    <a:lstStyle/>
                    <a:p>
                      <a:pPr algn="ctr">
                        <a:lnSpc>
                          <a:spcPct val="107000"/>
                        </a:lnSpc>
                        <a:spcAft>
                          <a:spcPts val="0"/>
                        </a:spcAft>
                      </a:pPr>
                      <a:r>
                        <a:rPr lang="en-GB" sz="1100">
                          <a:effectLst/>
                        </a:rPr>
                        <a:t>2</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Data Pre-processing and EDA</a:t>
                      </a: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Data Pre-processing</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03874">
                <a:tc>
                  <a:txBody>
                    <a:bodyPr/>
                    <a:lstStyle/>
                    <a:p>
                      <a:pPr algn="ctr">
                        <a:lnSpc>
                          <a:spcPct val="107000"/>
                        </a:lnSpc>
                        <a:spcAft>
                          <a:spcPts val="0"/>
                        </a:spcAft>
                      </a:pPr>
                      <a:r>
                        <a:rPr lang="en-GB" sz="1100">
                          <a:effectLst/>
                        </a:rPr>
                        <a:t>3</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Mining Frequent Pattern and Association Rules</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kern="1200" dirty="0">
                          <a:solidFill>
                            <a:schemeClr val="dk1"/>
                          </a:solidFill>
                          <a:effectLst/>
                          <a:latin typeface="+mn-lt"/>
                          <a:ea typeface="+mn-ea"/>
                          <a:cs typeface="+mn-cs"/>
                        </a:rPr>
                        <a:t>Python - EDA</a:t>
                      </a: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65883">
                <a:tc>
                  <a:txBody>
                    <a:bodyPr/>
                    <a:lstStyle/>
                    <a:p>
                      <a:pPr algn="ctr">
                        <a:lnSpc>
                          <a:spcPct val="107000"/>
                        </a:lnSpc>
                        <a:spcAft>
                          <a:spcPts val="0"/>
                        </a:spcAft>
                      </a:pPr>
                      <a:r>
                        <a:rPr lang="en-GB" sz="1100" dirty="0">
                          <a:effectLst/>
                        </a:rPr>
                        <a:t>4</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Classification and Decision Tree</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ARL</a:t>
                      </a: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4"/>
                  </a:ext>
                </a:extLst>
              </a:tr>
              <a:tr h="374546">
                <a:tc>
                  <a:txBody>
                    <a:bodyPr/>
                    <a:lstStyle/>
                    <a:p>
                      <a:pPr algn="ctr">
                        <a:lnSpc>
                          <a:spcPct val="107000"/>
                        </a:lnSpc>
                        <a:spcAft>
                          <a:spcPts val="0"/>
                        </a:spcAft>
                      </a:pPr>
                      <a:r>
                        <a:rPr lang="en-GB" sz="1100" dirty="0">
                          <a:effectLst/>
                        </a:rPr>
                        <a:t>5</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Random FR and KNN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DT</a:t>
                      </a:r>
                      <a:endParaRPr lang="en-GB" sz="1100" dirty="0">
                        <a:effectLst/>
                        <a:latin typeface="Calibri"/>
                        <a:ea typeface="Calibri"/>
                        <a:cs typeface="Times New Roman"/>
                      </a:endParaRP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5"/>
                  </a:ext>
                </a:extLst>
              </a:tr>
              <a:tr h="399553">
                <a:tc>
                  <a:txBody>
                    <a:bodyPr/>
                    <a:lstStyle/>
                    <a:p>
                      <a:pPr algn="ctr">
                        <a:lnSpc>
                          <a:spcPct val="107000"/>
                        </a:lnSpc>
                        <a:spcAft>
                          <a:spcPts val="0"/>
                        </a:spcAft>
                      </a:pPr>
                      <a:r>
                        <a:rPr lang="en-GB" sz="1100" dirty="0">
                          <a:effectLst/>
                          <a:latin typeface="Calibri"/>
                          <a:ea typeface="Calibri"/>
                          <a:cs typeface="Times New Roman"/>
                        </a:rPr>
                        <a:t>7</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Linear Regression &amp; Logistic Regression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KNN</a:t>
                      </a:r>
                    </a:p>
                  </a:txBody>
                  <a:tcPr marL="68580" marR="68580" marT="0" marB="0"/>
                </a:tc>
                <a:extLst>
                  <a:ext uri="{0D108BD9-81ED-4DB2-BD59-A6C34878D82A}">
                    <a16:rowId xmlns:a16="http://schemas.microsoft.com/office/drawing/2014/main" val="1911118174"/>
                  </a:ext>
                </a:extLst>
              </a:tr>
              <a:tr h="399553">
                <a:tc>
                  <a:txBody>
                    <a:bodyPr/>
                    <a:lstStyle/>
                    <a:p>
                      <a:pPr algn="ctr">
                        <a:lnSpc>
                          <a:spcPct val="107000"/>
                        </a:lnSpc>
                        <a:spcAft>
                          <a:spcPts val="0"/>
                        </a:spcAft>
                      </a:pPr>
                      <a:r>
                        <a:rPr lang="en-GB" sz="1100" dirty="0">
                          <a:effectLst/>
                          <a:latin typeface="Calibri"/>
                          <a:ea typeface="Calibri"/>
                          <a:cs typeface="Times New Roman"/>
                        </a:rPr>
                        <a:t>8</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Cluster Analysis with Unsupervised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LR</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65465">
                <a:tc>
                  <a:txBody>
                    <a:bodyPr/>
                    <a:lstStyle/>
                    <a:p>
                      <a:pPr algn="ctr">
                        <a:lnSpc>
                          <a:spcPct val="107000"/>
                        </a:lnSpc>
                        <a:spcAft>
                          <a:spcPts val="0"/>
                        </a:spcAft>
                      </a:pPr>
                      <a:r>
                        <a:rPr lang="en-GB" sz="1100" dirty="0">
                          <a:effectLst/>
                          <a:latin typeface="Calibri"/>
                          <a:ea typeface="Calibri"/>
                          <a:cs typeface="Times New Roman"/>
                        </a:rPr>
                        <a:t>9</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Artificial Neural Network &amp; Deep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K-Means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7"/>
                  </a:ext>
                </a:extLst>
              </a:tr>
              <a:tr h="393848">
                <a:tc>
                  <a:txBody>
                    <a:bodyPr/>
                    <a:lstStyle/>
                    <a:p>
                      <a:pPr algn="ctr">
                        <a:lnSpc>
                          <a:spcPct val="107000"/>
                        </a:lnSpc>
                        <a:spcAft>
                          <a:spcPts val="0"/>
                        </a:spcAft>
                      </a:pPr>
                      <a:r>
                        <a:rPr lang="en-GB" sz="1100" dirty="0">
                          <a:effectLst/>
                          <a:latin typeface="Calibri"/>
                          <a:ea typeface="Calibri"/>
                          <a:cs typeface="Times New Roman"/>
                        </a:rPr>
                        <a:t>10</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Natural Language Processing (NLP)</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ANN and DL</a:t>
                      </a:r>
                      <a:endParaRPr lang="en-GB" sz="1100" dirty="0">
                        <a:effectLst/>
                        <a:latin typeface="Calibri"/>
                        <a:ea typeface="Calibri"/>
                        <a:cs typeface="Times New Roman"/>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12276">
                <a:tc>
                  <a:txBody>
                    <a:bodyPr/>
                    <a:lstStyle/>
                    <a:p>
                      <a:pPr algn="ctr">
                        <a:lnSpc>
                          <a:spcPct val="107000"/>
                        </a:lnSpc>
                        <a:spcAft>
                          <a:spcPts val="0"/>
                        </a:spcAft>
                      </a:pPr>
                      <a:r>
                        <a:rPr lang="en-GB" sz="1100" dirty="0">
                          <a:effectLst/>
                          <a:latin typeface="Calibri"/>
                          <a:ea typeface="Calibri"/>
                          <a:cs typeface="Times New Roman"/>
                        </a:rPr>
                        <a:t>11</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Reinforcement Learning &amp; Naïve Bayes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NLP</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65883">
                <a:tc>
                  <a:txBody>
                    <a:bodyPr/>
                    <a:lstStyle/>
                    <a:p>
                      <a:pPr algn="ctr">
                        <a:lnSpc>
                          <a:spcPct val="107000"/>
                        </a:lnSpc>
                        <a:spcAft>
                          <a:spcPts val="0"/>
                        </a:spcAft>
                      </a:pPr>
                      <a:r>
                        <a:rPr lang="en-GB" sz="1100" dirty="0">
                          <a:effectLst/>
                        </a:rPr>
                        <a:t>12</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Knowledge presentation and reasoning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RL and NB </a:t>
                      </a:r>
                      <a:r>
                        <a:rPr lang="en-GB" sz="1100" dirty="0">
                          <a:effectLst/>
                          <a:latin typeface="Calibri"/>
                          <a:ea typeface="Calibri"/>
                          <a:cs typeface="Times New Roman"/>
                        </a:rPr>
                        <a:t> </a:t>
                      </a:r>
                    </a:p>
                  </a:txBody>
                  <a:tcPr marL="68580" marR="68580" marT="0" marB="0"/>
                </a:tc>
                <a:extLst>
                  <a:ext uri="{0D108BD9-81ED-4DB2-BD59-A6C34878D82A}">
                    <a16:rowId xmlns:a16="http://schemas.microsoft.com/office/drawing/2014/main" val="10011"/>
                  </a:ext>
                </a:extLst>
              </a:tr>
              <a:tr h="264058">
                <a:tc>
                  <a:txBody>
                    <a:bodyPr/>
                    <a:lstStyle/>
                    <a:p>
                      <a:pPr algn="ctr">
                        <a:lnSpc>
                          <a:spcPct val="107000"/>
                        </a:lnSpc>
                        <a:spcAft>
                          <a:spcPts val="0"/>
                        </a:spcAft>
                      </a:pPr>
                      <a:r>
                        <a:rPr lang="en-GB" sz="1100" dirty="0">
                          <a:effectLst/>
                        </a:rPr>
                        <a:t>13</a:t>
                      </a:r>
                      <a:endParaRPr lang="en-GB" sz="1100" dirty="0">
                        <a:effectLst/>
                        <a:latin typeface="Calibri"/>
                        <a:ea typeface="Calibri"/>
                        <a:cs typeface="Times New Roman"/>
                      </a:endParaRP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latin typeface="Calibri"/>
                          <a:ea typeface="Calibri"/>
                          <a:cs typeface="Times New Roman"/>
                        </a:rPr>
                        <a:t>Review</a:t>
                      </a:r>
                    </a:p>
                  </a:txBody>
                  <a:tcPr marL="68580" marR="68580" marT="0" marB="0"/>
                </a:tc>
                <a:tc hMerge="1">
                  <a:txBody>
                    <a:bodyPr/>
                    <a:lstStyle/>
                    <a:p>
                      <a:endParaRPr lang="en-GB"/>
                    </a:p>
                  </a:txBody>
                  <a:tcPr/>
                </a:tc>
                <a:extLst>
                  <a:ext uri="{0D108BD9-81ED-4DB2-BD59-A6C34878D82A}">
                    <a16:rowId xmlns:a16="http://schemas.microsoft.com/office/drawing/2014/main" val="10012"/>
                  </a:ext>
                </a:extLst>
              </a:tr>
              <a:tr h="365883">
                <a:tc>
                  <a:txBody>
                    <a:bodyPr/>
                    <a:lstStyle/>
                    <a:p>
                      <a:pPr algn="ctr">
                        <a:lnSpc>
                          <a:spcPct val="107000"/>
                        </a:lnSpc>
                        <a:spcAft>
                          <a:spcPts val="0"/>
                        </a:spcAft>
                      </a:pPr>
                      <a:r>
                        <a:rPr lang="en-GB" sz="1100" dirty="0">
                          <a:effectLst/>
                          <a:latin typeface="Calibri"/>
                          <a:ea typeface="Calibri"/>
                          <a:cs typeface="Times New Roman"/>
                        </a:rPr>
                        <a:t>14 -15</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dirty="0">
                          <a:effectLst/>
                          <a:latin typeface="Calibri"/>
                          <a:ea typeface="Calibri"/>
                          <a:cs typeface="Times New Roman"/>
                        </a:rPr>
                        <a:t>Assessment period</a:t>
                      </a:r>
                      <a:endParaRPr lang="en-GB" sz="1200" b="0" i="0" kern="1200" dirty="0">
                        <a:solidFill>
                          <a:srgbClr val="FF0000"/>
                        </a:solidFill>
                        <a:effectLst/>
                        <a:latin typeface="+mn-lt"/>
                        <a:ea typeface="+mn-ea"/>
                        <a:cs typeface="+mn-cs"/>
                      </a:endParaRPr>
                    </a:p>
                  </a:txBody>
                  <a:tcPr marL="68580" marR="68580" marT="0" marB="0"/>
                </a:tc>
                <a:tc hMerge="1">
                  <a:txBody>
                    <a:bodyPr/>
                    <a:lstStyle/>
                    <a:p>
                      <a:endParaRPr lang="en-GB"/>
                    </a:p>
                  </a:txBody>
                  <a:tcPr/>
                </a:tc>
                <a:extLst>
                  <a:ext uri="{0D108BD9-81ED-4DB2-BD59-A6C34878D82A}">
                    <a16:rowId xmlns:a16="http://schemas.microsoft.com/office/drawing/2014/main" val="2931443189"/>
                  </a:ext>
                </a:extLst>
              </a:tr>
              <a:tr h="365883">
                <a:tc>
                  <a:txBody>
                    <a:bodyPr/>
                    <a:lstStyle/>
                    <a:p>
                      <a:pPr algn="ctr">
                        <a:lnSpc>
                          <a:spcPct val="107000"/>
                        </a:lnSpc>
                        <a:spcAft>
                          <a:spcPts val="0"/>
                        </a:spcAft>
                      </a:pPr>
                      <a:r>
                        <a:rPr lang="en-GB" sz="1100" dirty="0">
                          <a:effectLst/>
                          <a:latin typeface="Calibri"/>
                          <a:ea typeface="Calibri"/>
                          <a:cs typeface="Times New Roman"/>
                        </a:rPr>
                        <a:t>16-18</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b="0" i="0" kern="1200" dirty="0">
                          <a:solidFill>
                            <a:srgbClr val="FF0000"/>
                          </a:solidFill>
                          <a:effectLst/>
                          <a:latin typeface="+mn-lt"/>
                          <a:ea typeface="+mn-ea"/>
                          <a:cs typeface="+mn-cs"/>
                        </a:rPr>
                        <a:t>Enrichment period: Offsite Activities (Career support, CV support) and assessment feedback </a:t>
                      </a:r>
                    </a:p>
                  </a:txBody>
                  <a:tcPr marL="68580" marR="68580" marT="0" marB="0"/>
                </a:tc>
                <a:tc hMerge="1">
                  <a:txBody>
                    <a:bodyPr/>
                    <a:lstStyle/>
                    <a:p>
                      <a:endParaRPr lang="en-GB"/>
                    </a:p>
                  </a:txBody>
                  <a:tcPr/>
                </a:tc>
                <a:extLst>
                  <a:ext uri="{0D108BD9-81ED-4DB2-BD59-A6C34878D82A}">
                    <a16:rowId xmlns:a16="http://schemas.microsoft.com/office/drawing/2014/main" val="3003053503"/>
                  </a:ext>
                </a:extLst>
              </a:tr>
            </a:tbl>
          </a:graphicData>
        </a:graphic>
      </p:graphicFrame>
      <p:sp>
        <p:nvSpPr>
          <p:cNvPr id="12" name="Arrow: Right 11">
            <a:extLst>
              <a:ext uri="{FF2B5EF4-FFF2-40B4-BE49-F238E27FC236}">
                <a16:creationId xmlns:a16="http://schemas.microsoft.com/office/drawing/2014/main" id="{E03F6BF8-400B-4D32-A8BF-788DDF8A7B89}"/>
              </a:ext>
            </a:extLst>
          </p:cNvPr>
          <p:cNvSpPr/>
          <p:nvPr/>
        </p:nvSpPr>
        <p:spPr>
          <a:xfrm>
            <a:off x="7806124" y="3722004"/>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C83EAA16-0863-47E3-AD22-CF19CCDCEA5B}"/>
              </a:ext>
            </a:extLst>
          </p:cNvPr>
          <p:cNvSpPr txBox="1"/>
          <p:nvPr/>
        </p:nvSpPr>
        <p:spPr>
          <a:xfrm>
            <a:off x="8108188" y="3659704"/>
            <a:ext cx="1018227" cy="276999"/>
          </a:xfrm>
          <a:prstGeom prst="rect">
            <a:avLst/>
          </a:prstGeom>
          <a:noFill/>
        </p:spPr>
        <p:txBody>
          <a:bodyPr wrap="none" rtlCol="0">
            <a:spAutoFit/>
          </a:bodyPr>
          <a:lstStyle/>
          <a:p>
            <a:r>
              <a:rPr lang="en-GB" sz="1200" dirty="0"/>
              <a:t>A1 Deadline</a:t>
            </a:r>
          </a:p>
        </p:txBody>
      </p:sp>
      <p:sp>
        <p:nvSpPr>
          <p:cNvPr id="14" name="Arrow: Right 13">
            <a:extLst>
              <a:ext uri="{FF2B5EF4-FFF2-40B4-BE49-F238E27FC236}">
                <a16:creationId xmlns:a16="http://schemas.microsoft.com/office/drawing/2014/main" id="{050050DA-BBA9-49A0-B54E-543C86592779}"/>
              </a:ext>
            </a:extLst>
          </p:cNvPr>
          <p:cNvSpPr/>
          <p:nvPr/>
        </p:nvSpPr>
        <p:spPr>
          <a:xfrm>
            <a:off x="7841187" y="6145182"/>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3D7F890-4218-4DC5-BB0E-BFF42A3768DD}"/>
              </a:ext>
            </a:extLst>
          </p:cNvPr>
          <p:cNvSpPr txBox="1"/>
          <p:nvPr/>
        </p:nvSpPr>
        <p:spPr>
          <a:xfrm>
            <a:off x="8069784" y="6082883"/>
            <a:ext cx="1018227" cy="276999"/>
          </a:xfrm>
          <a:prstGeom prst="rect">
            <a:avLst/>
          </a:prstGeom>
          <a:noFill/>
        </p:spPr>
        <p:txBody>
          <a:bodyPr wrap="none" rtlCol="0">
            <a:spAutoFit/>
          </a:bodyPr>
          <a:lstStyle/>
          <a:p>
            <a:r>
              <a:rPr lang="en-GB" sz="1200" dirty="0"/>
              <a:t>A2 Deadline</a:t>
            </a:r>
          </a:p>
        </p:txBody>
      </p:sp>
      <p:sp>
        <p:nvSpPr>
          <p:cNvPr id="16" name="TextBox 15">
            <a:extLst>
              <a:ext uri="{FF2B5EF4-FFF2-40B4-BE49-F238E27FC236}">
                <a16:creationId xmlns:a16="http://schemas.microsoft.com/office/drawing/2014/main" id="{AA3B57A6-92CC-4C3E-900A-7F1F34581C4E}"/>
              </a:ext>
            </a:extLst>
          </p:cNvPr>
          <p:cNvSpPr txBox="1"/>
          <p:nvPr/>
        </p:nvSpPr>
        <p:spPr>
          <a:xfrm>
            <a:off x="7042092" y="6082883"/>
            <a:ext cx="787844" cy="276999"/>
          </a:xfrm>
          <a:prstGeom prst="rect">
            <a:avLst/>
          </a:prstGeom>
          <a:noFill/>
        </p:spPr>
        <p:txBody>
          <a:bodyPr wrap="none" rtlCol="0">
            <a:spAutoFit/>
          </a:bodyPr>
          <a:lstStyle/>
          <a:p>
            <a:r>
              <a:rPr lang="en-GB" sz="1200" dirty="0"/>
              <a:t>Week 14</a:t>
            </a:r>
          </a:p>
        </p:txBody>
      </p:sp>
    </p:spTree>
    <p:extLst>
      <p:ext uri="{BB962C8B-B14F-4D97-AF65-F5344CB8AC3E}">
        <p14:creationId xmlns:p14="http://schemas.microsoft.com/office/powerpoint/2010/main" val="326393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0" y="4191000"/>
            <a:ext cx="2362200" cy="595996"/>
          </a:xfrm>
        </p:spPr>
        <p:txBody>
          <a:bodyPr/>
          <a:lstStyle/>
          <a:p>
            <a:r>
              <a:rPr lang="en-GB" dirty="0"/>
              <a:t>Turing test</a:t>
            </a:r>
          </a:p>
        </p:txBody>
      </p:sp>
      <p:sp>
        <p:nvSpPr>
          <p:cNvPr id="4" name="AutoShape 2" descr="Bot or Not: Can You Tell What is Human or Machine Written Text? -  ICTworksICTwor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741714"/>
            <a:ext cx="3178875"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2875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Turing test</a:t>
            </a:r>
          </a:p>
        </p:txBody>
      </p:sp>
      <p:sp>
        <p:nvSpPr>
          <p:cNvPr id="3" name="Content Placeholder 2"/>
          <p:cNvSpPr>
            <a:spLocks noGrp="1"/>
          </p:cNvSpPr>
          <p:nvPr>
            <p:ph idx="1"/>
          </p:nvPr>
        </p:nvSpPr>
        <p:spPr/>
        <p:txBody>
          <a:bodyPr/>
          <a:lstStyle/>
          <a:p>
            <a:r>
              <a:rPr lang="en-GB" sz="2000" dirty="0"/>
              <a:t>In Alan Turing's 1950 paper, </a:t>
            </a:r>
            <a:r>
              <a:rPr lang="en-GB" sz="2000" i="1" dirty="0"/>
              <a:t>Computing Machinery and Intelligence</a:t>
            </a:r>
            <a:r>
              <a:rPr lang="en-GB" sz="2000" dirty="0"/>
              <a:t>, the mathematician posed the question: "Can machines think?" But almost immediately he dismissed that question as too "meaningless" to be worthy of discussion, and swapped it for the much-more specific: "Are there imaginable digital computers which would do well in the imitation game?"</a:t>
            </a:r>
          </a:p>
          <a:p>
            <a:r>
              <a:rPr lang="en-GB" sz="2000" dirty="0"/>
              <a:t>Turing's "imitation game" was a simple party game with three players -- a man, a woman, and a judge of either sex. The judge sits in a room apart from the man and woman, and has to decide which of the pair is the person, and which is the machine. </a:t>
            </a:r>
          </a:p>
          <a:p>
            <a:r>
              <a:rPr lang="en-GB" sz="2000" dirty="0">
                <a:hlinkClick r:id="rId2"/>
              </a:rPr>
              <a:t>https://chatbotsmagazine.com/how-close-are-chatbots-to-pass-turing-test-33f27b18305e</a:t>
            </a:r>
            <a:r>
              <a:rPr lang="en-GB" sz="2000" dirty="0"/>
              <a:t> </a:t>
            </a:r>
          </a:p>
          <a:p>
            <a:r>
              <a:rPr lang="en-GB" sz="2000" dirty="0"/>
              <a:t>Demo </a:t>
            </a:r>
            <a:r>
              <a:rPr lang="en-GB" sz="2000" dirty="0">
                <a:hlinkClick r:id="rId3"/>
              </a:rPr>
              <a:t>https://openai.com/blog/chatgpt/</a:t>
            </a:r>
            <a:r>
              <a:rPr lang="en-GB" sz="2000" dirty="0"/>
              <a:t> </a:t>
            </a:r>
          </a:p>
          <a:p>
            <a:r>
              <a:rPr lang="en-GB" sz="2000" dirty="0"/>
              <a:t>Demo </a:t>
            </a:r>
            <a:r>
              <a:rPr lang="en-GB" sz="2000" dirty="0">
                <a:hlinkClick r:id="rId4"/>
              </a:rPr>
              <a:t>https://www.pandorabots.com/mitsuku/</a:t>
            </a:r>
            <a:endParaRPr lang="en-GB" sz="2000" dirty="0"/>
          </a:p>
          <a:p>
            <a:endParaRPr lang="en-GB" sz="2000" dirty="0"/>
          </a:p>
        </p:txBody>
      </p:sp>
    </p:spTree>
    <p:extLst>
      <p:ext uri="{BB962C8B-B14F-4D97-AF65-F5344CB8AC3E}">
        <p14:creationId xmlns:p14="http://schemas.microsoft.com/office/powerpoint/2010/main" val="221904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a:xfrm>
            <a:off x="1828800" y="1219200"/>
            <a:ext cx="7105508" cy="4761979"/>
          </a:xfrm>
        </p:spPr>
        <p:txBody>
          <a:bodyPr/>
          <a:lstStyle/>
          <a:p>
            <a:r>
              <a:rPr lang="en-GB" dirty="0"/>
              <a:t>In this lecture, you takeaway following things:</a:t>
            </a:r>
          </a:p>
          <a:p>
            <a:pPr marL="1143000" lvl="1" indent="-457200">
              <a:buAutoNum type="arabicPeriod"/>
            </a:pPr>
            <a:r>
              <a:rPr lang="en-GB" sz="2000" dirty="0"/>
              <a:t>Very basic concepts of Data Mining and AI.</a:t>
            </a:r>
          </a:p>
          <a:p>
            <a:pPr marL="1143000" lvl="1" indent="-457200">
              <a:buAutoNum type="arabicPeriod"/>
            </a:pPr>
            <a:r>
              <a:rPr lang="en-GB" sz="2000" dirty="0"/>
              <a:t>The born of AI and its development history</a:t>
            </a:r>
          </a:p>
          <a:p>
            <a:pPr marL="1143000" lvl="1" indent="-457200">
              <a:buAutoNum type="arabicPeriod"/>
            </a:pPr>
            <a:r>
              <a:rPr lang="en-GB" sz="2000" dirty="0"/>
              <a:t>Different areas of AI </a:t>
            </a:r>
          </a:p>
          <a:p>
            <a:pPr marL="1143000" lvl="1" indent="-457200">
              <a:buAutoNum type="arabicPeriod"/>
            </a:pPr>
            <a:r>
              <a:rPr lang="en-GB" sz="2000" dirty="0"/>
              <a:t>The contents and assessment of the module</a:t>
            </a:r>
          </a:p>
          <a:p>
            <a:endParaRPr lang="en-GB" sz="2000" dirty="0"/>
          </a:p>
          <a:p>
            <a:r>
              <a:rPr lang="en-GB" sz="2000" b="1" dirty="0"/>
              <a:t>Next week </a:t>
            </a:r>
          </a:p>
          <a:p>
            <a:r>
              <a:rPr lang="en-GB" sz="2000" dirty="0"/>
              <a:t>Lecture: Data processing and EDA</a:t>
            </a:r>
          </a:p>
          <a:p>
            <a:r>
              <a:rPr lang="en-GB" sz="2000" dirty="0"/>
              <a:t>Practice: Python for deal with missing data and EDA diagrams</a:t>
            </a:r>
          </a:p>
        </p:txBody>
      </p:sp>
    </p:spTree>
    <p:extLst>
      <p:ext uri="{BB962C8B-B14F-4D97-AF65-F5344CB8AC3E}">
        <p14:creationId xmlns:p14="http://schemas.microsoft.com/office/powerpoint/2010/main" val="3160230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Practice, home work and further reading</a:t>
            </a:r>
          </a:p>
        </p:txBody>
      </p:sp>
      <p:sp>
        <p:nvSpPr>
          <p:cNvPr id="3" name="Content Placeholder 2"/>
          <p:cNvSpPr>
            <a:spLocks noGrp="1"/>
          </p:cNvSpPr>
          <p:nvPr>
            <p:ph idx="1"/>
          </p:nvPr>
        </p:nvSpPr>
        <p:spPr>
          <a:xfrm>
            <a:off x="1809892" y="1414985"/>
            <a:ext cx="6953108" cy="4761979"/>
          </a:xfrm>
        </p:spPr>
        <p:txBody>
          <a:bodyPr/>
          <a:lstStyle/>
          <a:p>
            <a:pPr marL="457200" indent="-457200">
              <a:buFont typeface="+mj-lt"/>
              <a:buAutoNum type="arabicPeriod"/>
            </a:pPr>
            <a:r>
              <a:rPr lang="en-GB" dirty="0"/>
              <a:t>Complete the first Python practice on Kaggle or </a:t>
            </a:r>
            <a:r>
              <a:rPr lang="en-GB" dirty="0" err="1"/>
              <a:t>Colab</a:t>
            </a:r>
            <a:r>
              <a:rPr lang="en-GB" dirty="0"/>
              <a:t>.</a:t>
            </a:r>
          </a:p>
          <a:p>
            <a:pPr marL="457200" indent="-457200">
              <a:buFont typeface="+mj-lt"/>
              <a:buAutoNum type="arabicPeriod"/>
            </a:pPr>
            <a:endParaRPr lang="en-GB" dirty="0"/>
          </a:p>
          <a:p>
            <a:pPr marL="457200" indent="-457200">
              <a:buFont typeface="+mj-lt"/>
              <a:buAutoNum type="arabicPeriod"/>
            </a:pPr>
            <a:r>
              <a:rPr lang="en-GB" dirty="0"/>
              <a:t>Try to understand the terms of Strong AI and Weak AI by reading these two articles (You need to answer a question in the discussion board):</a:t>
            </a:r>
          </a:p>
          <a:p>
            <a:endParaRPr lang="en-GB" dirty="0"/>
          </a:p>
          <a:p>
            <a:r>
              <a:rPr lang="en-GB" dirty="0">
                <a:hlinkClick r:id="rId2"/>
              </a:rPr>
              <a:t>http://ceur-ws.org/Vol-2287/paper34.pdf</a:t>
            </a:r>
            <a:r>
              <a:rPr lang="en-GB" dirty="0"/>
              <a:t>  </a:t>
            </a:r>
          </a:p>
          <a:p>
            <a:endParaRPr lang="en-GB" dirty="0"/>
          </a:p>
          <a:p>
            <a:r>
              <a:rPr lang="en-GB" dirty="0">
                <a:hlinkClick r:id="rId3"/>
              </a:rPr>
              <a:t>https://e3zine.com/strong-artificial-intelligence/</a:t>
            </a:r>
            <a:endParaRPr lang="en-GB" dirty="0"/>
          </a:p>
          <a:p>
            <a:endParaRPr lang="en-GB" dirty="0"/>
          </a:p>
        </p:txBody>
      </p:sp>
    </p:spTree>
    <p:extLst>
      <p:ext uri="{BB962C8B-B14F-4D97-AF65-F5344CB8AC3E}">
        <p14:creationId xmlns:p14="http://schemas.microsoft.com/office/powerpoint/2010/main" val="139253534"/>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6264</TotalTime>
  <Words>2195</Words>
  <Application>Microsoft Office PowerPoint</Application>
  <PresentationFormat>Προβολή στην οθόνη (4:3)</PresentationFormat>
  <Paragraphs>286</Paragraphs>
  <Slides>38</Slides>
  <Notes>4</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38</vt:i4>
      </vt:variant>
    </vt:vector>
  </HeadingPairs>
  <TitlesOfParts>
    <vt:vector size="43" baseType="lpstr">
      <vt:lpstr>arial</vt:lpstr>
      <vt:lpstr>arial</vt:lpstr>
      <vt:lpstr>Calibri</vt:lpstr>
      <vt:lpstr>Segoe UI</vt:lpstr>
      <vt:lpstr>2_Office Theme</vt:lpstr>
      <vt:lpstr>Introduction Frontiers in AI and Data Science   </vt:lpstr>
      <vt:lpstr>Instructor Contact &amp; Resources </vt:lpstr>
      <vt:lpstr>Outlook 1</vt:lpstr>
      <vt:lpstr>Core textbooks </vt:lpstr>
      <vt:lpstr>Module topics (Teaching Weeks)</vt:lpstr>
      <vt:lpstr>Learning outcomes</vt:lpstr>
      <vt:lpstr>Outlook 2</vt:lpstr>
      <vt:lpstr>Data Mining</vt:lpstr>
      <vt:lpstr>What is Data Mining?</vt:lpstr>
      <vt:lpstr>Aim of Data Mining</vt:lpstr>
      <vt:lpstr>An important step of knowledge discovery</vt:lpstr>
      <vt:lpstr>Data Mining example</vt:lpstr>
      <vt:lpstr>Artificial Intelligent (AI) </vt:lpstr>
      <vt:lpstr>What is AI?</vt:lpstr>
      <vt:lpstr>Morden or Your Definition </vt:lpstr>
      <vt:lpstr>The title of the module</vt:lpstr>
      <vt:lpstr>Relations between Data Mining, Machine Learning, AI and others </vt:lpstr>
      <vt:lpstr>A bit of History of AI</vt:lpstr>
      <vt:lpstr>A bit of history of AI (start)</vt:lpstr>
      <vt:lpstr>A bit of history of AI (born)</vt:lpstr>
      <vt:lpstr>A bit of history of AI (early days)</vt:lpstr>
      <vt:lpstr>A bit of history of AI (victory)</vt:lpstr>
      <vt:lpstr>A bit of history of AI (development)</vt:lpstr>
      <vt:lpstr>A bit of history of AI  (golden years)</vt:lpstr>
      <vt:lpstr>A bit of history of AI  (1ST AI winter)</vt:lpstr>
      <vt:lpstr>A bit of history of AI (Rebranding)</vt:lpstr>
      <vt:lpstr>A bit of history of AI  (2nd AI winter)</vt:lpstr>
      <vt:lpstr>A bit of history of AI  (late 80s to 90s new ideas)</vt:lpstr>
      <vt:lpstr>Winter again</vt:lpstr>
      <vt:lpstr>Brief history of AI  (booming today)</vt:lpstr>
      <vt:lpstr>Branches of AI technologies</vt:lpstr>
      <vt:lpstr>Branches of AI technologies by application</vt:lpstr>
      <vt:lpstr>Intelligent level</vt:lpstr>
      <vt:lpstr>Module topics (Teaching Weeks)</vt:lpstr>
      <vt:lpstr>Turing test</vt:lpstr>
      <vt:lpstr>Turing test</vt:lpstr>
      <vt:lpstr>Summary</vt:lpstr>
      <vt:lpstr>Practice, home work and 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of Data Mining and AI   Dr Hong Qing Yu (Harry)</dc:title>
  <dc:creator>Xia</dc:creator>
  <cp:lastModifiedBy>Giannis Tsioulis</cp:lastModifiedBy>
  <cp:revision>74</cp:revision>
  <dcterms:created xsi:type="dcterms:W3CDTF">2006-08-16T00:00:00Z</dcterms:created>
  <dcterms:modified xsi:type="dcterms:W3CDTF">2025-10-07T20:21:14Z</dcterms:modified>
</cp:coreProperties>
</file>